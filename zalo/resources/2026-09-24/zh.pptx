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27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48256"/>
            <a:ext cx="1042416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CFE6D8"/>
                </a:solidFill>
                <a:latin typeface="Arial"/>
                <a:ea typeface="Microsoft YaHei"/>
                <a:cs typeface="Microsoft YaHei"/>
              </a:rPr>
              <a:t>2026年9月24日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14016"/>
            <a:ext cx="10607040" cy="6217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 i="0">
                <a:solidFill>
                  <a:srgbClr val="CFE6D8"/>
                </a:solidFill>
                <a:latin typeface="Arial"/>
                <a:ea typeface="Microsoft YaHei"/>
                <a:cs typeface="Microsoft YaHei"/>
              </a:rPr>
              <a:t>视光 DA 培训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78224"/>
            <a:ext cx="1920240" cy="45720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297680"/>
            <a:ext cx="841248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CFE6D8"/>
                </a:solidFill>
                <a:latin typeface="Arial"/>
                <a:ea typeface="Microsoft YaHei"/>
                <a:cs typeface="Microsoft YaHei"/>
              </a:rPr>
              <a:t>NGT   ·   CTE D5   ·   CTE D7   ·   LA   ·   SH (Song Han)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9601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CFE6D8"/>
                </a:solidFill>
                <a:latin typeface="Arial"/>
                <a:ea typeface="Microsoft YaHei"/>
                <a:cs typeface="Microsoft YaHei"/>
              </a:rPr>
              <a:t>用于 DA 培训与复盘  ·  内容取自 2026年9月23日 视光周会复盘  ·  仅供内部使用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一、本周情况   |   本周有何不同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本周不计分 —— 仅作定性复盘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3112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Mắt Sài Gòn  |  视光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11183112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1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本周追踪表不计分。以下复盘来自逐条阅读各门店的聊天记录。有两件事所有门店都必须改，并且跟进节奏对每一位客户都要守住。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91056"/>
            <a:ext cx="11183112" cy="859536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91056"/>
            <a:ext cx="54864" cy="85953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1728216"/>
            <a:ext cx="292608" cy="292608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9144" r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709928"/>
            <a:ext cx="402336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把 Zalo 备注名上的日期改为客户实际取镜的日期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1728216"/>
            <a:ext cx="6455664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备注名上的日期必须是客户实际取镜的那一天。CRM 推算的每一个跟进节点都从这一天起算，日期一错，CD+3-5、CD+7、CD+14 和 CD+30 全都落在错误的日子上 —— 你已经发出的跟进也会被统计为漏发。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11183112" cy="859536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23744"/>
            <a:ext cx="54864" cy="859536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2660903"/>
            <a:ext cx="292608" cy="292608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9144" rIns="9144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642615"/>
            <a:ext cx="402336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会员权益要在客户取镜当天发出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660903"/>
            <a:ext cx="6455664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会员权益应在取镜当天发出，而不是隔几天再发。本周权益是唯一几乎都能发出的信息，但常常发晚了 —— CTE D5 的备注名写的是 8月17日，权益信息却在 8月20日才发出。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84448"/>
            <a:ext cx="11183112" cy="292608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28016" rIns="109728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守住跟进节奏</a:t>
            </a:r>
            <a:r>
              <a:rPr sz="950" b="0" i="0">
                <a:solidFill>
                  <a:srgbClr val="CFE6D8"/>
                </a:solidFill>
                <a:latin typeface="Arial"/>
                <a:ea typeface="Microsoft YaHei"/>
                <a:cs typeface="Microsoft YaHei"/>
              </a:rPr>
              <a:t>     以下节点必须对每一位客户都做到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13632"/>
            <a:ext cx="2706624" cy="73152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3986784"/>
            <a:ext cx="246888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CD+3-5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4206240"/>
            <a:ext cx="246888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关怀回访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" y="4370832"/>
            <a:ext cx="24688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询问孩子的适应情况，客户回复后顺势提出转介绍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00984" y="3913632"/>
            <a:ext cx="2706624" cy="73152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986784"/>
            <a:ext cx="246888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CD+7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206240"/>
            <a:ext cx="246888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佩戴情况回访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370832"/>
            <a:ext cx="24688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回访佩戴情况，提供免费调整镜架，发会员权益，提出转介绍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8" y="3913632"/>
            <a:ext cx="2706624" cy="73152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7064" y="3986784"/>
            <a:ext cx="246888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CD+14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7064" y="4206240"/>
            <a:ext cx="246888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近视防控知识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7064" y="4370832"/>
            <a:ext cx="24688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回访佩戴情况，提醒每天佩戴 ≥ 12 小时，发送科普内容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97112" y="3913632"/>
            <a:ext cx="2706624" cy="73152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25128" y="3986784"/>
            <a:ext cx="246888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CD+30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5128" y="4206240"/>
            <a:ext cx="246888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佩戴情况复盘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4370832"/>
            <a:ext cx="24688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回访佩戴情况，发送科普内容，发会员权益，提出转介绍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663440"/>
            <a:ext cx="11183112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在以上节点之前：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D1 —— 自我介绍，并告知眼镜的制作时长。   第 6-7 天 —— 告知制作进度，做好了要说，没做好也要说。   CD —— 先发使用说明，客户回复后再发会员权益。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864608"/>
            <a:ext cx="6528816" cy="731520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46304" rIns="146304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所有门店的共同问题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CD+7 与 CD+30 跟进、科普内容以及客户关怀类跟进都需要加强。 </a:t>
            </a:r>
            <a:r>
              <a:rPr sz="9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本周没有任何一家门店对全部被抽查的客户发齐取镜后的跟进节点。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42048" y="4864608"/>
            <a:ext cx="4443984" cy="731520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28016" rIns="128016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日期自查方法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把备注名上的日期与你发出会员权益的那一天做对比。</a:t>
            </a:r>
          </a:p>
          <a:p>
            <a:pPr algn="l">
              <a:lnSpc>
                <a:spcPct val="106000"/>
              </a:lnSpc>
            </a:pPr>
            <a:r>
              <a:rPr sz="7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同一天 → 正确。    相差一周及以上 → 很可能有误。    没有日期或未发权益 → 无法判定。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852160"/>
            <a:ext cx="64008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5852160"/>
            <a:ext cx="11119104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46304" rIns="109728"/>
          <a:lstStyle/>
          <a:p>
            <a:pPr algn="l"/>
            <a:r>
              <a:rPr sz="11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每一位客户。   完整的跟进节奏。   权益在取镜当天发出。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二、Zalo 复盘   |   各门店具体问题  · 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CTE D5、CTE D7 与 NGT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3112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Mắt Sài Gòn  |  视光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11183112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1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CTE D7 在制作进度和取镜环节做得好，CTE D5 没有做到。NGT 的信息写得是三家里最好的，但日期全都记错了。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91056"/>
            <a:ext cx="11183112" cy="132588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91056"/>
            <a:ext cx="54864" cy="1325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73352"/>
            <a:ext cx="1783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CTE D5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929384"/>
            <a:ext cx="178308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只发了会员权益 —— 跟进节奏的其余部分全部缺失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377440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依据</a:t>
            </a:r>
          </a:p>
          <a:p>
            <a:pPr algn="l">
              <a:lnSpc>
                <a:spcPct val="104000"/>
              </a:lnSpc>
            </a:pPr>
            <a:r>
              <a:rPr sz="7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第 6 页  ·  MCY-260817，8月5日至8月20日仅联系 3 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05456" y="1682496"/>
            <a:ext cx="9144" cy="1143000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1682496"/>
            <a:ext cx="402336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做得好的地方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1856231"/>
            <a:ext cx="4023360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✓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客户备注名整体上是正确的。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21424" y="1682496"/>
            <a:ext cx="9144" cy="1143000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1682496"/>
            <a:ext cx="466344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需要改进的地方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1856231"/>
            <a:ext cx="4663440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D1 只做了一半 —— 自我介绍有了，但完全没有提到眼镜。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被抽查的客户只收到了会员权益相关的信息。这远远不够。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关于眼镜制作进度和取镜的沟通没有做。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CD+3-5、CD+7 和 CD+30 跟进、科普内容以及客户关怀都没有做。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26663"/>
            <a:ext cx="11183112" cy="132588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026663"/>
            <a:ext cx="54864" cy="1325880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108959"/>
            <a:ext cx="1783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CTE D7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364991"/>
            <a:ext cx="178308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取镜当天之前做得好，之后就停了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813048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依据</a:t>
            </a:r>
          </a:p>
          <a:p>
            <a:pPr algn="l">
              <a:lnSpc>
                <a:spcPct val="104000"/>
              </a:lnSpc>
            </a:pPr>
            <a:r>
              <a:rPr sz="7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第 7 页  ·  MCY 260811，两个孩子共用一个联系人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5456" y="3118103"/>
            <a:ext cx="9144" cy="1143000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3118103"/>
            <a:ext cx="402336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做得好的地方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0048" y="3291839"/>
            <a:ext cx="4023360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✓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关于眼镜制作进度、取镜以及会员权益的沟通整体上已经做到。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21424" y="3118103"/>
            <a:ext cx="9144" cy="1143000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3118103"/>
            <a:ext cx="466344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需要改进的地方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3291839"/>
            <a:ext cx="4663440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取镜后的 CD+7 与 CD+30 跟进需要加强。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科普内容和客户关怀需要加强。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两个孩子共用一个联系人。每个孩子都需要在追踪表上有自己的一行，否则第二个孩子永远进不了跟进名单。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462271"/>
            <a:ext cx="11183112" cy="132588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462271"/>
            <a:ext cx="54864" cy="1325880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544567"/>
            <a:ext cx="1783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NGT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4800599"/>
            <a:ext cx="178308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信息写得好，日期记错，取镜后没有关怀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5248655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依据</a:t>
            </a:r>
          </a:p>
          <a:p>
            <a:pPr algn="l">
              <a:lnSpc>
                <a:spcPct val="104000"/>
              </a:lnSpc>
            </a:pPr>
            <a:r>
              <a:rPr sz="7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第 8 页  ·  KTY 260815，家长只能自己开口问眼镜到了没有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05456" y="4553711"/>
            <a:ext cx="9144" cy="1143000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70048" y="4553711"/>
            <a:ext cx="402336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做得好的地方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70048" y="4727447"/>
            <a:ext cx="4023360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✓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会员权益一直都有发出。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✓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简化版转介绍话术在客户对话中偶尔会用到。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✓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她会针对客户改写信息，而不是发一段固定的套路文字。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21424" y="4553711"/>
            <a:ext cx="9144" cy="1143000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67728" y="4553711"/>
            <a:ext cx="466344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需要改进的地方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4727447"/>
            <a:ext cx="4663440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客户 Zalo 备注名上记录的日期不是取镜日期。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眼镜制作期间的沟通不足。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取镜后的头 30 天里，客户要么没收到跟进，要么只收到一条。建议发出两到三次跟进与关怀信息。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888736"/>
            <a:ext cx="64008" cy="457200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5888736"/>
            <a:ext cx="11119104" cy="457200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46304" rIns="109728"/>
          <a:lstStyle/>
          <a:p>
            <a:pPr algn="l"/>
            <a:r>
              <a:rPr sz="11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CTE D7 展示了制作进度沟通应该是什么样子。三家门店都停在了权益信息这一步。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二、Zalo 复盘   |   各门店具体问题  ·  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LA 与 SH (Song Han)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3112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Mắt Sài Gòn  |  视光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11183112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1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两个极端。LA 是唯一按时发出复查邀约的门店；而 SH 几乎没有任何 DA 工作可供复盘。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91056"/>
            <a:ext cx="11183112" cy="132588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91056"/>
            <a:ext cx="54864" cy="1325880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73352"/>
            <a:ext cx="1783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929384"/>
            <a:ext cx="178308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五家门店中最好的一家 —— 欠缺的是稳定性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377440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依据</a:t>
            </a:r>
          </a:p>
          <a:p>
            <a:pPr algn="l">
              <a:lnSpc>
                <a:spcPct val="104000"/>
              </a:lnSpc>
            </a:pPr>
            <a:r>
              <a:rPr sz="7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第 5 页  ·  MCY 260814，值得学习的标杆案例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05456" y="1682496"/>
            <a:ext cx="9144" cy="1143000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1682496"/>
            <a:ext cx="402336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做得好的地方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1856231"/>
            <a:ext cx="4023360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✓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D1 做得规范：自我介绍、说明孩子订的是哪种眼镜，并告知眼镜大约需要 3–10 天。五家门店中最好的 D1。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✓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9月9日的关怀信息问的是真问题，家长第二天上午就回复了。用图片发会员权益，维持现状即可。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✓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MC 眼镜的复查邀约按时发出，并且提到了保修权益。这一点很好，其他门店都做不到这么稳定。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21424" y="1682496"/>
            <a:ext cx="9144" cy="1143000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1682496"/>
            <a:ext cx="466344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需要改进的地方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1856231"/>
            <a:ext cx="4663440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需要补上取镜后 3–5 天的问候。9月9日那条关怀信息内容是对的，但作为第一条来说太晚了。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家长热情回复时没有顺势提出转介绍。对于愿意在对话中交流的会员，要加上转介绍的邀请。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备注名上没有取镜日期。请确认并记录这个日期，这样 CRM 推算出的 CD 节点才会正确。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26664"/>
            <a:ext cx="11183112" cy="132588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026664"/>
            <a:ext cx="54864" cy="1325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108960"/>
            <a:ext cx="17830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364992"/>
            <a:ext cx="178308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新开的中心 —— 现在就把标准立起来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813048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7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依据</a:t>
            </a:r>
          </a:p>
          <a:p>
            <a:pPr algn="l">
              <a:lnSpc>
                <a:spcPct val="104000"/>
              </a:lnSpc>
            </a:pPr>
            <a:r>
              <a:rPr sz="7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第 9 页  ·  整段对话只有一条预约确认信息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5456" y="3118104"/>
            <a:ext cx="9144" cy="1143000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3118104"/>
            <a:ext cx="402336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做得好的地方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0048" y="3291840"/>
            <a:ext cx="4023360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—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本周没有发现可记录的优点。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21424" y="3118104"/>
            <a:ext cx="9144" cy="1143000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3118104"/>
            <a:ext cx="466344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需要改进的地方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3291840"/>
            <a:ext cx="4663440" cy="9601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几乎没有客户联系人做过备注。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完全没有会员权益相关内容，只有极少量关于取镜和复查的服务信息。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对已配镜客户的跟进和服务明显不足。</a:t>
            </a:r>
          </a:p>
          <a:p>
            <a:pPr algn="l">
              <a:lnSpc>
                <a:spcPct val="106000"/>
              </a:lnSpc>
              <a:spcAft>
                <a:spcPts val="350"/>
              </a:spcAft>
            </a:pP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8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由于这是新开的中心、客户量还不大，应当从一开始就严格执行 DA 的工作标准。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517136"/>
            <a:ext cx="11183112" cy="292608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28016" rIns="109728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其他四家门店应该向 LA 学习什么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846320"/>
            <a:ext cx="3575304" cy="877824"/>
          </a:xfrm>
          <a:prstGeom prst="rect">
            <a:avLst/>
          </a:prstGeom>
          <a:solidFill>
            <a:srgbClr val="E4F3F3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4910328"/>
            <a:ext cx="3300984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说清客户订了什么，以及需要多久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" y="5093208"/>
            <a:ext cx="3300984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LA 的 D1 写明了检查日期、所订产品和 3–10 天的预计时长。家长不需要问，也不需要催。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6824" y="4846320"/>
            <a:ext cx="3575304" cy="877824"/>
          </a:xfrm>
          <a:prstGeom prst="rect">
            <a:avLst/>
          </a:prstGeom>
          <a:solidFill>
            <a:srgbClr val="E4F3F3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8" y="4910328"/>
            <a:ext cx="3300984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取镜后要问一个真问题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5093208"/>
            <a:ext cx="3300984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她在 9月9日问孩子是否已经适应、视物是否清晰。家长第二天上午就回复了。一条套路信息换不来这样的回应。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10727" y="4846320"/>
            <a:ext cx="3575304" cy="877824"/>
          </a:xfrm>
          <a:prstGeom prst="rect">
            <a:avLst/>
          </a:prstGeom>
          <a:solidFill>
            <a:srgbClr val="E4F3F3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4910328"/>
            <a:ext cx="3300984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按时发出复查邀约，并说明权益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7031" y="5093208"/>
            <a:ext cx="3300984" cy="6035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LA 的 MC 复查邀约按到期时间发出，并提到保修权益 —— 一条信息同时完成了关怀和权益。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888736"/>
            <a:ext cx="64008" cy="457200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5888736"/>
            <a:ext cx="11119104" cy="457200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46304" rIns="109728"/>
          <a:lstStyle/>
          <a:p>
            <a:pPr algn="l"/>
            <a:r>
              <a:rPr sz="11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LA 证明了完整的跟进节奏是做得到的。SH 客户最少，也最有条件从一开始就做对。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三、标杆案例   |   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LA —— 五家门店中最好的 D1，以及一个换来回复的真问题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3112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Mắt Sài Gòn  |  视光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1183112" cy="310896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28016" rIns="109728"/>
          <a:lstStyle/>
          <a:p>
            <a:pPr algn="l"/>
            <a:r>
              <a:rPr sz="9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MCY 260814  Toàn 先生 · 家长 Nguyễn Quỳnh Chi </a:t>
            </a:r>
            <a:r>
              <a:rPr sz="9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—— 还有 Quang Minh，备注名里没有他  ·  MC · 近视防控  ·  LA  ·  8月15日 → 9月10日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00784"/>
            <a:ext cx="5888736" cy="4242816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pic>
        <p:nvPicPr>
          <p:cNvPr id="10" name="Picture 9" descr="LA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74" y="1700784"/>
            <a:ext cx="4554626" cy="4242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340864" y="4690872"/>
            <a:ext cx="2176272" cy="329184"/>
          </a:xfrm>
          <a:prstGeom prst="rect">
            <a:avLst/>
          </a:prstGeom>
          <a:solidFill>
            <a:srgbClr val="FDF6E3"/>
          </a:solidFill>
          <a:ln w="12700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73152" rIns="73152"/>
          <a:lstStyle/>
          <a:p>
            <a:pPr algn="ctr">
              <a:lnSpc>
                <a:spcPct val="104000"/>
              </a:lnSpc>
            </a:pPr>
            <a:r>
              <a:rPr sz="8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这正是提出转介绍的时机 —— 但她没有开口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7104" y="1700784"/>
            <a:ext cx="5138928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这位 DA 做得好的地方 —— 除缺失项外都值得照做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47104" y="2029968"/>
            <a:ext cx="5138928" cy="1682496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093976"/>
            <a:ext cx="484632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7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8月15日 · D1   </a:t>
            </a: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介绍了自己的姓名、岗位、中心和电话 —— 随后说明孩子于 8月14日完成检查并订了 MC 眼镜，大约需要 3–10 天，眼镜一到她会主动联系。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7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8月15日 → 9月9日   </a:t>
            </a: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整整 25 天对话里没有任何信息 —— 这正是无法从 Zalo 看出取镜日期的原因。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7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9月9日 · 会员权益   </a:t>
            </a: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发出会员权益并附上权益图。这张图维持现状即可。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7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9月9日 · 关怀   </a:t>
            </a: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她没有以权益信息收尾。她问了一个真问题：孩子适应了吗，视物清晰吗，戴着舒服吗？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7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9月10日 · 家长回复   </a:t>
            </a: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“Con ổn e ah, cám ơn e”，还带了两个爱心。这就是真问题换来的回应 —— 也正是提出转介绍的时机。她没有开口。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CD+30 · 复查   </a:t>
            </a: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孩子戴镜一个月后发出免费复查邀约，并写明了两个孩子的名字。其他门店都没有做到。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7104" y="3767328"/>
            <a:ext cx="5138928" cy="274320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跟进节奏检查</a:t>
            </a:r>
            <a:r>
              <a:rPr sz="850" b="0" i="0">
                <a:solidFill>
                  <a:srgbClr val="CFE6D8"/>
                </a:solidFill>
                <a:latin typeface="Arial"/>
                <a:ea typeface="Microsoft YaHei"/>
                <a:cs typeface="Microsoft YaHei"/>
              </a:rPr>
              <a:t>     本应完成的节点 —— </a:t>
            </a:r>
            <a:r>
              <a:rPr sz="8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MC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7104" y="4078224"/>
            <a:ext cx="1101851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取镜前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0104" y="4078224"/>
            <a:ext cx="1673351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CD  ·  取镜当天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04604" y="4078224"/>
            <a:ext cx="2244852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取镜后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47104" y="4279392"/>
            <a:ext cx="530352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186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8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D6-7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8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90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0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使用说明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1604" y="4279392"/>
            <a:ext cx="530352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1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会员权益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1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33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33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转介绍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046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4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CD+3-5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4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76104" y="4279392"/>
            <a:ext cx="530352" cy="420624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76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95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n/a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47604" y="4279392"/>
            <a:ext cx="530352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47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7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119104" y="4279392"/>
            <a:ext cx="530352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19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19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4718304"/>
            <a:ext cx="5138928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7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  已完成     </a:t>
            </a:r>
            <a:r>
              <a:rPr sz="7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~  部分完成     </a:t>
            </a:r>
            <a:r>
              <a:rPr sz="7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  未完成     </a:t>
            </a:r>
            <a:r>
              <a:rPr sz="7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n/a  该产品无需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47104" y="4937760"/>
            <a:ext cx="5138928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权益日期核对</a:t>
            </a:r>
            <a:r>
              <a:rPr sz="850" b="0" i="0">
                <a:solidFill>
                  <a:srgbClr val="FDECEA"/>
                </a:solidFill>
                <a:latin typeface="Arial"/>
                <a:ea typeface="Microsoft YaHei"/>
                <a:cs typeface="Microsoft YaHei"/>
              </a:rPr>
              <a:t>     备注名上的日期是取镜日期吗？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4710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4710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备注名日期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4710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8月14日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2726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2726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权益发出日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2726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9月9日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0742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相差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0742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+26 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87584" y="5248656"/>
            <a:ext cx="1243584" cy="475488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8758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8758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很可能有误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65392" y="5760720"/>
            <a:ext cx="5102352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取镜日期在 8月14日 与 9月9日 之间。请确认后把这个日期写进 Zalo 标签。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998464"/>
            <a:ext cx="64008" cy="438912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5998464"/>
            <a:ext cx="11119104" cy="43891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46304" rIns="109728"/>
          <a:lstStyle/>
          <a:p>
            <a:pPr algn="l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照做她的 D1、她的关怀提问和她的复查邀约。再补上 CD+3-5 问候、开口提转介绍，并确认取镜日期。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四、案例复盘   |   CTE D5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CTE D5 —— 只有权益信息发到了，别的什么都没有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3112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Mắt Sài Gòn  |  视光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1183112" cy="310896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28016" rIns="109728"/>
          <a:lstStyle/>
          <a:p>
            <a:pPr algn="l"/>
            <a:r>
              <a:rPr sz="95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MCY-260817  Minh 女士 · Huỳnh Trí Thành 小朋友   ·   </a:t>
            </a:r>
            <a:r>
              <a:rPr sz="9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MC · 近视防控  ·  CTE D5  ·  8月5日至8月20日仅联系 3 次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00784"/>
            <a:ext cx="5888736" cy="4242816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pic>
        <p:nvPicPr>
          <p:cNvPr id="10" name="Picture 9" descr="Screenshot 2026-09-23 193214.png"/>
          <p:cNvPicPr>
            <a:picLocks noChangeAspect="1"/>
          </p:cNvPicPr>
          <p:nvPr/>
        </p:nvPicPr>
        <p:blipFill>
          <a:blip r:embed="rId2"/>
          <a:srcRect b="6600"/>
          <a:stretch>
            <a:fillRect/>
          </a:stretch>
        </p:blipFill>
        <p:spPr>
          <a:xfrm>
            <a:off x="936802" y="1700784"/>
            <a:ext cx="5020970" cy="4242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88720" y="1938528"/>
            <a:ext cx="3657600" cy="32918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73152" rIns="73152"/>
          <a:lstStyle/>
          <a:p>
            <a:pPr algn="ctr">
              <a:lnSpc>
                <a:spcPct val="104000"/>
              </a:lnSpc>
            </a:pPr>
            <a:r>
              <a:rPr sz="8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13 天没有任何信息 —— 从 8月7日 到 8月20日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7104" y="1700784"/>
            <a:ext cx="5138928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实际发出的内容与本应完成的节点对比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47104" y="2029968"/>
            <a:ext cx="5138928" cy="1682496"/>
          </a:xfrm>
          <a:prstGeom prst="rect">
            <a:avLst/>
          </a:prstGeom>
          <a:solidFill>
            <a:srgbClr val="FDECEA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093976"/>
            <a:ext cx="484632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8月5日 · D1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已发出自我介绍：姓名、岗位、电话，并表示会陪伴家长一起照护孩子的眼健康。但完全没有提到眼镜 —— 没有预计时长，也没有下一步。D1 只做了一半。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8月11–12日 · D6-7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什么都没有。没有制作进度告知，做好没做好都没说。只有 8月7日的两通电话，没有留下任何家长可以回看的文字。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8月20日 · CD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在客户尚未回复、且此前从未发过使用说明的情况下就发出了会员权益。权益应在取镜当天、客户回复之后再发。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8月20日之后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什么都没有。CD+3-5、CD+14 和 CD+30 从未发出。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7104" y="3767328"/>
            <a:ext cx="5138928" cy="274320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跟进节奏检查</a:t>
            </a:r>
            <a:r>
              <a:rPr sz="850" b="0" i="0">
                <a:solidFill>
                  <a:srgbClr val="CFE6D8"/>
                </a:solidFill>
                <a:latin typeface="Arial"/>
                <a:ea typeface="Microsoft YaHei"/>
                <a:cs typeface="Microsoft YaHei"/>
              </a:rPr>
              <a:t>     本应完成的节点 —— </a:t>
            </a:r>
            <a:r>
              <a:rPr sz="8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MC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7104" y="4078224"/>
            <a:ext cx="1101851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取镜前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0104" y="4078224"/>
            <a:ext cx="1673351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CD  ·  取镜当天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04604" y="4078224"/>
            <a:ext cx="2244852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取镜后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47104" y="4279392"/>
            <a:ext cx="530352" cy="420624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~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186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8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D6-7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8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90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0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使用说明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1604" y="4279392"/>
            <a:ext cx="530352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1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会员权益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1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33104" y="4279392"/>
            <a:ext cx="530352" cy="420624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33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转介绍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~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046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4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CD+3-5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4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76104" y="4279392"/>
            <a:ext cx="530352" cy="420624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76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95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n/a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476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47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7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119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19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19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4718304"/>
            <a:ext cx="5138928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7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  已完成     </a:t>
            </a:r>
            <a:r>
              <a:rPr sz="7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~  部分完成     </a:t>
            </a:r>
            <a:r>
              <a:rPr sz="7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  未完成     </a:t>
            </a:r>
            <a:r>
              <a:rPr sz="7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n/a  该产品无需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47104" y="4937760"/>
            <a:ext cx="5138928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权益日期核对</a:t>
            </a:r>
            <a:r>
              <a:rPr sz="850" b="0" i="0">
                <a:solidFill>
                  <a:srgbClr val="FDECEA"/>
                </a:solidFill>
                <a:latin typeface="Arial"/>
                <a:ea typeface="Microsoft YaHei"/>
                <a:cs typeface="Microsoft YaHei"/>
              </a:rPr>
              <a:t>     备注名上的日期是取镜日期吗？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4710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4710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备注名日期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4710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8月17日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2726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2726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权益发出日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2726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8月20日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0742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相差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0742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+3 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87584" y="5248656"/>
            <a:ext cx="1243584" cy="475488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8758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8758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无法判定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65392" y="5760720"/>
            <a:ext cx="5102352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只相差三天。在认定备注名日期正确之前，请先与追踪表核对这一例。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998464"/>
            <a:ext cx="64008" cy="438912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5998464"/>
            <a:ext cx="11119104" cy="43891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46304" rIns="109728"/>
          <a:lstStyle/>
          <a:p>
            <a:pPr algn="l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把眼镜的制作时长补进 D1，让 D1 完整。然后是第 6-7 天的进度告知、取镜时的使用说明，以及之后完整的跟进节奏。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四、案例复盘   |   CTE D7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CTE D7 —— 五家门店中 D1 与取镜环节做得最好的一家，但日期写错了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3112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Mắt Sài Gòn  |  视光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1183112" cy="310896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28016" rIns="109728"/>
          <a:lstStyle/>
          <a:p>
            <a:pPr algn="l"/>
            <a:r>
              <a:rPr sz="9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MCY 260811  Tâm 女士 · Lưu Ngọc Hân 与 Lưu Gia Hân 小朋友   ·   </a:t>
            </a:r>
            <a:r>
              <a:rPr sz="9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MC · 近视防控  ·  两个孩子共用一个联系人  ·  CTE D7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00784"/>
            <a:ext cx="5888736" cy="4242816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pic>
        <p:nvPicPr>
          <p:cNvPr id="10" name="Picture 9" descr="Screenshot 2026-09-23 193518.png"/>
          <p:cNvPicPr>
            <a:picLocks noChangeAspect="1"/>
          </p:cNvPicPr>
          <p:nvPr/>
        </p:nvPicPr>
        <p:blipFill>
          <a:blip r:embed="rId2"/>
          <a:srcRect b="1500"/>
          <a:stretch>
            <a:fillRect/>
          </a:stretch>
        </p:blipFill>
        <p:spPr>
          <a:xfrm>
            <a:off x="612190" y="1700784"/>
            <a:ext cx="5670194" cy="4242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47104" y="1700784"/>
            <a:ext cx="5138928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这位 DA 做得好的地方 —— 前两点值得照做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7104" y="2029968"/>
            <a:ext cx="5138928" cy="1682496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2093976"/>
            <a:ext cx="484632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8月12日 · D1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发出了两个孩子的验光结果，随后把制作情况讲清楚：镜片按孩子自己的度数定制，大约需要 7–10 天，并承诺会持续告知进度。自我介绍和预计时长，两项都做到了。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8月18–19日 · D6-7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第 6-7 天没有进度告知。做好的通知是 8月24日才发出的，距下单已有 12 天。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8月24日 · 取镜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眼镜做好后，她询问家长何时方便，建议带孩子到店检查佩戴贴合度，并推荐了工作日人少的时段。非常好。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8月30日 · 会员权益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完整发出会员权益，并附上转介绍规则。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47104" y="3767328"/>
            <a:ext cx="5138928" cy="274320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跟进节奏检查</a:t>
            </a:r>
            <a:r>
              <a:rPr sz="850" b="0" i="0">
                <a:solidFill>
                  <a:srgbClr val="CFE6D8"/>
                </a:solidFill>
                <a:latin typeface="Arial"/>
                <a:ea typeface="Microsoft YaHei"/>
                <a:cs typeface="Microsoft YaHei"/>
              </a:rPr>
              <a:t>     本应完成的节点 —— </a:t>
            </a:r>
            <a:r>
              <a:rPr sz="8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MC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7104" y="4078224"/>
            <a:ext cx="1101851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取镜前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0104" y="4078224"/>
            <a:ext cx="1673351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CD  ·  取镜当天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04604" y="4078224"/>
            <a:ext cx="2244852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取镜后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7104" y="4279392"/>
            <a:ext cx="530352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18604" y="4279392"/>
            <a:ext cx="530352" cy="420624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8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D6-7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8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~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90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0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使用说明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1604" y="4279392"/>
            <a:ext cx="530352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1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会员权益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1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33104" y="4279392"/>
            <a:ext cx="530352" cy="420624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33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转介绍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3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~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046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4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CD+3-5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4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76104" y="4279392"/>
            <a:ext cx="530352" cy="420624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76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76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95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n/a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476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47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47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19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19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7104" y="4718304"/>
            <a:ext cx="5138928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7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  已完成     </a:t>
            </a:r>
            <a:r>
              <a:rPr sz="7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~  部分完成     </a:t>
            </a:r>
            <a:r>
              <a:rPr sz="7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  未完成     </a:t>
            </a:r>
            <a:r>
              <a:rPr sz="7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n/a  该产品无需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47104" y="4937760"/>
            <a:ext cx="5138928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权益日期核对</a:t>
            </a:r>
            <a:r>
              <a:rPr sz="850" b="0" i="0">
                <a:solidFill>
                  <a:srgbClr val="FDECEA"/>
                </a:solidFill>
                <a:latin typeface="Arial"/>
                <a:ea typeface="Microsoft YaHei"/>
                <a:cs typeface="Microsoft YaHei"/>
              </a:rPr>
              <a:t>     备注名上的日期是取镜日期吗？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4710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4710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备注名日期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4710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8月11日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2726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2726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权益发出日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2726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8月30日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0742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0742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相差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0742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+19 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87584" y="5248656"/>
            <a:ext cx="1243584" cy="475488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8758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8758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很可能有误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65392" y="5760720"/>
            <a:ext cx="5102352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眼镜是 8月24日 才做好的，所以 8月11日 不可能是取镜日期。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998464"/>
            <a:ext cx="64008" cy="438912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6928" y="5998464"/>
            <a:ext cx="11119104" cy="43891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46304" rIns="109728"/>
          <a:lstStyle/>
          <a:p>
            <a:pPr algn="l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五家门店中最好的 D1。请先把备注名上的日期改对，再把关怀延续到权益信息之后。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四、案例复盘   |   NGT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NGT —— 信息写得好，但家长只能自己开口问，而且日期写错了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3112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Mắt Sài Gòn  |  视光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1183112" cy="310896"/>
          </a:xfrm>
          <a:prstGeom prst="rect">
            <a:avLst/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28016" rIns="109728"/>
          <a:lstStyle/>
          <a:p>
            <a:pPr algn="l"/>
            <a:r>
              <a:rPr sz="95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KTY 260815  MINH NGỌC 小朋友的妈妈   ·   </a:t>
            </a:r>
            <a:r>
              <a:rPr sz="9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框架眼镜  ·  NGT  ·  到 8月15日 家长还在问眼镜到了没有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00784"/>
            <a:ext cx="5888736" cy="4242816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pic>
        <p:nvPicPr>
          <p:cNvPr id="10" name="Picture 9" descr="NGT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24770"/>
            <a:ext cx="5760720" cy="299493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71600" y="3611880"/>
            <a:ext cx="2423160" cy="2286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73152" rIns="73152"/>
          <a:lstStyle/>
          <a:p>
            <a:pPr algn="ctr">
              <a:lnSpc>
                <a:spcPct val="104000"/>
              </a:lnSpc>
            </a:pPr>
            <a:r>
              <a:rPr sz="75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家长只能自己开口问 —— 门店没有主动告知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7104" y="1700784"/>
            <a:ext cx="5138928" cy="310896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实际发出的内容与本应完成的节点对比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47104" y="2029968"/>
            <a:ext cx="5138928" cy="1682496"/>
          </a:xfrm>
          <a:prstGeom prst="rect">
            <a:avLst/>
          </a:prstGeom>
          <a:solidFill>
            <a:srgbClr val="FDF6E3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093976"/>
            <a:ext cx="484632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8月15日之前 · D1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已发出自我介绍：姓名、岗位和电话，接着说“中心一有眼镜我就立刻告诉您”。家长道谢后，她只回了一句“Dạ vâng ạ”。两次机会都没有说出具体天数。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8月15日 · D6-7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“Em ơi! Kính của bé có chưa em？”家长只能自己开口问。第 6-7 天的进度告知从未发出，承诺也就没有兑现。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8月17日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一通呼出未接的电话，随后是一通 30 秒的来电。没有任何文字信息。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8月24日 · 会员权益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完整发出会员权益，附代金券和转介绍规则。写得好，也贴合这位家长。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8月24日之后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什么都没有。CD+3-5、CD+7 和 CD+30 从未发出。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7104" y="3767328"/>
            <a:ext cx="5138928" cy="274320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跟进节奏检查</a:t>
            </a:r>
            <a:r>
              <a:rPr sz="850" b="0" i="0">
                <a:solidFill>
                  <a:srgbClr val="CFE6D8"/>
                </a:solidFill>
                <a:latin typeface="Arial"/>
                <a:ea typeface="Microsoft YaHei"/>
                <a:cs typeface="Microsoft YaHei"/>
              </a:rPr>
              <a:t>     本应完成的节点 —— </a:t>
            </a:r>
            <a:r>
              <a:rPr sz="8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框架眼镜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7104" y="4078224"/>
            <a:ext cx="1101851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取镜前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0104" y="4078224"/>
            <a:ext cx="1673351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CD  ·  取镜当天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04604" y="4078224"/>
            <a:ext cx="2244852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取镜后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47104" y="4279392"/>
            <a:ext cx="530352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186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8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D6-7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8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90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0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使用说明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1604" y="4279392"/>
            <a:ext cx="530352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1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会员权益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1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33104" y="4279392"/>
            <a:ext cx="530352" cy="420624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33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转介绍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~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046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4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CD+3-5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4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76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76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47604" y="4279392"/>
            <a:ext cx="530352" cy="420624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47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7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95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119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19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19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4718304"/>
            <a:ext cx="5138928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7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  已完成     </a:t>
            </a:r>
            <a:r>
              <a:rPr sz="7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~  部分完成     </a:t>
            </a:r>
            <a:r>
              <a:rPr sz="7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  未完成     </a:t>
            </a:r>
            <a:r>
              <a:rPr sz="7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n/a  该产品无需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47104" y="4937760"/>
            <a:ext cx="5138928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权益日期核对</a:t>
            </a:r>
            <a:r>
              <a:rPr sz="850" b="0" i="0">
                <a:solidFill>
                  <a:srgbClr val="FDECEA"/>
                </a:solidFill>
                <a:latin typeface="Arial"/>
                <a:ea typeface="Microsoft YaHei"/>
                <a:cs typeface="Microsoft YaHei"/>
              </a:rPr>
              <a:t>     备注名上的日期是取镜日期吗？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4710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4710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备注名日期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4710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8月15日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2726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2726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权益发出日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2726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8月24日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0742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相差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0742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+9 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87584" y="5248656"/>
            <a:ext cx="1243584" cy="475488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8758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8758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很可能有误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65392" y="5760720"/>
            <a:ext cx="5102352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8月15日 家长还在问眼镜在哪里 —— 8月15日 是下单日期。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998464"/>
            <a:ext cx="64008" cy="438912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5998464"/>
            <a:ext cx="11119104" cy="43891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46304" rIns="109728"/>
          <a:lstStyle/>
          <a:p>
            <a:pPr algn="l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请在客户取镜当天就把日期改对，并发出第 6-7 天的进度告知，让家长永远不必自己开口问。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四、案例复盘   |   SH (SONG HAN)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SH —— 跟进节奏还没开始，而备注名也看不出该按哪一套节奏走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3112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Mắt Sài Gòn  |  视光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1183112" cy="310896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28016" rIns="109728"/>
          <a:lstStyle/>
          <a:p>
            <a:pPr algn="l"/>
            <a:r>
              <a:rPr sz="95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Huy Phan 905092982 BVĐ   ·   </a:t>
            </a:r>
            <a:r>
              <a:rPr sz="9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SH (Song Han)  ·  没有产品代码、没有日期、没有孩子姓名  ·  整段对话只有一条信息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00784"/>
            <a:ext cx="5888736" cy="4242816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pic>
        <p:nvPicPr>
          <p:cNvPr id="10" name="Picture 9" descr="SH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392" y="1700784"/>
            <a:ext cx="3721699" cy="4242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148840" y="2148840"/>
            <a:ext cx="2971800" cy="310896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73152" rIns="73152"/>
          <a:lstStyle/>
          <a:p>
            <a:pPr algn="ctr">
              <a:lnSpc>
                <a:spcPct val="104000"/>
              </a:lnSpc>
            </a:pPr>
            <a:r>
              <a:rPr sz="8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备注名：没有产品代码、没有日期、没有孩子姓名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3566160"/>
            <a:ext cx="2971800" cy="29260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73152" rIns="73152"/>
          <a:lstStyle/>
          <a:p>
            <a:pPr algn="ctr">
              <a:lnSpc>
                <a:spcPct val="104000"/>
              </a:lnSpc>
            </a:pPr>
            <a:r>
              <a:rPr sz="8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这段对话没有任何其他信息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47104" y="1700784"/>
            <a:ext cx="5138928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整段对话包含哪些内容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47104" y="2029968"/>
            <a:ext cx="5138928" cy="1682496"/>
          </a:xfrm>
          <a:prstGeom prst="rect">
            <a:avLst/>
          </a:prstGeom>
          <a:solidFill>
            <a:srgbClr val="FDECEA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2093976"/>
            <a:ext cx="484632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备注名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“Huy Phan 905092982 BVĐ”。没有产品代码，就无法判断客户属于 MC、框架眼镜还是 Ortho-K —— 因此根本无法安排任何跟进节奏。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9月22日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只有一条信息：Thúy 再次确认 Phan Phạm Minh Châu 小朋友 16:30 的验光预约。信息礼貌清楚，但发生在客户购买之前。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其余全部内容   </a:t>
            </a:r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没有 D1 自我介绍、没有制作进度告知、没有使用说明、没有会员权益、没有关怀、没有科普内容。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7104" y="3767328"/>
            <a:ext cx="5138928" cy="274320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跟进节奏检查</a:t>
            </a:r>
            <a:r>
              <a:rPr sz="850" b="0" i="0">
                <a:solidFill>
                  <a:srgbClr val="CFE6D8"/>
                </a:solidFill>
                <a:latin typeface="Arial"/>
                <a:ea typeface="Microsoft YaHei"/>
                <a:cs typeface="Microsoft YaHei"/>
              </a:rPr>
              <a:t>     本应完成的节点 —— </a:t>
            </a:r>
            <a:r>
              <a:rPr sz="8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无法确定 —— 缺产品代码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7104" y="4078224"/>
            <a:ext cx="1101851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取镜前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90104" y="4078224"/>
            <a:ext cx="1673351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CD  ·  取镜当天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04604" y="4078224"/>
            <a:ext cx="2244852" cy="182880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9144" rIns="9144"/>
          <a:lstStyle/>
          <a:p>
            <a:pPr algn="ctr"/>
            <a:r>
              <a:rPr sz="6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取镜后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47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186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8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D6-7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90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0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使用说明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16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1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会员权益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1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33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33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转介绍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46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4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CD+3-5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4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76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76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76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476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476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476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119104" y="4279392"/>
            <a:ext cx="530352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19104" y="4311396"/>
            <a:ext cx="530352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CD+30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19104" y="4462272"/>
            <a:ext cx="530352" cy="21945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47104" y="4718304"/>
            <a:ext cx="5138928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70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✓  已完成     </a:t>
            </a:r>
            <a:r>
              <a:rPr sz="700" b="1" i="0">
                <a:solidFill>
                  <a:srgbClr val="B9770B"/>
                </a:solidFill>
                <a:latin typeface="Arial"/>
                <a:ea typeface="Microsoft YaHei"/>
                <a:cs typeface="Microsoft YaHei"/>
              </a:rPr>
              <a:t>~  部分完成     </a:t>
            </a:r>
            <a:r>
              <a:rPr sz="70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✕  未完成     </a:t>
            </a:r>
            <a:r>
              <a:rPr sz="7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n/a  该产品无需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47104" y="4937760"/>
            <a:ext cx="5138928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09728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权益日期核对</a:t>
            </a:r>
            <a:r>
              <a:rPr sz="850" b="0" i="0">
                <a:solidFill>
                  <a:srgbClr val="FDECEA"/>
                </a:solidFill>
                <a:latin typeface="Arial"/>
                <a:ea typeface="Microsoft YaHei"/>
                <a:cs typeface="Microsoft YaHei"/>
              </a:rPr>
              <a:t>     备注名上的日期是取镜日期吗？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4710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4710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备注名日期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4710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没有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2726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2726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权益发出日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2726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没有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07424" y="5248656"/>
            <a:ext cx="1243584" cy="4754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0742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相差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0742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387584" y="5248656"/>
            <a:ext cx="1243584" cy="475488"/>
          </a:xfrm>
          <a:prstGeom prst="rect">
            <a:avLst/>
          </a:prstGeom>
          <a:solidFill>
            <a:srgbClr val="F7F8F7"/>
          </a:solidFill>
          <a:ln w="9525">
            <a:solidFill>
              <a:srgbClr val="5C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87584" y="5285232"/>
            <a:ext cx="1243584" cy="14630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6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87584" y="5431536"/>
            <a:ext cx="1243584" cy="237744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无法判定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65392" y="5760720"/>
            <a:ext cx="5102352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既没有日期也没有发过权益，因此在备注名补全之前无法核对。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5998464"/>
            <a:ext cx="64008" cy="438912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6928" y="5998464"/>
            <a:ext cx="11119104" cy="43891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46304" rIns="109728"/>
          <a:lstStyle/>
          <a:p>
            <a:pPr algn="l"/>
            <a:r>
              <a:rPr sz="105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先把联系人备注补全 —— 产品代码、日期、孩子姓名。在此之前什么都无法安排、也无法统计。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2E9C4C"/>
                </a:solidFill>
                <a:latin typeface="Arial"/>
                <a:ea typeface="Microsoft YaHei"/>
                <a:cs typeface="Microsoft YaHei"/>
              </a:rPr>
              <a:t>五、下一步行动   |   培训重点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明天的两项重点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3112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Mắt Sài Gòn  |  视光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1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5486400" cy="393192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5486400" cy="5486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" y="1536192"/>
            <a:ext cx="310896" cy="310896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9144" rIns="9144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481328"/>
            <a:ext cx="475488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把日期记对</a:t>
            </a:r>
          </a:p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包括以前记错的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" y="2103120"/>
            <a:ext cx="5193792" cy="9144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212848"/>
            <a:ext cx="5193792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备注名上的日期必须是客户取镜的那一天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在客户取镜当天就更新，不要拖到本周晚些时候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回头逐一检查现有联系人，把记错的日期改正过来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自查方法：发出权益信息的日期应与备注名上的日期一致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日期没改对之前，追踪表上的任何数据都不可信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" y="4187952"/>
            <a:ext cx="5193792" cy="950976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64592" rIns="164592"/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日期记对，否则什么都统计不了。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353312"/>
            <a:ext cx="5486400" cy="393192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353312"/>
            <a:ext cx="5486400" cy="54864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45936" y="1536192"/>
            <a:ext cx="310896" cy="310896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 lIns="9144" rIns="9144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1481328"/>
            <a:ext cx="475488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每一个到期节点都要发信息</a:t>
            </a:r>
          </a:p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从 D1 一直到 CD+30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45936" y="2103120"/>
            <a:ext cx="5193792" cy="9144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212848"/>
            <a:ext cx="5193792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D1：自我介绍，并告知眼镜的制作时长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第 6-7 天：告知制作进度，做好没做好都要说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CD：先发使用说明，客户回复后发会员权益，然后提出转介绍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之后是 CD+3-5、按产品区分的 CD+7 或 CD+14，以及 CD+30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▪  </a:t>
            </a:r>
            <a:r>
              <a:rPr sz="10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每一位配镜客户，而不是其中一部分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187952"/>
            <a:ext cx="5193792" cy="950976"/>
          </a:xfrm>
          <a:prstGeom prst="rect">
            <a:avLst/>
          </a:prstGeom>
          <a:solidFill>
            <a:srgbClr val="E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64592" rIns="164592"/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31633D"/>
                </a:solidFill>
                <a:latin typeface="Arial"/>
                <a:ea typeface="Microsoft YaHei"/>
                <a:cs typeface="Microsoft YaHei"/>
              </a:rPr>
              <a:t>权益是 CD 的一部分，不能用来代替 CD。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431536"/>
            <a:ext cx="11183112" cy="402336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46304" rIns="128016"/>
          <a:lstStyle/>
          <a:p>
            <a:pPr algn="l"/>
            <a:r>
              <a:rPr sz="950" b="1" i="0">
                <a:solidFill>
                  <a:srgbClr val="C0392B"/>
                </a:solidFill>
                <a:latin typeface="Arial"/>
                <a:ea typeface="Microsoft YaHei"/>
                <a:cs typeface="Microsoft YaHei"/>
              </a:rPr>
              <a:t>SH (Song Han) 的单独问题：  </a:t>
            </a:r>
            <a:r>
              <a:rPr sz="950" b="0" i="0">
                <a:solidFill>
                  <a:srgbClr val="5C6B62"/>
                </a:solidFill>
                <a:latin typeface="Arial"/>
                <a:ea typeface="Microsoft YaHei"/>
                <a:cs typeface="Microsoft YaHei"/>
              </a:rPr>
              <a:t>几乎没有客户联系人做过备注，也从未发出任何会员权益内容。请从备注名开始 —— 其他所有统计都依赖于它。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925312"/>
            <a:ext cx="11183112" cy="457200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每一位客户。    按时发出。    内容正确。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