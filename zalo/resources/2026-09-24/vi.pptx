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Rectangle 2"/>
          <p:cNvSpPr/>
          <p:nvPr/>
        </p:nvSpPr>
        <p:spPr>
          <a:xfrm>
            <a:off x="0" y="0"/>
            <a:ext cx="12188952" cy="14630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 name="Rectangle 3"/>
          <p:cNvSpPr/>
          <p:nvPr/>
        </p:nvSpPr>
        <p:spPr>
          <a:xfrm>
            <a:off x="0" y="5989320"/>
            <a:ext cx="12188952" cy="868680"/>
          </a:xfrm>
          <a:prstGeom prst="rect">
            <a:avLst/>
          </a:prstGeom>
          <a:solidFill>
            <a:srgbClr val="27513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 name="TextBox 4"/>
          <p:cNvSpPr txBox="1"/>
          <p:nvPr/>
        </p:nvSpPr>
        <p:spPr>
          <a:xfrm>
            <a:off x="566928" y="2048256"/>
            <a:ext cx="10424160" cy="210312"/>
          </a:xfrm>
          <a:prstGeom prst="rect">
            <a:avLst/>
          </a:prstGeom>
          <a:noFill/>
        </p:spPr>
        <p:txBody>
          <a:bodyPr wrap="square" lIns="45720" rIns="45720" tIns="18288" bIns="18288">
            <a:spAutoFit/>
          </a:bodyPr>
          <a:lstStyle/>
          <a:p>
            <a:pPr algn="l"/>
            <a:r>
              <a:rPr sz="1200" b="1" i="0">
                <a:solidFill>
                  <a:srgbClr val="CFE6D8"/>
                </a:solidFill>
                <a:latin typeface="Arial"/>
              </a:rPr>
              <a:t>24 tháng 9 năm 2026</a:t>
            </a:r>
          </a:p>
        </p:txBody>
      </p:sp>
      <p:sp>
        <p:nvSpPr>
          <p:cNvPr id="6" name="TextBox 5"/>
          <p:cNvSpPr txBox="1"/>
          <p:nvPr/>
        </p:nvSpPr>
        <p:spPr>
          <a:xfrm>
            <a:off x="566928" y="2414016"/>
            <a:ext cx="10607040" cy="621792"/>
          </a:xfrm>
          <a:prstGeom prst="rect">
            <a:avLst/>
          </a:prstGeom>
          <a:noFill/>
        </p:spPr>
        <p:txBody>
          <a:bodyPr wrap="square" lIns="45720" rIns="45720" tIns="18288" bIns="18288">
            <a:spAutoFit/>
          </a:bodyPr>
          <a:lstStyle/>
          <a:p>
            <a:pPr algn="l"/>
            <a:r>
              <a:rPr sz="4000" b="1" i="0">
                <a:solidFill>
                  <a:srgbClr val="CFE6D8"/>
                </a:solidFill>
                <a:latin typeface="Arial"/>
              </a:rPr>
              <a:t>Đào tạo Trợ lý Bác sĩ Khúc xạ</a:t>
            </a:r>
          </a:p>
        </p:txBody>
      </p:sp>
      <p:sp>
        <p:nvSpPr>
          <p:cNvPr id="7" name="Rectangle 6"/>
          <p:cNvSpPr/>
          <p:nvPr/>
        </p:nvSpPr>
        <p:spPr>
          <a:xfrm>
            <a:off x="566928" y="4078224"/>
            <a:ext cx="1920240" cy="457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8" name="TextBox 7"/>
          <p:cNvSpPr txBox="1"/>
          <p:nvPr/>
        </p:nvSpPr>
        <p:spPr>
          <a:xfrm>
            <a:off x="566928" y="4297680"/>
            <a:ext cx="8412480" cy="210312"/>
          </a:xfrm>
          <a:prstGeom prst="rect">
            <a:avLst/>
          </a:prstGeom>
          <a:noFill/>
        </p:spPr>
        <p:txBody>
          <a:bodyPr wrap="square" lIns="45720" rIns="45720" tIns="18288" bIns="18288">
            <a:spAutoFit/>
          </a:bodyPr>
          <a:lstStyle/>
          <a:p>
            <a:pPr algn="l"/>
            <a:r>
              <a:rPr sz="1200" b="1" i="0">
                <a:solidFill>
                  <a:srgbClr val="CFE6D8"/>
                </a:solidFill>
                <a:latin typeface="Arial"/>
              </a:rPr>
              <a:t>NGT   ·   CTE D5   ·   CTE D7   ·   LA   ·   SH (Sông Hàn)</a:t>
            </a:r>
          </a:p>
        </p:txBody>
      </p:sp>
      <p:sp>
        <p:nvSpPr>
          <p:cNvPr id="9" name="TextBox 8"/>
          <p:cNvSpPr txBox="1"/>
          <p:nvPr/>
        </p:nvSpPr>
        <p:spPr>
          <a:xfrm>
            <a:off x="566928" y="6217920"/>
            <a:ext cx="9601200" cy="274320"/>
          </a:xfrm>
          <a:prstGeom prst="rect">
            <a:avLst/>
          </a:prstGeom>
          <a:noFill/>
        </p:spPr>
        <p:txBody>
          <a:bodyPr wrap="square" lIns="45720" rIns="45720" tIns="18288" bIns="18288">
            <a:spAutoFit/>
          </a:bodyPr>
          <a:lstStyle/>
          <a:p>
            <a:pPr algn="l"/>
            <a:r>
              <a:rPr sz="950" b="0" i="0">
                <a:solidFill>
                  <a:srgbClr val="CFE6D8"/>
                </a:solidFill>
                <a:latin typeface="Arial"/>
              </a:rPr>
              <a:t>Tài liệu phục vụ đào tạo và đánh giá DA  ·  Nội dung lấy từ Báo cáo tuần Khúc xạ ngày 23/9/2026  ·  Chỉ dùng nội bộ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1. TUẦN NÀY   |   TUẦN NÀY CÓ GÌ KHÁC</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Tuần này không tính điểm — chỉ phản hồi định tính</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2</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Tuần này bảng theo dõi không được tính điểm. Các phản hồi dưới đây đến từ việc đọc lại hội thoại tại từng chi nhánh. Có hai việc phải thay đổi ở mọi chi nhánh, và nhịp chăm sóc phải được giữ đúng với mọi khách hàng.</a:t>
            </a:r>
          </a:p>
        </p:txBody>
      </p:sp>
      <p:sp>
        <p:nvSpPr>
          <p:cNvPr id="9" name="Rectangle 8"/>
          <p:cNvSpPr/>
          <p:nvPr/>
        </p:nvSpPr>
        <p:spPr>
          <a:xfrm>
            <a:off x="502920" y="1591056"/>
            <a:ext cx="11183112" cy="859536"/>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8595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Oval 10"/>
          <p:cNvSpPr/>
          <p:nvPr/>
        </p:nvSpPr>
        <p:spPr>
          <a:xfrm>
            <a:off x="676656" y="1728216"/>
            <a:ext cx="292608" cy="292608"/>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000" b="1" i="0">
                <a:solidFill>
                  <a:srgbClr val="FFFFFF"/>
                </a:solidFill>
                <a:latin typeface="Arial"/>
              </a:rPr>
              <a:t>01</a:t>
            </a:r>
          </a:p>
        </p:txBody>
      </p:sp>
      <p:sp>
        <p:nvSpPr>
          <p:cNvPr id="12" name="TextBox 11"/>
          <p:cNvSpPr txBox="1"/>
          <p:nvPr/>
        </p:nvSpPr>
        <p:spPr>
          <a:xfrm>
            <a:off x="1078992" y="1709928"/>
            <a:ext cx="4023360" cy="658368"/>
          </a:xfrm>
          <a:prstGeom prst="rect">
            <a:avLst/>
          </a:prstGeom>
          <a:noFill/>
        </p:spPr>
        <p:txBody>
          <a:bodyPr wrap="square" lIns="45720" rIns="45720" tIns="18288" bIns="18288" anchor="t">
            <a:spAutoFit/>
          </a:bodyPr>
          <a:lstStyle/>
          <a:p>
            <a:pPr algn="l">
              <a:lnSpc>
                <a:spcPct val="108000"/>
              </a:lnSpc>
            </a:pPr>
            <a:r>
              <a:rPr sz="1050" b="1" i="0">
                <a:solidFill>
                  <a:srgbClr val="31633D"/>
                </a:solidFill>
                <a:latin typeface="Arial"/>
              </a:rPr>
              <a:t>Cập nhật tên liên hệ Zalo theo đúng ngày khách nhận kính</a:t>
            </a:r>
          </a:p>
        </p:txBody>
      </p:sp>
      <p:sp>
        <p:nvSpPr>
          <p:cNvPr id="13" name="TextBox 12"/>
          <p:cNvSpPr txBox="1"/>
          <p:nvPr/>
        </p:nvSpPr>
        <p:spPr>
          <a:xfrm>
            <a:off x="5175504" y="1728216"/>
            <a:ext cx="6455664" cy="658368"/>
          </a:xfrm>
          <a:prstGeom prst="rect">
            <a:avLst/>
          </a:prstGeom>
          <a:noFill/>
        </p:spPr>
        <p:txBody>
          <a:bodyPr wrap="square" lIns="45720" rIns="45720" tIns="18288" bIns="18288" anchor="t">
            <a:spAutoFit/>
          </a:bodyPr>
          <a:lstStyle/>
          <a:p>
            <a:pPr algn="l">
              <a:lnSpc>
                <a:spcPct val="110000"/>
              </a:lnSpc>
            </a:pPr>
            <a:r>
              <a:rPr sz="850" b="0" i="0">
                <a:solidFill>
                  <a:srgbClr val="5C6B62"/>
                </a:solidFill>
                <a:latin typeface="Arial"/>
              </a:rPr>
              <a:t>Ngày ghi trên tên liên hệ phải là ngày khách thực sự nhận kính. Mọi mốc chăm sóc mà CRM tính đều đếm từ ngày đó, nên nếu ngày sai thì CD+3-5, CD+7, CD+14 và CD+30 đều lệch ngày — và việc bạn đã làm sẽ bị tính là chưa làm.</a:t>
            </a:r>
          </a:p>
        </p:txBody>
      </p:sp>
      <p:sp>
        <p:nvSpPr>
          <p:cNvPr id="14" name="Rectangle 13"/>
          <p:cNvSpPr/>
          <p:nvPr/>
        </p:nvSpPr>
        <p:spPr>
          <a:xfrm>
            <a:off x="502920" y="2523744"/>
            <a:ext cx="11183112" cy="859536"/>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Rectangle 14"/>
          <p:cNvSpPr/>
          <p:nvPr/>
        </p:nvSpPr>
        <p:spPr>
          <a:xfrm>
            <a:off x="502920" y="2523744"/>
            <a:ext cx="54864" cy="859536"/>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6" name="Oval 15"/>
          <p:cNvSpPr/>
          <p:nvPr/>
        </p:nvSpPr>
        <p:spPr>
          <a:xfrm>
            <a:off x="676656" y="2660903"/>
            <a:ext cx="292608" cy="292608"/>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000" b="1" i="0">
                <a:solidFill>
                  <a:srgbClr val="FFFFFF"/>
                </a:solidFill>
                <a:latin typeface="Arial"/>
              </a:rPr>
              <a:t>02</a:t>
            </a:r>
          </a:p>
        </p:txBody>
      </p:sp>
      <p:sp>
        <p:nvSpPr>
          <p:cNvPr id="17" name="TextBox 16"/>
          <p:cNvSpPr txBox="1"/>
          <p:nvPr/>
        </p:nvSpPr>
        <p:spPr>
          <a:xfrm>
            <a:off x="1078992" y="2642615"/>
            <a:ext cx="4023360" cy="658368"/>
          </a:xfrm>
          <a:prstGeom prst="rect">
            <a:avLst/>
          </a:prstGeom>
          <a:noFill/>
        </p:spPr>
        <p:txBody>
          <a:bodyPr wrap="square" lIns="45720" rIns="45720" tIns="18288" bIns="18288" anchor="t">
            <a:spAutoFit/>
          </a:bodyPr>
          <a:lstStyle/>
          <a:p>
            <a:pPr algn="l">
              <a:lnSpc>
                <a:spcPct val="108000"/>
              </a:lnSpc>
            </a:pPr>
            <a:r>
              <a:rPr sz="1050" b="1" i="0">
                <a:solidFill>
                  <a:srgbClr val="31633D"/>
                </a:solidFill>
                <a:latin typeface="Arial"/>
              </a:rPr>
              <a:t>Gửi quyền lợi thành viên ngay trong ngày khách nhận kính</a:t>
            </a:r>
          </a:p>
        </p:txBody>
      </p:sp>
      <p:sp>
        <p:nvSpPr>
          <p:cNvPr id="18" name="TextBox 17"/>
          <p:cNvSpPr txBox="1"/>
          <p:nvPr/>
        </p:nvSpPr>
        <p:spPr>
          <a:xfrm>
            <a:off x="5175504" y="2660903"/>
            <a:ext cx="6455664" cy="658368"/>
          </a:xfrm>
          <a:prstGeom prst="rect">
            <a:avLst/>
          </a:prstGeom>
          <a:noFill/>
        </p:spPr>
        <p:txBody>
          <a:bodyPr wrap="square" lIns="45720" rIns="45720" tIns="18288" bIns="18288" anchor="t">
            <a:spAutoFit/>
          </a:bodyPr>
          <a:lstStyle/>
          <a:p>
            <a:pPr algn="l">
              <a:lnSpc>
                <a:spcPct val="110000"/>
              </a:lnSpc>
            </a:pPr>
            <a:r>
              <a:rPr sz="850" b="0" i="0">
                <a:solidFill>
                  <a:srgbClr val="5C6B62"/>
                </a:solidFill>
                <a:latin typeface="Arial"/>
              </a:rPr>
              <a:t>Quyền lợi phải được gửi trong ngày khách nhận kính, không phải vài ngày sau. Tuần này quyền lợi là tin duy nhất gần như luôn được gửi, nhưng thường gửi muộn — ở CTE D5 tên liên hệ ghi ngày 17/8 còn tin quyền lợi gửi ngày 20/8.</a:t>
            </a:r>
          </a:p>
        </p:txBody>
      </p:sp>
      <p:sp>
        <p:nvSpPr>
          <p:cNvPr id="19" name="Rectangle 18"/>
          <p:cNvSpPr/>
          <p:nvPr/>
        </p:nvSpPr>
        <p:spPr>
          <a:xfrm>
            <a:off x="502920" y="3584448"/>
            <a:ext cx="111831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FFFFFF"/>
                </a:solidFill>
                <a:latin typeface="Arial"/>
              </a:rPr>
              <a:t>GIỮ ĐÚNG NHỊP CHĂM SÓC</a:t>
            </a:r>
            <a:r>
              <a:rPr sz="950" b="0" i="0">
                <a:solidFill>
                  <a:srgbClr val="CFE6D8"/>
                </a:solidFill>
                <a:latin typeface="Arial"/>
              </a:rPr>
              <a:t>     Phải thực hiện đầy đủ các mốc này với mọi khách hàng</a:t>
            </a:r>
          </a:p>
        </p:txBody>
      </p:sp>
      <p:sp>
        <p:nvSpPr>
          <p:cNvPr id="20" name="Rectangle 19"/>
          <p:cNvSpPr/>
          <p:nvPr/>
        </p:nvSpPr>
        <p:spPr>
          <a:xfrm>
            <a:off x="502920"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TextBox 20"/>
          <p:cNvSpPr txBox="1"/>
          <p:nvPr/>
        </p:nvSpPr>
        <p:spPr>
          <a:xfrm>
            <a:off x="630936"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CD+3-5</a:t>
            </a:r>
          </a:p>
        </p:txBody>
      </p:sp>
      <p:sp>
        <p:nvSpPr>
          <p:cNvPr id="22" name="TextBox 21"/>
          <p:cNvSpPr txBox="1"/>
          <p:nvPr/>
        </p:nvSpPr>
        <p:spPr>
          <a:xfrm>
            <a:off x="630936"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kiểm tra chăm sóc</a:t>
            </a:r>
          </a:p>
        </p:txBody>
      </p:sp>
      <p:sp>
        <p:nvSpPr>
          <p:cNvPr id="23" name="TextBox 22"/>
          <p:cNvSpPr txBox="1"/>
          <p:nvPr/>
        </p:nvSpPr>
        <p:spPr>
          <a:xfrm>
            <a:off x="630936"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Hỏi xem bé dùng kính thế nào, rồi đề nghị giới thiệu sau khi khách phản hồi</a:t>
            </a:r>
          </a:p>
        </p:txBody>
      </p:sp>
      <p:sp>
        <p:nvSpPr>
          <p:cNvPr id="24" name="Rectangle 23"/>
          <p:cNvSpPr/>
          <p:nvPr/>
        </p:nvSpPr>
        <p:spPr>
          <a:xfrm>
            <a:off x="3300984"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TextBox 24"/>
          <p:cNvSpPr txBox="1"/>
          <p:nvPr/>
        </p:nvSpPr>
        <p:spPr>
          <a:xfrm>
            <a:off x="3429000"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CD+7</a:t>
            </a:r>
          </a:p>
        </p:txBody>
      </p:sp>
      <p:sp>
        <p:nvSpPr>
          <p:cNvPr id="26" name="TextBox 25"/>
          <p:cNvSpPr txBox="1"/>
          <p:nvPr/>
        </p:nvSpPr>
        <p:spPr>
          <a:xfrm>
            <a:off x="3429000"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kiểm tra sử dụng</a:t>
            </a:r>
          </a:p>
        </p:txBody>
      </p:sp>
      <p:sp>
        <p:nvSpPr>
          <p:cNvPr id="27" name="TextBox 26"/>
          <p:cNvSpPr txBox="1"/>
          <p:nvPr/>
        </p:nvSpPr>
        <p:spPr>
          <a:xfrm>
            <a:off x="3429000"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Kiểm tra việc sử dụng, mời chỉnh gọng miễn phí, quyền lợi, đề nghị giới thiệu</a:t>
            </a:r>
          </a:p>
        </p:txBody>
      </p:sp>
      <p:sp>
        <p:nvSpPr>
          <p:cNvPr id="28" name="Rectangle 27"/>
          <p:cNvSpPr/>
          <p:nvPr/>
        </p:nvSpPr>
        <p:spPr>
          <a:xfrm>
            <a:off x="6099048"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227064"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CD+14</a:t>
            </a:r>
          </a:p>
        </p:txBody>
      </p:sp>
      <p:sp>
        <p:nvSpPr>
          <p:cNvPr id="30" name="TextBox 29"/>
          <p:cNvSpPr txBox="1"/>
          <p:nvPr/>
        </p:nvSpPr>
        <p:spPr>
          <a:xfrm>
            <a:off x="6227064"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kiến thức cận thị</a:t>
            </a:r>
          </a:p>
        </p:txBody>
      </p:sp>
      <p:sp>
        <p:nvSpPr>
          <p:cNvPr id="31" name="TextBox 30"/>
          <p:cNvSpPr txBox="1"/>
          <p:nvPr/>
        </p:nvSpPr>
        <p:spPr>
          <a:xfrm>
            <a:off x="6227064"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Kiểm tra việc sử dụng, nhắc đeo ≥ 12 giờ mỗi ngày, gửi nội dung kiến thức</a:t>
            </a:r>
          </a:p>
        </p:txBody>
      </p:sp>
      <p:sp>
        <p:nvSpPr>
          <p:cNvPr id="32" name="Rectangle 31"/>
          <p:cNvSpPr/>
          <p:nvPr/>
        </p:nvSpPr>
        <p:spPr>
          <a:xfrm>
            <a:off x="8897112"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9025128"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CD+30</a:t>
            </a:r>
          </a:p>
        </p:txBody>
      </p:sp>
      <p:sp>
        <p:nvSpPr>
          <p:cNvPr id="34" name="TextBox 33"/>
          <p:cNvSpPr txBox="1"/>
          <p:nvPr/>
        </p:nvSpPr>
        <p:spPr>
          <a:xfrm>
            <a:off x="9025128"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rà soát sử dụng</a:t>
            </a:r>
          </a:p>
        </p:txBody>
      </p:sp>
      <p:sp>
        <p:nvSpPr>
          <p:cNvPr id="35" name="TextBox 34"/>
          <p:cNvSpPr txBox="1"/>
          <p:nvPr/>
        </p:nvSpPr>
        <p:spPr>
          <a:xfrm>
            <a:off x="9025128"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Kiểm tra việc sử dụng, gửi nội dung kiến thức, quyền lợi, đề nghị giới thiệu</a:t>
            </a:r>
          </a:p>
        </p:txBody>
      </p:sp>
      <p:sp>
        <p:nvSpPr>
          <p:cNvPr id="36" name="TextBox 35"/>
          <p:cNvSpPr txBox="1"/>
          <p:nvPr/>
        </p:nvSpPr>
        <p:spPr>
          <a:xfrm>
            <a:off x="502920" y="4663440"/>
            <a:ext cx="11183112" cy="164592"/>
          </a:xfrm>
          <a:prstGeom prst="rect">
            <a:avLst/>
          </a:prstGeom>
          <a:noFill/>
        </p:spPr>
        <p:txBody>
          <a:bodyPr wrap="square" lIns="45720" rIns="45720" tIns="18288" bIns="18288">
            <a:spAutoFit/>
          </a:bodyPr>
          <a:lstStyle/>
          <a:p>
            <a:pPr algn="l"/>
            <a:r>
              <a:rPr sz="800" b="1" i="0">
                <a:solidFill>
                  <a:srgbClr val="31633D"/>
                </a:solidFill>
                <a:latin typeface="Arial"/>
              </a:rPr>
              <a:t>Trước tất cả các mốc trên:  </a:t>
            </a:r>
            <a:r>
              <a:rPr sz="800" b="0" i="0">
                <a:solidFill>
                  <a:srgbClr val="5C6B62"/>
                </a:solidFill>
                <a:latin typeface="Arial"/>
              </a:rPr>
              <a:t>D1 — giới thiệu bản thân và cho biết kính cần bao lâu.   Ngày 6-7 — cập nhật tiến độ, dù kính đã xong hay chưa.   CD — hướng dẫn sử dụng, rồi gửi quyền lợi sau khi khách phản hồi.</a:t>
            </a:r>
          </a:p>
        </p:txBody>
      </p:sp>
      <p:sp>
        <p:nvSpPr>
          <p:cNvPr id="37" name="Rectangle 36"/>
          <p:cNvSpPr/>
          <p:nvPr/>
        </p:nvSpPr>
        <p:spPr>
          <a:xfrm>
            <a:off x="502920" y="4864608"/>
            <a:ext cx="6528816" cy="731520"/>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46304" rIns="146304"/>
          <a:lstStyle/>
          <a:p>
            <a:pPr algn="l">
              <a:spcAft>
                <a:spcPts val="300"/>
              </a:spcAft>
            </a:pPr>
            <a:r>
              <a:rPr sz="950" b="1" i="0">
                <a:solidFill>
                  <a:srgbClr val="B9770B"/>
                </a:solidFill>
                <a:latin typeface="Arial"/>
              </a:rPr>
              <a:t>VẤN ĐỀ CHUNG, TẤT CẢ CHI NHÁNH</a:t>
            </a:r>
          </a:p>
          <a:p>
            <a:pPr algn="l">
              <a:lnSpc>
                <a:spcPct val="108000"/>
              </a:lnSpc>
            </a:pPr>
            <a:r>
              <a:rPr sz="950" b="0" i="0">
                <a:solidFill>
                  <a:srgbClr val="5C6B62"/>
                </a:solidFill>
                <a:latin typeface="Arial"/>
              </a:rPr>
              <a:t>Tin chăm sóc CD+7 và CD+30, nội dung kiến thức và các tin chăm sóc khách hàng đều cần được làm tốt hơn. </a:t>
            </a:r>
            <a:r>
              <a:rPr sz="950" b="1" i="0">
                <a:solidFill>
                  <a:srgbClr val="31633D"/>
                </a:solidFill>
                <a:latin typeface="Arial"/>
              </a:rPr>
              <a:t>Tuần này không chi nhánh nào gửi đủ nhịp chăm sóc sau nhận kính cho tất cả khách được kiểm tra.</a:t>
            </a:r>
          </a:p>
        </p:txBody>
      </p:sp>
      <p:sp>
        <p:nvSpPr>
          <p:cNvPr id="38" name="Rectangle 37"/>
          <p:cNvSpPr/>
          <p:nvPr/>
        </p:nvSpPr>
        <p:spPr>
          <a:xfrm>
            <a:off x="7242048" y="4864608"/>
            <a:ext cx="4443984" cy="731520"/>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28016" rIns="128016"/>
          <a:lstStyle/>
          <a:p>
            <a:pPr algn="l">
              <a:spcAft>
                <a:spcPts val="300"/>
              </a:spcAft>
            </a:pPr>
            <a:r>
              <a:rPr sz="900" b="1" i="0">
                <a:solidFill>
                  <a:srgbClr val="C0392B"/>
                </a:solidFill>
                <a:latin typeface="Arial"/>
              </a:rPr>
              <a:t>TỰ KIỂM TRA NGÀY</a:t>
            </a:r>
          </a:p>
          <a:p>
            <a:pPr algn="l">
              <a:lnSpc>
                <a:spcPct val="106000"/>
              </a:lnSpc>
              <a:spcAft>
                <a:spcPts val="200"/>
              </a:spcAft>
            </a:pPr>
            <a:r>
              <a:rPr sz="750" b="0" i="0">
                <a:solidFill>
                  <a:srgbClr val="5C6B62"/>
                </a:solidFill>
                <a:latin typeface="Arial"/>
              </a:rPr>
              <a:t>So ngày ghi trên tên liên hệ với ngày bạn gửi tin quyền lợi.</a:t>
            </a:r>
          </a:p>
          <a:p>
            <a:pPr algn="l">
              <a:lnSpc>
                <a:spcPct val="106000"/>
              </a:lnSpc>
            </a:pPr>
            <a:r>
              <a:rPr sz="750" b="1" i="0">
                <a:solidFill>
                  <a:srgbClr val="31633D"/>
                </a:solidFill>
                <a:latin typeface="Arial"/>
              </a:rPr>
              <a:t>Cùng ngày → Đúng.    Lệch một tuần hoặc hơn → Có thể sai.    Không có ngày hoặc chưa gửi quyền lợi → Chưa rõ.</a:t>
            </a:r>
          </a:p>
        </p:txBody>
      </p:sp>
      <p:sp>
        <p:nvSpPr>
          <p:cNvPr id="39" name="Rectangle 38"/>
          <p:cNvSpPr/>
          <p:nvPr/>
        </p:nvSpPr>
        <p:spPr>
          <a:xfrm>
            <a:off x="502920" y="5852160"/>
            <a:ext cx="64008" cy="47548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Rectangle 39"/>
          <p:cNvSpPr/>
          <p:nvPr/>
        </p:nvSpPr>
        <p:spPr>
          <a:xfrm>
            <a:off x="566928" y="5852160"/>
            <a:ext cx="11119104" cy="47548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Mọi khách hàng.   Đủ nhịp chăm sóc.   Quyền lợi gửi trong ngày nhận kính.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PHẢN HỒI ZALO   |   THEO TỪNG CHI NHÁNH  ·  1 /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CTE D5, CTE D7 và NGT</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3</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CTE D7 làm tốt phần tiến độ và nhận kính, CTE D5 thì không. NGT viết tin nhắn tốt nhất trong ba chi nhánh nhưng ghi sai ngày trên tất cả.</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 D5</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C0392B"/>
                </a:solidFill>
                <a:latin typeface="Arial"/>
              </a:rPr>
              <a:t>Chỉ có quyền lợi — thiếu toàn bộ phần còn lại của nhịp chăm sóc</a:t>
            </a:r>
          </a:p>
        </p:txBody>
      </p:sp>
      <p:sp>
        <p:nvSpPr>
          <p:cNvPr id="13" name="TextBox 12"/>
          <p:cNvSpPr txBox="1"/>
          <p:nvPr/>
        </p:nvSpPr>
        <p:spPr>
          <a:xfrm>
            <a:off x="694944" y="2377440"/>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Dẫn chứng</a:t>
            </a:r>
          </a:p>
          <a:p>
            <a:pPr algn="l">
              <a:lnSpc>
                <a:spcPct val="104000"/>
              </a:lnSpc>
            </a:pPr>
            <a:r>
              <a:rPr sz="700" b="0" i="0">
                <a:solidFill>
                  <a:srgbClr val="5C6B62"/>
                </a:solidFill>
                <a:latin typeface="Arial"/>
              </a:rPr>
              <a:t>trang 6  ·  MCY-260817, chỉ 3 lần liên hệ từ 5/8 đến 20/8</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Phần ghi chú tên khách hàng nhìn chung là đúng.</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D1 chỉ làm được một nửa — đã giới thiệu bản thân, nhưng không hề nhắc gì đến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Các khách được kiểm tra chỉ nhận được tin về quyền lợi thành viên. Như vậy là còn rất thiếu.</a:t>
            </a:r>
          </a:p>
          <a:p>
            <a:pPr algn="l">
              <a:lnSpc>
                <a:spcPct val="106000"/>
              </a:lnSpc>
              <a:spcAft>
                <a:spcPts val="350"/>
              </a:spcAft>
            </a:pPr>
            <a:r>
              <a:rPr sz="850" b="0" i="0">
                <a:solidFill>
                  <a:srgbClr val="5C6B62"/>
                </a:solidFill>
                <a:latin typeface="Arial"/>
              </a:rPr>
              <a:t>▪  </a:t>
            </a:r>
            <a:r>
              <a:rPr sz="850" b="0" i="0">
                <a:solidFill>
                  <a:srgbClr val="5C6B62"/>
                </a:solidFill>
                <a:latin typeface="Arial"/>
              </a:rPr>
              <a:t>Chưa thực hiện việc thông tin về tiến độ làm kính và việc nhận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Chưa thực hiện tin chăm sóc CD+3-5, CD+7 và CD+30, nội dung kiến thức và chăm sóc khách hàng.</a:t>
            </a:r>
          </a:p>
        </p:txBody>
      </p:sp>
      <p:sp>
        <p:nvSpPr>
          <p:cNvPr id="20" name="Rectangle 19"/>
          <p:cNvSpPr/>
          <p:nvPr/>
        </p:nvSpPr>
        <p:spPr>
          <a:xfrm>
            <a:off x="502920" y="3026663"/>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3"/>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59"/>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 D7</a:t>
            </a:r>
          </a:p>
        </p:txBody>
      </p:sp>
      <p:sp>
        <p:nvSpPr>
          <p:cNvPr id="23" name="TextBox 22"/>
          <p:cNvSpPr txBox="1"/>
          <p:nvPr/>
        </p:nvSpPr>
        <p:spPr>
          <a:xfrm>
            <a:off x="694944" y="3364991"/>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Làm tốt đến ngày nhận kính, sau đó thì dừng</a:t>
            </a:r>
          </a:p>
        </p:txBody>
      </p:sp>
      <p:sp>
        <p:nvSpPr>
          <p:cNvPr id="24" name="TextBox 23"/>
          <p:cNvSpPr txBox="1"/>
          <p:nvPr/>
        </p:nvSpPr>
        <p:spPr>
          <a:xfrm>
            <a:off x="694944" y="3813048"/>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Dẫn chứng</a:t>
            </a:r>
          </a:p>
          <a:p>
            <a:pPr algn="l">
              <a:lnSpc>
                <a:spcPct val="104000"/>
              </a:lnSpc>
            </a:pPr>
            <a:r>
              <a:rPr sz="700" b="0" i="0">
                <a:solidFill>
                  <a:srgbClr val="5C6B62"/>
                </a:solidFill>
                <a:latin typeface="Arial"/>
              </a:rPr>
              <a:t>trang 7  ·  MCY 260811, hai bé trong cùng một liên hệ</a:t>
            </a:r>
          </a:p>
        </p:txBody>
      </p:sp>
      <p:sp>
        <p:nvSpPr>
          <p:cNvPr id="25" name="Rectangle 24"/>
          <p:cNvSpPr/>
          <p:nvPr/>
        </p:nvSpPr>
        <p:spPr>
          <a:xfrm>
            <a:off x="2505456"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3"/>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27" name="TextBox 26"/>
          <p:cNvSpPr txBox="1"/>
          <p:nvPr/>
        </p:nvSpPr>
        <p:spPr>
          <a:xfrm>
            <a:off x="2670048" y="3291839"/>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Việc thông tin về tiến độ làm kính, việc nhận kính và quyền lợi thành viên nhìn chung đã được thực hiện.</a:t>
            </a:r>
          </a:p>
        </p:txBody>
      </p:sp>
      <p:sp>
        <p:nvSpPr>
          <p:cNvPr id="28" name="Rectangle 27"/>
          <p:cNvSpPr/>
          <p:nvPr/>
        </p:nvSpPr>
        <p:spPr>
          <a:xfrm>
            <a:off x="6821424"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3"/>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30" name="TextBox 29"/>
          <p:cNvSpPr txBox="1"/>
          <p:nvPr/>
        </p:nvSpPr>
        <p:spPr>
          <a:xfrm>
            <a:off x="6967728" y="3291839"/>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Tin chăm sóc CD+7 và CD+30 sau khi nhận kính cần được làm tốt hơn.</a:t>
            </a:r>
          </a:p>
          <a:p>
            <a:pPr algn="l">
              <a:lnSpc>
                <a:spcPct val="106000"/>
              </a:lnSpc>
              <a:spcAft>
                <a:spcPts val="350"/>
              </a:spcAft>
            </a:pPr>
            <a:r>
              <a:rPr sz="850" b="0" i="0">
                <a:solidFill>
                  <a:srgbClr val="5C6B62"/>
                </a:solidFill>
                <a:latin typeface="Arial"/>
              </a:rPr>
              <a:t>▪  </a:t>
            </a:r>
            <a:r>
              <a:rPr sz="850" b="0" i="0">
                <a:solidFill>
                  <a:srgbClr val="5C6B62"/>
                </a:solidFill>
                <a:latin typeface="Arial"/>
              </a:rPr>
              <a:t>Nội dung kiến thức và chăm sóc khách hàng cần được làm tốt hơn.</a:t>
            </a:r>
          </a:p>
          <a:p>
            <a:pPr algn="l">
              <a:lnSpc>
                <a:spcPct val="106000"/>
              </a:lnSpc>
              <a:spcAft>
                <a:spcPts val="350"/>
              </a:spcAft>
            </a:pPr>
            <a:r>
              <a:rPr sz="850" b="0" i="0">
                <a:solidFill>
                  <a:srgbClr val="5C6B62"/>
                </a:solidFill>
                <a:latin typeface="Arial"/>
              </a:rPr>
              <a:t>▪  </a:t>
            </a:r>
            <a:r>
              <a:rPr sz="850" b="0" i="0">
                <a:solidFill>
                  <a:srgbClr val="5C6B62"/>
                </a:solidFill>
                <a:latin typeface="Arial"/>
              </a:rPr>
              <a:t>Hai bé dùng chung một liên hệ. Mỗi bé cần một dòng riêng trên bảng theo dõi, nếu không bé thứ hai sẽ không bao giờ vào danh sách chăm sóc.</a:t>
            </a:r>
          </a:p>
        </p:txBody>
      </p:sp>
      <p:sp>
        <p:nvSpPr>
          <p:cNvPr id="31" name="Rectangle 30"/>
          <p:cNvSpPr/>
          <p:nvPr/>
        </p:nvSpPr>
        <p:spPr>
          <a:xfrm>
            <a:off x="502920" y="4462271"/>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Rectangle 31"/>
          <p:cNvSpPr/>
          <p:nvPr/>
        </p:nvSpPr>
        <p:spPr>
          <a:xfrm>
            <a:off x="502920" y="4462271"/>
            <a:ext cx="54864" cy="132588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94944" y="4544567"/>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NGT</a:t>
            </a:r>
          </a:p>
        </p:txBody>
      </p:sp>
      <p:sp>
        <p:nvSpPr>
          <p:cNvPr id="34" name="TextBox 33"/>
          <p:cNvSpPr txBox="1"/>
          <p:nvPr/>
        </p:nvSpPr>
        <p:spPr>
          <a:xfrm>
            <a:off x="694944" y="4800599"/>
            <a:ext cx="1783080" cy="384048"/>
          </a:xfrm>
          <a:prstGeom prst="rect">
            <a:avLst/>
          </a:prstGeom>
          <a:noFill/>
        </p:spPr>
        <p:txBody>
          <a:bodyPr wrap="square" lIns="45720" rIns="45720" tIns="18288" bIns="18288">
            <a:spAutoFit/>
          </a:bodyPr>
          <a:lstStyle/>
          <a:p>
            <a:pPr algn="l">
              <a:lnSpc>
                <a:spcPct val="104000"/>
              </a:lnSpc>
            </a:pPr>
            <a:r>
              <a:rPr sz="800" b="1" i="0">
                <a:solidFill>
                  <a:srgbClr val="B9770B"/>
                </a:solidFill>
                <a:latin typeface="Arial"/>
              </a:rPr>
              <a:t>Viết tốt, ghi sai ngày, không chăm sóc sau nhận kính</a:t>
            </a:r>
          </a:p>
        </p:txBody>
      </p:sp>
      <p:sp>
        <p:nvSpPr>
          <p:cNvPr id="35" name="TextBox 34"/>
          <p:cNvSpPr txBox="1"/>
          <p:nvPr/>
        </p:nvSpPr>
        <p:spPr>
          <a:xfrm>
            <a:off x="694944" y="5248655"/>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Dẫn chứng</a:t>
            </a:r>
          </a:p>
          <a:p>
            <a:pPr algn="l">
              <a:lnSpc>
                <a:spcPct val="104000"/>
              </a:lnSpc>
            </a:pPr>
            <a:r>
              <a:rPr sz="700" b="0" i="0">
                <a:solidFill>
                  <a:srgbClr val="5C6B62"/>
                </a:solidFill>
                <a:latin typeface="Arial"/>
              </a:rPr>
              <a:t>trang 8  ·  KTY 260815, phụ huynh phải tự hỏi kính đã về chưa</a:t>
            </a:r>
          </a:p>
        </p:txBody>
      </p:sp>
      <p:sp>
        <p:nvSpPr>
          <p:cNvPr id="36" name="Rectangle 35"/>
          <p:cNvSpPr/>
          <p:nvPr/>
        </p:nvSpPr>
        <p:spPr>
          <a:xfrm>
            <a:off x="2505456"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7" name="TextBox 36"/>
          <p:cNvSpPr txBox="1"/>
          <p:nvPr/>
        </p:nvSpPr>
        <p:spPr>
          <a:xfrm>
            <a:off x="2670048" y="4553711"/>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38" name="TextBox 37"/>
          <p:cNvSpPr txBox="1"/>
          <p:nvPr/>
        </p:nvSpPr>
        <p:spPr>
          <a:xfrm>
            <a:off x="2670048" y="4727447"/>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Quyền lợi thành viên luôn được gửi đều.</a:t>
            </a:r>
          </a:p>
          <a:p>
            <a:pPr algn="l">
              <a:lnSpc>
                <a:spcPct val="106000"/>
              </a:lnSpc>
              <a:spcAft>
                <a:spcPts val="350"/>
              </a:spcAft>
            </a:pPr>
            <a:r>
              <a:rPr sz="850" b="0" i="0">
                <a:solidFill>
                  <a:srgbClr val="5C6B62"/>
                </a:solidFill>
                <a:latin typeface="Arial"/>
              </a:rPr>
              <a:t>✓  </a:t>
            </a:r>
            <a:r>
              <a:rPr sz="850" b="0" i="0">
                <a:solidFill>
                  <a:srgbClr val="5C6B62"/>
                </a:solidFill>
                <a:latin typeface="Arial"/>
              </a:rPr>
              <a:t>Kịch bản giới thiệu rút gọn đôi khi đã được dùng trong hội thoại với khách.</a:t>
            </a:r>
          </a:p>
          <a:p>
            <a:pPr algn="l">
              <a:lnSpc>
                <a:spcPct val="106000"/>
              </a:lnSpc>
              <a:spcAft>
                <a:spcPts val="350"/>
              </a:spcAft>
            </a:pPr>
            <a:r>
              <a:rPr sz="850" b="0" i="0">
                <a:solidFill>
                  <a:srgbClr val="5C6B62"/>
                </a:solidFill>
                <a:latin typeface="Arial"/>
              </a:rPr>
              <a:t>✓  </a:t>
            </a:r>
            <a:r>
              <a:rPr sz="850" b="0" i="0">
                <a:solidFill>
                  <a:srgbClr val="5C6B62"/>
                </a:solidFill>
                <a:latin typeface="Arial"/>
              </a:rPr>
              <a:t>Bạn ấy viết tin riêng cho từng khách chứ không gửi một đoạn mẫu có sẵn.</a:t>
            </a:r>
          </a:p>
        </p:txBody>
      </p:sp>
      <p:sp>
        <p:nvSpPr>
          <p:cNvPr id="39" name="Rectangle 38"/>
          <p:cNvSpPr/>
          <p:nvPr/>
        </p:nvSpPr>
        <p:spPr>
          <a:xfrm>
            <a:off x="6821424"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TextBox 39"/>
          <p:cNvSpPr txBox="1"/>
          <p:nvPr/>
        </p:nvSpPr>
        <p:spPr>
          <a:xfrm>
            <a:off x="6967728" y="4553711"/>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41" name="TextBox 40"/>
          <p:cNvSpPr txBox="1"/>
          <p:nvPr/>
        </p:nvSpPr>
        <p:spPr>
          <a:xfrm>
            <a:off x="6967728" y="4727447"/>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Ngày ghi trên tên liên hệ Zalo của khách không phải là ngày nhận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Chưa thông tin đầy đủ cho khách trong thời gian làm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Trong 30 ngày đầu sau khi nhận kính, khách không nhận được tin chăm sóc nào hoặc chỉ một tin. Khuyến nghị gửi từ hai đến ba tin chăm sóc.</a:t>
            </a:r>
          </a:p>
        </p:txBody>
      </p:sp>
      <p:sp>
        <p:nvSpPr>
          <p:cNvPr id="42" name="Rectangle 41"/>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3" name="Rectangle 42"/>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CTE D7 cho thấy thế nào là thông tin tiến độ tốt. Cả ba chi nhánh đều dừng lại ở tin quyền lợi.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PHẢN HỒI ZALO   |   THEO TỪNG CHI NHÁNH  ·  2 /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LA và SH (Sông Hàn)</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4</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Hai đầu đối lập. LA là chi nhánh duy nhất mời tái khám đúng hạn; còn SH gần như không có hoạt động DA nào để đánh giá.</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LA</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Tốt nhất trong năm chi nhánh — điểm thiếu là sự đều đặn</a:t>
            </a:r>
          </a:p>
        </p:txBody>
      </p:sp>
      <p:sp>
        <p:nvSpPr>
          <p:cNvPr id="13" name="TextBox 12"/>
          <p:cNvSpPr txBox="1"/>
          <p:nvPr/>
        </p:nvSpPr>
        <p:spPr>
          <a:xfrm>
            <a:off x="694944" y="2377440"/>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Dẫn chứng</a:t>
            </a:r>
          </a:p>
          <a:p>
            <a:pPr algn="l">
              <a:lnSpc>
                <a:spcPct val="104000"/>
              </a:lnSpc>
            </a:pPr>
            <a:r>
              <a:rPr sz="700" b="0" i="0">
                <a:solidFill>
                  <a:srgbClr val="5C6B62"/>
                </a:solidFill>
                <a:latin typeface="Arial"/>
              </a:rPr>
              <a:t>trang 5  ·  MCY 260814, ví dụ nên học theo</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D1 được làm đúng: giới thiệu bản thân, nói rõ bé đặt loại kính gì, và kính cần khoảng 3–10 ngày. D1 tốt nhất trong năm chi nhánh.</a:t>
            </a:r>
          </a:p>
          <a:p>
            <a:pPr algn="l">
              <a:lnSpc>
                <a:spcPct val="106000"/>
              </a:lnSpc>
              <a:spcAft>
                <a:spcPts val="350"/>
              </a:spcAft>
            </a:pPr>
            <a:r>
              <a:rPr sz="850" b="0" i="0">
                <a:solidFill>
                  <a:srgbClr val="5C6B62"/>
                </a:solidFill>
                <a:latin typeface="Arial"/>
              </a:rPr>
              <a:t>✓  </a:t>
            </a:r>
            <a:r>
              <a:rPr sz="850" b="0" i="0">
                <a:solidFill>
                  <a:srgbClr val="5C6B62"/>
                </a:solidFill>
                <a:latin typeface="Arial"/>
              </a:rPr>
              <a:t>Tin chăm sóc ngày 9/9 đặt một câu hỏi thật sự, và phụ huynh đã trả lời ngay sáng hôm sau. Gửi quyền lợi bằng hình ảnh như hiện tại là được.</a:t>
            </a:r>
          </a:p>
          <a:p>
            <a:pPr algn="l">
              <a:lnSpc>
                <a:spcPct val="106000"/>
              </a:lnSpc>
              <a:spcAft>
                <a:spcPts val="350"/>
              </a:spcAft>
            </a:pPr>
            <a:r>
              <a:rPr sz="850" b="0" i="0">
                <a:solidFill>
                  <a:srgbClr val="5C6B62"/>
                </a:solidFill>
                <a:latin typeface="Arial"/>
              </a:rPr>
              <a:t>✓  </a:t>
            </a:r>
            <a:r>
              <a:rPr sz="850" b="0" i="0">
                <a:solidFill>
                  <a:srgbClr val="5C6B62"/>
                </a:solidFill>
                <a:latin typeface="Arial"/>
              </a:rPr>
              <a:t>Tin mời tái khám cho khách kính MC được gửi đúng hạn và có nhắc quyền lợi bảo hành. Chưa chi nhánh nào khác làm đều được như vậy.</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Cần thêm một tin hỏi thăm sau 3–5 ngày kể từ khi nhận kính. Tin chăm sóc ngày 9/9 là đúng, nhưng quá muộn để là tin đầu tiên.</a:t>
            </a:r>
          </a:p>
          <a:p>
            <a:pPr algn="l">
              <a:lnSpc>
                <a:spcPct val="106000"/>
              </a:lnSpc>
              <a:spcAft>
                <a:spcPts val="350"/>
              </a:spcAft>
            </a:pPr>
            <a:r>
              <a:rPr sz="850" b="0" i="0">
                <a:solidFill>
                  <a:srgbClr val="5C6B62"/>
                </a:solidFill>
                <a:latin typeface="Arial"/>
              </a:rPr>
              <a:t>▪  </a:t>
            </a:r>
            <a:r>
              <a:rPr sz="850" b="0" i="0">
                <a:solidFill>
                  <a:srgbClr val="5C6B62"/>
                </a:solidFill>
                <a:latin typeface="Arial"/>
              </a:rPr>
              <a:t>Chưa đề nghị giới thiệu ngay khi phụ huynh phản hồi tích cực. Với khách thành viên đang trao đổi cởi mở, hãy thêm lời đề nghị giới thiệu.</a:t>
            </a:r>
          </a:p>
          <a:p>
            <a:pPr algn="l">
              <a:lnSpc>
                <a:spcPct val="106000"/>
              </a:lnSpc>
              <a:spcAft>
                <a:spcPts val="350"/>
              </a:spcAft>
            </a:pPr>
            <a:r>
              <a:rPr sz="850" b="0" i="0">
                <a:solidFill>
                  <a:srgbClr val="5C6B62"/>
                </a:solidFill>
                <a:latin typeface="Arial"/>
              </a:rPr>
              <a:t>▪  </a:t>
            </a:r>
            <a:r>
              <a:rPr sz="850" b="0" i="0">
                <a:solidFill>
                  <a:srgbClr val="5C6B62"/>
                </a:solidFill>
                <a:latin typeface="Arial"/>
              </a:rPr>
              <a:t>Ngày nhận kính chưa có trên tên liên hệ. Hãy xác nhận và ghi lại ngày đó, để các mốc CD mà CRM tính ra được chính xác.</a:t>
            </a:r>
          </a:p>
        </p:txBody>
      </p:sp>
      <p:sp>
        <p:nvSpPr>
          <p:cNvPr id="20" name="Rectangle 19"/>
          <p:cNvSpPr/>
          <p:nvPr/>
        </p:nvSpPr>
        <p:spPr>
          <a:xfrm>
            <a:off x="502920" y="3026664"/>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4"/>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60"/>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SH</a:t>
            </a:r>
          </a:p>
        </p:txBody>
      </p:sp>
      <p:sp>
        <p:nvSpPr>
          <p:cNvPr id="23" name="TextBox 22"/>
          <p:cNvSpPr txBox="1"/>
          <p:nvPr/>
        </p:nvSpPr>
        <p:spPr>
          <a:xfrm>
            <a:off x="694944" y="3364992"/>
            <a:ext cx="1783080" cy="384048"/>
          </a:xfrm>
          <a:prstGeom prst="rect">
            <a:avLst/>
          </a:prstGeom>
          <a:noFill/>
        </p:spPr>
        <p:txBody>
          <a:bodyPr wrap="square" lIns="45720" rIns="45720" tIns="18288" bIns="18288">
            <a:spAutoFit/>
          </a:bodyPr>
          <a:lstStyle/>
          <a:p>
            <a:pPr algn="l">
              <a:lnSpc>
                <a:spcPct val="104000"/>
              </a:lnSpc>
            </a:pPr>
            <a:r>
              <a:rPr sz="800" b="1" i="0">
                <a:solidFill>
                  <a:srgbClr val="C0392B"/>
                </a:solidFill>
                <a:latin typeface="Arial"/>
              </a:rPr>
              <a:t>Trung tâm mới — hãy đặt chuẩn ngay từ đầu</a:t>
            </a:r>
          </a:p>
        </p:txBody>
      </p:sp>
      <p:sp>
        <p:nvSpPr>
          <p:cNvPr id="24" name="TextBox 23"/>
          <p:cNvSpPr txBox="1"/>
          <p:nvPr/>
        </p:nvSpPr>
        <p:spPr>
          <a:xfrm>
            <a:off x="694944" y="3813048"/>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Dẫn chứng</a:t>
            </a:r>
          </a:p>
          <a:p>
            <a:pPr algn="l">
              <a:lnSpc>
                <a:spcPct val="104000"/>
              </a:lnSpc>
            </a:pPr>
            <a:r>
              <a:rPr sz="700" b="0" i="0">
                <a:solidFill>
                  <a:srgbClr val="5C6B62"/>
                </a:solidFill>
                <a:latin typeface="Arial"/>
              </a:rPr>
              <a:t>trang 9  ·  cả hội thoại chỉ có một tin xác nhận lịch hẹn</a:t>
            </a:r>
          </a:p>
        </p:txBody>
      </p:sp>
      <p:sp>
        <p:nvSpPr>
          <p:cNvPr id="25" name="Rectangle 24"/>
          <p:cNvSpPr/>
          <p:nvPr/>
        </p:nvSpPr>
        <p:spPr>
          <a:xfrm>
            <a:off x="2505456"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4"/>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27" name="TextBox 26"/>
          <p:cNvSpPr txBox="1"/>
          <p:nvPr/>
        </p:nvSpPr>
        <p:spPr>
          <a:xfrm>
            <a:off x="2670048" y="3291840"/>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Tuần này chưa ghi nhận điểm nào.</a:t>
            </a:r>
          </a:p>
        </p:txBody>
      </p:sp>
      <p:sp>
        <p:nvSpPr>
          <p:cNvPr id="28" name="Rectangle 27"/>
          <p:cNvSpPr/>
          <p:nvPr/>
        </p:nvSpPr>
        <p:spPr>
          <a:xfrm>
            <a:off x="6821424"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4"/>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30" name="TextBox 29"/>
          <p:cNvSpPr txBox="1"/>
          <p:nvPr/>
        </p:nvSpPr>
        <p:spPr>
          <a:xfrm>
            <a:off x="6967728" y="3291840"/>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Rất ít liên hệ khách hàng được ghi chú.</a:t>
            </a:r>
          </a:p>
          <a:p>
            <a:pPr algn="l">
              <a:lnSpc>
                <a:spcPct val="106000"/>
              </a:lnSpc>
              <a:spcAft>
                <a:spcPts val="350"/>
              </a:spcAft>
            </a:pPr>
            <a:r>
              <a:rPr sz="850" b="0" i="0">
                <a:solidFill>
                  <a:srgbClr val="5C6B62"/>
                </a:solidFill>
                <a:latin typeface="Arial"/>
              </a:rPr>
              <a:t>▪  </a:t>
            </a:r>
            <a:r>
              <a:rPr sz="850" b="0" i="0">
                <a:solidFill>
                  <a:srgbClr val="5C6B62"/>
                </a:solidFill>
                <a:latin typeface="Arial"/>
              </a:rPr>
              <a:t>Không có nội dung nào về quyền lợi thành viên, và chỉ có rất ít thông tin dịch vụ liên quan đến việc nhận kính và tái khám.</a:t>
            </a:r>
          </a:p>
          <a:p>
            <a:pPr algn="l">
              <a:lnSpc>
                <a:spcPct val="106000"/>
              </a:lnSpc>
              <a:spcAft>
                <a:spcPts val="350"/>
              </a:spcAft>
            </a:pPr>
            <a:r>
              <a:rPr sz="850" b="0" i="0">
                <a:solidFill>
                  <a:srgbClr val="5C6B62"/>
                </a:solidFill>
                <a:latin typeface="Arial"/>
              </a:rPr>
              <a:t>▪  </a:t>
            </a:r>
            <a:r>
              <a:rPr sz="850" b="0" i="0">
                <a:solidFill>
                  <a:srgbClr val="5C6B62"/>
                </a:solidFill>
                <a:latin typeface="Arial"/>
              </a:rPr>
              <a:t>Việc chăm sóc và phục vụ khách đã mua kính rõ ràng còn thiếu.</a:t>
            </a:r>
          </a:p>
          <a:p>
            <a:pPr algn="l">
              <a:lnSpc>
                <a:spcPct val="106000"/>
              </a:lnSpc>
              <a:spcAft>
                <a:spcPts val="350"/>
              </a:spcAft>
            </a:pPr>
            <a:r>
              <a:rPr sz="850" b="0" i="0">
                <a:solidFill>
                  <a:srgbClr val="5C6B62"/>
                </a:solidFill>
                <a:latin typeface="Arial"/>
              </a:rPr>
              <a:t>▪  </a:t>
            </a:r>
            <a:r>
              <a:rPr sz="850" b="0" i="0">
                <a:solidFill>
                  <a:srgbClr val="5C6B62"/>
                </a:solidFill>
                <a:latin typeface="Arial"/>
              </a:rPr>
              <a:t>Vì đây là trung tâm mới và lượng khách còn ít, cần áp dụng chuẩn làm việc của DA thật nghiêm ngay từ đầu.</a:t>
            </a:r>
          </a:p>
        </p:txBody>
      </p:sp>
      <p:sp>
        <p:nvSpPr>
          <p:cNvPr id="31" name="Rectangle 30"/>
          <p:cNvSpPr/>
          <p:nvPr/>
        </p:nvSpPr>
        <p:spPr>
          <a:xfrm>
            <a:off x="502920" y="4517136"/>
            <a:ext cx="11183112" cy="29260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FFFFFF"/>
                </a:solidFill>
                <a:latin typeface="Arial"/>
              </a:rPr>
              <a:t>BỐN CHI NHÁNH CÒN LẠI NÊN HỌC GÌ TỪ LA</a:t>
            </a:r>
          </a:p>
        </p:txBody>
      </p:sp>
      <p:sp>
        <p:nvSpPr>
          <p:cNvPr id="32" name="Rectangle 31"/>
          <p:cNvSpPr/>
          <p:nvPr/>
        </p:nvSpPr>
        <p:spPr>
          <a:xfrm>
            <a:off x="502920"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49224"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Nói rõ khách đã đặt gì, và cần bao lâu</a:t>
            </a:r>
          </a:p>
        </p:txBody>
      </p:sp>
      <p:sp>
        <p:nvSpPr>
          <p:cNvPr id="34" name="TextBox 33"/>
          <p:cNvSpPr txBox="1"/>
          <p:nvPr/>
        </p:nvSpPr>
        <p:spPr>
          <a:xfrm>
            <a:off x="649224"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Tin D1 của LA nêu rõ ngày khám, sản phẩm đã đặt và thời gian dự kiến 3–10 ngày. Phụ huynh không phải hỏi, cũng không phải nhắc.</a:t>
            </a:r>
          </a:p>
        </p:txBody>
      </p:sp>
      <p:sp>
        <p:nvSpPr>
          <p:cNvPr id="35" name="Rectangle 34"/>
          <p:cNvSpPr/>
          <p:nvPr/>
        </p:nvSpPr>
        <p:spPr>
          <a:xfrm>
            <a:off x="4306824"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6" name="TextBox 35"/>
          <p:cNvSpPr txBox="1"/>
          <p:nvPr/>
        </p:nvSpPr>
        <p:spPr>
          <a:xfrm>
            <a:off x="4453128"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Hỏi một câu hỏi thật sau khi khách nhận kính</a:t>
            </a:r>
          </a:p>
        </p:txBody>
      </p:sp>
      <p:sp>
        <p:nvSpPr>
          <p:cNvPr id="37" name="TextBox 36"/>
          <p:cNvSpPr txBox="1"/>
          <p:nvPr/>
        </p:nvSpPr>
        <p:spPr>
          <a:xfrm>
            <a:off x="4453128"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Tin ngày 9/9 hỏi bé đã thích nghi chưa và có nhìn rõ không. Phụ huynh trả lời ngay sáng hôm sau. Một câu mẫu có sẵn sẽ không nhận được phản hồi như vậy.</a:t>
            </a:r>
          </a:p>
        </p:txBody>
      </p:sp>
      <p:sp>
        <p:nvSpPr>
          <p:cNvPr id="38" name="Rectangle 37"/>
          <p:cNvSpPr/>
          <p:nvPr/>
        </p:nvSpPr>
        <p:spPr>
          <a:xfrm>
            <a:off x="8110727"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TextBox 38"/>
          <p:cNvSpPr txBox="1"/>
          <p:nvPr/>
        </p:nvSpPr>
        <p:spPr>
          <a:xfrm>
            <a:off x="8257031"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Mời tái khám đúng hạn, và nói rõ quyền lợi</a:t>
            </a:r>
          </a:p>
        </p:txBody>
      </p:sp>
      <p:sp>
        <p:nvSpPr>
          <p:cNvPr id="40" name="TextBox 39"/>
          <p:cNvSpPr txBox="1"/>
          <p:nvPr/>
        </p:nvSpPr>
        <p:spPr>
          <a:xfrm>
            <a:off x="8257031"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Tin mời tái khám MC của LA được gửi đúng hạn và có nhắc quyền lợi bảo hành — vừa là tin chăm sóc, vừa là tin quyền lợi.</a:t>
            </a:r>
          </a:p>
        </p:txBody>
      </p:sp>
      <p:sp>
        <p:nvSpPr>
          <p:cNvPr id="41" name="Rectangle 40"/>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2" name="Rectangle 41"/>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LA chứng minh rằng làm đủ nhịp chăm sóc là khả thi. SH có ít khách nhất nên có nhiều điều kiện nhất để làm đúng ngay từ đầu.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3. VÍ DỤ NÊN HỌC THEO   |   LA</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900" b="1" i="0">
                <a:solidFill>
                  <a:srgbClr val="31633D"/>
                </a:solidFill>
                <a:latin typeface="Arial"/>
              </a:rPr>
              <a:t>LA — D1 tốt nhất trong năm chi nhánh, và một câu hỏi thật đã nhận được phản hồi</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5</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2E9C4C"/>
                </a:solidFill>
                <a:latin typeface="Arial"/>
              </a:rPr>
              <a:t>MCY 260814  Anh Toàn · PH Nguyễn Quỳnh Chi </a:t>
            </a:r>
            <a:r>
              <a:rPr sz="950" b="0" i="0">
                <a:solidFill>
                  <a:srgbClr val="5C6B62"/>
                </a:solidFill>
                <a:latin typeface="Arial"/>
              </a:rPr>
              <a:t>— và bé Quang Minh, chưa có trên tên liên hệ  ·  MC · kiểm soát cận thị  ·  LA  ·  15/8 → 10/9</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LA_composite.png"/>
          <p:cNvPicPr>
            <a:picLocks noChangeAspect="1"/>
          </p:cNvPicPr>
          <p:nvPr/>
        </p:nvPicPr>
        <p:blipFill>
          <a:blip r:embed="rId2"/>
          <a:stretch>
            <a:fillRect/>
          </a:stretch>
        </p:blipFill>
        <p:spPr>
          <a:xfrm>
            <a:off x="1169974" y="1700784"/>
            <a:ext cx="4554626" cy="4242816"/>
          </a:xfrm>
          <a:prstGeom prst="rect">
            <a:avLst/>
          </a:prstGeom>
        </p:spPr>
      </p:pic>
      <p:sp>
        <p:nvSpPr>
          <p:cNvPr id="11" name="Rectangle 10"/>
          <p:cNvSpPr/>
          <p:nvPr/>
        </p:nvSpPr>
        <p:spPr>
          <a:xfrm>
            <a:off x="2340864" y="4690872"/>
            <a:ext cx="2176272" cy="329184"/>
          </a:xfrm>
          <a:prstGeom prst="rect">
            <a:avLst/>
          </a:prstGeom>
          <a:solidFill>
            <a:srgbClr val="FDF6E3"/>
          </a:solidFill>
          <a:ln w="12700">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B9770B"/>
                </a:solidFill>
                <a:latin typeface="Arial"/>
              </a:rPr>
              <a:t>Đúng lúc nên đề nghị giới thiệu — nhưng bạn ấy đã không đề nghị</a:t>
            </a:r>
          </a:p>
        </p:txBody>
      </p:sp>
      <p:sp>
        <p:nvSpPr>
          <p:cNvPr id="12" name="Rectangle 11"/>
          <p:cNvSpPr/>
          <p:nvPr/>
        </p:nvSpPr>
        <p:spPr>
          <a:xfrm>
            <a:off x="6547104" y="1700784"/>
            <a:ext cx="5138928"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DA này đã làm tốt những gì — nên học theo, trừ các điểm còn thiếu</a:t>
            </a:r>
          </a:p>
        </p:txBody>
      </p:sp>
      <p:sp>
        <p:nvSpPr>
          <p:cNvPr id="13" name="Rectangle 12"/>
          <p:cNvSpPr/>
          <p:nvPr/>
        </p:nvSpPr>
        <p:spPr>
          <a:xfrm>
            <a:off x="6547104" y="2029968"/>
            <a:ext cx="5138928" cy="1682496"/>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750" b="1" i="0">
                <a:solidFill>
                  <a:srgbClr val="2E9C4C"/>
                </a:solidFill>
                <a:latin typeface="Arial"/>
              </a:rPr>
              <a:t>15/8 · D1   </a:t>
            </a:r>
            <a:r>
              <a:rPr sz="750" b="0" i="0">
                <a:solidFill>
                  <a:srgbClr val="5C6B62"/>
                </a:solidFill>
                <a:latin typeface="Arial"/>
              </a:rPr>
              <a:t>Giới thiệu tên, vị trí, trung tâm và số điện thoại — rồi cho biết bé đã khám ngày 14/8 và đặt kính MC, kính cần khoảng 3–10 ngày, và bạn ấy sẽ chủ động liên hệ ngay khi kính về.</a:t>
            </a:r>
          </a:p>
          <a:p>
            <a:pPr algn="l">
              <a:lnSpc>
                <a:spcPct val="105000"/>
              </a:lnSpc>
              <a:spcAft>
                <a:spcPts val="250"/>
              </a:spcAft>
            </a:pPr>
            <a:r>
              <a:rPr sz="750" b="1" i="0">
                <a:solidFill>
                  <a:srgbClr val="2E9C4C"/>
                </a:solidFill>
                <a:latin typeface="Arial"/>
              </a:rPr>
              <a:t>15/8 → 9/9   </a:t>
            </a:r>
            <a:r>
              <a:rPr sz="750" b="0" i="0">
                <a:solidFill>
                  <a:srgbClr val="5C6B62"/>
                </a:solidFill>
                <a:latin typeface="Arial"/>
              </a:rPr>
              <a:t>Suốt 25 ngày không có tin nào trong hội thoại — vì vậy không thể biết ngày nhận kính từ Zalo.</a:t>
            </a:r>
          </a:p>
          <a:p>
            <a:pPr algn="l">
              <a:lnSpc>
                <a:spcPct val="105000"/>
              </a:lnSpc>
              <a:spcAft>
                <a:spcPts val="250"/>
              </a:spcAft>
            </a:pPr>
            <a:r>
              <a:rPr sz="750" b="1" i="0">
                <a:solidFill>
                  <a:srgbClr val="2E9C4C"/>
                </a:solidFill>
                <a:latin typeface="Arial"/>
              </a:rPr>
              <a:t>9/9 · quyền lợi   </a:t>
            </a:r>
            <a:r>
              <a:rPr sz="750" b="0" i="0">
                <a:solidFill>
                  <a:srgbClr val="5C6B62"/>
                </a:solidFill>
                <a:latin typeface="Arial"/>
              </a:rPr>
              <a:t>Đã gửi quyền lợi kèm hình quyền lợi thành viên. Hình như hiện tại là được.</a:t>
            </a:r>
          </a:p>
          <a:p>
            <a:pPr algn="l">
              <a:lnSpc>
                <a:spcPct val="105000"/>
              </a:lnSpc>
              <a:spcAft>
                <a:spcPts val="250"/>
              </a:spcAft>
            </a:pPr>
            <a:r>
              <a:rPr sz="750" b="1" i="0">
                <a:solidFill>
                  <a:srgbClr val="2E9C4C"/>
                </a:solidFill>
                <a:latin typeface="Arial"/>
              </a:rPr>
              <a:t>9/9 · chăm sóc   </a:t>
            </a:r>
            <a:r>
              <a:rPr sz="750" b="0" i="0">
                <a:solidFill>
                  <a:srgbClr val="5C6B62"/>
                </a:solidFill>
                <a:latin typeface="Arial"/>
              </a:rPr>
              <a:t>Bạn ấy không kết thúc bằng tin quyền lợi. Bạn ấy hỏi một câu thật: bé đã thích nghi chưa, bé nhìn có rõ và có thoải mái không?</a:t>
            </a:r>
          </a:p>
          <a:p>
            <a:pPr algn="l">
              <a:lnSpc>
                <a:spcPct val="105000"/>
              </a:lnSpc>
              <a:spcAft>
                <a:spcPts val="250"/>
              </a:spcAft>
            </a:pPr>
            <a:r>
              <a:rPr sz="750" b="1" i="0">
                <a:solidFill>
                  <a:srgbClr val="2E9C4C"/>
                </a:solidFill>
                <a:latin typeface="Arial"/>
              </a:rPr>
              <a:t>10/9 · phản hồi   </a:t>
            </a:r>
            <a:r>
              <a:rPr sz="750" b="0" i="0">
                <a:solidFill>
                  <a:srgbClr val="5C6B62"/>
                </a:solidFill>
                <a:latin typeface="Arial"/>
              </a:rPr>
              <a:t>“Con ổn e ah, cám ơn e” kèm hai trái tim. Đó là kết quả của một câu hỏi thật — và cũng chính là lúc nên đề nghị giới thiệu. Bạn ấy đã không đề nghị.</a:t>
            </a:r>
          </a:p>
          <a:p>
            <a:pPr algn="l">
              <a:lnSpc>
                <a:spcPct val="105000"/>
              </a:lnSpc>
              <a:spcAft>
                <a:spcPts val="0"/>
              </a:spcAft>
            </a:pPr>
            <a:r>
              <a:rPr sz="750" b="1" i="0">
                <a:solidFill>
                  <a:srgbClr val="2E9C4C"/>
                </a:solidFill>
                <a:latin typeface="Arial"/>
              </a:rPr>
              <a:t>CD+30 · tái khám   </a:t>
            </a:r>
            <a:r>
              <a:rPr sz="750" b="0" i="0">
                <a:solidFill>
                  <a:srgbClr val="5C6B62"/>
                </a:solidFill>
                <a:latin typeface="Arial"/>
              </a:rPr>
              <a:t>Mời tái khám miễn phí sau một tháng đeo kính, có nêu tên cả hai bé. Chưa chi nhánh nào khác làm được điều này.</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NHỊP CHĂM SÓC</a:t>
            </a:r>
            <a:r>
              <a:rPr sz="850" b="0" i="0">
                <a:solidFill>
                  <a:srgbClr val="CFE6D8"/>
                </a:solidFill>
                <a:latin typeface="Arial"/>
              </a:rPr>
              <a:t>     mốc đến hạn với </a:t>
            </a:r>
            <a:r>
              <a:rPr sz="850" b="1" i="0">
                <a:solidFill>
                  <a:srgbClr val="FFFFFF"/>
                </a:solidFill>
                <a:latin typeface="Arial"/>
              </a:rPr>
              <a:t>MC</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TRƯỚC KHI NHẬN KÍNH</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NGÀY NHẬN KÍNH</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SAU KHI NHẬN KÍNH</a:t>
            </a:r>
          </a:p>
        </p:txBody>
      </p:sp>
      <p:sp>
        <p:nvSpPr>
          <p:cNvPr id="19" name="Rectangle 18"/>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HƯỚNG DẪN</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QUYỀN LỢI</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GIỚI THIỆU</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0" name="Rectangle 39"/>
          <p:cNvSpPr/>
          <p:nvPr/>
        </p:nvSpPr>
        <p:spPr>
          <a:xfrm>
            <a:off x="10547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43" name="Rectangle 42"/>
          <p:cNvSpPr/>
          <p:nvPr/>
        </p:nvSpPr>
        <p:spPr>
          <a:xfrm>
            <a:off x="11119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đã làm     </a:t>
            </a:r>
            <a:r>
              <a:rPr sz="700" b="1" i="0">
                <a:solidFill>
                  <a:srgbClr val="B9770B"/>
                </a:solidFill>
                <a:latin typeface="Arial"/>
              </a:rPr>
              <a:t>~  một phần     </a:t>
            </a:r>
            <a:r>
              <a:rPr sz="700" b="1" i="0">
                <a:solidFill>
                  <a:srgbClr val="C0392B"/>
                </a:solidFill>
                <a:latin typeface="Arial"/>
              </a:rPr>
              <a:t>✕  chưa làm     </a:t>
            </a:r>
            <a:r>
              <a:rPr sz="700" b="1" i="0">
                <a:solidFill>
                  <a:srgbClr val="5C6B62"/>
                </a:solidFill>
                <a:latin typeface="Arial"/>
              </a:rPr>
              <a:t>n/a  không áp dụng cho sản phẩm này</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NGÀY GỬI QUYỀN LỢI</a:t>
            </a:r>
            <a:r>
              <a:rPr sz="850" b="0" i="0">
                <a:solidFill>
                  <a:srgbClr val="FDECEA"/>
                </a:solidFill>
                <a:latin typeface="Arial"/>
              </a:rPr>
              <a:t>     ngày trên tên liên hệ có đúng là ngày nhận kính không?</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TRÊN TÊN</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14/8</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GỬI QUYỀN LỢI</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9/9</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LỆCH</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+26 ngày</a:t>
            </a:r>
          </a:p>
        </p:txBody>
      </p:sp>
      <p:sp>
        <p:nvSpPr>
          <p:cNvPr id="57" name="Rectangle 56"/>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KẾT LUẬN</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Có thể sai</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Ngày nhận kính nằm đâu đó giữa 14/8 và 9/9. Hãy xác nhận và ghi đúng ngày đó lên thẻ Zalo.</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Hãy học theo tin D1, câu hỏi chăm sóc và tin mời tái khám của bạn ấy. Thêm tin hỏi thăm CD+3-5, đề nghị giới thiệu, và xác nhận lại ngày nhận kính.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PHÂN TÍCH CA   |   CTE D5</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000" b="1" i="0">
                <a:solidFill>
                  <a:srgbClr val="31633D"/>
                </a:solidFill>
                <a:latin typeface="Arial"/>
              </a:rPr>
              <a:t>CTE D5 — chỉ có tin quyền lợi được gửi, ngoài ra không có gì</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6</a:t>
            </a:r>
          </a:p>
        </p:txBody>
      </p:sp>
      <p:sp>
        <p:nvSpPr>
          <p:cNvPr id="8" name="Rectangle 7"/>
          <p:cNvSpPr/>
          <p:nvPr/>
        </p:nvSpPr>
        <p:spPr>
          <a:xfrm>
            <a:off x="502920" y="1280160"/>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C0392B"/>
                </a:solidFill>
                <a:latin typeface="Arial"/>
              </a:rPr>
              <a:t>MCY-260817  Chị Minh · Huỳnh Trí Thành   ·   </a:t>
            </a:r>
            <a:r>
              <a:rPr sz="950" b="0" i="0">
                <a:solidFill>
                  <a:srgbClr val="5C6B62"/>
                </a:solidFill>
                <a:latin typeface="Arial"/>
              </a:rPr>
              <a:t>MC · kiểm soát cận thị  ·  CTE D5  ·  chỉ 3 lần liên hệ từ 5/8 đến 20/8</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creenshot 2026-09-23 193214.png"/>
          <p:cNvPicPr>
            <a:picLocks noChangeAspect="1"/>
          </p:cNvPicPr>
          <p:nvPr/>
        </p:nvPicPr>
        <p:blipFill>
          <a:blip r:embed="rId2"/>
          <a:srcRect b="6600"/>
          <a:stretch>
            <a:fillRect/>
          </a:stretch>
        </p:blipFill>
        <p:spPr>
          <a:xfrm>
            <a:off x="936802" y="1700784"/>
            <a:ext cx="5020970" cy="4242816"/>
          </a:xfrm>
          <a:prstGeom prst="rect">
            <a:avLst/>
          </a:prstGeom>
        </p:spPr>
      </p:pic>
      <p:sp>
        <p:nvSpPr>
          <p:cNvPr id="11" name="Rectangle 10"/>
          <p:cNvSpPr/>
          <p:nvPr/>
        </p:nvSpPr>
        <p:spPr>
          <a:xfrm>
            <a:off x="1188720" y="1938528"/>
            <a:ext cx="3657600" cy="329184"/>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13 ngày không có tin nào — từ 7/8 đến 20/8</a:t>
            </a:r>
          </a:p>
        </p:txBody>
      </p:sp>
      <p:sp>
        <p:nvSpPr>
          <p:cNvPr id="12" name="Rectangle 11"/>
          <p:cNvSpPr/>
          <p:nvPr/>
        </p:nvSpPr>
        <p:spPr>
          <a:xfrm>
            <a:off x="6547104" y="1700784"/>
            <a:ext cx="5138928"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Đã gửi gì so với những gì đến hạn</a:t>
            </a:r>
          </a:p>
        </p:txBody>
      </p:sp>
      <p:sp>
        <p:nvSpPr>
          <p:cNvPr id="13" name="Rectangle 12"/>
          <p:cNvSpPr/>
          <p:nvPr/>
        </p:nvSpPr>
        <p:spPr>
          <a:xfrm>
            <a:off x="6547104" y="2029968"/>
            <a:ext cx="5138928" cy="1682496"/>
          </a:xfrm>
          <a:prstGeom prst="rect">
            <a:avLst/>
          </a:prstGeom>
          <a:solidFill>
            <a:srgbClr val="FDECEA"/>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C0392B"/>
                </a:solidFill>
                <a:latin typeface="Arial"/>
              </a:rPr>
              <a:t>5/8 · D1   </a:t>
            </a:r>
            <a:r>
              <a:rPr sz="800" b="0" i="0">
                <a:solidFill>
                  <a:srgbClr val="5C6B62"/>
                </a:solidFill>
                <a:latin typeface="Arial"/>
              </a:rPr>
              <a:t>Đã giới thiệu: tên, vị trí, số điện thoại và lời đồng hành cùng phụ huynh chăm sóc mắt cho bé. Nhưng không nhắc gì đến kính — không có thời gian dự kiến, không có bước tiếp theo. Chỉ được một nửa của D1.</a:t>
            </a:r>
          </a:p>
          <a:p>
            <a:pPr algn="l">
              <a:lnSpc>
                <a:spcPct val="105000"/>
              </a:lnSpc>
              <a:spcAft>
                <a:spcPts val="250"/>
              </a:spcAft>
            </a:pPr>
            <a:r>
              <a:rPr sz="800" b="1" i="0">
                <a:solidFill>
                  <a:srgbClr val="C0392B"/>
                </a:solidFill>
                <a:latin typeface="Arial"/>
              </a:rPr>
              <a:t>11–12/8 · D6-7   </a:t>
            </a:r>
            <a:r>
              <a:rPr sz="800" b="0" i="0">
                <a:solidFill>
                  <a:srgbClr val="5C6B62"/>
                </a:solidFill>
                <a:latin typeface="Arial"/>
              </a:rPr>
              <a:t>Không có gì. Không cập nhật tiến độ, dù kính đã xong hay chưa. Chỉ có hai cuộc gọi ngày 7/8, không có tin nhắn nào để phụ huynh xem lại.</a:t>
            </a:r>
          </a:p>
          <a:p>
            <a:pPr algn="l">
              <a:lnSpc>
                <a:spcPct val="105000"/>
              </a:lnSpc>
              <a:spcAft>
                <a:spcPts val="250"/>
              </a:spcAft>
            </a:pPr>
            <a:r>
              <a:rPr sz="800" b="1" i="0">
                <a:solidFill>
                  <a:srgbClr val="C0392B"/>
                </a:solidFill>
                <a:latin typeface="Arial"/>
              </a:rPr>
              <a:t>20/8 · CD   </a:t>
            </a:r>
            <a:r>
              <a:rPr sz="800" b="0" i="0">
                <a:solidFill>
                  <a:srgbClr val="5C6B62"/>
                </a:solidFill>
                <a:latin typeface="Arial"/>
              </a:rPr>
              <a:t>Gửi quyền lợi thành viên khi khách chưa phản hồi và chưa hề có hướng dẫn sử dụng trước đó. Quyền lợi phải gửi trong ngày nhận kính, sau khi khách phản hồi.</a:t>
            </a:r>
          </a:p>
          <a:p>
            <a:pPr algn="l">
              <a:lnSpc>
                <a:spcPct val="105000"/>
              </a:lnSpc>
              <a:spcAft>
                <a:spcPts val="0"/>
              </a:spcAft>
            </a:pPr>
            <a:r>
              <a:rPr sz="800" b="1" i="0">
                <a:solidFill>
                  <a:srgbClr val="C0392B"/>
                </a:solidFill>
                <a:latin typeface="Arial"/>
              </a:rPr>
              <a:t>Sau 20/8   </a:t>
            </a:r>
            <a:r>
              <a:rPr sz="800" b="0" i="0">
                <a:solidFill>
                  <a:srgbClr val="5C6B62"/>
                </a:solidFill>
                <a:latin typeface="Arial"/>
              </a:rPr>
              <a:t>Không có gì. CD+3-5, CD+14 và CD+30 chưa bao giờ được gửi.</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NHỊP CHĂM SÓC</a:t>
            </a:r>
            <a:r>
              <a:rPr sz="850" b="0" i="0">
                <a:solidFill>
                  <a:srgbClr val="CFE6D8"/>
                </a:solidFill>
                <a:latin typeface="Arial"/>
              </a:rPr>
              <a:t>     mốc đến hạn với </a:t>
            </a:r>
            <a:r>
              <a:rPr sz="850" b="1" i="0">
                <a:solidFill>
                  <a:srgbClr val="FFFFFF"/>
                </a:solidFill>
                <a:latin typeface="Arial"/>
              </a:rPr>
              <a:t>MC</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TRƯỚC KHI NHẬN KÍNH</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NGÀY NHẬN KÍNH</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SAU KHI NHẬN KÍNH</a:t>
            </a:r>
          </a:p>
        </p:txBody>
      </p:sp>
      <p:sp>
        <p:nvSpPr>
          <p:cNvPr id="19" name="Rectangle 18"/>
          <p:cNvSpPr/>
          <p:nvPr/>
        </p:nvSpPr>
        <p:spPr>
          <a:xfrm>
            <a:off x="6547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HƯỚNG DẪN</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QUYỀN LỢI</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GIỚI THIỆU</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0" name="Rectangle 39"/>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3" name="Rectangle 42"/>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đã làm     </a:t>
            </a:r>
            <a:r>
              <a:rPr sz="700" b="1" i="0">
                <a:solidFill>
                  <a:srgbClr val="B9770B"/>
                </a:solidFill>
                <a:latin typeface="Arial"/>
              </a:rPr>
              <a:t>~  một phần     </a:t>
            </a:r>
            <a:r>
              <a:rPr sz="700" b="1" i="0">
                <a:solidFill>
                  <a:srgbClr val="C0392B"/>
                </a:solidFill>
                <a:latin typeface="Arial"/>
              </a:rPr>
              <a:t>✕  chưa làm     </a:t>
            </a:r>
            <a:r>
              <a:rPr sz="700" b="1" i="0">
                <a:solidFill>
                  <a:srgbClr val="5C6B62"/>
                </a:solidFill>
                <a:latin typeface="Arial"/>
              </a:rPr>
              <a:t>n/a  không áp dụng cho sản phẩm này</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NGÀY GỬI QUYỀN LỢI</a:t>
            </a:r>
            <a:r>
              <a:rPr sz="850" b="0" i="0">
                <a:solidFill>
                  <a:srgbClr val="FDECEA"/>
                </a:solidFill>
                <a:latin typeface="Arial"/>
              </a:rPr>
              <a:t>     ngày trên tên liên hệ có đúng là ngày nhận kính không?</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TRÊN TÊN</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17/8</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GỬI QUYỀN LỢI</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20/8</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LỆCH</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+3 ngày</a:t>
            </a:r>
          </a:p>
        </p:txBody>
      </p:sp>
      <p:sp>
        <p:nvSpPr>
          <p:cNvPr id="57" name="Rectangle 56"/>
          <p:cNvSpPr/>
          <p:nvPr/>
        </p:nvSpPr>
        <p:spPr>
          <a:xfrm>
            <a:off x="10387584" y="5248656"/>
            <a:ext cx="1243584" cy="475488"/>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KẾT LUẬN</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B9770B"/>
                </a:solidFill>
                <a:latin typeface="Arial"/>
              </a:rPr>
              <a:t>Chưa rõ</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Chỉ lệch ba ngày. Hãy đối chiếu ca này với bảng theo dõi trước khi kết luận ngày trên tên là đúng.</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Hoàn thiện D1 bằng thời gian dự kiến của kính. Sau đó là cập nhật ngày 6-7, hướng dẫn sử dụng khi nhận kính, và đủ nhịp chăm sóc sau đó.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PHÂN TÍCH CA   |   CTE D7</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800" b="1" i="0">
                <a:solidFill>
                  <a:srgbClr val="31633D"/>
                </a:solidFill>
                <a:latin typeface="Arial"/>
              </a:rPr>
              <a:t>CTE D7 — xử lý D1 và ngày nhận kính tốt nhất trong năm chi nhánh, nhưng ghi sai ngày</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7</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2E9C4C"/>
                </a:solidFill>
                <a:latin typeface="Arial"/>
              </a:rPr>
              <a:t>MCY 260811  Chị Tâm · bé Lưu Ngọc Hân và bé Lưu Gia Hân   ·   </a:t>
            </a:r>
            <a:r>
              <a:rPr sz="950" b="0" i="0">
                <a:solidFill>
                  <a:srgbClr val="5C6B62"/>
                </a:solidFill>
                <a:latin typeface="Arial"/>
              </a:rPr>
              <a:t>MC · kiểm soát cận thị  ·  hai bé trong cùng một liên hệ  ·  CTE D7</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creenshot 2026-09-23 193518.png"/>
          <p:cNvPicPr>
            <a:picLocks noChangeAspect="1"/>
          </p:cNvPicPr>
          <p:nvPr/>
        </p:nvPicPr>
        <p:blipFill>
          <a:blip r:embed="rId2"/>
          <a:srcRect b="1500"/>
          <a:stretch>
            <a:fillRect/>
          </a:stretch>
        </p:blipFill>
        <p:spPr>
          <a:xfrm>
            <a:off x="612190" y="1700784"/>
            <a:ext cx="5670194" cy="4242816"/>
          </a:xfrm>
          <a:prstGeom prst="rect">
            <a:avLst/>
          </a:prstGeom>
        </p:spPr>
      </p:pic>
      <p:sp>
        <p:nvSpPr>
          <p:cNvPr id="11" name="Rectangle 10"/>
          <p:cNvSpPr/>
          <p:nvPr/>
        </p:nvSpPr>
        <p:spPr>
          <a:xfrm>
            <a:off x="6547104" y="1700784"/>
            <a:ext cx="5138928"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DA này đã làm tốt những gì — nên học theo hai điểm đầu</a:t>
            </a:r>
          </a:p>
        </p:txBody>
      </p:sp>
      <p:sp>
        <p:nvSpPr>
          <p:cNvPr id="12" name="Rectangle 11"/>
          <p:cNvSpPr/>
          <p:nvPr/>
        </p:nvSpPr>
        <p:spPr>
          <a:xfrm>
            <a:off x="6547104" y="2029968"/>
            <a:ext cx="5138928" cy="1682496"/>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2E9C4C"/>
                </a:solidFill>
                <a:latin typeface="Arial"/>
              </a:rPr>
              <a:t>12/8 · D1   </a:t>
            </a:r>
            <a:r>
              <a:rPr sz="800" b="0" i="0">
                <a:solidFill>
                  <a:srgbClr val="5C6B62"/>
                </a:solidFill>
                <a:latin typeface="Arial"/>
              </a:rPr>
              <a:t>Gửi kết quả đo độ của cả hai bé, rồi giải thích rõ tiến độ: kính được đặt riêng theo số đo của bé, cần khoảng 7–10 ngày, và sẽ cập nhật tiến độ cho phụ huynh. Giới thiệu và thời gian dự kiến, cả hai đều đủ.</a:t>
            </a:r>
          </a:p>
          <a:p>
            <a:pPr algn="l">
              <a:lnSpc>
                <a:spcPct val="105000"/>
              </a:lnSpc>
              <a:spcAft>
                <a:spcPts val="250"/>
              </a:spcAft>
            </a:pPr>
            <a:r>
              <a:rPr sz="800" b="1" i="0">
                <a:solidFill>
                  <a:srgbClr val="2E9C4C"/>
                </a:solidFill>
                <a:latin typeface="Arial"/>
              </a:rPr>
              <a:t>18–19/8 · D6-7   </a:t>
            </a:r>
            <a:r>
              <a:rPr sz="800" b="0" i="0">
                <a:solidFill>
                  <a:srgbClr val="5C6B62"/>
                </a:solidFill>
                <a:latin typeface="Arial"/>
              </a:rPr>
              <a:t>Không có cập nhật vào ngày 6-7. Tin thông báo kính đã xong chỉ đến ngày 24/8, tức 12 ngày sau khi đặt.</a:t>
            </a:r>
          </a:p>
          <a:p>
            <a:pPr algn="l">
              <a:lnSpc>
                <a:spcPct val="105000"/>
              </a:lnSpc>
              <a:spcAft>
                <a:spcPts val="250"/>
              </a:spcAft>
            </a:pPr>
            <a:r>
              <a:rPr sz="800" b="1" i="0">
                <a:solidFill>
                  <a:srgbClr val="2E9C4C"/>
                </a:solidFill>
                <a:latin typeface="Arial"/>
              </a:rPr>
              <a:t>24/8 · nhận kính   </a:t>
            </a:r>
            <a:r>
              <a:rPr sz="800" b="0" i="0">
                <a:solidFill>
                  <a:srgbClr val="5C6B62"/>
                </a:solidFill>
                <a:latin typeface="Arial"/>
              </a:rPr>
              <a:t>Kính đã xong. Bạn ấy hỏi phụ huynh khi nào tiện đến nhận, đề nghị đưa bé cùng đến để kiểm tra độ vừa vặn, và gợi ý khung giờ ngày thường ít khách. Rất tốt.</a:t>
            </a:r>
          </a:p>
          <a:p>
            <a:pPr algn="l">
              <a:lnSpc>
                <a:spcPct val="105000"/>
              </a:lnSpc>
              <a:spcAft>
                <a:spcPts val="0"/>
              </a:spcAft>
            </a:pPr>
            <a:r>
              <a:rPr sz="800" b="1" i="0">
                <a:solidFill>
                  <a:srgbClr val="2E9C4C"/>
                </a:solidFill>
                <a:latin typeface="Arial"/>
              </a:rPr>
              <a:t>30/8 · quyền lợi   </a:t>
            </a:r>
            <a:r>
              <a:rPr sz="800" b="0" i="0">
                <a:solidFill>
                  <a:srgbClr val="5C6B62"/>
                </a:solidFill>
                <a:latin typeface="Arial"/>
              </a:rPr>
              <a:t>Gửi đầy đủ quyền lợi thành viên, kèm điều kiện giới thiệu.</a:t>
            </a:r>
          </a:p>
        </p:txBody>
      </p:sp>
      <p:sp>
        <p:nvSpPr>
          <p:cNvPr id="14" name="Rectangle 13"/>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NHỊP CHĂM SÓC</a:t>
            </a:r>
            <a:r>
              <a:rPr sz="850" b="0" i="0">
                <a:solidFill>
                  <a:srgbClr val="CFE6D8"/>
                </a:solidFill>
                <a:latin typeface="Arial"/>
              </a:rPr>
              <a:t>     mốc đến hạn với </a:t>
            </a:r>
            <a:r>
              <a:rPr sz="850" b="1" i="0">
                <a:solidFill>
                  <a:srgbClr val="FFFFFF"/>
                </a:solidFill>
                <a:latin typeface="Arial"/>
              </a:rPr>
              <a:t>MC</a:t>
            </a:r>
          </a:p>
        </p:txBody>
      </p:sp>
      <p:sp>
        <p:nvSpPr>
          <p:cNvPr id="15" name="Rectangle 14"/>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TRƯỚC KHI NHẬN KÍNH</a:t>
            </a:r>
          </a:p>
        </p:txBody>
      </p:sp>
      <p:sp>
        <p:nvSpPr>
          <p:cNvPr id="16" name="Rectangle 15"/>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NGÀY NHẬN KÍNH</a:t>
            </a:r>
          </a:p>
        </p:txBody>
      </p:sp>
      <p:sp>
        <p:nvSpPr>
          <p:cNvPr id="17" name="Rectangle 16"/>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SAU KHI NHẬN KÍNH</a:t>
            </a:r>
          </a:p>
        </p:txBody>
      </p:sp>
      <p:sp>
        <p:nvSpPr>
          <p:cNvPr id="18" name="Rectangle 17"/>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9" name="TextBox 18"/>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0" name="TextBox 19"/>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1" name="Rectangle 20"/>
          <p:cNvSpPr/>
          <p:nvPr/>
        </p:nvSpPr>
        <p:spPr>
          <a:xfrm>
            <a:off x="71186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3" name="TextBox 22"/>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24" name="Rectangle 23"/>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TextBox 24"/>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HƯỚNG DẪN</a:t>
            </a:r>
          </a:p>
        </p:txBody>
      </p:sp>
      <p:sp>
        <p:nvSpPr>
          <p:cNvPr id="26" name="TextBox 25"/>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7" name="Rectangle 26"/>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8" name="TextBox 27"/>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QUYỀN LỢI</a:t>
            </a:r>
          </a:p>
        </p:txBody>
      </p:sp>
      <p:sp>
        <p:nvSpPr>
          <p:cNvPr id="29" name="TextBox 28"/>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0" name="Rectangle 29"/>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1" name="TextBox 30"/>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GIỚI THIỆU</a:t>
            </a:r>
          </a:p>
        </p:txBody>
      </p:sp>
      <p:sp>
        <p:nvSpPr>
          <p:cNvPr id="32" name="TextBox 31"/>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3" name="Rectangle 32"/>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4" name="TextBox 33"/>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5" name="TextBox 34"/>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6" name="Rectangle 35"/>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7" name="TextBox 36"/>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8" name="TextBox 37"/>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39" name="Rectangle 38"/>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TextBox 39"/>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1" name="TextBox 40"/>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2" name="Rectangle 41"/>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3" name="TextBox 42"/>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4" name="TextBox 43"/>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5" name="TextBox 44"/>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đã làm     </a:t>
            </a:r>
            <a:r>
              <a:rPr sz="700" b="1" i="0">
                <a:solidFill>
                  <a:srgbClr val="B9770B"/>
                </a:solidFill>
                <a:latin typeface="Arial"/>
              </a:rPr>
              <a:t>~  một phần     </a:t>
            </a:r>
            <a:r>
              <a:rPr sz="700" b="1" i="0">
                <a:solidFill>
                  <a:srgbClr val="C0392B"/>
                </a:solidFill>
                <a:latin typeface="Arial"/>
              </a:rPr>
              <a:t>✕  chưa làm     </a:t>
            </a:r>
            <a:r>
              <a:rPr sz="700" b="1" i="0">
                <a:solidFill>
                  <a:srgbClr val="5C6B62"/>
                </a:solidFill>
                <a:latin typeface="Arial"/>
              </a:rPr>
              <a:t>n/a  không áp dụng cho sản phẩm này</a:t>
            </a:r>
          </a:p>
        </p:txBody>
      </p:sp>
      <p:sp>
        <p:nvSpPr>
          <p:cNvPr id="46" name="Rectangle 45"/>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NGÀY GỬI QUYỀN LỢI</a:t>
            </a:r>
            <a:r>
              <a:rPr sz="850" b="0" i="0">
                <a:solidFill>
                  <a:srgbClr val="FDECEA"/>
                </a:solidFill>
                <a:latin typeface="Arial"/>
              </a:rPr>
              <a:t>     ngày trên tên liên hệ có đúng là ngày nhận kính không?</a:t>
            </a:r>
          </a:p>
        </p:txBody>
      </p:sp>
      <p:sp>
        <p:nvSpPr>
          <p:cNvPr id="47" name="Rectangle 46"/>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8" name="TextBox 47"/>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TRÊN TÊN</a:t>
            </a:r>
          </a:p>
        </p:txBody>
      </p:sp>
      <p:sp>
        <p:nvSpPr>
          <p:cNvPr id="49" name="TextBox 48"/>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11/8</a:t>
            </a:r>
          </a:p>
        </p:txBody>
      </p:sp>
      <p:sp>
        <p:nvSpPr>
          <p:cNvPr id="50" name="Rectangle 49"/>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1" name="TextBox 50"/>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GỬI QUYỀN LỢI</a:t>
            </a:r>
          </a:p>
        </p:txBody>
      </p:sp>
      <p:sp>
        <p:nvSpPr>
          <p:cNvPr id="52" name="TextBox 51"/>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30/8</a:t>
            </a:r>
          </a:p>
        </p:txBody>
      </p:sp>
      <p:sp>
        <p:nvSpPr>
          <p:cNvPr id="53" name="Rectangle 52"/>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4" name="TextBox 53"/>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LỆCH</a:t>
            </a:r>
          </a:p>
        </p:txBody>
      </p:sp>
      <p:sp>
        <p:nvSpPr>
          <p:cNvPr id="55" name="TextBox 54"/>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+19 ngày</a:t>
            </a:r>
          </a:p>
        </p:txBody>
      </p:sp>
      <p:sp>
        <p:nvSpPr>
          <p:cNvPr id="56" name="Rectangle 55"/>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7" name="TextBox 56"/>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KẾT LUẬN</a:t>
            </a:r>
          </a:p>
        </p:txBody>
      </p:sp>
      <p:sp>
        <p:nvSpPr>
          <p:cNvPr id="58" name="TextBox 57"/>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Có thể sai</a:t>
            </a:r>
          </a:p>
        </p:txBody>
      </p:sp>
      <p:sp>
        <p:nvSpPr>
          <p:cNvPr id="59" name="TextBox 58"/>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Kính chỉ xong ngày 24/8, nên 11/8 không thể là ngày nhận kính.</a:t>
            </a:r>
          </a:p>
        </p:txBody>
      </p:sp>
      <p:sp>
        <p:nvSpPr>
          <p:cNvPr id="60" name="Rectangle 59"/>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1" name="Rectangle 60"/>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D1 tốt nhất trong năm chi nhánh. Hãy sửa ngày trên tên liên hệ, rồi tiếp tục chăm sóc sau tin quyền lợi.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PHÂN TÍCH CA   |   NGT</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900" b="1" i="0">
                <a:solidFill>
                  <a:srgbClr val="31633D"/>
                </a:solidFill>
                <a:latin typeface="Arial"/>
              </a:rPr>
              <a:t>NGT — viết tin tốt, nhưng phụ huynh phải tự hỏi và ngày ghi bị sai</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8</a:t>
            </a:r>
          </a:p>
        </p:txBody>
      </p:sp>
      <p:sp>
        <p:nvSpPr>
          <p:cNvPr id="8" name="Rectangle 7"/>
          <p:cNvSpPr/>
          <p:nvPr/>
        </p:nvSpPr>
        <p:spPr>
          <a:xfrm>
            <a:off x="502920" y="1280160"/>
            <a:ext cx="11183112" cy="310896"/>
          </a:xfrm>
          <a:prstGeom prst="rect">
            <a:avLst/>
          </a:prstGeom>
          <a:solidFill>
            <a:srgbClr val="FDF6E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B9770B"/>
                </a:solidFill>
                <a:latin typeface="Arial"/>
              </a:rPr>
              <a:t>KTY 260815  MẸ BÉ MINH NGỌC   ·   </a:t>
            </a:r>
            <a:r>
              <a:rPr sz="950" b="0" i="0">
                <a:solidFill>
                  <a:srgbClr val="5C6B62"/>
                </a:solidFill>
                <a:latin typeface="Arial"/>
              </a:rPr>
              <a:t>Kính  ·  NGT  ·  đến ngày 15/8 phụ huynh vẫn còn phải hỏi kính đã về chưa</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NGT_composite.png"/>
          <p:cNvPicPr>
            <a:picLocks noChangeAspect="1"/>
          </p:cNvPicPr>
          <p:nvPr/>
        </p:nvPicPr>
        <p:blipFill>
          <a:blip r:embed="rId2"/>
          <a:stretch>
            <a:fillRect/>
          </a:stretch>
        </p:blipFill>
        <p:spPr>
          <a:xfrm>
            <a:off x="566928" y="2324770"/>
            <a:ext cx="5760720" cy="2994934"/>
          </a:xfrm>
          <a:prstGeom prst="rect">
            <a:avLst/>
          </a:prstGeom>
        </p:spPr>
      </p:pic>
      <p:sp>
        <p:nvSpPr>
          <p:cNvPr id="11" name="Rectangle 10"/>
          <p:cNvSpPr/>
          <p:nvPr/>
        </p:nvSpPr>
        <p:spPr>
          <a:xfrm>
            <a:off x="1371600" y="3611880"/>
            <a:ext cx="2423160" cy="228600"/>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750" b="1" i="0">
                <a:solidFill>
                  <a:srgbClr val="C0392B"/>
                </a:solidFill>
                <a:latin typeface="Arial"/>
              </a:rPr>
              <a:t>Phụ huynh phải tự hỏi — chưa có cập nhật nào được gửi</a:t>
            </a:r>
          </a:p>
        </p:txBody>
      </p:sp>
      <p:sp>
        <p:nvSpPr>
          <p:cNvPr id="12" name="Rectangle 11"/>
          <p:cNvSpPr/>
          <p:nvPr/>
        </p:nvSpPr>
        <p:spPr>
          <a:xfrm>
            <a:off x="6547104" y="1700784"/>
            <a:ext cx="5138928" cy="310896"/>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Đã gửi gì so với những gì đến hạn</a:t>
            </a:r>
          </a:p>
        </p:txBody>
      </p:sp>
      <p:sp>
        <p:nvSpPr>
          <p:cNvPr id="13" name="Rectangle 12"/>
          <p:cNvSpPr/>
          <p:nvPr/>
        </p:nvSpPr>
        <p:spPr>
          <a:xfrm>
            <a:off x="6547104" y="2029968"/>
            <a:ext cx="5138928" cy="1682496"/>
          </a:xfrm>
          <a:prstGeom prst="rect">
            <a:avLst/>
          </a:prstGeom>
          <a:solidFill>
            <a:srgbClr val="FDF6E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B9770B"/>
                </a:solidFill>
                <a:latin typeface="Arial"/>
              </a:rPr>
              <a:t>Trước 15/8 · D1   </a:t>
            </a:r>
            <a:r>
              <a:rPr sz="800" b="0" i="0">
                <a:solidFill>
                  <a:srgbClr val="5C6B62"/>
                </a:solidFill>
                <a:latin typeface="Arial"/>
              </a:rPr>
              <a:t>Đã giới thiệu: tên, vị trí và số điện thoại, rồi nói “khi nào bên trung tâm có kính em sẽ báo cho chị ngay”. Phụ huynh cảm ơn và bạn ấy chỉ đáp “Dạ vâng ạ”. Cả hai lần đều không nói số ngày cụ thể.</a:t>
            </a:r>
          </a:p>
          <a:p>
            <a:pPr algn="l">
              <a:lnSpc>
                <a:spcPct val="105000"/>
              </a:lnSpc>
              <a:spcAft>
                <a:spcPts val="250"/>
              </a:spcAft>
            </a:pPr>
            <a:r>
              <a:rPr sz="800" b="1" i="0">
                <a:solidFill>
                  <a:srgbClr val="B9770B"/>
                </a:solidFill>
                <a:latin typeface="Arial"/>
              </a:rPr>
              <a:t>15/8 · D6-7   </a:t>
            </a:r>
            <a:r>
              <a:rPr sz="800" b="0" i="0">
                <a:solidFill>
                  <a:srgbClr val="5C6B62"/>
                </a:solidFill>
                <a:latin typeface="Arial"/>
              </a:rPr>
              <a:t>“Em ơi! Kính của bé có chưa em?” Phụ huynh phải tự hỏi. Tin cập nhật tiến độ ngày 6-7 chưa bao giờ được gửi, nên lời hứa đã không được giữ.</a:t>
            </a:r>
          </a:p>
          <a:p>
            <a:pPr algn="l">
              <a:lnSpc>
                <a:spcPct val="105000"/>
              </a:lnSpc>
              <a:spcAft>
                <a:spcPts val="250"/>
              </a:spcAft>
            </a:pPr>
            <a:r>
              <a:rPr sz="800" b="1" i="0">
                <a:solidFill>
                  <a:srgbClr val="B9770B"/>
                </a:solidFill>
                <a:latin typeface="Arial"/>
              </a:rPr>
              <a:t>17/8   </a:t>
            </a:r>
            <a:r>
              <a:rPr sz="800" b="0" i="0">
                <a:solidFill>
                  <a:srgbClr val="5C6B62"/>
                </a:solidFill>
                <a:latin typeface="Arial"/>
              </a:rPr>
              <a:t>Một cuộc gọi đi bị nhỡ, rồi một cuộc gọi đến 30 giây. Không có tin nhắn nào.</a:t>
            </a:r>
          </a:p>
          <a:p>
            <a:pPr algn="l">
              <a:lnSpc>
                <a:spcPct val="105000"/>
              </a:lnSpc>
              <a:spcAft>
                <a:spcPts val="250"/>
              </a:spcAft>
            </a:pPr>
            <a:r>
              <a:rPr sz="800" b="1" i="0">
                <a:solidFill>
                  <a:srgbClr val="B9770B"/>
                </a:solidFill>
                <a:latin typeface="Arial"/>
              </a:rPr>
              <a:t>24/8 · quyền lợi   </a:t>
            </a:r>
            <a:r>
              <a:rPr sz="800" b="0" i="0">
                <a:solidFill>
                  <a:srgbClr val="5C6B62"/>
                </a:solidFill>
                <a:latin typeface="Arial"/>
              </a:rPr>
              <a:t>Gửi đầy đủ quyền lợi thành viên, kèm voucher và điều kiện giới thiệu. Viết tốt và phù hợp với phụ huynh.</a:t>
            </a:r>
          </a:p>
          <a:p>
            <a:pPr algn="l">
              <a:lnSpc>
                <a:spcPct val="105000"/>
              </a:lnSpc>
              <a:spcAft>
                <a:spcPts val="0"/>
              </a:spcAft>
            </a:pPr>
            <a:r>
              <a:rPr sz="800" b="1" i="0">
                <a:solidFill>
                  <a:srgbClr val="B9770B"/>
                </a:solidFill>
                <a:latin typeface="Arial"/>
              </a:rPr>
              <a:t>Sau 24/8   </a:t>
            </a:r>
            <a:r>
              <a:rPr sz="800" b="0" i="0">
                <a:solidFill>
                  <a:srgbClr val="5C6B62"/>
                </a:solidFill>
                <a:latin typeface="Arial"/>
              </a:rPr>
              <a:t>Không có gì. CD+3-5, CD+7 và CD+30 chưa bao giờ được gửi.</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NHỊP CHĂM SÓC</a:t>
            </a:r>
            <a:r>
              <a:rPr sz="850" b="0" i="0">
                <a:solidFill>
                  <a:srgbClr val="CFE6D8"/>
                </a:solidFill>
                <a:latin typeface="Arial"/>
              </a:rPr>
              <a:t>     mốc đến hạn với </a:t>
            </a:r>
            <a:r>
              <a:rPr sz="850" b="1" i="0">
                <a:solidFill>
                  <a:srgbClr val="FFFFFF"/>
                </a:solidFill>
                <a:latin typeface="Arial"/>
              </a:rPr>
              <a:t>Kính</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TRƯỚC KHI NHẬN KÍNH</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NGÀY NHẬN KÍNH</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SAU KHI NHẬN KÍNH</a:t>
            </a:r>
          </a:p>
        </p:txBody>
      </p:sp>
      <p:sp>
        <p:nvSpPr>
          <p:cNvPr id="19" name="Rectangle 18"/>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HƯỚNG DẪN</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QUYỀN LỢI</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GIỚI THIỆU</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0" name="Rectangle 39"/>
          <p:cNvSpPr/>
          <p:nvPr/>
        </p:nvSpPr>
        <p:spPr>
          <a:xfrm>
            <a:off x="105476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3" name="Rectangle 42"/>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đã làm     </a:t>
            </a:r>
            <a:r>
              <a:rPr sz="700" b="1" i="0">
                <a:solidFill>
                  <a:srgbClr val="B9770B"/>
                </a:solidFill>
                <a:latin typeface="Arial"/>
              </a:rPr>
              <a:t>~  một phần     </a:t>
            </a:r>
            <a:r>
              <a:rPr sz="700" b="1" i="0">
                <a:solidFill>
                  <a:srgbClr val="C0392B"/>
                </a:solidFill>
                <a:latin typeface="Arial"/>
              </a:rPr>
              <a:t>✕  chưa làm     </a:t>
            </a:r>
            <a:r>
              <a:rPr sz="700" b="1" i="0">
                <a:solidFill>
                  <a:srgbClr val="5C6B62"/>
                </a:solidFill>
                <a:latin typeface="Arial"/>
              </a:rPr>
              <a:t>n/a  không áp dụng cho sản phẩm này</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NGÀY GỬI QUYỀN LỢI</a:t>
            </a:r>
            <a:r>
              <a:rPr sz="850" b="0" i="0">
                <a:solidFill>
                  <a:srgbClr val="FDECEA"/>
                </a:solidFill>
                <a:latin typeface="Arial"/>
              </a:rPr>
              <a:t>     ngày trên tên liên hệ có đúng là ngày nhận kính không?</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TRÊN TÊN</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15/8</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GỬI QUYỀN LỢI</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24/8</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LỆCH</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+9 ngày</a:t>
            </a:r>
          </a:p>
        </p:txBody>
      </p:sp>
      <p:sp>
        <p:nvSpPr>
          <p:cNvPr id="57" name="Rectangle 56"/>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KẾT LUẬN</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Có thể sai</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Ngày 15/8 phụ huynh vẫn còn hỏi kính ở đâu — 15/8 là ngày đặt kính.</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Hãy sửa ngày ngay trong ngày khách nhận kính, và gửi cập nhật ngày 6-7 để phụ huynh không bao giờ phải hỏi.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PHÂN TÍCH CA   |   SH (SÔNG HÀN)</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800" b="1" i="0">
                <a:solidFill>
                  <a:srgbClr val="31633D"/>
                </a:solidFill>
                <a:latin typeface="Arial"/>
              </a:rPr>
              <a:t>SH — nhịp chăm sóc chưa bắt đầu, và tên liên hệ không cho biết phải theo nhịp nào</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9</a:t>
            </a:r>
          </a:p>
        </p:txBody>
      </p:sp>
      <p:sp>
        <p:nvSpPr>
          <p:cNvPr id="8" name="Rectangle 7"/>
          <p:cNvSpPr/>
          <p:nvPr/>
        </p:nvSpPr>
        <p:spPr>
          <a:xfrm>
            <a:off x="502920" y="1280160"/>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C0392B"/>
                </a:solidFill>
                <a:latin typeface="Arial"/>
              </a:rPr>
              <a:t>Huy Phan 905092982 BVĐ   ·   </a:t>
            </a:r>
            <a:r>
              <a:rPr sz="950" b="0" i="0">
                <a:solidFill>
                  <a:srgbClr val="5C6B62"/>
                </a:solidFill>
                <a:latin typeface="Arial"/>
              </a:rPr>
              <a:t>SH (Sông Hàn)  ·  không có mã sản phẩm, không có ngày, không có tên bé  ·  cả hội thoại chỉ có một tin</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H_composite.png"/>
          <p:cNvPicPr>
            <a:picLocks noChangeAspect="1"/>
          </p:cNvPicPr>
          <p:nvPr/>
        </p:nvPicPr>
        <p:blipFill>
          <a:blip r:embed="rId2"/>
          <a:stretch>
            <a:fillRect/>
          </a:stretch>
        </p:blipFill>
        <p:spPr>
          <a:xfrm>
            <a:off x="1586392" y="1700784"/>
            <a:ext cx="3721699" cy="4242816"/>
          </a:xfrm>
          <a:prstGeom prst="rect">
            <a:avLst/>
          </a:prstGeom>
        </p:spPr>
      </p:pic>
      <p:sp>
        <p:nvSpPr>
          <p:cNvPr id="11" name="Rectangle 10"/>
          <p:cNvSpPr/>
          <p:nvPr/>
        </p:nvSpPr>
        <p:spPr>
          <a:xfrm>
            <a:off x="2148840" y="2148840"/>
            <a:ext cx="2971800" cy="310896"/>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Tên liên hệ: không có mã sản phẩm, không có ngày, không có tên bé</a:t>
            </a:r>
          </a:p>
        </p:txBody>
      </p:sp>
      <p:sp>
        <p:nvSpPr>
          <p:cNvPr id="12" name="Rectangle 11"/>
          <p:cNvSpPr/>
          <p:nvPr/>
        </p:nvSpPr>
        <p:spPr>
          <a:xfrm>
            <a:off x="2148840" y="3566160"/>
            <a:ext cx="2971800" cy="292608"/>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Hội thoại không có tin nhắn nào khác</a:t>
            </a:r>
          </a:p>
        </p:txBody>
      </p:sp>
      <p:sp>
        <p:nvSpPr>
          <p:cNvPr id="13" name="Rectangle 12"/>
          <p:cNvSpPr/>
          <p:nvPr/>
        </p:nvSpPr>
        <p:spPr>
          <a:xfrm>
            <a:off x="6547104" y="1700784"/>
            <a:ext cx="5138928"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Toàn bộ hội thoại có những gì</a:t>
            </a:r>
          </a:p>
        </p:txBody>
      </p:sp>
      <p:sp>
        <p:nvSpPr>
          <p:cNvPr id="14" name="Rectangle 13"/>
          <p:cNvSpPr/>
          <p:nvPr/>
        </p:nvSpPr>
        <p:spPr>
          <a:xfrm>
            <a:off x="6547104" y="2029968"/>
            <a:ext cx="5138928" cy="1682496"/>
          </a:xfrm>
          <a:prstGeom prst="rect">
            <a:avLst/>
          </a:prstGeom>
          <a:solidFill>
            <a:srgbClr val="FDECEA"/>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C0392B"/>
                </a:solidFill>
                <a:latin typeface="Arial"/>
              </a:rPr>
              <a:t>Tên liên hệ   </a:t>
            </a:r>
            <a:r>
              <a:rPr sz="800" b="0" i="0">
                <a:solidFill>
                  <a:srgbClr val="5C6B62"/>
                </a:solidFill>
                <a:latin typeface="Arial"/>
              </a:rPr>
              <a:t>“Huy Phan 905092982 BVĐ”. Không có mã sản phẩm thì không thể biết khách thuộc MC, Kính hay Ortho-K — nên không thể lên lịch nhịp chăm sóc nào.</a:t>
            </a:r>
          </a:p>
          <a:p>
            <a:pPr algn="l">
              <a:lnSpc>
                <a:spcPct val="105000"/>
              </a:lnSpc>
              <a:spcAft>
                <a:spcPts val="250"/>
              </a:spcAft>
            </a:pPr>
            <a:r>
              <a:rPr sz="800" b="1" i="0">
                <a:solidFill>
                  <a:srgbClr val="C0392B"/>
                </a:solidFill>
                <a:latin typeface="Arial"/>
              </a:rPr>
              <a:t>22/9   </a:t>
            </a:r>
            <a:r>
              <a:rPr sz="800" b="0" i="0">
                <a:solidFill>
                  <a:srgbClr val="5C6B62"/>
                </a:solidFill>
                <a:latin typeface="Arial"/>
              </a:rPr>
              <a:t>Chỉ một tin: bạn Thúy xác nhận lại lịch khám mắt 16:30 của bé Phan Phạm Minh Châu. Tin lịch sự và rõ ràng, nhưng nằm trước thời điểm khách mua kính.</a:t>
            </a:r>
          </a:p>
          <a:p>
            <a:pPr algn="l">
              <a:lnSpc>
                <a:spcPct val="105000"/>
              </a:lnSpc>
              <a:spcAft>
                <a:spcPts val="0"/>
              </a:spcAft>
            </a:pPr>
            <a:r>
              <a:rPr sz="800" b="1" i="0">
                <a:solidFill>
                  <a:srgbClr val="C0392B"/>
                </a:solidFill>
                <a:latin typeface="Arial"/>
              </a:rPr>
              <a:t>Tất cả phần còn lại   </a:t>
            </a:r>
            <a:r>
              <a:rPr sz="800" b="0" i="0">
                <a:solidFill>
                  <a:srgbClr val="5C6B62"/>
                </a:solidFill>
                <a:latin typeface="Arial"/>
              </a:rPr>
              <a:t>Không có tin giới thiệu D1, không cập nhật tiến độ, không hướng dẫn sử dụng, không quyền lợi, không chăm sóc, không nội dung kiến thức.</a:t>
            </a:r>
          </a:p>
        </p:txBody>
      </p:sp>
      <p:sp>
        <p:nvSpPr>
          <p:cNvPr id="16" name="Rectangle 15"/>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NHỊP CHĂM SÓC</a:t>
            </a:r>
            <a:r>
              <a:rPr sz="850" b="0" i="0">
                <a:solidFill>
                  <a:srgbClr val="CFE6D8"/>
                </a:solidFill>
                <a:latin typeface="Arial"/>
              </a:rPr>
              <a:t>     mốc đến hạn với </a:t>
            </a:r>
            <a:r>
              <a:rPr sz="850" b="1" i="0">
                <a:solidFill>
                  <a:srgbClr val="FFFFFF"/>
                </a:solidFill>
                <a:latin typeface="Arial"/>
              </a:rPr>
              <a:t>không rõ — thiếu mã SP</a:t>
            </a:r>
          </a:p>
        </p:txBody>
      </p:sp>
      <p:sp>
        <p:nvSpPr>
          <p:cNvPr id="17" name="Rectangle 16"/>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TRƯỚC KHI NHẬN KÍNH</a:t>
            </a:r>
          </a:p>
        </p:txBody>
      </p:sp>
      <p:sp>
        <p:nvSpPr>
          <p:cNvPr id="18" name="Rectangle 17"/>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NGÀY NHẬN KÍNH</a:t>
            </a:r>
          </a:p>
        </p:txBody>
      </p:sp>
      <p:sp>
        <p:nvSpPr>
          <p:cNvPr id="19" name="Rectangle 18"/>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SAU KHI NHẬN KÍNH</a:t>
            </a:r>
          </a:p>
        </p:txBody>
      </p:sp>
      <p:sp>
        <p:nvSpPr>
          <p:cNvPr id="20" name="Rectangle 19"/>
          <p:cNvSpPr/>
          <p:nvPr/>
        </p:nvSpPr>
        <p:spPr>
          <a:xfrm>
            <a:off x="6547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TextBox 20"/>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2" name="TextBox 21"/>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3" name="Rectangle 22"/>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4" name="TextBox 23"/>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5" name="TextBox 24"/>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6" name="Rectangle 25"/>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7" name="TextBox 26"/>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HƯỚNG DẪN</a:t>
            </a:r>
          </a:p>
        </p:txBody>
      </p:sp>
      <p:sp>
        <p:nvSpPr>
          <p:cNvPr id="28" name="TextBox 27"/>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9" name="Rectangle 28"/>
          <p:cNvSpPr/>
          <p:nvPr/>
        </p:nvSpPr>
        <p:spPr>
          <a:xfrm>
            <a:off x="8261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0" name="TextBox 29"/>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QUYỀN LỢI</a:t>
            </a:r>
          </a:p>
        </p:txBody>
      </p:sp>
      <p:sp>
        <p:nvSpPr>
          <p:cNvPr id="31" name="TextBox 30"/>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2" name="Rectangle 31"/>
          <p:cNvSpPr/>
          <p:nvPr/>
        </p:nvSpPr>
        <p:spPr>
          <a:xfrm>
            <a:off x="8833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GIỚI THIỆU</a:t>
            </a:r>
          </a:p>
        </p:txBody>
      </p:sp>
      <p:sp>
        <p:nvSpPr>
          <p:cNvPr id="34" name="TextBox 33"/>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5" name="Rectangle 34"/>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6" name="TextBox 35"/>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7" name="TextBox 36"/>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8" name="Rectangle 37"/>
          <p:cNvSpPr/>
          <p:nvPr/>
        </p:nvSpPr>
        <p:spPr>
          <a:xfrm>
            <a:off x="9976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TextBox 38"/>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40" name="TextBox 39"/>
          <p:cNvSpPr txBox="1"/>
          <p:nvPr/>
        </p:nvSpPr>
        <p:spPr>
          <a:xfrm>
            <a:off x="9976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1" name="Rectangle 40"/>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2" name="TextBox 41"/>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3" name="TextBox 42"/>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4" name="Rectangle 43"/>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5" name="TextBox 44"/>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6" name="TextBox 45"/>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7" name="TextBox 46"/>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đã làm     </a:t>
            </a:r>
            <a:r>
              <a:rPr sz="700" b="1" i="0">
                <a:solidFill>
                  <a:srgbClr val="B9770B"/>
                </a:solidFill>
                <a:latin typeface="Arial"/>
              </a:rPr>
              <a:t>~  một phần     </a:t>
            </a:r>
            <a:r>
              <a:rPr sz="700" b="1" i="0">
                <a:solidFill>
                  <a:srgbClr val="C0392B"/>
                </a:solidFill>
                <a:latin typeface="Arial"/>
              </a:rPr>
              <a:t>✕  chưa làm     </a:t>
            </a:r>
            <a:r>
              <a:rPr sz="700" b="1" i="0">
                <a:solidFill>
                  <a:srgbClr val="5C6B62"/>
                </a:solidFill>
                <a:latin typeface="Arial"/>
              </a:rPr>
              <a:t>n/a  không áp dụng cho sản phẩm này</a:t>
            </a:r>
          </a:p>
        </p:txBody>
      </p:sp>
      <p:sp>
        <p:nvSpPr>
          <p:cNvPr id="48" name="Rectangle 47"/>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KIỂM TRA NGÀY GỬI QUYỀN LỢI</a:t>
            </a:r>
            <a:r>
              <a:rPr sz="850" b="0" i="0">
                <a:solidFill>
                  <a:srgbClr val="FDECEA"/>
                </a:solidFill>
                <a:latin typeface="Arial"/>
              </a:rPr>
              <a:t>     ngày trên tên liên hệ có đúng là ngày nhận kính không?</a:t>
            </a:r>
          </a:p>
        </p:txBody>
      </p:sp>
      <p:sp>
        <p:nvSpPr>
          <p:cNvPr id="49" name="Rectangle 48"/>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0" name="TextBox 49"/>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TRÊN TÊN</a:t>
            </a:r>
          </a:p>
        </p:txBody>
      </p:sp>
      <p:sp>
        <p:nvSpPr>
          <p:cNvPr id="51" name="TextBox 50"/>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chưa có</a:t>
            </a:r>
          </a:p>
        </p:txBody>
      </p:sp>
      <p:sp>
        <p:nvSpPr>
          <p:cNvPr id="52" name="Rectangle 51"/>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3" name="TextBox 52"/>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NGÀY GỬI QUYỀN LỢI</a:t>
            </a:r>
          </a:p>
        </p:txBody>
      </p:sp>
      <p:sp>
        <p:nvSpPr>
          <p:cNvPr id="54" name="TextBox 53"/>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chưa có</a:t>
            </a:r>
          </a:p>
        </p:txBody>
      </p:sp>
      <p:sp>
        <p:nvSpPr>
          <p:cNvPr id="55" name="Rectangle 54"/>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6" name="TextBox 55"/>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LỆCH</a:t>
            </a:r>
          </a:p>
        </p:txBody>
      </p:sp>
      <p:sp>
        <p:nvSpPr>
          <p:cNvPr id="57" name="TextBox 56"/>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a:t>
            </a:r>
          </a:p>
        </p:txBody>
      </p:sp>
      <p:sp>
        <p:nvSpPr>
          <p:cNvPr id="58" name="Rectangle 57"/>
          <p:cNvSpPr/>
          <p:nvPr/>
        </p:nvSpPr>
        <p:spPr>
          <a:xfrm>
            <a:off x="10387584" y="5248656"/>
            <a:ext cx="1243584" cy="475488"/>
          </a:xfrm>
          <a:prstGeom prst="rect">
            <a:avLst/>
          </a:prstGeom>
          <a:solidFill>
            <a:srgbClr val="F7F8F7"/>
          </a:solidFill>
          <a:ln w="9525">
            <a:solidFill>
              <a:srgbClr val="5C6B62"/>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9" name="TextBox 58"/>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KẾT LUẬN</a:t>
            </a:r>
          </a:p>
        </p:txBody>
      </p:sp>
      <p:sp>
        <p:nvSpPr>
          <p:cNvPr id="60" name="TextBox 59"/>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5C6B62"/>
                </a:solidFill>
                <a:latin typeface="Arial"/>
              </a:rPr>
              <a:t>Chưa rõ</a:t>
            </a:r>
          </a:p>
        </p:txBody>
      </p:sp>
      <p:sp>
        <p:nvSpPr>
          <p:cNvPr id="61" name="TextBox 60"/>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Không có ngày và cũng chưa gửi quyền lợi, nên chưa thể kiểm tra cho đến khi liên hệ được ghi chú đầy đủ.</a:t>
            </a:r>
          </a:p>
        </p:txBody>
      </p:sp>
      <p:sp>
        <p:nvSpPr>
          <p:cNvPr id="62" name="Rectangle 61"/>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3" name="Rectangle 62"/>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Trước tiên hãy ghi chú liên hệ — mã sản phẩm, ngày, tên bé. Chưa làm xong việc đó thì không thể lên lịch hay đo lường được gì.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5. VIỆC CẦN LÀM TIẾP   |   ƯU TIÊN ĐÀO TẠO</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Hai ưu tiên cho ngày mai</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10</a:t>
            </a:r>
          </a:p>
        </p:txBody>
      </p:sp>
      <p:sp>
        <p:nvSpPr>
          <p:cNvPr id="8" name="Rectangle 7"/>
          <p:cNvSpPr/>
          <p:nvPr/>
        </p:nvSpPr>
        <p:spPr>
          <a:xfrm>
            <a:off x="502920" y="1353312"/>
            <a:ext cx="5486400"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9" name="Rectangle 8"/>
          <p:cNvSpPr/>
          <p:nvPr/>
        </p:nvSpPr>
        <p:spPr>
          <a:xfrm>
            <a:off x="502920" y="1353312"/>
            <a:ext cx="5486400"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Oval 9"/>
          <p:cNvSpPr/>
          <p:nvPr/>
        </p:nvSpPr>
        <p:spPr>
          <a:xfrm>
            <a:off x="649224" y="1536192"/>
            <a:ext cx="310896" cy="310896"/>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200" b="1" i="0">
                <a:solidFill>
                  <a:srgbClr val="FFFFFF"/>
                </a:solidFill>
                <a:latin typeface="Arial"/>
              </a:rPr>
              <a:t>1</a:t>
            </a:r>
          </a:p>
        </p:txBody>
      </p:sp>
      <p:sp>
        <p:nvSpPr>
          <p:cNvPr id="11" name="TextBox 10"/>
          <p:cNvSpPr txBox="1"/>
          <p:nvPr/>
        </p:nvSpPr>
        <p:spPr>
          <a:xfrm>
            <a:off x="1051560" y="1481328"/>
            <a:ext cx="4754880" cy="512064"/>
          </a:xfrm>
          <a:prstGeom prst="rect">
            <a:avLst/>
          </a:prstGeom>
          <a:noFill/>
        </p:spPr>
        <p:txBody>
          <a:bodyPr wrap="square" lIns="45720" rIns="45720" tIns="18288" bIns="18288">
            <a:spAutoFit/>
          </a:bodyPr>
          <a:lstStyle/>
          <a:p>
            <a:pPr algn="l">
              <a:lnSpc>
                <a:spcPct val="102000"/>
              </a:lnSpc>
            </a:pPr>
            <a:r>
              <a:rPr sz="1300" b="1" i="0">
                <a:solidFill>
                  <a:srgbClr val="31633D"/>
                </a:solidFill>
                <a:latin typeface="Arial"/>
              </a:rPr>
              <a:t>Ghi đúng ngày</a:t>
            </a:r>
          </a:p>
          <a:p>
            <a:pPr algn="l">
              <a:lnSpc>
                <a:spcPct val="102000"/>
              </a:lnSpc>
            </a:pPr>
            <a:r>
              <a:rPr sz="1300" b="1" i="0">
                <a:solidFill>
                  <a:srgbClr val="31633D"/>
                </a:solidFill>
                <a:latin typeface="Arial"/>
              </a:rPr>
              <a:t>kể cả các ngày cũ</a:t>
            </a:r>
          </a:p>
        </p:txBody>
      </p:sp>
      <p:sp>
        <p:nvSpPr>
          <p:cNvPr id="12" name="Rectangle 11"/>
          <p:cNvSpPr/>
          <p:nvPr/>
        </p:nvSpPr>
        <p:spPr>
          <a:xfrm>
            <a:off x="649224" y="2103120"/>
            <a:ext cx="5193792"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649224" y="2212848"/>
            <a:ext cx="5193792" cy="1828800"/>
          </a:xfrm>
          <a:prstGeom prst="rect">
            <a:avLst/>
          </a:prstGeom>
          <a:noFill/>
        </p:spPr>
        <p:txBody>
          <a:bodyPr wrap="square" lIns="45720" rIns="45720" tIns="18288" bIns="18288">
            <a:spAutoFit/>
          </a:bodyPr>
          <a:lstStyle/>
          <a:p>
            <a:pPr algn="l">
              <a:lnSpc>
                <a:spcPct val="108000"/>
              </a:lnSpc>
              <a:spcAft>
                <a:spcPts val="700"/>
              </a:spcAft>
            </a:pPr>
            <a:r>
              <a:rPr sz="1050" b="0" i="0">
                <a:solidFill>
                  <a:srgbClr val="5C6B62"/>
                </a:solidFill>
                <a:latin typeface="Arial"/>
              </a:rPr>
              <a:t>▪  </a:t>
            </a:r>
            <a:r>
              <a:rPr sz="1050" b="0" i="0">
                <a:solidFill>
                  <a:srgbClr val="5C6B62"/>
                </a:solidFill>
                <a:latin typeface="Arial"/>
              </a:rPr>
              <a:t>Ngày trên tên liên hệ phải là ngày khách nhận kính</a:t>
            </a:r>
          </a:p>
          <a:p>
            <a:pPr algn="l">
              <a:lnSpc>
                <a:spcPct val="108000"/>
              </a:lnSpc>
              <a:spcAft>
                <a:spcPts val="700"/>
              </a:spcAft>
            </a:pPr>
            <a:r>
              <a:rPr sz="1050" b="0" i="0">
                <a:solidFill>
                  <a:srgbClr val="5C6B62"/>
                </a:solidFill>
                <a:latin typeface="Arial"/>
              </a:rPr>
              <a:t>▪  </a:t>
            </a:r>
            <a:r>
              <a:rPr sz="1050" b="0" i="0">
                <a:solidFill>
                  <a:srgbClr val="5C6B62"/>
                </a:solidFill>
                <a:latin typeface="Arial"/>
              </a:rPr>
              <a:t>Cập nhật ngay trong ngày khách nhận kính, không để sang những ngày sau</a:t>
            </a:r>
          </a:p>
          <a:p>
            <a:pPr algn="l">
              <a:lnSpc>
                <a:spcPct val="108000"/>
              </a:lnSpc>
              <a:spcAft>
                <a:spcPts val="700"/>
              </a:spcAft>
            </a:pPr>
            <a:r>
              <a:rPr sz="1050" b="0" i="0">
                <a:solidFill>
                  <a:srgbClr val="5C6B62"/>
                </a:solidFill>
                <a:latin typeface="Arial"/>
              </a:rPr>
              <a:t>▪  </a:t>
            </a:r>
            <a:r>
              <a:rPr sz="1050" b="0" i="0">
                <a:solidFill>
                  <a:srgbClr val="5C6B62"/>
                </a:solidFill>
                <a:latin typeface="Arial"/>
              </a:rPr>
              <a:t>Rà soát lại các liên hệ hiện có và sửa những ngày đang bị sai</a:t>
            </a:r>
          </a:p>
          <a:p>
            <a:pPr algn="l">
              <a:lnSpc>
                <a:spcPct val="108000"/>
              </a:lnSpc>
              <a:spcAft>
                <a:spcPts val="700"/>
              </a:spcAft>
            </a:pPr>
            <a:r>
              <a:rPr sz="1050" b="0" i="0">
                <a:solidFill>
                  <a:srgbClr val="5C6B62"/>
                </a:solidFill>
                <a:latin typeface="Arial"/>
              </a:rPr>
              <a:t>▪  </a:t>
            </a:r>
            <a:r>
              <a:rPr sz="1050" b="0" i="0">
                <a:solidFill>
                  <a:srgbClr val="5C6B62"/>
                </a:solidFill>
                <a:latin typeface="Arial"/>
              </a:rPr>
              <a:t>Tự kiểm tra: ngày gửi tin quyền lợi phải trùng với ngày trên tên liên hệ</a:t>
            </a:r>
          </a:p>
          <a:p>
            <a:pPr algn="l">
              <a:lnSpc>
                <a:spcPct val="108000"/>
              </a:lnSpc>
              <a:spcAft>
                <a:spcPts val="700"/>
              </a:spcAft>
            </a:pPr>
            <a:r>
              <a:rPr sz="1050" b="0" i="0">
                <a:solidFill>
                  <a:srgbClr val="5C6B62"/>
                </a:solidFill>
                <a:latin typeface="Arial"/>
              </a:rPr>
              <a:t>▪  </a:t>
            </a:r>
            <a:r>
              <a:rPr sz="1050" b="0" i="0">
                <a:solidFill>
                  <a:srgbClr val="5C6B62"/>
                </a:solidFill>
                <a:latin typeface="Arial"/>
              </a:rPr>
              <a:t>Khi ngày còn sai thì không thể tin được số liệu nào trên bảng theo dõi</a:t>
            </a:r>
          </a:p>
        </p:txBody>
      </p:sp>
      <p:sp>
        <p:nvSpPr>
          <p:cNvPr id="14" name="Rectangle 13"/>
          <p:cNvSpPr/>
          <p:nvPr/>
        </p:nvSpPr>
        <p:spPr>
          <a:xfrm>
            <a:off x="649224" y="4187952"/>
            <a:ext cx="5193792" cy="95097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64592" rIns="164592"/>
          <a:lstStyle/>
          <a:p>
            <a:pPr algn="l">
              <a:lnSpc>
                <a:spcPct val="110000"/>
              </a:lnSpc>
            </a:pPr>
            <a:r>
              <a:rPr sz="1200" b="1" i="0">
                <a:solidFill>
                  <a:srgbClr val="31633D"/>
                </a:solidFill>
                <a:latin typeface="Arial"/>
              </a:rPr>
              <a:t>Ghi đúng ngày, nếu không thì không đo lường được gì.</a:t>
            </a:r>
          </a:p>
        </p:txBody>
      </p:sp>
      <p:sp>
        <p:nvSpPr>
          <p:cNvPr id="15" name="Rectangle 14"/>
          <p:cNvSpPr/>
          <p:nvPr/>
        </p:nvSpPr>
        <p:spPr>
          <a:xfrm>
            <a:off x="6199632" y="1353312"/>
            <a:ext cx="5486400"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6" name="Rectangle 15"/>
          <p:cNvSpPr/>
          <p:nvPr/>
        </p:nvSpPr>
        <p:spPr>
          <a:xfrm>
            <a:off x="6199632" y="1353312"/>
            <a:ext cx="5486400"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7" name="Oval 16"/>
          <p:cNvSpPr/>
          <p:nvPr/>
        </p:nvSpPr>
        <p:spPr>
          <a:xfrm>
            <a:off x="6345936" y="1536192"/>
            <a:ext cx="310896" cy="310896"/>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200" b="1" i="0">
                <a:solidFill>
                  <a:srgbClr val="FFFFFF"/>
                </a:solidFill>
                <a:latin typeface="Arial"/>
              </a:rPr>
              <a:t>2</a:t>
            </a:r>
          </a:p>
        </p:txBody>
      </p:sp>
      <p:sp>
        <p:nvSpPr>
          <p:cNvPr id="18" name="TextBox 17"/>
          <p:cNvSpPr txBox="1"/>
          <p:nvPr/>
        </p:nvSpPr>
        <p:spPr>
          <a:xfrm>
            <a:off x="6748272" y="1481328"/>
            <a:ext cx="4754880" cy="512064"/>
          </a:xfrm>
          <a:prstGeom prst="rect">
            <a:avLst/>
          </a:prstGeom>
          <a:noFill/>
        </p:spPr>
        <p:txBody>
          <a:bodyPr wrap="square" lIns="45720" rIns="45720" tIns="18288" bIns="18288">
            <a:spAutoFit/>
          </a:bodyPr>
          <a:lstStyle/>
          <a:p>
            <a:pPr algn="l">
              <a:lnSpc>
                <a:spcPct val="102000"/>
              </a:lnSpc>
            </a:pPr>
            <a:r>
              <a:rPr sz="1300" b="1" i="0">
                <a:solidFill>
                  <a:srgbClr val="31633D"/>
                </a:solidFill>
                <a:latin typeface="Arial"/>
              </a:rPr>
              <a:t>Nhắn tin ở mọi mốc đến hạn</a:t>
            </a:r>
          </a:p>
          <a:p>
            <a:pPr algn="l">
              <a:lnSpc>
                <a:spcPct val="102000"/>
              </a:lnSpc>
            </a:pPr>
            <a:r>
              <a:rPr sz="1300" b="1" i="0">
                <a:solidFill>
                  <a:srgbClr val="31633D"/>
                </a:solidFill>
                <a:latin typeface="Arial"/>
              </a:rPr>
              <a:t>từ D1 cho đến CD+30</a:t>
            </a:r>
          </a:p>
        </p:txBody>
      </p:sp>
      <p:sp>
        <p:nvSpPr>
          <p:cNvPr id="19" name="Rectangle 18"/>
          <p:cNvSpPr/>
          <p:nvPr/>
        </p:nvSpPr>
        <p:spPr>
          <a:xfrm>
            <a:off x="6345936" y="2103120"/>
            <a:ext cx="5193792"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345936" y="2212848"/>
            <a:ext cx="5193792" cy="1828800"/>
          </a:xfrm>
          <a:prstGeom prst="rect">
            <a:avLst/>
          </a:prstGeom>
          <a:noFill/>
        </p:spPr>
        <p:txBody>
          <a:bodyPr wrap="square" lIns="45720" rIns="45720" tIns="18288" bIns="18288">
            <a:spAutoFit/>
          </a:bodyPr>
          <a:lstStyle/>
          <a:p>
            <a:pPr algn="l">
              <a:lnSpc>
                <a:spcPct val="108000"/>
              </a:lnSpc>
              <a:spcAft>
                <a:spcPts val="700"/>
              </a:spcAft>
            </a:pPr>
            <a:r>
              <a:rPr sz="1050" b="0" i="0">
                <a:solidFill>
                  <a:srgbClr val="5C6B62"/>
                </a:solidFill>
                <a:latin typeface="Arial"/>
              </a:rPr>
              <a:t>▪  </a:t>
            </a:r>
            <a:r>
              <a:rPr sz="1050" b="0" i="0">
                <a:solidFill>
                  <a:srgbClr val="5C6B62"/>
                </a:solidFill>
                <a:latin typeface="Arial"/>
              </a:rPr>
              <a:t>D1: giới thiệu bản thân và cho biết kính cần bao lâu</a:t>
            </a:r>
          </a:p>
          <a:p>
            <a:pPr algn="l">
              <a:lnSpc>
                <a:spcPct val="108000"/>
              </a:lnSpc>
              <a:spcAft>
                <a:spcPts val="700"/>
              </a:spcAft>
            </a:pPr>
            <a:r>
              <a:rPr sz="1050" b="0" i="0">
                <a:solidFill>
                  <a:srgbClr val="5C6B62"/>
                </a:solidFill>
                <a:latin typeface="Arial"/>
              </a:rPr>
              <a:t>▪  </a:t>
            </a:r>
            <a:r>
              <a:rPr sz="1050" b="0" i="0">
                <a:solidFill>
                  <a:srgbClr val="5C6B62"/>
                </a:solidFill>
                <a:latin typeface="Arial"/>
              </a:rPr>
              <a:t>Ngày 6-7: cập nhật tiến độ, dù kính đã xong hay chưa</a:t>
            </a:r>
          </a:p>
          <a:p>
            <a:pPr algn="l">
              <a:lnSpc>
                <a:spcPct val="108000"/>
              </a:lnSpc>
              <a:spcAft>
                <a:spcPts val="700"/>
              </a:spcAft>
            </a:pPr>
            <a:r>
              <a:rPr sz="1050" b="0" i="0">
                <a:solidFill>
                  <a:srgbClr val="5C6B62"/>
                </a:solidFill>
                <a:latin typeface="Arial"/>
              </a:rPr>
              <a:t>▪  </a:t>
            </a:r>
            <a:r>
              <a:rPr sz="1050" b="0" i="0">
                <a:solidFill>
                  <a:srgbClr val="5C6B62"/>
                </a:solidFill>
                <a:latin typeface="Arial"/>
              </a:rPr>
              <a:t>CD: hướng dẫn sử dụng, rồi quyền lợi sau khi khách phản hồi, rồi đề nghị giới thiệu</a:t>
            </a:r>
          </a:p>
          <a:p>
            <a:pPr algn="l">
              <a:lnSpc>
                <a:spcPct val="108000"/>
              </a:lnSpc>
              <a:spcAft>
                <a:spcPts val="700"/>
              </a:spcAft>
            </a:pPr>
            <a:r>
              <a:rPr sz="1050" b="0" i="0">
                <a:solidFill>
                  <a:srgbClr val="5C6B62"/>
                </a:solidFill>
                <a:latin typeface="Arial"/>
              </a:rPr>
              <a:t>▪  </a:t>
            </a:r>
            <a:r>
              <a:rPr sz="1050" b="0" i="0">
                <a:solidFill>
                  <a:srgbClr val="5C6B62"/>
                </a:solidFill>
                <a:latin typeface="Arial"/>
              </a:rPr>
              <a:t>Sau đó là CD+3-5, CD+7 hoặc CD+14 tùy sản phẩm, và CD+30</a:t>
            </a:r>
          </a:p>
          <a:p>
            <a:pPr algn="l">
              <a:lnSpc>
                <a:spcPct val="108000"/>
              </a:lnSpc>
              <a:spcAft>
                <a:spcPts val="700"/>
              </a:spcAft>
            </a:pPr>
            <a:r>
              <a:rPr sz="1050" b="0" i="0">
                <a:solidFill>
                  <a:srgbClr val="5C6B62"/>
                </a:solidFill>
                <a:latin typeface="Arial"/>
              </a:rPr>
              <a:t>▪  </a:t>
            </a:r>
            <a:r>
              <a:rPr sz="1050" b="0" i="0">
                <a:solidFill>
                  <a:srgbClr val="5C6B62"/>
                </a:solidFill>
                <a:latin typeface="Arial"/>
              </a:rPr>
              <a:t>Mọi khách hàng mua kính, không chỉ một số khách</a:t>
            </a:r>
          </a:p>
        </p:txBody>
      </p:sp>
      <p:sp>
        <p:nvSpPr>
          <p:cNvPr id="21" name="Rectangle 20"/>
          <p:cNvSpPr/>
          <p:nvPr/>
        </p:nvSpPr>
        <p:spPr>
          <a:xfrm>
            <a:off x="6345936" y="4187952"/>
            <a:ext cx="5193792" cy="950976"/>
          </a:xfrm>
          <a:prstGeom prst="rect">
            <a:avLst/>
          </a:prstGeom>
          <a:solidFill>
            <a:srgbClr val="E4F3F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64592" rIns="164592"/>
          <a:lstStyle/>
          <a:p>
            <a:pPr algn="l">
              <a:lnSpc>
                <a:spcPct val="110000"/>
              </a:lnSpc>
            </a:pPr>
            <a:r>
              <a:rPr sz="1200" b="1" i="0">
                <a:solidFill>
                  <a:srgbClr val="31633D"/>
                </a:solidFill>
                <a:latin typeface="Arial"/>
              </a:rPr>
              <a:t>Quyền lợi là một phần của CD, không phải để thay cho CD.</a:t>
            </a:r>
          </a:p>
        </p:txBody>
      </p:sp>
      <p:sp>
        <p:nvSpPr>
          <p:cNvPr id="22" name="Rectangle 21"/>
          <p:cNvSpPr/>
          <p:nvPr/>
        </p:nvSpPr>
        <p:spPr>
          <a:xfrm>
            <a:off x="502920" y="5431536"/>
            <a:ext cx="11183112" cy="40233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28016"/>
          <a:lstStyle/>
          <a:p>
            <a:pPr algn="l"/>
            <a:r>
              <a:rPr sz="950" b="1" i="0">
                <a:solidFill>
                  <a:srgbClr val="C0392B"/>
                </a:solidFill>
                <a:latin typeface="Arial"/>
              </a:rPr>
              <a:t>Vấn đề riêng của SH (Sông Hàn):  </a:t>
            </a:r>
            <a:r>
              <a:rPr sz="950" b="0" i="0">
                <a:solidFill>
                  <a:srgbClr val="5C6B62"/>
                </a:solidFill>
                <a:latin typeface="Arial"/>
              </a:rPr>
              <a:t>gần như không có liên hệ khách hàng nào được ghi chú và chưa gửi nội dung quyền lợi thành viên nào. Hãy bắt đầu từ tên liên hệ — mọi số liệu khác đều phụ thuộc vào đó.</a:t>
            </a:r>
          </a:p>
        </p:txBody>
      </p:sp>
      <p:sp>
        <p:nvSpPr>
          <p:cNvPr id="23" name="Rectangle 22"/>
          <p:cNvSpPr/>
          <p:nvPr/>
        </p:nvSpPr>
        <p:spPr>
          <a:xfrm>
            <a:off x="502920" y="5925312"/>
            <a:ext cx="11183112" cy="4572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a:lstStyle/>
          <a:p>
            <a:pPr algn="ctr"/>
            <a:r>
              <a:rPr sz="1600" b="1" i="0">
                <a:solidFill>
                  <a:srgbClr val="FFFFFF"/>
                </a:solidFill>
                <a:latin typeface="Arial"/>
              </a:rPr>
              <a:t>Mọi khách hàng.    Đúng hạn.    Đúng nội dung.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