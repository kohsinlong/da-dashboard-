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31633D"/>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 name="Rectangle 2"/>
          <p:cNvSpPr/>
          <p:nvPr/>
        </p:nvSpPr>
        <p:spPr>
          <a:xfrm>
            <a:off x="0" y="0"/>
            <a:ext cx="12188952" cy="14630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 name="Rectangle 3"/>
          <p:cNvSpPr/>
          <p:nvPr/>
        </p:nvSpPr>
        <p:spPr>
          <a:xfrm>
            <a:off x="0" y="5989320"/>
            <a:ext cx="12188952" cy="868680"/>
          </a:xfrm>
          <a:prstGeom prst="rect">
            <a:avLst/>
          </a:prstGeom>
          <a:solidFill>
            <a:srgbClr val="27513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5" name="TextBox 4"/>
          <p:cNvSpPr txBox="1"/>
          <p:nvPr/>
        </p:nvSpPr>
        <p:spPr>
          <a:xfrm>
            <a:off x="566928" y="2048256"/>
            <a:ext cx="10424160" cy="210312"/>
          </a:xfrm>
          <a:prstGeom prst="rect">
            <a:avLst/>
          </a:prstGeom>
          <a:noFill/>
        </p:spPr>
        <p:txBody>
          <a:bodyPr wrap="square" lIns="45720" rIns="45720" tIns="18288" bIns="18288">
            <a:spAutoFit/>
          </a:bodyPr>
          <a:lstStyle/>
          <a:p>
            <a:pPr algn="l"/>
            <a:r>
              <a:rPr sz="1200" b="1" i="0">
                <a:solidFill>
                  <a:srgbClr val="CFE6D8"/>
                </a:solidFill>
                <a:latin typeface="Arial"/>
              </a:rPr>
              <a:t>24 September 2026</a:t>
            </a:r>
          </a:p>
        </p:txBody>
      </p:sp>
      <p:sp>
        <p:nvSpPr>
          <p:cNvPr id="6" name="TextBox 5"/>
          <p:cNvSpPr txBox="1"/>
          <p:nvPr/>
        </p:nvSpPr>
        <p:spPr>
          <a:xfrm>
            <a:off x="566928" y="2414016"/>
            <a:ext cx="10607040" cy="621792"/>
          </a:xfrm>
          <a:prstGeom prst="rect">
            <a:avLst/>
          </a:prstGeom>
          <a:noFill/>
        </p:spPr>
        <p:txBody>
          <a:bodyPr wrap="square" lIns="45720" rIns="45720" tIns="18288" bIns="18288">
            <a:spAutoFit/>
          </a:bodyPr>
          <a:lstStyle/>
          <a:p>
            <a:pPr algn="l"/>
            <a:r>
              <a:rPr sz="4000" b="1" i="0">
                <a:solidFill>
                  <a:srgbClr val="CFE6D8"/>
                </a:solidFill>
                <a:latin typeface="Arial"/>
              </a:rPr>
              <a:t>Optometry Doctor’s Assistant Training</a:t>
            </a:r>
          </a:p>
        </p:txBody>
      </p:sp>
      <p:sp>
        <p:nvSpPr>
          <p:cNvPr id="7" name="Rectangle 6"/>
          <p:cNvSpPr/>
          <p:nvPr/>
        </p:nvSpPr>
        <p:spPr>
          <a:xfrm>
            <a:off x="566928" y="4078224"/>
            <a:ext cx="1920240" cy="45720"/>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8" name="TextBox 7"/>
          <p:cNvSpPr txBox="1"/>
          <p:nvPr/>
        </p:nvSpPr>
        <p:spPr>
          <a:xfrm>
            <a:off x="566928" y="4297680"/>
            <a:ext cx="8412480" cy="210312"/>
          </a:xfrm>
          <a:prstGeom prst="rect">
            <a:avLst/>
          </a:prstGeom>
          <a:noFill/>
        </p:spPr>
        <p:txBody>
          <a:bodyPr wrap="square" lIns="45720" rIns="45720" tIns="18288" bIns="18288">
            <a:spAutoFit/>
          </a:bodyPr>
          <a:lstStyle/>
          <a:p>
            <a:pPr algn="l"/>
            <a:r>
              <a:rPr sz="1200" b="1" i="0">
                <a:solidFill>
                  <a:srgbClr val="CFE6D8"/>
                </a:solidFill>
                <a:latin typeface="Arial"/>
              </a:rPr>
              <a:t>NGT   ·   CTE D5   ·   CTE D7   ·   LA   ·   SH (Song Han)</a:t>
            </a:r>
          </a:p>
        </p:txBody>
      </p:sp>
      <p:sp>
        <p:nvSpPr>
          <p:cNvPr id="9" name="TextBox 8"/>
          <p:cNvSpPr txBox="1"/>
          <p:nvPr/>
        </p:nvSpPr>
        <p:spPr>
          <a:xfrm>
            <a:off x="566928" y="6217920"/>
            <a:ext cx="9601200" cy="274320"/>
          </a:xfrm>
          <a:prstGeom prst="rect">
            <a:avLst/>
          </a:prstGeom>
          <a:noFill/>
        </p:spPr>
        <p:txBody>
          <a:bodyPr wrap="square" lIns="45720" rIns="45720" tIns="18288" bIns="18288">
            <a:spAutoFit/>
          </a:bodyPr>
          <a:lstStyle/>
          <a:p>
            <a:pPr algn="l"/>
            <a:r>
              <a:rPr sz="950" b="0" i="0">
                <a:solidFill>
                  <a:srgbClr val="CFE6D8"/>
                </a:solidFill>
                <a:latin typeface="Arial"/>
              </a:rPr>
              <a:t>Prepared for DA training and review  ·  Content from the Optometry Weekly Review of 23 September 2026  ·  Internal use only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 name="TextBox 2"/>
          <p:cNvSpPr txBox="1"/>
          <p:nvPr/>
        </p:nvSpPr>
        <p:spPr>
          <a:xfrm>
            <a:off x="502920" y="228600"/>
            <a:ext cx="9692640" cy="228600"/>
          </a:xfrm>
          <a:prstGeom prst="rect">
            <a:avLst/>
          </a:prstGeom>
          <a:noFill/>
        </p:spPr>
        <p:txBody>
          <a:bodyPr wrap="square" lIns="45720" rIns="45720" tIns="18288" bIns="18288">
            <a:spAutoFit/>
          </a:bodyPr>
          <a:lstStyle/>
          <a:p>
            <a:pPr algn="l"/>
            <a:r>
              <a:rPr sz="950" b="1" i="0">
                <a:solidFill>
                  <a:srgbClr val="2E9C4C"/>
                </a:solidFill>
                <a:latin typeface="Arial"/>
              </a:rPr>
              <a:t>1. THIS WEEK   |   HOW THIS WEEK IS DIFFERENT</a:t>
            </a:r>
          </a:p>
        </p:txBody>
      </p:sp>
      <p:sp>
        <p:nvSpPr>
          <p:cNvPr id="4" name="TextBox 3"/>
          <p:cNvSpPr txBox="1"/>
          <p:nvPr/>
        </p:nvSpPr>
        <p:spPr>
          <a:xfrm>
            <a:off x="502920" y="493776"/>
            <a:ext cx="11247120" cy="640080"/>
          </a:xfrm>
          <a:prstGeom prst="rect">
            <a:avLst/>
          </a:prstGeom>
          <a:noFill/>
        </p:spPr>
        <p:txBody>
          <a:bodyPr wrap="square" lIns="45720" rIns="45720" tIns="18288" bIns="18288">
            <a:spAutoFit/>
          </a:bodyPr>
          <a:lstStyle/>
          <a:p>
            <a:pPr algn="l"/>
            <a:r>
              <a:rPr sz="2200" b="1" i="0">
                <a:solidFill>
                  <a:srgbClr val="31633D"/>
                </a:solidFill>
                <a:latin typeface="Arial"/>
              </a:rPr>
              <a:t>No score this week — qualitative feedback only</a:t>
            </a:r>
          </a:p>
        </p:txBody>
      </p:sp>
      <p:sp>
        <p:nvSpPr>
          <p:cNvPr id="5" name="Rectangle 4"/>
          <p:cNvSpPr/>
          <p:nvPr/>
        </p:nvSpPr>
        <p:spPr>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6" name="TextBox 5"/>
          <p:cNvSpPr txBox="1"/>
          <p:nvPr/>
        </p:nvSpPr>
        <p:spPr>
          <a:xfrm>
            <a:off x="502920" y="6455664"/>
            <a:ext cx="5486400" cy="237744"/>
          </a:xfrm>
          <a:prstGeom prst="rect">
            <a:avLst/>
          </a:prstGeom>
          <a:noFill/>
        </p:spPr>
        <p:txBody>
          <a:bodyPr wrap="square" lIns="45720" rIns="45720" tIns="18288" bIns="18288">
            <a:spAutoFit/>
          </a:bodyPr>
          <a:lstStyle/>
          <a:p>
            <a:pPr algn="l"/>
            <a:r>
              <a:rPr sz="800" b="0" i="0">
                <a:solidFill>
                  <a:srgbClr val="5C6B62"/>
                </a:solidFill>
                <a:latin typeface="Arial"/>
              </a:rPr>
              <a:t>Mắt Sài Gòn  |  Optometry DA Training</a:t>
            </a:r>
          </a:p>
        </p:txBody>
      </p:sp>
      <p:sp>
        <p:nvSpPr>
          <p:cNvPr id="7" name="TextBox 6"/>
          <p:cNvSpPr txBox="1"/>
          <p:nvPr/>
        </p:nvSpPr>
        <p:spPr>
          <a:xfrm>
            <a:off x="10972800" y="6455664"/>
            <a:ext cx="713232" cy="237744"/>
          </a:xfrm>
          <a:prstGeom prst="rect">
            <a:avLst/>
          </a:prstGeom>
          <a:noFill/>
        </p:spPr>
        <p:txBody>
          <a:bodyPr wrap="square" lIns="45720" rIns="45720" tIns="18288" bIns="18288">
            <a:spAutoFit/>
          </a:bodyPr>
          <a:lstStyle/>
          <a:p>
            <a:pPr algn="r"/>
            <a:r>
              <a:rPr sz="800" b="1" i="0">
                <a:solidFill>
                  <a:srgbClr val="5C6B62"/>
                </a:solidFill>
                <a:latin typeface="Arial"/>
              </a:rPr>
              <a:t>2</a:t>
            </a:r>
          </a:p>
        </p:txBody>
      </p:sp>
      <p:sp>
        <p:nvSpPr>
          <p:cNvPr id="8" name="TextBox 7"/>
          <p:cNvSpPr txBox="1"/>
          <p:nvPr/>
        </p:nvSpPr>
        <p:spPr>
          <a:xfrm>
            <a:off x="502920" y="1261872"/>
            <a:ext cx="11183112" cy="219456"/>
          </a:xfrm>
          <a:prstGeom prst="rect">
            <a:avLst/>
          </a:prstGeom>
          <a:noFill/>
        </p:spPr>
        <p:txBody>
          <a:bodyPr wrap="square" lIns="45720" rIns="45720" tIns="18288" bIns="18288">
            <a:spAutoFit/>
          </a:bodyPr>
          <a:lstStyle/>
          <a:p>
            <a:pPr algn="l">
              <a:lnSpc>
                <a:spcPct val="95000"/>
              </a:lnSpc>
            </a:pPr>
            <a:r>
              <a:rPr sz="1000" b="0" i="1">
                <a:solidFill>
                  <a:srgbClr val="5C6B62"/>
                </a:solidFill>
                <a:latin typeface="Arial"/>
              </a:rPr>
              <a:t>The tracker is not scored this week. The feedback below comes from reading the conversations at each site. Two things must change everywhere, and the cadence must hold for every customer.</a:t>
            </a:r>
          </a:p>
        </p:txBody>
      </p:sp>
      <p:sp>
        <p:nvSpPr>
          <p:cNvPr id="9" name="Rectangle 8"/>
          <p:cNvSpPr/>
          <p:nvPr/>
        </p:nvSpPr>
        <p:spPr>
          <a:xfrm>
            <a:off x="502920" y="1591056"/>
            <a:ext cx="11183112" cy="859536"/>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0" name="Rectangle 9"/>
          <p:cNvSpPr/>
          <p:nvPr/>
        </p:nvSpPr>
        <p:spPr>
          <a:xfrm>
            <a:off x="502920" y="1591056"/>
            <a:ext cx="54864" cy="859536"/>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1" name="Oval 10"/>
          <p:cNvSpPr/>
          <p:nvPr/>
        </p:nvSpPr>
        <p:spPr>
          <a:xfrm>
            <a:off x="676656" y="1728216"/>
            <a:ext cx="292608" cy="292608"/>
          </a:xfrm>
          <a:prstGeom prst="ellipse">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 bIns="9144" lIns="9144" rIns="9144"/>
          <a:lstStyle/>
          <a:p>
            <a:pPr algn="ctr"/>
            <a:r>
              <a:rPr sz="1000" b="1" i="0">
                <a:solidFill>
                  <a:srgbClr val="FFFFFF"/>
                </a:solidFill>
                <a:latin typeface="Arial"/>
              </a:rPr>
              <a:t>01</a:t>
            </a:r>
          </a:p>
        </p:txBody>
      </p:sp>
      <p:sp>
        <p:nvSpPr>
          <p:cNvPr id="12" name="TextBox 11"/>
          <p:cNvSpPr txBox="1"/>
          <p:nvPr/>
        </p:nvSpPr>
        <p:spPr>
          <a:xfrm>
            <a:off x="1078992" y="1709928"/>
            <a:ext cx="4023360" cy="658368"/>
          </a:xfrm>
          <a:prstGeom prst="rect">
            <a:avLst/>
          </a:prstGeom>
          <a:noFill/>
        </p:spPr>
        <p:txBody>
          <a:bodyPr wrap="square" lIns="45720" rIns="45720" tIns="18288" bIns="18288" anchor="t">
            <a:spAutoFit/>
          </a:bodyPr>
          <a:lstStyle/>
          <a:p>
            <a:pPr algn="l">
              <a:lnSpc>
                <a:spcPct val="108000"/>
              </a:lnSpc>
            </a:pPr>
            <a:r>
              <a:rPr sz="1050" b="1" i="0">
                <a:solidFill>
                  <a:srgbClr val="31633D"/>
                </a:solidFill>
                <a:latin typeface="Arial"/>
              </a:rPr>
              <a:t>Update the Zalo contact name to reflect the glasses collection date</a:t>
            </a:r>
          </a:p>
        </p:txBody>
      </p:sp>
      <p:sp>
        <p:nvSpPr>
          <p:cNvPr id="13" name="TextBox 12"/>
          <p:cNvSpPr txBox="1"/>
          <p:nvPr/>
        </p:nvSpPr>
        <p:spPr>
          <a:xfrm>
            <a:off x="5175504" y="1728216"/>
            <a:ext cx="6455664" cy="658368"/>
          </a:xfrm>
          <a:prstGeom prst="rect">
            <a:avLst/>
          </a:prstGeom>
          <a:noFill/>
        </p:spPr>
        <p:txBody>
          <a:bodyPr wrap="square" lIns="45720" rIns="45720" tIns="18288" bIns="18288" anchor="t">
            <a:spAutoFit/>
          </a:bodyPr>
          <a:lstStyle/>
          <a:p>
            <a:pPr algn="l">
              <a:lnSpc>
                <a:spcPct val="110000"/>
              </a:lnSpc>
            </a:pPr>
            <a:r>
              <a:rPr sz="850" b="0" i="0">
                <a:solidFill>
                  <a:srgbClr val="5C6B62"/>
                </a:solidFill>
                <a:latin typeface="Arial"/>
              </a:rPr>
              <a:t>The date in the contact name must be the date the customer actually collected. Every follow-up date the CRM works out is counted from it, so a wrong date puts CD+3-5, CD+7, CD+14 and CD+30 on the wrong day — and work you did send is counted as a miss.</a:t>
            </a:r>
          </a:p>
        </p:txBody>
      </p:sp>
      <p:sp>
        <p:nvSpPr>
          <p:cNvPr id="14" name="Rectangle 13"/>
          <p:cNvSpPr/>
          <p:nvPr/>
        </p:nvSpPr>
        <p:spPr>
          <a:xfrm>
            <a:off x="502920" y="2523744"/>
            <a:ext cx="11183112" cy="859536"/>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5" name="Rectangle 14"/>
          <p:cNvSpPr/>
          <p:nvPr/>
        </p:nvSpPr>
        <p:spPr>
          <a:xfrm>
            <a:off x="502920" y="2523744"/>
            <a:ext cx="54864" cy="859536"/>
          </a:xfrm>
          <a:prstGeom prst="rect">
            <a:avLst/>
          </a:prstGeom>
          <a:solidFill>
            <a:srgbClr val="0C989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6" name="Oval 15"/>
          <p:cNvSpPr/>
          <p:nvPr/>
        </p:nvSpPr>
        <p:spPr>
          <a:xfrm>
            <a:off x="676656" y="2660903"/>
            <a:ext cx="292608" cy="292608"/>
          </a:xfrm>
          <a:prstGeom prst="ellipse">
            <a:avLst/>
          </a:prstGeom>
          <a:solidFill>
            <a:srgbClr val="0C989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 bIns="9144" lIns="9144" rIns="9144"/>
          <a:lstStyle/>
          <a:p>
            <a:pPr algn="ctr"/>
            <a:r>
              <a:rPr sz="1000" b="1" i="0">
                <a:solidFill>
                  <a:srgbClr val="FFFFFF"/>
                </a:solidFill>
                <a:latin typeface="Arial"/>
              </a:rPr>
              <a:t>02</a:t>
            </a:r>
          </a:p>
        </p:txBody>
      </p:sp>
      <p:sp>
        <p:nvSpPr>
          <p:cNvPr id="17" name="TextBox 16"/>
          <p:cNvSpPr txBox="1"/>
          <p:nvPr/>
        </p:nvSpPr>
        <p:spPr>
          <a:xfrm>
            <a:off x="1078992" y="2642615"/>
            <a:ext cx="4023360" cy="658368"/>
          </a:xfrm>
          <a:prstGeom prst="rect">
            <a:avLst/>
          </a:prstGeom>
          <a:noFill/>
        </p:spPr>
        <p:txBody>
          <a:bodyPr wrap="square" lIns="45720" rIns="45720" tIns="18288" bIns="18288" anchor="t">
            <a:spAutoFit/>
          </a:bodyPr>
          <a:lstStyle/>
          <a:p>
            <a:pPr algn="l">
              <a:lnSpc>
                <a:spcPct val="108000"/>
              </a:lnSpc>
            </a:pPr>
            <a:r>
              <a:rPr sz="1050" b="1" i="0">
                <a:solidFill>
                  <a:srgbClr val="31633D"/>
                </a:solidFill>
                <a:latin typeface="Arial"/>
              </a:rPr>
              <a:t>Send membership benefits on the day of collection</a:t>
            </a:r>
          </a:p>
        </p:txBody>
      </p:sp>
      <p:sp>
        <p:nvSpPr>
          <p:cNvPr id="18" name="TextBox 17"/>
          <p:cNvSpPr txBox="1"/>
          <p:nvPr/>
        </p:nvSpPr>
        <p:spPr>
          <a:xfrm>
            <a:off x="5175504" y="2660903"/>
            <a:ext cx="6455664" cy="658368"/>
          </a:xfrm>
          <a:prstGeom prst="rect">
            <a:avLst/>
          </a:prstGeom>
          <a:noFill/>
        </p:spPr>
        <p:txBody>
          <a:bodyPr wrap="square" lIns="45720" rIns="45720" tIns="18288" bIns="18288" anchor="t">
            <a:spAutoFit/>
          </a:bodyPr>
          <a:lstStyle/>
          <a:p>
            <a:pPr algn="l">
              <a:lnSpc>
                <a:spcPct val="110000"/>
              </a:lnSpc>
            </a:pPr>
            <a:r>
              <a:rPr sz="850" b="0" i="0">
                <a:solidFill>
                  <a:srgbClr val="5C6B62"/>
                </a:solidFill>
                <a:latin typeface="Arial"/>
              </a:rPr>
              <a:t>Benefits belong on collection day, not days later. This week benefits were the one message that reliably arrived, but often late — at CTE D5 the contact name says 17 August and the benefits message went out on 20 August.</a:t>
            </a:r>
          </a:p>
        </p:txBody>
      </p:sp>
      <p:sp>
        <p:nvSpPr>
          <p:cNvPr id="19" name="Rectangle 18"/>
          <p:cNvSpPr/>
          <p:nvPr/>
        </p:nvSpPr>
        <p:spPr>
          <a:xfrm>
            <a:off x="502920" y="3584448"/>
            <a:ext cx="11183112" cy="292608"/>
          </a:xfrm>
          <a:prstGeom prst="rect">
            <a:avLst/>
          </a:prstGeom>
          <a:solidFill>
            <a:srgbClr val="31633D"/>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28016" rIns="109728"/>
          <a:lstStyle/>
          <a:p>
            <a:pPr algn="l"/>
            <a:r>
              <a:rPr sz="950" b="1" i="0">
                <a:solidFill>
                  <a:srgbClr val="FFFFFF"/>
                </a:solidFill>
                <a:latin typeface="Arial"/>
              </a:rPr>
              <a:t>HOLD THE CADENCE</a:t>
            </a:r>
            <a:r>
              <a:rPr sz="950" b="0" i="0">
                <a:solidFill>
                  <a:srgbClr val="CFE6D8"/>
                </a:solidFill>
                <a:latin typeface="Arial"/>
              </a:rPr>
              <a:t>     Make sure these are adhered to, for every customer</a:t>
            </a:r>
          </a:p>
        </p:txBody>
      </p:sp>
      <p:sp>
        <p:nvSpPr>
          <p:cNvPr id="20" name="Rectangle 19"/>
          <p:cNvSpPr/>
          <p:nvPr/>
        </p:nvSpPr>
        <p:spPr>
          <a:xfrm>
            <a:off x="502920" y="3913632"/>
            <a:ext cx="2706624" cy="731520"/>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1" name="TextBox 20"/>
          <p:cNvSpPr txBox="1"/>
          <p:nvPr/>
        </p:nvSpPr>
        <p:spPr>
          <a:xfrm>
            <a:off x="630936" y="3986784"/>
            <a:ext cx="2468880" cy="219456"/>
          </a:xfrm>
          <a:prstGeom prst="rect">
            <a:avLst/>
          </a:prstGeom>
          <a:noFill/>
        </p:spPr>
        <p:txBody>
          <a:bodyPr wrap="square" lIns="45720" rIns="45720" tIns="18288" bIns="18288">
            <a:spAutoFit/>
          </a:bodyPr>
          <a:lstStyle/>
          <a:p>
            <a:pPr algn="l"/>
            <a:r>
              <a:rPr sz="1350" b="1" i="0">
                <a:solidFill>
                  <a:srgbClr val="31633D"/>
                </a:solidFill>
                <a:latin typeface="Arial"/>
              </a:rPr>
              <a:t>CD+3-5</a:t>
            </a:r>
          </a:p>
        </p:txBody>
      </p:sp>
      <p:sp>
        <p:nvSpPr>
          <p:cNvPr id="22" name="TextBox 21"/>
          <p:cNvSpPr txBox="1"/>
          <p:nvPr/>
        </p:nvSpPr>
        <p:spPr>
          <a:xfrm>
            <a:off x="630936" y="4206240"/>
            <a:ext cx="2468880" cy="164592"/>
          </a:xfrm>
          <a:prstGeom prst="rect">
            <a:avLst/>
          </a:prstGeom>
          <a:noFill/>
        </p:spPr>
        <p:txBody>
          <a:bodyPr wrap="square" lIns="45720" rIns="45720" tIns="18288" bIns="18288">
            <a:spAutoFit/>
          </a:bodyPr>
          <a:lstStyle/>
          <a:p>
            <a:pPr algn="l"/>
            <a:r>
              <a:rPr sz="750" b="1" i="0">
                <a:solidFill>
                  <a:srgbClr val="2E9C4C"/>
                </a:solidFill>
                <a:latin typeface="Arial"/>
              </a:rPr>
              <a:t>care check</a:t>
            </a:r>
          </a:p>
        </p:txBody>
      </p:sp>
      <p:sp>
        <p:nvSpPr>
          <p:cNvPr id="23" name="TextBox 22"/>
          <p:cNvSpPr txBox="1"/>
          <p:nvPr/>
        </p:nvSpPr>
        <p:spPr>
          <a:xfrm>
            <a:off x="630936" y="4370832"/>
            <a:ext cx="2468880" cy="256032"/>
          </a:xfrm>
          <a:prstGeom prst="rect">
            <a:avLst/>
          </a:prstGeom>
          <a:noFill/>
        </p:spPr>
        <p:txBody>
          <a:bodyPr wrap="square" lIns="45720" rIns="45720" tIns="18288" bIns="18288">
            <a:spAutoFit/>
          </a:bodyPr>
          <a:lstStyle/>
          <a:p>
            <a:pPr algn="l">
              <a:lnSpc>
                <a:spcPct val="104000"/>
              </a:lnSpc>
            </a:pPr>
            <a:r>
              <a:rPr sz="750" b="0" i="0">
                <a:solidFill>
                  <a:srgbClr val="5C6B62"/>
                </a:solidFill>
                <a:latin typeface="Arial"/>
              </a:rPr>
              <a:t>Ask how the child is getting on, then ask for a referral once they reply</a:t>
            </a:r>
          </a:p>
        </p:txBody>
      </p:sp>
      <p:sp>
        <p:nvSpPr>
          <p:cNvPr id="24" name="Rectangle 23"/>
          <p:cNvSpPr/>
          <p:nvPr/>
        </p:nvSpPr>
        <p:spPr>
          <a:xfrm>
            <a:off x="3300984" y="3913632"/>
            <a:ext cx="2706624" cy="731520"/>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5" name="TextBox 24"/>
          <p:cNvSpPr txBox="1"/>
          <p:nvPr/>
        </p:nvSpPr>
        <p:spPr>
          <a:xfrm>
            <a:off x="3429000" y="3986784"/>
            <a:ext cx="2468880" cy="219456"/>
          </a:xfrm>
          <a:prstGeom prst="rect">
            <a:avLst/>
          </a:prstGeom>
          <a:noFill/>
        </p:spPr>
        <p:txBody>
          <a:bodyPr wrap="square" lIns="45720" rIns="45720" tIns="18288" bIns="18288">
            <a:spAutoFit/>
          </a:bodyPr>
          <a:lstStyle/>
          <a:p>
            <a:pPr algn="l"/>
            <a:r>
              <a:rPr sz="1350" b="1" i="0">
                <a:solidFill>
                  <a:srgbClr val="31633D"/>
                </a:solidFill>
                <a:latin typeface="Arial"/>
              </a:rPr>
              <a:t>CD+7</a:t>
            </a:r>
          </a:p>
        </p:txBody>
      </p:sp>
      <p:sp>
        <p:nvSpPr>
          <p:cNvPr id="26" name="TextBox 25"/>
          <p:cNvSpPr txBox="1"/>
          <p:nvPr/>
        </p:nvSpPr>
        <p:spPr>
          <a:xfrm>
            <a:off x="3429000" y="4206240"/>
            <a:ext cx="2468880" cy="164592"/>
          </a:xfrm>
          <a:prstGeom prst="rect">
            <a:avLst/>
          </a:prstGeom>
          <a:noFill/>
        </p:spPr>
        <p:txBody>
          <a:bodyPr wrap="square" lIns="45720" rIns="45720" tIns="18288" bIns="18288">
            <a:spAutoFit/>
          </a:bodyPr>
          <a:lstStyle/>
          <a:p>
            <a:pPr algn="l"/>
            <a:r>
              <a:rPr sz="750" b="1" i="0">
                <a:solidFill>
                  <a:srgbClr val="2E9C4C"/>
                </a:solidFill>
                <a:latin typeface="Arial"/>
              </a:rPr>
              <a:t>usage check</a:t>
            </a:r>
          </a:p>
        </p:txBody>
      </p:sp>
      <p:sp>
        <p:nvSpPr>
          <p:cNvPr id="27" name="TextBox 26"/>
          <p:cNvSpPr txBox="1"/>
          <p:nvPr/>
        </p:nvSpPr>
        <p:spPr>
          <a:xfrm>
            <a:off x="3429000" y="4370832"/>
            <a:ext cx="2468880" cy="256032"/>
          </a:xfrm>
          <a:prstGeom prst="rect">
            <a:avLst/>
          </a:prstGeom>
          <a:noFill/>
        </p:spPr>
        <p:txBody>
          <a:bodyPr wrap="square" lIns="45720" rIns="45720" tIns="18288" bIns="18288">
            <a:spAutoFit/>
          </a:bodyPr>
          <a:lstStyle/>
          <a:p>
            <a:pPr algn="l">
              <a:lnSpc>
                <a:spcPct val="104000"/>
              </a:lnSpc>
            </a:pPr>
            <a:r>
              <a:rPr sz="750" b="0" i="0">
                <a:solidFill>
                  <a:srgbClr val="5C6B62"/>
                </a:solidFill>
                <a:latin typeface="Arial"/>
              </a:rPr>
              <a:t>Check usage, offer the free frame adjustment, benefits, ask for a referral</a:t>
            </a:r>
          </a:p>
        </p:txBody>
      </p:sp>
      <p:sp>
        <p:nvSpPr>
          <p:cNvPr id="28" name="Rectangle 27"/>
          <p:cNvSpPr/>
          <p:nvPr/>
        </p:nvSpPr>
        <p:spPr>
          <a:xfrm>
            <a:off x="6099048" y="3913632"/>
            <a:ext cx="2706624" cy="731520"/>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9" name="TextBox 28"/>
          <p:cNvSpPr txBox="1"/>
          <p:nvPr/>
        </p:nvSpPr>
        <p:spPr>
          <a:xfrm>
            <a:off x="6227064" y="3986784"/>
            <a:ext cx="2468880" cy="219456"/>
          </a:xfrm>
          <a:prstGeom prst="rect">
            <a:avLst/>
          </a:prstGeom>
          <a:noFill/>
        </p:spPr>
        <p:txBody>
          <a:bodyPr wrap="square" lIns="45720" rIns="45720" tIns="18288" bIns="18288">
            <a:spAutoFit/>
          </a:bodyPr>
          <a:lstStyle/>
          <a:p>
            <a:pPr algn="l"/>
            <a:r>
              <a:rPr sz="1350" b="1" i="0">
                <a:solidFill>
                  <a:srgbClr val="31633D"/>
                </a:solidFill>
                <a:latin typeface="Arial"/>
              </a:rPr>
              <a:t>CD+14</a:t>
            </a:r>
          </a:p>
        </p:txBody>
      </p:sp>
      <p:sp>
        <p:nvSpPr>
          <p:cNvPr id="30" name="TextBox 29"/>
          <p:cNvSpPr txBox="1"/>
          <p:nvPr/>
        </p:nvSpPr>
        <p:spPr>
          <a:xfrm>
            <a:off x="6227064" y="4206240"/>
            <a:ext cx="2468880" cy="164592"/>
          </a:xfrm>
          <a:prstGeom prst="rect">
            <a:avLst/>
          </a:prstGeom>
          <a:noFill/>
        </p:spPr>
        <p:txBody>
          <a:bodyPr wrap="square" lIns="45720" rIns="45720" tIns="18288" bIns="18288">
            <a:spAutoFit/>
          </a:bodyPr>
          <a:lstStyle/>
          <a:p>
            <a:pPr algn="l"/>
            <a:r>
              <a:rPr sz="750" b="1" i="0">
                <a:solidFill>
                  <a:srgbClr val="2E9C4C"/>
                </a:solidFill>
                <a:latin typeface="Arial"/>
              </a:rPr>
              <a:t>myopia education</a:t>
            </a:r>
          </a:p>
        </p:txBody>
      </p:sp>
      <p:sp>
        <p:nvSpPr>
          <p:cNvPr id="31" name="TextBox 30"/>
          <p:cNvSpPr txBox="1"/>
          <p:nvPr/>
        </p:nvSpPr>
        <p:spPr>
          <a:xfrm>
            <a:off x="6227064" y="4370832"/>
            <a:ext cx="2468880" cy="256032"/>
          </a:xfrm>
          <a:prstGeom prst="rect">
            <a:avLst/>
          </a:prstGeom>
          <a:noFill/>
        </p:spPr>
        <p:txBody>
          <a:bodyPr wrap="square" lIns="45720" rIns="45720" tIns="18288" bIns="18288">
            <a:spAutoFit/>
          </a:bodyPr>
          <a:lstStyle/>
          <a:p>
            <a:pPr algn="l">
              <a:lnSpc>
                <a:spcPct val="104000"/>
              </a:lnSpc>
            </a:pPr>
            <a:r>
              <a:rPr sz="750" b="0" i="0">
                <a:solidFill>
                  <a:srgbClr val="5C6B62"/>
                </a:solidFill>
                <a:latin typeface="Arial"/>
              </a:rPr>
              <a:t>Check usage, remind ≥ 12h wear per day, send educational content</a:t>
            </a:r>
          </a:p>
        </p:txBody>
      </p:sp>
      <p:sp>
        <p:nvSpPr>
          <p:cNvPr id="32" name="Rectangle 31"/>
          <p:cNvSpPr/>
          <p:nvPr/>
        </p:nvSpPr>
        <p:spPr>
          <a:xfrm>
            <a:off x="8897112" y="3913632"/>
            <a:ext cx="2706624" cy="731520"/>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3" name="TextBox 32"/>
          <p:cNvSpPr txBox="1"/>
          <p:nvPr/>
        </p:nvSpPr>
        <p:spPr>
          <a:xfrm>
            <a:off x="9025128" y="3986784"/>
            <a:ext cx="2468880" cy="219456"/>
          </a:xfrm>
          <a:prstGeom prst="rect">
            <a:avLst/>
          </a:prstGeom>
          <a:noFill/>
        </p:spPr>
        <p:txBody>
          <a:bodyPr wrap="square" lIns="45720" rIns="45720" tIns="18288" bIns="18288">
            <a:spAutoFit/>
          </a:bodyPr>
          <a:lstStyle/>
          <a:p>
            <a:pPr algn="l"/>
            <a:r>
              <a:rPr sz="1350" b="1" i="0">
                <a:solidFill>
                  <a:srgbClr val="31633D"/>
                </a:solidFill>
                <a:latin typeface="Arial"/>
              </a:rPr>
              <a:t>CD+30</a:t>
            </a:r>
          </a:p>
        </p:txBody>
      </p:sp>
      <p:sp>
        <p:nvSpPr>
          <p:cNvPr id="34" name="TextBox 33"/>
          <p:cNvSpPr txBox="1"/>
          <p:nvPr/>
        </p:nvSpPr>
        <p:spPr>
          <a:xfrm>
            <a:off x="9025128" y="4206240"/>
            <a:ext cx="2468880" cy="164592"/>
          </a:xfrm>
          <a:prstGeom prst="rect">
            <a:avLst/>
          </a:prstGeom>
          <a:noFill/>
        </p:spPr>
        <p:txBody>
          <a:bodyPr wrap="square" lIns="45720" rIns="45720" tIns="18288" bIns="18288">
            <a:spAutoFit/>
          </a:bodyPr>
          <a:lstStyle/>
          <a:p>
            <a:pPr algn="l"/>
            <a:r>
              <a:rPr sz="750" b="1" i="0">
                <a:solidFill>
                  <a:srgbClr val="2E9C4C"/>
                </a:solidFill>
                <a:latin typeface="Arial"/>
              </a:rPr>
              <a:t>usage review</a:t>
            </a:r>
          </a:p>
        </p:txBody>
      </p:sp>
      <p:sp>
        <p:nvSpPr>
          <p:cNvPr id="35" name="TextBox 34"/>
          <p:cNvSpPr txBox="1"/>
          <p:nvPr/>
        </p:nvSpPr>
        <p:spPr>
          <a:xfrm>
            <a:off x="9025128" y="4370832"/>
            <a:ext cx="2468880" cy="256032"/>
          </a:xfrm>
          <a:prstGeom prst="rect">
            <a:avLst/>
          </a:prstGeom>
          <a:noFill/>
        </p:spPr>
        <p:txBody>
          <a:bodyPr wrap="square" lIns="45720" rIns="45720" tIns="18288" bIns="18288">
            <a:spAutoFit/>
          </a:bodyPr>
          <a:lstStyle/>
          <a:p>
            <a:pPr algn="l">
              <a:lnSpc>
                <a:spcPct val="104000"/>
              </a:lnSpc>
            </a:pPr>
            <a:r>
              <a:rPr sz="750" b="0" i="0">
                <a:solidFill>
                  <a:srgbClr val="5C6B62"/>
                </a:solidFill>
                <a:latin typeface="Arial"/>
              </a:rPr>
              <a:t>Check usage, send educational content, benefits, ask for a referral</a:t>
            </a:r>
          </a:p>
        </p:txBody>
      </p:sp>
      <p:sp>
        <p:nvSpPr>
          <p:cNvPr id="36" name="TextBox 35"/>
          <p:cNvSpPr txBox="1"/>
          <p:nvPr/>
        </p:nvSpPr>
        <p:spPr>
          <a:xfrm>
            <a:off x="502920" y="4663440"/>
            <a:ext cx="11183112" cy="164592"/>
          </a:xfrm>
          <a:prstGeom prst="rect">
            <a:avLst/>
          </a:prstGeom>
          <a:noFill/>
        </p:spPr>
        <p:txBody>
          <a:bodyPr wrap="square" lIns="45720" rIns="45720" tIns="18288" bIns="18288">
            <a:spAutoFit/>
          </a:bodyPr>
          <a:lstStyle/>
          <a:p>
            <a:pPr algn="l"/>
            <a:r>
              <a:rPr sz="800" b="1" i="0">
                <a:solidFill>
                  <a:srgbClr val="31633D"/>
                </a:solidFill>
                <a:latin typeface="Arial"/>
              </a:rPr>
              <a:t>Before any of these:  </a:t>
            </a:r>
            <a:r>
              <a:rPr sz="800" b="0" i="0">
                <a:solidFill>
                  <a:srgbClr val="5C6B62"/>
                </a:solidFill>
                <a:latin typeface="Arial"/>
              </a:rPr>
              <a:t>D1 — the introduction and how long the glasses will take.   Day 6-7 — the production update, ready or not ready.   CD — usage instructions, then benefits after the customer replies.</a:t>
            </a:r>
          </a:p>
        </p:txBody>
      </p:sp>
      <p:sp>
        <p:nvSpPr>
          <p:cNvPr id="37" name="Rectangle 36"/>
          <p:cNvSpPr/>
          <p:nvPr/>
        </p:nvSpPr>
        <p:spPr>
          <a:xfrm>
            <a:off x="502920" y="4864608"/>
            <a:ext cx="6528816" cy="731520"/>
          </a:xfrm>
          <a:prstGeom prst="rect">
            <a:avLst/>
          </a:prstGeom>
          <a:solidFill>
            <a:srgbClr val="FDF6E3"/>
          </a:solidFill>
          <a:ln w="9525">
            <a:solidFill>
              <a:srgbClr val="B9770B"/>
            </a:solidFill>
          </a:ln>
          <a:effectLst/>
        </p:spPr>
        <p:style>
          <a:lnRef idx="1">
            <a:schemeClr val="accent1"/>
          </a:lnRef>
          <a:fillRef idx="3">
            <a:schemeClr val="accent1"/>
          </a:fillRef>
          <a:effectRef idx="0">
            <a:schemeClr val="accent1"/>
          </a:effectRef>
          <a:fontRef idx="minor">
            <a:schemeClr val="lt1"/>
          </a:fontRef>
        </p:style>
        <p:txBody>
          <a:bodyPr rtlCol="0" anchor="ctr" wrap="square" tIns="36576" bIns="36576" lIns="146304" rIns="146304"/>
          <a:lstStyle/>
          <a:p>
            <a:pPr algn="l">
              <a:spcAft>
                <a:spcPts val="300"/>
              </a:spcAft>
            </a:pPr>
            <a:r>
              <a:rPr sz="950" b="1" i="0">
                <a:solidFill>
                  <a:srgbClr val="B9770B"/>
                </a:solidFill>
                <a:latin typeface="Arial"/>
              </a:rPr>
              <a:t>COMMON ISSUE, ALL SITES</a:t>
            </a:r>
          </a:p>
          <a:p>
            <a:pPr algn="l">
              <a:lnSpc>
                <a:spcPct val="108000"/>
              </a:lnSpc>
            </a:pPr>
            <a:r>
              <a:rPr sz="950" b="0" i="0">
                <a:solidFill>
                  <a:srgbClr val="5C6B62"/>
                </a:solidFill>
                <a:latin typeface="Arial"/>
              </a:rPr>
              <a:t>CD+7 and CD+30 follow-ups, educational content and customer care follow-ups all need strengthening. </a:t>
            </a:r>
            <a:r>
              <a:rPr sz="950" b="1" i="0">
                <a:solidFill>
                  <a:srgbClr val="31633D"/>
                </a:solidFill>
                <a:latin typeface="Arial"/>
              </a:rPr>
              <a:t>Not one site sent the full post-collection cadence to every sampled customer this week.</a:t>
            </a:r>
          </a:p>
        </p:txBody>
      </p:sp>
      <p:sp>
        <p:nvSpPr>
          <p:cNvPr id="38" name="Rectangle 37"/>
          <p:cNvSpPr/>
          <p:nvPr/>
        </p:nvSpPr>
        <p:spPr>
          <a:xfrm>
            <a:off x="7242048" y="4864608"/>
            <a:ext cx="4443984" cy="731520"/>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36576" bIns="36576" lIns="128016" rIns="128016"/>
          <a:lstStyle/>
          <a:p>
            <a:pPr algn="l">
              <a:spcAft>
                <a:spcPts val="300"/>
              </a:spcAft>
            </a:pPr>
            <a:r>
              <a:rPr sz="900" b="1" i="0">
                <a:solidFill>
                  <a:srgbClr val="C0392B"/>
                </a:solidFill>
                <a:latin typeface="Arial"/>
              </a:rPr>
              <a:t>THE DATE SELF-CHECK</a:t>
            </a:r>
          </a:p>
          <a:p>
            <a:pPr algn="l">
              <a:lnSpc>
                <a:spcPct val="106000"/>
              </a:lnSpc>
              <a:spcAft>
                <a:spcPts val="200"/>
              </a:spcAft>
            </a:pPr>
            <a:r>
              <a:rPr sz="750" b="0" i="0">
                <a:solidFill>
                  <a:srgbClr val="5C6B62"/>
                </a:solidFill>
                <a:latin typeface="Arial"/>
              </a:rPr>
              <a:t>Compare the date in the contact name with the day you sent the benefits message.</a:t>
            </a:r>
          </a:p>
          <a:p>
            <a:pPr algn="l">
              <a:lnSpc>
                <a:spcPct val="106000"/>
              </a:lnSpc>
            </a:pPr>
            <a:r>
              <a:rPr sz="750" b="1" i="0">
                <a:solidFill>
                  <a:srgbClr val="31633D"/>
                </a:solidFill>
                <a:latin typeface="Arial"/>
              </a:rPr>
              <a:t>Same day → Correct.    A week or more apart → Likely wrong.    No date or no benefits → Uncertain.</a:t>
            </a:r>
          </a:p>
        </p:txBody>
      </p:sp>
      <p:sp>
        <p:nvSpPr>
          <p:cNvPr id="39" name="Rectangle 38"/>
          <p:cNvSpPr/>
          <p:nvPr/>
        </p:nvSpPr>
        <p:spPr>
          <a:xfrm>
            <a:off x="502920" y="5852160"/>
            <a:ext cx="64008" cy="475488"/>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0" name="Rectangle 39"/>
          <p:cNvSpPr/>
          <p:nvPr/>
        </p:nvSpPr>
        <p:spPr>
          <a:xfrm>
            <a:off x="566928" y="5852160"/>
            <a:ext cx="11119104" cy="475488"/>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46304" rIns="109728"/>
          <a:lstStyle/>
          <a:p>
            <a:pPr algn="l"/>
            <a:r>
              <a:rPr sz="1150" b="1" i="0">
                <a:solidFill>
                  <a:srgbClr val="31633D"/>
                </a:solidFill>
                <a:latin typeface="Arial"/>
              </a:rPr>
              <a:t>Every customer.   The full cadence.   Benefits on the day of collection.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 name="TextBox 2"/>
          <p:cNvSpPr txBox="1"/>
          <p:nvPr/>
        </p:nvSpPr>
        <p:spPr>
          <a:xfrm>
            <a:off x="502920" y="228600"/>
            <a:ext cx="9692640" cy="228600"/>
          </a:xfrm>
          <a:prstGeom prst="rect">
            <a:avLst/>
          </a:prstGeom>
          <a:noFill/>
        </p:spPr>
        <p:txBody>
          <a:bodyPr wrap="square" lIns="45720" rIns="45720" tIns="18288" bIns="18288">
            <a:spAutoFit/>
          </a:bodyPr>
          <a:lstStyle/>
          <a:p>
            <a:pPr algn="l"/>
            <a:r>
              <a:rPr sz="950" b="1" i="0">
                <a:solidFill>
                  <a:srgbClr val="2E9C4C"/>
                </a:solidFill>
                <a:latin typeface="Arial"/>
              </a:rPr>
              <a:t>2. ZALO FEEDBACK   |   CLINIC SPECIFIC  ·  1 OF 2</a:t>
            </a:r>
          </a:p>
        </p:txBody>
      </p:sp>
      <p:sp>
        <p:nvSpPr>
          <p:cNvPr id="4" name="TextBox 3"/>
          <p:cNvSpPr txBox="1"/>
          <p:nvPr/>
        </p:nvSpPr>
        <p:spPr>
          <a:xfrm>
            <a:off x="502920" y="493776"/>
            <a:ext cx="11247120" cy="640080"/>
          </a:xfrm>
          <a:prstGeom prst="rect">
            <a:avLst/>
          </a:prstGeom>
          <a:noFill/>
        </p:spPr>
        <p:txBody>
          <a:bodyPr wrap="square" lIns="45720" rIns="45720" tIns="18288" bIns="18288">
            <a:spAutoFit/>
          </a:bodyPr>
          <a:lstStyle/>
          <a:p>
            <a:pPr algn="l"/>
            <a:r>
              <a:rPr sz="2200" b="1" i="0">
                <a:solidFill>
                  <a:srgbClr val="31633D"/>
                </a:solidFill>
                <a:latin typeface="Arial"/>
              </a:rPr>
              <a:t>CTE D5, CTE D7 and NGT</a:t>
            </a:r>
          </a:p>
        </p:txBody>
      </p:sp>
      <p:sp>
        <p:nvSpPr>
          <p:cNvPr id="5" name="Rectangle 4"/>
          <p:cNvSpPr/>
          <p:nvPr/>
        </p:nvSpPr>
        <p:spPr>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6" name="TextBox 5"/>
          <p:cNvSpPr txBox="1"/>
          <p:nvPr/>
        </p:nvSpPr>
        <p:spPr>
          <a:xfrm>
            <a:off x="502920" y="6455664"/>
            <a:ext cx="5486400" cy="237744"/>
          </a:xfrm>
          <a:prstGeom prst="rect">
            <a:avLst/>
          </a:prstGeom>
          <a:noFill/>
        </p:spPr>
        <p:txBody>
          <a:bodyPr wrap="square" lIns="45720" rIns="45720" tIns="18288" bIns="18288">
            <a:spAutoFit/>
          </a:bodyPr>
          <a:lstStyle/>
          <a:p>
            <a:pPr algn="l"/>
            <a:r>
              <a:rPr sz="800" b="0" i="0">
                <a:solidFill>
                  <a:srgbClr val="5C6B62"/>
                </a:solidFill>
                <a:latin typeface="Arial"/>
              </a:rPr>
              <a:t>Mắt Sài Gòn  |  Optometry DA Training</a:t>
            </a:r>
          </a:p>
        </p:txBody>
      </p:sp>
      <p:sp>
        <p:nvSpPr>
          <p:cNvPr id="7" name="TextBox 6"/>
          <p:cNvSpPr txBox="1"/>
          <p:nvPr/>
        </p:nvSpPr>
        <p:spPr>
          <a:xfrm>
            <a:off x="10972800" y="6455664"/>
            <a:ext cx="713232" cy="237744"/>
          </a:xfrm>
          <a:prstGeom prst="rect">
            <a:avLst/>
          </a:prstGeom>
          <a:noFill/>
        </p:spPr>
        <p:txBody>
          <a:bodyPr wrap="square" lIns="45720" rIns="45720" tIns="18288" bIns="18288">
            <a:spAutoFit/>
          </a:bodyPr>
          <a:lstStyle/>
          <a:p>
            <a:pPr algn="r"/>
            <a:r>
              <a:rPr sz="800" b="1" i="0">
                <a:solidFill>
                  <a:srgbClr val="5C6B62"/>
                </a:solidFill>
                <a:latin typeface="Arial"/>
              </a:rPr>
              <a:t>3</a:t>
            </a:r>
          </a:p>
        </p:txBody>
      </p:sp>
      <p:sp>
        <p:nvSpPr>
          <p:cNvPr id="8" name="TextBox 7"/>
          <p:cNvSpPr txBox="1"/>
          <p:nvPr/>
        </p:nvSpPr>
        <p:spPr>
          <a:xfrm>
            <a:off x="502920" y="1261872"/>
            <a:ext cx="11183112" cy="219456"/>
          </a:xfrm>
          <a:prstGeom prst="rect">
            <a:avLst/>
          </a:prstGeom>
          <a:noFill/>
        </p:spPr>
        <p:txBody>
          <a:bodyPr wrap="square" lIns="45720" rIns="45720" tIns="18288" bIns="18288">
            <a:spAutoFit/>
          </a:bodyPr>
          <a:lstStyle/>
          <a:p>
            <a:pPr algn="l">
              <a:lnSpc>
                <a:spcPct val="95000"/>
              </a:lnSpc>
            </a:pPr>
            <a:r>
              <a:rPr sz="1000" b="0" i="1">
                <a:solidFill>
                  <a:srgbClr val="5C6B62"/>
                </a:solidFill>
                <a:latin typeface="Arial"/>
              </a:rPr>
              <a:t>CTE D7 handles preparation and collection well and CTE D5 does not. NGT writes the best messages of the three and records the wrong date on all of them.</a:t>
            </a:r>
          </a:p>
        </p:txBody>
      </p:sp>
      <p:sp>
        <p:nvSpPr>
          <p:cNvPr id="9" name="Rectangle 8"/>
          <p:cNvSpPr/>
          <p:nvPr/>
        </p:nvSpPr>
        <p:spPr>
          <a:xfrm>
            <a:off x="502920" y="1591056"/>
            <a:ext cx="11183112" cy="132588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0" name="Rectangle 9"/>
          <p:cNvSpPr/>
          <p:nvPr/>
        </p:nvSpPr>
        <p:spPr>
          <a:xfrm>
            <a:off x="502920" y="1591056"/>
            <a:ext cx="54864" cy="1325880"/>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1" name="TextBox 10"/>
          <p:cNvSpPr txBox="1"/>
          <p:nvPr/>
        </p:nvSpPr>
        <p:spPr>
          <a:xfrm>
            <a:off x="694944" y="1673352"/>
            <a:ext cx="1783080" cy="256032"/>
          </a:xfrm>
          <a:prstGeom prst="rect">
            <a:avLst/>
          </a:prstGeom>
          <a:noFill/>
        </p:spPr>
        <p:txBody>
          <a:bodyPr wrap="square" lIns="45720" rIns="45720" tIns="18288" bIns="18288">
            <a:spAutoFit/>
          </a:bodyPr>
          <a:lstStyle/>
          <a:p>
            <a:pPr algn="l"/>
            <a:r>
              <a:rPr sz="1400" b="1" i="0">
                <a:solidFill>
                  <a:srgbClr val="31633D"/>
                </a:solidFill>
                <a:latin typeface="Arial"/>
              </a:rPr>
              <a:t>CTE D5</a:t>
            </a:r>
          </a:p>
        </p:txBody>
      </p:sp>
      <p:sp>
        <p:nvSpPr>
          <p:cNvPr id="12" name="TextBox 11"/>
          <p:cNvSpPr txBox="1"/>
          <p:nvPr/>
        </p:nvSpPr>
        <p:spPr>
          <a:xfrm>
            <a:off x="694944" y="1929384"/>
            <a:ext cx="1783080" cy="384048"/>
          </a:xfrm>
          <a:prstGeom prst="rect">
            <a:avLst/>
          </a:prstGeom>
          <a:noFill/>
        </p:spPr>
        <p:txBody>
          <a:bodyPr wrap="square" lIns="45720" rIns="45720" tIns="18288" bIns="18288">
            <a:spAutoFit/>
          </a:bodyPr>
          <a:lstStyle/>
          <a:p>
            <a:pPr algn="l">
              <a:lnSpc>
                <a:spcPct val="104000"/>
              </a:lnSpc>
            </a:pPr>
            <a:r>
              <a:rPr sz="800" b="1" i="0">
                <a:solidFill>
                  <a:srgbClr val="C0392B"/>
                </a:solidFill>
                <a:latin typeface="Arial"/>
              </a:rPr>
              <a:t>Benefits only — the rest of the cadence is missing</a:t>
            </a:r>
          </a:p>
        </p:txBody>
      </p:sp>
      <p:sp>
        <p:nvSpPr>
          <p:cNvPr id="13" name="TextBox 12"/>
          <p:cNvSpPr txBox="1"/>
          <p:nvPr/>
        </p:nvSpPr>
        <p:spPr>
          <a:xfrm>
            <a:off x="694944" y="2377440"/>
            <a:ext cx="1783080" cy="457200"/>
          </a:xfrm>
          <a:prstGeom prst="rect">
            <a:avLst/>
          </a:prstGeom>
          <a:noFill/>
        </p:spPr>
        <p:txBody>
          <a:bodyPr wrap="square" lIns="45720" rIns="45720" tIns="18288" bIns="18288">
            <a:spAutoFit/>
          </a:bodyPr>
          <a:lstStyle/>
          <a:p>
            <a:pPr algn="l">
              <a:spcAft>
                <a:spcPts val="100"/>
              </a:spcAft>
            </a:pPr>
            <a:r>
              <a:rPr sz="700" b="1" i="0">
                <a:solidFill>
                  <a:srgbClr val="2E9C4C"/>
                </a:solidFill>
                <a:latin typeface="Arial"/>
              </a:rPr>
              <a:t>Evidence</a:t>
            </a:r>
          </a:p>
          <a:p>
            <a:pPr algn="l">
              <a:lnSpc>
                <a:spcPct val="104000"/>
              </a:lnSpc>
            </a:pPr>
            <a:r>
              <a:rPr sz="700" b="0" i="0">
                <a:solidFill>
                  <a:srgbClr val="5C6B62"/>
                </a:solidFill>
                <a:latin typeface="Arial"/>
              </a:rPr>
              <a:t>slide 6  ·  MCY-260817, three contacts between 5 and 20 August</a:t>
            </a:r>
          </a:p>
        </p:txBody>
      </p:sp>
      <p:sp>
        <p:nvSpPr>
          <p:cNvPr id="14" name="Rectangle 13"/>
          <p:cNvSpPr/>
          <p:nvPr/>
        </p:nvSpPr>
        <p:spPr>
          <a:xfrm>
            <a:off x="2505456" y="1682496"/>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5" name="TextBox 14"/>
          <p:cNvSpPr txBox="1"/>
          <p:nvPr/>
        </p:nvSpPr>
        <p:spPr>
          <a:xfrm>
            <a:off x="2670048" y="1682496"/>
            <a:ext cx="4023360" cy="164592"/>
          </a:xfrm>
          <a:prstGeom prst="rect">
            <a:avLst/>
          </a:prstGeom>
          <a:noFill/>
        </p:spPr>
        <p:txBody>
          <a:bodyPr wrap="square" lIns="45720" rIns="45720" tIns="18288" bIns="18288">
            <a:spAutoFit/>
          </a:bodyPr>
          <a:lstStyle/>
          <a:p>
            <a:pPr algn="l"/>
            <a:r>
              <a:rPr sz="800" b="1" i="0">
                <a:solidFill>
                  <a:srgbClr val="2E9C4C"/>
                </a:solidFill>
                <a:latin typeface="Arial"/>
              </a:rPr>
              <a:t>POSITIVES</a:t>
            </a:r>
          </a:p>
        </p:txBody>
      </p:sp>
      <p:sp>
        <p:nvSpPr>
          <p:cNvPr id="16" name="TextBox 15"/>
          <p:cNvSpPr txBox="1"/>
          <p:nvPr/>
        </p:nvSpPr>
        <p:spPr>
          <a:xfrm>
            <a:off x="2670048" y="1856231"/>
            <a:ext cx="4023360" cy="960119"/>
          </a:xfrm>
          <a:prstGeom prst="rect">
            <a:avLst/>
          </a:prstGeom>
          <a:noFill/>
        </p:spPr>
        <p:txBody>
          <a:bodyPr wrap="square" lIns="45720" rIns="45720" tIns="18288" bIns="18288">
            <a:spAutoFit/>
          </a:bodyPr>
          <a:lstStyle/>
          <a:p>
            <a:pPr algn="l">
              <a:lnSpc>
                <a:spcPct val="106000"/>
              </a:lnSpc>
              <a:spcAft>
                <a:spcPts val="350"/>
              </a:spcAft>
            </a:pPr>
            <a:r>
              <a:rPr sz="850" b="0" i="0">
                <a:solidFill>
                  <a:srgbClr val="5C6B62"/>
                </a:solidFill>
                <a:latin typeface="Arial"/>
              </a:rPr>
              <a:t>✓  </a:t>
            </a:r>
            <a:r>
              <a:rPr sz="850" b="0" i="0">
                <a:solidFill>
                  <a:srgbClr val="5C6B62"/>
                </a:solidFill>
                <a:latin typeface="Arial"/>
              </a:rPr>
              <a:t>Customer name annotations are generally correct.</a:t>
            </a:r>
          </a:p>
        </p:txBody>
      </p:sp>
      <p:sp>
        <p:nvSpPr>
          <p:cNvPr id="17" name="Rectangle 16"/>
          <p:cNvSpPr/>
          <p:nvPr/>
        </p:nvSpPr>
        <p:spPr>
          <a:xfrm>
            <a:off x="6821424" y="1682496"/>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8" name="TextBox 17"/>
          <p:cNvSpPr txBox="1"/>
          <p:nvPr/>
        </p:nvSpPr>
        <p:spPr>
          <a:xfrm>
            <a:off x="6967728" y="1682496"/>
            <a:ext cx="4663440" cy="164592"/>
          </a:xfrm>
          <a:prstGeom prst="rect">
            <a:avLst/>
          </a:prstGeom>
          <a:noFill/>
        </p:spPr>
        <p:txBody>
          <a:bodyPr wrap="square" lIns="45720" rIns="45720" tIns="18288" bIns="18288">
            <a:spAutoFit/>
          </a:bodyPr>
          <a:lstStyle/>
          <a:p>
            <a:pPr algn="l"/>
            <a:r>
              <a:rPr sz="800" b="1" i="0">
                <a:solidFill>
                  <a:srgbClr val="B9770B"/>
                </a:solidFill>
                <a:latin typeface="Arial"/>
              </a:rPr>
              <a:t>AREAS FOR IMPROVEMENT</a:t>
            </a:r>
          </a:p>
        </p:txBody>
      </p:sp>
      <p:sp>
        <p:nvSpPr>
          <p:cNvPr id="19" name="TextBox 18"/>
          <p:cNvSpPr txBox="1"/>
          <p:nvPr/>
        </p:nvSpPr>
        <p:spPr>
          <a:xfrm>
            <a:off x="6967728" y="1856231"/>
            <a:ext cx="4663440" cy="960119"/>
          </a:xfrm>
          <a:prstGeom prst="rect">
            <a:avLst/>
          </a:prstGeom>
          <a:noFill/>
        </p:spPr>
        <p:txBody>
          <a:bodyPr wrap="square" lIns="45720" rIns="45720" tIns="18288" bIns="18288">
            <a:spAutoFit/>
          </a:bodyPr>
          <a:lstStyle/>
          <a:p>
            <a:pPr algn="l">
              <a:lnSpc>
                <a:spcPct val="106000"/>
              </a:lnSpc>
              <a:spcAft>
                <a:spcPts val="350"/>
              </a:spcAft>
            </a:pPr>
            <a:r>
              <a:rPr sz="850" b="0" i="0">
                <a:solidFill>
                  <a:srgbClr val="5C6B62"/>
                </a:solidFill>
                <a:latin typeface="Arial"/>
              </a:rPr>
              <a:t>▪  </a:t>
            </a:r>
            <a:r>
              <a:rPr sz="850" b="0" i="0">
                <a:solidFill>
                  <a:srgbClr val="5C6B62"/>
                </a:solidFill>
                <a:latin typeface="Arial"/>
              </a:rPr>
              <a:t>D1 is only half done — the introduction is there, but the glasses were never mentioned.</a:t>
            </a:r>
          </a:p>
          <a:p>
            <a:pPr algn="l">
              <a:lnSpc>
                <a:spcPct val="106000"/>
              </a:lnSpc>
              <a:spcAft>
                <a:spcPts val="350"/>
              </a:spcAft>
            </a:pPr>
            <a:r>
              <a:rPr sz="850" b="0" i="0">
                <a:solidFill>
                  <a:srgbClr val="5C6B62"/>
                </a:solidFill>
                <a:latin typeface="Arial"/>
              </a:rPr>
              <a:t>▪  </a:t>
            </a:r>
            <a:r>
              <a:rPr sz="850" b="0" i="0">
                <a:solidFill>
                  <a:srgbClr val="5C6B62"/>
                </a:solidFill>
                <a:latin typeface="Arial"/>
              </a:rPr>
              <a:t>The sampled customers only received communication about membership benefits. This is far from sufficient.</a:t>
            </a:r>
          </a:p>
          <a:p>
            <a:pPr algn="l">
              <a:lnSpc>
                <a:spcPct val="106000"/>
              </a:lnSpc>
              <a:spcAft>
                <a:spcPts val="350"/>
              </a:spcAft>
            </a:pPr>
            <a:r>
              <a:rPr sz="850" b="0" i="0">
                <a:solidFill>
                  <a:srgbClr val="5C6B62"/>
                </a:solidFill>
                <a:latin typeface="Arial"/>
              </a:rPr>
              <a:t>▪  </a:t>
            </a:r>
            <a:r>
              <a:rPr sz="850" b="0" i="0">
                <a:solidFill>
                  <a:srgbClr val="5C6B62"/>
                </a:solidFill>
                <a:latin typeface="Arial"/>
              </a:rPr>
              <a:t>Communication about glasses preparation and collection was not done.</a:t>
            </a:r>
          </a:p>
          <a:p>
            <a:pPr algn="l">
              <a:lnSpc>
                <a:spcPct val="106000"/>
              </a:lnSpc>
              <a:spcAft>
                <a:spcPts val="350"/>
              </a:spcAft>
            </a:pPr>
            <a:r>
              <a:rPr sz="850" b="0" i="0">
                <a:solidFill>
                  <a:srgbClr val="5C6B62"/>
                </a:solidFill>
                <a:latin typeface="Arial"/>
              </a:rPr>
              <a:t>▪  </a:t>
            </a:r>
            <a:r>
              <a:rPr sz="850" b="0" i="0">
                <a:solidFill>
                  <a:srgbClr val="5C6B62"/>
                </a:solidFill>
                <a:latin typeface="Arial"/>
              </a:rPr>
              <a:t>CD+3-5, CD+7 and CD+30 follow-ups, educational content and customer care were not done.</a:t>
            </a:r>
          </a:p>
        </p:txBody>
      </p:sp>
      <p:sp>
        <p:nvSpPr>
          <p:cNvPr id="20" name="Rectangle 19"/>
          <p:cNvSpPr/>
          <p:nvPr/>
        </p:nvSpPr>
        <p:spPr>
          <a:xfrm>
            <a:off x="502920" y="3026663"/>
            <a:ext cx="11183112" cy="132588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1" name="Rectangle 20"/>
          <p:cNvSpPr/>
          <p:nvPr/>
        </p:nvSpPr>
        <p:spPr>
          <a:xfrm>
            <a:off x="502920" y="3026663"/>
            <a:ext cx="54864" cy="1325880"/>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2" name="TextBox 21"/>
          <p:cNvSpPr txBox="1"/>
          <p:nvPr/>
        </p:nvSpPr>
        <p:spPr>
          <a:xfrm>
            <a:off x="694944" y="3108959"/>
            <a:ext cx="1783080" cy="256032"/>
          </a:xfrm>
          <a:prstGeom prst="rect">
            <a:avLst/>
          </a:prstGeom>
          <a:noFill/>
        </p:spPr>
        <p:txBody>
          <a:bodyPr wrap="square" lIns="45720" rIns="45720" tIns="18288" bIns="18288">
            <a:spAutoFit/>
          </a:bodyPr>
          <a:lstStyle/>
          <a:p>
            <a:pPr algn="l"/>
            <a:r>
              <a:rPr sz="1400" b="1" i="0">
                <a:solidFill>
                  <a:srgbClr val="31633D"/>
                </a:solidFill>
                <a:latin typeface="Arial"/>
              </a:rPr>
              <a:t>CTE D7</a:t>
            </a:r>
          </a:p>
        </p:txBody>
      </p:sp>
      <p:sp>
        <p:nvSpPr>
          <p:cNvPr id="23" name="TextBox 22"/>
          <p:cNvSpPr txBox="1"/>
          <p:nvPr/>
        </p:nvSpPr>
        <p:spPr>
          <a:xfrm>
            <a:off x="694944" y="3364991"/>
            <a:ext cx="1783080" cy="384048"/>
          </a:xfrm>
          <a:prstGeom prst="rect">
            <a:avLst/>
          </a:prstGeom>
          <a:noFill/>
        </p:spPr>
        <p:txBody>
          <a:bodyPr wrap="square" lIns="45720" rIns="45720" tIns="18288" bIns="18288">
            <a:spAutoFit/>
          </a:bodyPr>
          <a:lstStyle/>
          <a:p>
            <a:pPr algn="l">
              <a:lnSpc>
                <a:spcPct val="104000"/>
              </a:lnSpc>
            </a:pPr>
            <a:r>
              <a:rPr sz="800" b="1" i="0">
                <a:solidFill>
                  <a:srgbClr val="2E9C4C"/>
                </a:solidFill>
                <a:latin typeface="Arial"/>
              </a:rPr>
              <a:t>Strong up to collection day, stops after it</a:t>
            </a:r>
          </a:p>
        </p:txBody>
      </p:sp>
      <p:sp>
        <p:nvSpPr>
          <p:cNvPr id="24" name="TextBox 23"/>
          <p:cNvSpPr txBox="1"/>
          <p:nvPr/>
        </p:nvSpPr>
        <p:spPr>
          <a:xfrm>
            <a:off x="694944" y="3813048"/>
            <a:ext cx="1783080" cy="457200"/>
          </a:xfrm>
          <a:prstGeom prst="rect">
            <a:avLst/>
          </a:prstGeom>
          <a:noFill/>
        </p:spPr>
        <p:txBody>
          <a:bodyPr wrap="square" lIns="45720" rIns="45720" tIns="18288" bIns="18288">
            <a:spAutoFit/>
          </a:bodyPr>
          <a:lstStyle/>
          <a:p>
            <a:pPr algn="l">
              <a:spcAft>
                <a:spcPts val="100"/>
              </a:spcAft>
            </a:pPr>
            <a:r>
              <a:rPr sz="700" b="1" i="0">
                <a:solidFill>
                  <a:srgbClr val="2E9C4C"/>
                </a:solidFill>
                <a:latin typeface="Arial"/>
              </a:rPr>
              <a:t>Evidence</a:t>
            </a:r>
          </a:p>
          <a:p>
            <a:pPr algn="l">
              <a:lnSpc>
                <a:spcPct val="104000"/>
              </a:lnSpc>
            </a:pPr>
            <a:r>
              <a:rPr sz="700" b="0" i="0">
                <a:solidFill>
                  <a:srgbClr val="5C6B62"/>
                </a:solidFill>
                <a:latin typeface="Arial"/>
              </a:rPr>
              <a:t>slide 7  ·  MCY 260811, two children under one contact</a:t>
            </a:r>
          </a:p>
        </p:txBody>
      </p:sp>
      <p:sp>
        <p:nvSpPr>
          <p:cNvPr id="25" name="Rectangle 24"/>
          <p:cNvSpPr/>
          <p:nvPr/>
        </p:nvSpPr>
        <p:spPr>
          <a:xfrm>
            <a:off x="2505456" y="3118103"/>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6" name="TextBox 25"/>
          <p:cNvSpPr txBox="1"/>
          <p:nvPr/>
        </p:nvSpPr>
        <p:spPr>
          <a:xfrm>
            <a:off x="2670048" y="3118103"/>
            <a:ext cx="4023360" cy="164592"/>
          </a:xfrm>
          <a:prstGeom prst="rect">
            <a:avLst/>
          </a:prstGeom>
          <a:noFill/>
        </p:spPr>
        <p:txBody>
          <a:bodyPr wrap="square" lIns="45720" rIns="45720" tIns="18288" bIns="18288">
            <a:spAutoFit/>
          </a:bodyPr>
          <a:lstStyle/>
          <a:p>
            <a:pPr algn="l"/>
            <a:r>
              <a:rPr sz="800" b="1" i="0">
                <a:solidFill>
                  <a:srgbClr val="2E9C4C"/>
                </a:solidFill>
                <a:latin typeface="Arial"/>
              </a:rPr>
              <a:t>POSITIVES</a:t>
            </a:r>
          </a:p>
        </p:txBody>
      </p:sp>
      <p:sp>
        <p:nvSpPr>
          <p:cNvPr id="27" name="TextBox 26"/>
          <p:cNvSpPr txBox="1"/>
          <p:nvPr/>
        </p:nvSpPr>
        <p:spPr>
          <a:xfrm>
            <a:off x="2670048" y="3291839"/>
            <a:ext cx="4023360" cy="960119"/>
          </a:xfrm>
          <a:prstGeom prst="rect">
            <a:avLst/>
          </a:prstGeom>
          <a:noFill/>
        </p:spPr>
        <p:txBody>
          <a:bodyPr wrap="square" lIns="45720" rIns="45720" tIns="18288" bIns="18288">
            <a:spAutoFit/>
          </a:bodyPr>
          <a:lstStyle/>
          <a:p>
            <a:pPr algn="l">
              <a:lnSpc>
                <a:spcPct val="106000"/>
              </a:lnSpc>
              <a:spcAft>
                <a:spcPts val="350"/>
              </a:spcAft>
            </a:pPr>
            <a:r>
              <a:rPr sz="850" b="0" i="0">
                <a:solidFill>
                  <a:srgbClr val="5C6B62"/>
                </a:solidFill>
                <a:latin typeface="Arial"/>
              </a:rPr>
              <a:t>✓  </a:t>
            </a:r>
            <a:r>
              <a:rPr sz="850" b="0" i="0">
                <a:solidFill>
                  <a:srgbClr val="5C6B62"/>
                </a:solidFill>
                <a:latin typeface="Arial"/>
              </a:rPr>
              <a:t>Communication about glasses preparation, collection, and membership benefits is generally in place.</a:t>
            </a:r>
          </a:p>
        </p:txBody>
      </p:sp>
      <p:sp>
        <p:nvSpPr>
          <p:cNvPr id="28" name="Rectangle 27"/>
          <p:cNvSpPr/>
          <p:nvPr/>
        </p:nvSpPr>
        <p:spPr>
          <a:xfrm>
            <a:off x="6821424" y="3118103"/>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9" name="TextBox 28"/>
          <p:cNvSpPr txBox="1"/>
          <p:nvPr/>
        </p:nvSpPr>
        <p:spPr>
          <a:xfrm>
            <a:off x="6967728" y="3118103"/>
            <a:ext cx="4663440" cy="164592"/>
          </a:xfrm>
          <a:prstGeom prst="rect">
            <a:avLst/>
          </a:prstGeom>
          <a:noFill/>
        </p:spPr>
        <p:txBody>
          <a:bodyPr wrap="square" lIns="45720" rIns="45720" tIns="18288" bIns="18288">
            <a:spAutoFit/>
          </a:bodyPr>
          <a:lstStyle/>
          <a:p>
            <a:pPr algn="l"/>
            <a:r>
              <a:rPr sz="800" b="1" i="0">
                <a:solidFill>
                  <a:srgbClr val="B9770B"/>
                </a:solidFill>
                <a:latin typeface="Arial"/>
              </a:rPr>
              <a:t>AREAS FOR IMPROVEMENT</a:t>
            </a:r>
          </a:p>
        </p:txBody>
      </p:sp>
      <p:sp>
        <p:nvSpPr>
          <p:cNvPr id="30" name="TextBox 29"/>
          <p:cNvSpPr txBox="1"/>
          <p:nvPr/>
        </p:nvSpPr>
        <p:spPr>
          <a:xfrm>
            <a:off x="6967728" y="3291839"/>
            <a:ext cx="4663440" cy="960119"/>
          </a:xfrm>
          <a:prstGeom prst="rect">
            <a:avLst/>
          </a:prstGeom>
          <a:noFill/>
        </p:spPr>
        <p:txBody>
          <a:bodyPr wrap="square" lIns="45720" rIns="45720" tIns="18288" bIns="18288">
            <a:spAutoFit/>
          </a:bodyPr>
          <a:lstStyle/>
          <a:p>
            <a:pPr algn="l">
              <a:lnSpc>
                <a:spcPct val="106000"/>
              </a:lnSpc>
              <a:spcAft>
                <a:spcPts val="350"/>
              </a:spcAft>
            </a:pPr>
            <a:r>
              <a:rPr sz="850" b="0" i="0">
                <a:solidFill>
                  <a:srgbClr val="5C6B62"/>
                </a:solidFill>
                <a:latin typeface="Arial"/>
              </a:rPr>
              <a:t>▪  </a:t>
            </a:r>
            <a:r>
              <a:rPr sz="850" b="0" i="0">
                <a:solidFill>
                  <a:srgbClr val="5C6B62"/>
                </a:solidFill>
                <a:latin typeface="Arial"/>
              </a:rPr>
              <a:t>Post-collection CD+7 and CD+30 follow-ups need to be strengthened.</a:t>
            </a:r>
          </a:p>
          <a:p>
            <a:pPr algn="l">
              <a:lnSpc>
                <a:spcPct val="106000"/>
              </a:lnSpc>
              <a:spcAft>
                <a:spcPts val="350"/>
              </a:spcAft>
            </a:pPr>
            <a:r>
              <a:rPr sz="850" b="0" i="0">
                <a:solidFill>
                  <a:srgbClr val="5C6B62"/>
                </a:solidFill>
                <a:latin typeface="Arial"/>
              </a:rPr>
              <a:t>▪  </a:t>
            </a:r>
            <a:r>
              <a:rPr sz="850" b="0" i="0">
                <a:solidFill>
                  <a:srgbClr val="5C6B62"/>
                </a:solidFill>
                <a:latin typeface="Arial"/>
              </a:rPr>
              <a:t>Educational content and customer care need to be strengthened.</a:t>
            </a:r>
          </a:p>
          <a:p>
            <a:pPr algn="l">
              <a:lnSpc>
                <a:spcPct val="106000"/>
              </a:lnSpc>
              <a:spcAft>
                <a:spcPts val="350"/>
              </a:spcAft>
            </a:pPr>
            <a:r>
              <a:rPr sz="850" b="0" i="0">
                <a:solidFill>
                  <a:srgbClr val="5C6B62"/>
                </a:solidFill>
                <a:latin typeface="Arial"/>
              </a:rPr>
              <a:t>▪  </a:t>
            </a:r>
            <a:r>
              <a:rPr sz="850" b="0" i="0">
                <a:solidFill>
                  <a:srgbClr val="5C6B62"/>
                </a:solidFill>
                <a:latin typeface="Arial"/>
              </a:rPr>
              <a:t>Two children share one contact. Each child needs their own tracker row, or the second child never enters the follow-up list.</a:t>
            </a:r>
          </a:p>
        </p:txBody>
      </p:sp>
      <p:sp>
        <p:nvSpPr>
          <p:cNvPr id="31" name="Rectangle 30"/>
          <p:cNvSpPr/>
          <p:nvPr/>
        </p:nvSpPr>
        <p:spPr>
          <a:xfrm>
            <a:off x="502920" y="4462271"/>
            <a:ext cx="11183112" cy="132588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2" name="Rectangle 31"/>
          <p:cNvSpPr/>
          <p:nvPr/>
        </p:nvSpPr>
        <p:spPr>
          <a:xfrm>
            <a:off x="502920" y="4462271"/>
            <a:ext cx="54864" cy="1325880"/>
          </a:xfrm>
          <a:prstGeom prst="rect">
            <a:avLst/>
          </a:prstGeom>
          <a:solidFill>
            <a:srgbClr val="B9770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3" name="TextBox 32"/>
          <p:cNvSpPr txBox="1"/>
          <p:nvPr/>
        </p:nvSpPr>
        <p:spPr>
          <a:xfrm>
            <a:off x="694944" y="4544567"/>
            <a:ext cx="1783080" cy="256032"/>
          </a:xfrm>
          <a:prstGeom prst="rect">
            <a:avLst/>
          </a:prstGeom>
          <a:noFill/>
        </p:spPr>
        <p:txBody>
          <a:bodyPr wrap="square" lIns="45720" rIns="45720" tIns="18288" bIns="18288">
            <a:spAutoFit/>
          </a:bodyPr>
          <a:lstStyle/>
          <a:p>
            <a:pPr algn="l"/>
            <a:r>
              <a:rPr sz="1400" b="1" i="0">
                <a:solidFill>
                  <a:srgbClr val="31633D"/>
                </a:solidFill>
                <a:latin typeface="Arial"/>
              </a:rPr>
              <a:t>NGT</a:t>
            </a:r>
          </a:p>
        </p:txBody>
      </p:sp>
      <p:sp>
        <p:nvSpPr>
          <p:cNvPr id="34" name="TextBox 33"/>
          <p:cNvSpPr txBox="1"/>
          <p:nvPr/>
        </p:nvSpPr>
        <p:spPr>
          <a:xfrm>
            <a:off x="694944" y="4800599"/>
            <a:ext cx="1783080" cy="384048"/>
          </a:xfrm>
          <a:prstGeom prst="rect">
            <a:avLst/>
          </a:prstGeom>
          <a:noFill/>
        </p:spPr>
        <p:txBody>
          <a:bodyPr wrap="square" lIns="45720" rIns="45720" tIns="18288" bIns="18288">
            <a:spAutoFit/>
          </a:bodyPr>
          <a:lstStyle/>
          <a:p>
            <a:pPr algn="l">
              <a:lnSpc>
                <a:spcPct val="104000"/>
              </a:lnSpc>
            </a:pPr>
            <a:r>
              <a:rPr sz="800" b="1" i="0">
                <a:solidFill>
                  <a:srgbClr val="B9770B"/>
                </a:solidFill>
                <a:latin typeface="Arial"/>
              </a:rPr>
              <a:t>Good writing, wrong dates, no post-collection care</a:t>
            </a:r>
          </a:p>
        </p:txBody>
      </p:sp>
      <p:sp>
        <p:nvSpPr>
          <p:cNvPr id="35" name="TextBox 34"/>
          <p:cNvSpPr txBox="1"/>
          <p:nvPr/>
        </p:nvSpPr>
        <p:spPr>
          <a:xfrm>
            <a:off x="694944" y="5248655"/>
            <a:ext cx="1783080" cy="457200"/>
          </a:xfrm>
          <a:prstGeom prst="rect">
            <a:avLst/>
          </a:prstGeom>
          <a:noFill/>
        </p:spPr>
        <p:txBody>
          <a:bodyPr wrap="square" lIns="45720" rIns="45720" tIns="18288" bIns="18288">
            <a:spAutoFit/>
          </a:bodyPr>
          <a:lstStyle/>
          <a:p>
            <a:pPr algn="l">
              <a:spcAft>
                <a:spcPts val="100"/>
              </a:spcAft>
            </a:pPr>
            <a:r>
              <a:rPr sz="700" b="1" i="0">
                <a:solidFill>
                  <a:srgbClr val="2E9C4C"/>
                </a:solidFill>
                <a:latin typeface="Arial"/>
              </a:rPr>
              <a:t>Evidence</a:t>
            </a:r>
          </a:p>
          <a:p>
            <a:pPr algn="l">
              <a:lnSpc>
                <a:spcPct val="104000"/>
              </a:lnSpc>
            </a:pPr>
            <a:r>
              <a:rPr sz="700" b="0" i="0">
                <a:solidFill>
                  <a:srgbClr val="5C6B62"/>
                </a:solidFill>
                <a:latin typeface="Arial"/>
              </a:rPr>
              <a:t>slide 8  ·  KTY 260815, the parent had to ask whether the glasses had arrived</a:t>
            </a:r>
          </a:p>
        </p:txBody>
      </p:sp>
      <p:sp>
        <p:nvSpPr>
          <p:cNvPr id="36" name="Rectangle 35"/>
          <p:cNvSpPr/>
          <p:nvPr/>
        </p:nvSpPr>
        <p:spPr>
          <a:xfrm>
            <a:off x="2505456" y="4553711"/>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7" name="TextBox 36"/>
          <p:cNvSpPr txBox="1"/>
          <p:nvPr/>
        </p:nvSpPr>
        <p:spPr>
          <a:xfrm>
            <a:off x="2670048" y="4553711"/>
            <a:ext cx="4023360" cy="164592"/>
          </a:xfrm>
          <a:prstGeom prst="rect">
            <a:avLst/>
          </a:prstGeom>
          <a:noFill/>
        </p:spPr>
        <p:txBody>
          <a:bodyPr wrap="square" lIns="45720" rIns="45720" tIns="18288" bIns="18288">
            <a:spAutoFit/>
          </a:bodyPr>
          <a:lstStyle/>
          <a:p>
            <a:pPr algn="l"/>
            <a:r>
              <a:rPr sz="800" b="1" i="0">
                <a:solidFill>
                  <a:srgbClr val="2E9C4C"/>
                </a:solidFill>
                <a:latin typeface="Arial"/>
              </a:rPr>
              <a:t>POSITIVES</a:t>
            </a:r>
          </a:p>
        </p:txBody>
      </p:sp>
      <p:sp>
        <p:nvSpPr>
          <p:cNvPr id="38" name="TextBox 37"/>
          <p:cNvSpPr txBox="1"/>
          <p:nvPr/>
        </p:nvSpPr>
        <p:spPr>
          <a:xfrm>
            <a:off x="2670048" y="4727447"/>
            <a:ext cx="4023360" cy="960119"/>
          </a:xfrm>
          <a:prstGeom prst="rect">
            <a:avLst/>
          </a:prstGeom>
          <a:noFill/>
        </p:spPr>
        <p:txBody>
          <a:bodyPr wrap="square" lIns="45720" rIns="45720" tIns="18288" bIns="18288">
            <a:spAutoFit/>
          </a:bodyPr>
          <a:lstStyle/>
          <a:p>
            <a:pPr algn="l">
              <a:lnSpc>
                <a:spcPct val="106000"/>
              </a:lnSpc>
              <a:spcAft>
                <a:spcPts val="350"/>
              </a:spcAft>
            </a:pPr>
            <a:r>
              <a:rPr sz="850" b="0" i="0">
                <a:solidFill>
                  <a:srgbClr val="5C6B62"/>
                </a:solidFill>
                <a:latin typeface="Arial"/>
              </a:rPr>
              <a:t>✓  </a:t>
            </a:r>
            <a:r>
              <a:rPr sz="850" b="0" i="0">
                <a:solidFill>
                  <a:srgbClr val="5C6B62"/>
                </a:solidFill>
                <a:latin typeface="Arial"/>
              </a:rPr>
              <a:t>Membership benefits are consistently sent.</a:t>
            </a:r>
          </a:p>
          <a:p>
            <a:pPr algn="l">
              <a:lnSpc>
                <a:spcPct val="106000"/>
              </a:lnSpc>
              <a:spcAft>
                <a:spcPts val="350"/>
              </a:spcAft>
            </a:pPr>
            <a:r>
              <a:rPr sz="850" b="0" i="0">
                <a:solidFill>
                  <a:srgbClr val="5C6B62"/>
                </a:solidFill>
                <a:latin typeface="Arial"/>
              </a:rPr>
              <a:t>✓  </a:t>
            </a:r>
            <a:r>
              <a:rPr sz="850" b="0" i="0">
                <a:solidFill>
                  <a:srgbClr val="5C6B62"/>
                </a:solidFill>
                <a:latin typeface="Arial"/>
              </a:rPr>
              <a:t>The simplified referral script is occasionally used in customer conversations.</a:t>
            </a:r>
          </a:p>
          <a:p>
            <a:pPr algn="l">
              <a:lnSpc>
                <a:spcPct val="106000"/>
              </a:lnSpc>
              <a:spcAft>
                <a:spcPts val="350"/>
              </a:spcAft>
            </a:pPr>
            <a:r>
              <a:rPr sz="850" b="0" i="0">
                <a:solidFill>
                  <a:srgbClr val="5C6B62"/>
                </a:solidFill>
                <a:latin typeface="Arial"/>
              </a:rPr>
              <a:t>✓  </a:t>
            </a:r>
            <a:r>
              <a:rPr sz="850" b="0" i="0">
                <a:solidFill>
                  <a:srgbClr val="5C6B62"/>
                </a:solidFill>
                <a:latin typeface="Arial"/>
              </a:rPr>
              <a:t>She tailors her messages rather than sending a standard block of text.</a:t>
            </a:r>
          </a:p>
        </p:txBody>
      </p:sp>
      <p:sp>
        <p:nvSpPr>
          <p:cNvPr id="39" name="Rectangle 38"/>
          <p:cNvSpPr/>
          <p:nvPr/>
        </p:nvSpPr>
        <p:spPr>
          <a:xfrm>
            <a:off x="6821424" y="4553711"/>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0" name="TextBox 39"/>
          <p:cNvSpPr txBox="1"/>
          <p:nvPr/>
        </p:nvSpPr>
        <p:spPr>
          <a:xfrm>
            <a:off x="6967728" y="4553711"/>
            <a:ext cx="4663440" cy="164592"/>
          </a:xfrm>
          <a:prstGeom prst="rect">
            <a:avLst/>
          </a:prstGeom>
          <a:noFill/>
        </p:spPr>
        <p:txBody>
          <a:bodyPr wrap="square" lIns="45720" rIns="45720" tIns="18288" bIns="18288">
            <a:spAutoFit/>
          </a:bodyPr>
          <a:lstStyle/>
          <a:p>
            <a:pPr algn="l"/>
            <a:r>
              <a:rPr sz="800" b="1" i="0">
                <a:solidFill>
                  <a:srgbClr val="B9770B"/>
                </a:solidFill>
                <a:latin typeface="Arial"/>
              </a:rPr>
              <a:t>AREAS FOR IMPROVEMENT</a:t>
            </a:r>
          </a:p>
        </p:txBody>
      </p:sp>
      <p:sp>
        <p:nvSpPr>
          <p:cNvPr id="41" name="TextBox 40"/>
          <p:cNvSpPr txBox="1"/>
          <p:nvPr/>
        </p:nvSpPr>
        <p:spPr>
          <a:xfrm>
            <a:off x="6967728" y="4727447"/>
            <a:ext cx="4663440" cy="960119"/>
          </a:xfrm>
          <a:prstGeom prst="rect">
            <a:avLst/>
          </a:prstGeom>
          <a:noFill/>
        </p:spPr>
        <p:txBody>
          <a:bodyPr wrap="square" lIns="45720" rIns="45720" tIns="18288" bIns="18288">
            <a:spAutoFit/>
          </a:bodyPr>
          <a:lstStyle/>
          <a:p>
            <a:pPr algn="l">
              <a:lnSpc>
                <a:spcPct val="106000"/>
              </a:lnSpc>
              <a:spcAft>
                <a:spcPts val="350"/>
              </a:spcAft>
            </a:pPr>
            <a:r>
              <a:rPr sz="850" b="0" i="0">
                <a:solidFill>
                  <a:srgbClr val="5C6B62"/>
                </a:solidFill>
                <a:latin typeface="Arial"/>
              </a:rPr>
              <a:t>▪  </a:t>
            </a:r>
            <a:r>
              <a:rPr sz="850" b="0" i="0">
                <a:solidFill>
                  <a:srgbClr val="5C6B62"/>
                </a:solidFill>
                <a:latin typeface="Arial"/>
              </a:rPr>
              <a:t>The date recorded in customers’ Zalo contact names is not the collection date.</a:t>
            </a:r>
          </a:p>
          <a:p>
            <a:pPr algn="l">
              <a:lnSpc>
                <a:spcPct val="106000"/>
              </a:lnSpc>
              <a:spcAft>
                <a:spcPts val="350"/>
              </a:spcAft>
            </a:pPr>
            <a:r>
              <a:rPr sz="850" b="0" i="0">
                <a:solidFill>
                  <a:srgbClr val="5C6B62"/>
                </a:solidFill>
                <a:latin typeface="Arial"/>
              </a:rPr>
              <a:t>▪  </a:t>
            </a:r>
            <a:r>
              <a:rPr sz="850" b="0" i="0">
                <a:solidFill>
                  <a:srgbClr val="5C6B62"/>
                </a:solidFill>
                <a:latin typeface="Arial"/>
              </a:rPr>
              <a:t>There is insufficient communication during glasses preparation.</a:t>
            </a:r>
          </a:p>
          <a:p>
            <a:pPr algn="l">
              <a:lnSpc>
                <a:spcPct val="106000"/>
              </a:lnSpc>
              <a:spcAft>
                <a:spcPts val="350"/>
              </a:spcAft>
            </a:pPr>
            <a:r>
              <a:rPr sz="850" b="0" i="0">
                <a:solidFill>
                  <a:srgbClr val="5C6B62"/>
                </a:solidFill>
                <a:latin typeface="Arial"/>
              </a:rPr>
              <a:t>▪  </a:t>
            </a:r>
            <a:r>
              <a:rPr sz="850" b="0" i="0">
                <a:solidFill>
                  <a:srgbClr val="5C6B62"/>
                </a:solidFill>
                <a:latin typeface="Arial"/>
              </a:rPr>
              <a:t>Within the first 30 days after collection, customers receive either no follow-up or only one. Two to three follow-ups and care messages are recommended.</a:t>
            </a:r>
          </a:p>
        </p:txBody>
      </p:sp>
      <p:sp>
        <p:nvSpPr>
          <p:cNvPr id="42" name="Rectangle 41"/>
          <p:cNvSpPr/>
          <p:nvPr/>
        </p:nvSpPr>
        <p:spPr>
          <a:xfrm>
            <a:off x="502920" y="5888736"/>
            <a:ext cx="64008" cy="457200"/>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3" name="Rectangle 42"/>
          <p:cNvSpPr/>
          <p:nvPr/>
        </p:nvSpPr>
        <p:spPr>
          <a:xfrm>
            <a:off x="566928" y="5888736"/>
            <a:ext cx="11119104" cy="45720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46304" rIns="109728"/>
          <a:lstStyle/>
          <a:p>
            <a:pPr algn="l"/>
            <a:r>
              <a:rPr sz="1150" b="1" i="0">
                <a:solidFill>
                  <a:srgbClr val="31633D"/>
                </a:solidFill>
                <a:latin typeface="Arial"/>
              </a:rPr>
              <a:t>CTE D7 shows what good preparation looks like. All three stop at the benefits message.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 name="TextBox 2"/>
          <p:cNvSpPr txBox="1"/>
          <p:nvPr/>
        </p:nvSpPr>
        <p:spPr>
          <a:xfrm>
            <a:off x="502920" y="228600"/>
            <a:ext cx="9692640" cy="228600"/>
          </a:xfrm>
          <a:prstGeom prst="rect">
            <a:avLst/>
          </a:prstGeom>
          <a:noFill/>
        </p:spPr>
        <p:txBody>
          <a:bodyPr wrap="square" lIns="45720" rIns="45720" tIns="18288" bIns="18288">
            <a:spAutoFit/>
          </a:bodyPr>
          <a:lstStyle/>
          <a:p>
            <a:pPr algn="l"/>
            <a:r>
              <a:rPr sz="950" b="1" i="0">
                <a:solidFill>
                  <a:srgbClr val="2E9C4C"/>
                </a:solidFill>
                <a:latin typeface="Arial"/>
              </a:rPr>
              <a:t>2. ZALO FEEDBACK   |   CLINIC SPECIFIC  ·  2 OF 2</a:t>
            </a:r>
          </a:p>
        </p:txBody>
      </p:sp>
      <p:sp>
        <p:nvSpPr>
          <p:cNvPr id="4" name="TextBox 3"/>
          <p:cNvSpPr txBox="1"/>
          <p:nvPr/>
        </p:nvSpPr>
        <p:spPr>
          <a:xfrm>
            <a:off x="502920" y="493776"/>
            <a:ext cx="11247120" cy="640080"/>
          </a:xfrm>
          <a:prstGeom prst="rect">
            <a:avLst/>
          </a:prstGeom>
          <a:noFill/>
        </p:spPr>
        <p:txBody>
          <a:bodyPr wrap="square" lIns="45720" rIns="45720" tIns="18288" bIns="18288">
            <a:spAutoFit/>
          </a:bodyPr>
          <a:lstStyle/>
          <a:p>
            <a:pPr algn="l"/>
            <a:r>
              <a:rPr sz="2200" b="1" i="0">
                <a:solidFill>
                  <a:srgbClr val="31633D"/>
                </a:solidFill>
                <a:latin typeface="Arial"/>
              </a:rPr>
              <a:t>LA and SH (Song Han)</a:t>
            </a:r>
          </a:p>
        </p:txBody>
      </p:sp>
      <p:sp>
        <p:nvSpPr>
          <p:cNvPr id="5" name="Rectangle 4"/>
          <p:cNvSpPr/>
          <p:nvPr/>
        </p:nvSpPr>
        <p:spPr>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6" name="TextBox 5"/>
          <p:cNvSpPr txBox="1"/>
          <p:nvPr/>
        </p:nvSpPr>
        <p:spPr>
          <a:xfrm>
            <a:off x="502920" y="6455664"/>
            <a:ext cx="5486400" cy="237744"/>
          </a:xfrm>
          <a:prstGeom prst="rect">
            <a:avLst/>
          </a:prstGeom>
          <a:noFill/>
        </p:spPr>
        <p:txBody>
          <a:bodyPr wrap="square" lIns="45720" rIns="45720" tIns="18288" bIns="18288">
            <a:spAutoFit/>
          </a:bodyPr>
          <a:lstStyle/>
          <a:p>
            <a:pPr algn="l"/>
            <a:r>
              <a:rPr sz="800" b="0" i="0">
                <a:solidFill>
                  <a:srgbClr val="5C6B62"/>
                </a:solidFill>
                <a:latin typeface="Arial"/>
              </a:rPr>
              <a:t>Mắt Sài Gòn  |  Optometry DA Training</a:t>
            </a:r>
          </a:p>
        </p:txBody>
      </p:sp>
      <p:sp>
        <p:nvSpPr>
          <p:cNvPr id="7" name="TextBox 6"/>
          <p:cNvSpPr txBox="1"/>
          <p:nvPr/>
        </p:nvSpPr>
        <p:spPr>
          <a:xfrm>
            <a:off x="10972800" y="6455664"/>
            <a:ext cx="713232" cy="237744"/>
          </a:xfrm>
          <a:prstGeom prst="rect">
            <a:avLst/>
          </a:prstGeom>
          <a:noFill/>
        </p:spPr>
        <p:txBody>
          <a:bodyPr wrap="square" lIns="45720" rIns="45720" tIns="18288" bIns="18288">
            <a:spAutoFit/>
          </a:bodyPr>
          <a:lstStyle/>
          <a:p>
            <a:pPr algn="r"/>
            <a:r>
              <a:rPr sz="800" b="1" i="0">
                <a:solidFill>
                  <a:srgbClr val="5C6B62"/>
                </a:solidFill>
                <a:latin typeface="Arial"/>
              </a:rPr>
              <a:t>4</a:t>
            </a:r>
          </a:p>
        </p:txBody>
      </p:sp>
      <p:sp>
        <p:nvSpPr>
          <p:cNvPr id="8" name="TextBox 7"/>
          <p:cNvSpPr txBox="1"/>
          <p:nvPr/>
        </p:nvSpPr>
        <p:spPr>
          <a:xfrm>
            <a:off x="502920" y="1261872"/>
            <a:ext cx="11183112" cy="219456"/>
          </a:xfrm>
          <a:prstGeom prst="rect">
            <a:avLst/>
          </a:prstGeom>
          <a:noFill/>
        </p:spPr>
        <p:txBody>
          <a:bodyPr wrap="square" lIns="45720" rIns="45720" tIns="18288" bIns="18288">
            <a:spAutoFit/>
          </a:bodyPr>
          <a:lstStyle/>
          <a:p>
            <a:pPr algn="l">
              <a:lnSpc>
                <a:spcPct val="95000"/>
              </a:lnSpc>
            </a:pPr>
            <a:r>
              <a:rPr sz="1000" b="0" i="1">
                <a:solidFill>
                  <a:srgbClr val="5C6B62"/>
                </a:solidFill>
                <a:latin typeface="Arial"/>
              </a:rPr>
              <a:t>The two ends of the range. LA is the only site inviting rechecks on time; SH has almost no DA activity to review at all.</a:t>
            </a:r>
          </a:p>
        </p:txBody>
      </p:sp>
      <p:sp>
        <p:nvSpPr>
          <p:cNvPr id="9" name="Rectangle 8"/>
          <p:cNvSpPr/>
          <p:nvPr/>
        </p:nvSpPr>
        <p:spPr>
          <a:xfrm>
            <a:off x="502920" y="1591056"/>
            <a:ext cx="11183112" cy="132588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0" name="Rectangle 9"/>
          <p:cNvSpPr/>
          <p:nvPr/>
        </p:nvSpPr>
        <p:spPr>
          <a:xfrm>
            <a:off x="502920" y="1591056"/>
            <a:ext cx="54864" cy="1325880"/>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1" name="TextBox 10"/>
          <p:cNvSpPr txBox="1"/>
          <p:nvPr/>
        </p:nvSpPr>
        <p:spPr>
          <a:xfrm>
            <a:off x="694944" y="1673352"/>
            <a:ext cx="1783080" cy="256032"/>
          </a:xfrm>
          <a:prstGeom prst="rect">
            <a:avLst/>
          </a:prstGeom>
          <a:noFill/>
        </p:spPr>
        <p:txBody>
          <a:bodyPr wrap="square" lIns="45720" rIns="45720" tIns="18288" bIns="18288">
            <a:spAutoFit/>
          </a:bodyPr>
          <a:lstStyle/>
          <a:p>
            <a:pPr algn="l"/>
            <a:r>
              <a:rPr sz="1400" b="1" i="0">
                <a:solidFill>
                  <a:srgbClr val="31633D"/>
                </a:solidFill>
                <a:latin typeface="Arial"/>
              </a:rPr>
              <a:t>LA</a:t>
            </a:r>
          </a:p>
        </p:txBody>
      </p:sp>
      <p:sp>
        <p:nvSpPr>
          <p:cNvPr id="12" name="TextBox 11"/>
          <p:cNvSpPr txBox="1"/>
          <p:nvPr/>
        </p:nvSpPr>
        <p:spPr>
          <a:xfrm>
            <a:off x="694944" y="1929384"/>
            <a:ext cx="1783080" cy="384048"/>
          </a:xfrm>
          <a:prstGeom prst="rect">
            <a:avLst/>
          </a:prstGeom>
          <a:noFill/>
        </p:spPr>
        <p:txBody>
          <a:bodyPr wrap="square" lIns="45720" rIns="45720" tIns="18288" bIns="18288">
            <a:spAutoFit/>
          </a:bodyPr>
          <a:lstStyle/>
          <a:p>
            <a:pPr algn="l">
              <a:lnSpc>
                <a:spcPct val="104000"/>
              </a:lnSpc>
            </a:pPr>
            <a:r>
              <a:rPr sz="800" b="1" i="0">
                <a:solidFill>
                  <a:srgbClr val="2E9C4C"/>
                </a:solidFill>
                <a:latin typeface="Arial"/>
              </a:rPr>
              <a:t>The strongest of the five — the gap is consistency</a:t>
            </a:r>
          </a:p>
        </p:txBody>
      </p:sp>
      <p:sp>
        <p:nvSpPr>
          <p:cNvPr id="13" name="TextBox 12"/>
          <p:cNvSpPr txBox="1"/>
          <p:nvPr/>
        </p:nvSpPr>
        <p:spPr>
          <a:xfrm>
            <a:off x="694944" y="2377440"/>
            <a:ext cx="1783080" cy="457200"/>
          </a:xfrm>
          <a:prstGeom prst="rect">
            <a:avLst/>
          </a:prstGeom>
          <a:noFill/>
        </p:spPr>
        <p:txBody>
          <a:bodyPr wrap="square" lIns="45720" rIns="45720" tIns="18288" bIns="18288">
            <a:spAutoFit/>
          </a:bodyPr>
          <a:lstStyle/>
          <a:p>
            <a:pPr algn="l">
              <a:spcAft>
                <a:spcPts val="100"/>
              </a:spcAft>
            </a:pPr>
            <a:r>
              <a:rPr sz="700" b="1" i="0">
                <a:solidFill>
                  <a:srgbClr val="2E9C4C"/>
                </a:solidFill>
                <a:latin typeface="Arial"/>
              </a:rPr>
              <a:t>Evidence</a:t>
            </a:r>
          </a:p>
          <a:p>
            <a:pPr algn="l">
              <a:lnSpc>
                <a:spcPct val="104000"/>
              </a:lnSpc>
            </a:pPr>
            <a:r>
              <a:rPr sz="700" b="0" i="0">
                <a:solidFill>
                  <a:srgbClr val="5C6B62"/>
                </a:solidFill>
                <a:latin typeface="Arial"/>
              </a:rPr>
              <a:t>slide 5  ·  MCY 260814, the example to follow</a:t>
            </a:r>
          </a:p>
        </p:txBody>
      </p:sp>
      <p:sp>
        <p:nvSpPr>
          <p:cNvPr id="14" name="Rectangle 13"/>
          <p:cNvSpPr/>
          <p:nvPr/>
        </p:nvSpPr>
        <p:spPr>
          <a:xfrm>
            <a:off x="2505456" y="1682496"/>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5" name="TextBox 14"/>
          <p:cNvSpPr txBox="1"/>
          <p:nvPr/>
        </p:nvSpPr>
        <p:spPr>
          <a:xfrm>
            <a:off x="2670048" y="1682496"/>
            <a:ext cx="4023360" cy="164592"/>
          </a:xfrm>
          <a:prstGeom prst="rect">
            <a:avLst/>
          </a:prstGeom>
          <a:noFill/>
        </p:spPr>
        <p:txBody>
          <a:bodyPr wrap="square" lIns="45720" rIns="45720" tIns="18288" bIns="18288">
            <a:spAutoFit/>
          </a:bodyPr>
          <a:lstStyle/>
          <a:p>
            <a:pPr algn="l"/>
            <a:r>
              <a:rPr sz="800" b="1" i="0">
                <a:solidFill>
                  <a:srgbClr val="2E9C4C"/>
                </a:solidFill>
                <a:latin typeface="Arial"/>
              </a:rPr>
              <a:t>POSITIVES</a:t>
            </a:r>
          </a:p>
        </p:txBody>
      </p:sp>
      <p:sp>
        <p:nvSpPr>
          <p:cNvPr id="16" name="TextBox 15"/>
          <p:cNvSpPr txBox="1"/>
          <p:nvPr/>
        </p:nvSpPr>
        <p:spPr>
          <a:xfrm>
            <a:off x="2670048" y="1856231"/>
            <a:ext cx="4023360" cy="960119"/>
          </a:xfrm>
          <a:prstGeom prst="rect">
            <a:avLst/>
          </a:prstGeom>
          <a:noFill/>
        </p:spPr>
        <p:txBody>
          <a:bodyPr wrap="square" lIns="45720" rIns="45720" tIns="18288" bIns="18288">
            <a:spAutoFit/>
          </a:bodyPr>
          <a:lstStyle/>
          <a:p>
            <a:pPr algn="l">
              <a:lnSpc>
                <a:spcPct val="106000"/>
              </a:lnSpc>
              <a:spcAft>
                <a:spcPts val="350"/>
              </a:spcAft>
            </a:pPr>
            <a:r>
              <a:rPr sz="850" b="0" i="0">
                <a:solidFill>
                  <a:srgbClr val="5C6B62"/>
                </a:solidFill>
                <a:latin typeface="Arial"/>
              </a:rPr>
              <a:t>✓  </a:t>
            </a:r>
            <a:r>
              <a:rPr sz="850" b="0" i="0">
                <a:solidFill>
                  <a:srgbClr val="5C6B62"/>
                </a:solidFill>
                <a:latin typeface="Arial"/>
              </a:rPr>
              <a:t>D1 is done properly: introduction, what the child ordered, and an estimated 3–10 days for the glasses. The best D1 of the five.</a:t>
            </a:r>
          </a:p>
          <a:p>
            <a:pPr algn="l">
              <a:lnSpc>
                <a:spcPct val="106000"/>
              </a:lnSpc>
              <a:spcAft>
                <a:spcPts val="350"/>
              </a:spcAft>
            </a:pPr>
            <a:r>
              <a:rPr sz="850" b="0" i="0">
                <a:solidFill>
                  <a:srgbClr val="5C6B62"/>
                </a:solidFill>
                <a:latin typeface="Arial"/>
              </a:rPr>
              <a:t>✓  </a:t>
            </a:r>
            <a:r>
              <a:rPr sz="850" b="0" i="0">
                <a:solidFill>
                  <a:srgbClr val="5C6B62"/>
                </a:solidFill>
                <a:latin typeface="Arial"/>
              </a:rPr>
              <a:t>The care message on 9 September asked a real question, and the parent replied the next morning. Benefits by image is accepted as it is.</a:t>
            </a:r>
          </a:p>
          <a:p>
            <a:pPr algn="l">
              <a:lnSpc>
                <a:spcPct val="106000"/>
              </a:lnSpc>
              <a:spcAft>
                <a:spcPts val="350"/>
              </a:spcAft>
            </a:pPr>
            <a:r>
              <a:rPr sz="850" b="0" i="0">
                <a:solidFill>
                  <a:srgbClr val="5C6B62"/>
                </a:solidFill>
                <a:latin typeface="Arial"/>
              </a:rPr>
              <a:t>✓  </a:t>
            </a:r>
            <a:r>
              <a:rPr sz="850" b="0" i="0">
                <a:solidFill>
                  <a:srgbClr val="5C6B62"/>
                </a:solidFill>
                <a:latin typeface="Arial"/>
              </a:rPr>
              <a:t>Follow-up examination invitations for MC glasses are timely and mention the warranty benefit. This is great, and no other site does it consistently.</a:t>
            </a:r>
          </a:p>
        </p:txBody>
      </p:sp>
      <p:sp>
        <p:nvSpPr>
          <p:cNvPr id="17" name="Rectangle 16"/>
          <p:cNvSpPr/>
          <p:nvPr/>
        </p:nvSpPr>
        <p:spPr>
          <a:xfrm>
            <a:off x="6821424" y="1682496"/>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8" name="TextBox 17"/>
          <p:cNvSpPr txBox="1"/>
          <p:nvPr/>
        </p:nvSpPr>
        <p:spPr>
          <a:xfrm>
            <a:off x="6967728" y="1682496"/>
            <a:ext cx="4663440" cy="164592"/>
          </a:xfrm>
          <a:prstGeom prst="rect">
            <a:avLst/>
          </a:prstGeom>
          <a:noFill/>
        </p:spPr>
        <p:txBody>
          <a:bodyPr wrap="square" lIns="45720" rIns="45720" tIns="18288" bIns="18288">
            <a:spAutoFit/>
          </a:bodyPr>
          <a:lstStyle/>
          <a:p>
            <a:pPr algn="l"/>
            <a:r>
              <a:rPr sz="800" b="1" i="0">
                <a:solidFill>
                  <a:srgbClr val="B9770B"/>
                </a:solidFill>
                <a:latin typeface="Arial"/>
              </a:rPr>
              <a:t>AREAS FOR IMPROVEMENT</a:t>
            </a:r>
          </a:p>
        </p:txBody>
      </p:sp>
      <p:sp>
        <p:nvSpPr>
          <p:cNvPr id="19" name="TextBox 18"/>
          <p:cNvSpPr txBox="1"/>
          <p:nvPr/>
        </p:nvSpPr>
        <p:spPr>
          <a:xfrm>
            <a:off x="6967728" y="1856231"/>
            <a:ext cx="4663440" cy="960119"/>
          </a:xfrm>
          <a:prstGeom prst="rect">
            <a:avLst/>
          </a:prstGeom>
          <a:noFill/>
        </p:spPr>
        <p:txBody>
          <a:bodyPr wrap="square" lIns="45720" rIns="45720" tIns="18288" bIns="18288">
            <a:spAutoFit/>
          </a:bodyPr>
          <a:lstStyle/>
          <a:p>
            <a:pPr algn="l">
              <a:lnSpc>
                <a:spcPct val="106000"/>
              </a:lnSpc>
              <a:spcAft>
                <a:spcPts val="350"/>
              </a:spcAft>
            </a:pPr>
            <a:r>
              <a:rPr sz="850" b="0" i="0">
                <a:solidFill>
                  <a:srgbClr val="5C6B62"/>
                </a:solidFill>
                <a:latin typeface="Arial"/>
              </a:rPr>
              <a:t>▪  </a:t>
            </a:r>
            <a:r>
              <a:rPr sz="850" b="0" i="0">
                <a:solidFill>
                  <a:srgbClr val="5C6B62"/>
                </a:solidFill>
                <a:latin typeface="Arial"/>
              </a:rPr>
              <a:t>Add a check-in 3–5 days after collection. The 9 September care message is right, but it comes too late to be the first one.</a:t>
            </a:r>
          </a:p>
          <a:p>
            <a:pPr algn="l">
              <a:lnSpc>
                <a:spcPct val="106000"/>
              </a:lnSpc>
              <a:spcAft>
                <a:spcPts val="350"/>
              </a:spcAft>
            </a:pPr>
            <a:r>
              <a:rPr sz="850" b="0" i="0">
                <a:solidFill>
                  <a:srgbClr val="5C6B62"/>
                </a:solidFill>
                <a:latin typeface="Arial"/>
              </a:rPr>
              <a:t>▪  </a:t>
            </a:r>
            <a:r>
              <a:rPr sz="850" b="0" i="0">
                <a:solidFill>
                  <a:srgbClr val="5C6B62"/>
                </a:solidFill>
                <a:latin typeface="Arial"/>
              </a:rPr>
              <a:t>The referral was not asked for when the parent replied warmly. For members who are engaged in conversation, add the referral request.</a:t>
            </a:r>
          </a:p>
          <a:p>
            <a:pPr algn="l">
              <a:lnSpc>
                <a:spcPct val="106000"/>
              </a:lnSpc>
              <a:spcAft>
                <a:spcPts val="350"/>
              </a:spcAft>
            </a:pPr>
            <a:r>
              <a:rPr sz="850" b="0" i="0">
                <a:solidFill>
                  <a:srgbClr val="5C6B62"/>
                </a:solidFill>
                <a:latin typeface="Arial"/>
              </a:rPr>
              <a:t>▪  </a:t>
            </a:r>
            <a:r>
              <a:rPr sz="850" b="0" i="0">
                <a:solidFill>
                  <a:srgbClr val="5C6B62"/>
                </a:solidFill>
                <a:latin typeface="Arial"/>
              </a:rPr>
              <a:t>The collection date is not in the contact name. Confirm it and record it, so the CD dates the CRM builds are right.</a:t>
            </a:r>
          </a:p>
        </p:txBody>
      </p:sp>
      <p:sp>
        <p:nvSpPr>
          <p:cNvPr id="20" name="Rectangle 19"/>
          <p:cNvSpPr/>
          <p:nvPr/>
        </p:nvSpPr>
        <p:spPr>
          <a:xfrm>
            <a:off x="502920" y="3026664"/>
            <a:ext cx="11183112" cy="132588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1" name="Rectangle 20"/>
          <p:cNvSpPr/>
          <p:nvPr/>
        </p:nvSpPr>
        <p:spPr>
          <a:xfrm>
            <a:off x="502920" y="3026664"/>
            <a:ext cx="54864" cy="1325880"/>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2" name="TextBox 21"/>
          <p:cNvSpPr txBox="1"/>
          <p:nvPr/>
        </p:nvSpPr>
        <p:spPr>
          <a:xfrm>
            <a:off x="694944" y="3108960"/>
            <a:ext cx="1783080" cy="256032"/>
          </a:xfrm>
          <a:prstGeom prst="rect">
            <a:avLst/>
          </a:prstGeom>
          <a:noFill/>
        </p:spPr>
        <p:txBody>
          <a:bodyPr wrap="square" lIns="45720" rIns="45720" tIns="18288" bIns="18288">
            <a:spAutoFit/>
          </a:bodyPr>
          <a:lstStyle/>
          <a:p>
            <a:pPr algn="l"/>
            <a:r>
              <a:rPr sz="1400" b="1" i="0">
                <a:solidFill>
                  <a:srgbClr val="31633D"/>
                </a:solidFill>
                <a:latin typeface="Arial"/>
              </a:rPr>
              <a:t>SH</a:t>
            </a:r>
          </a:p>
        </p:txBody>
      </p:sp>
      <p:sp>
        <p:nvSpPr>
          <p:cNvPr id="23" name="TextBox 22"/>
          <p:cNvSpPr txBox="1"/>
          <p:nvPr/>
        </p:nvSpPr>
        <p:spPr>
          <a:xfrm>
            <a:off x="694944" y="3364992"/>
            <a:ext cx="1783080" cy="384048"/>
          </a:xfrm>
          <a:prstGeom prst="rect">
            <a:avLst/>
          </a:prstGeom>
          <a:noFill/>
        </p:spPr>
        <p:txBody>
          <a:bodyPr wrap="square" lIns="45720" rIns="45720" tIns="18288" bIns="18288">
            <a:spAutoFit/>
          </a:bodyPr>
          <a:lstStyle/>
          <a:p>
            <a:pPr algn="l">
              <a:lnSpc>
                <a:spcPct val="104000"/>
              </a:lnSpc>
            </a:pPr>
            <a:r>
              <a:rPr sz="800" b="1" i="0">
                <a:solidFill>
                  <a:srgbClr val="C0392B"/>
                </a:solidFill>
                <a:latin typeface="Arial"/>
              </a:rPr>
              <a:t>A new centre — set the standard now</a:t>
            </a:r>
          </a:p>
        </p:txBody>
      </p:sp>
      <p:sp>
        <p:nvSpPr>
          <p:cNvPr id="24" name="TextBox 23"/>
          <p:cNvSpPr txBox="1"/>
          <p:nvPr/>
        </p:nvSpPr>
        <p:spPr>
          <a:xfrm>
            <a:off x="694944" y="3813048"/>
            <a:ext cx="1783080" cy="457200"/>
          </a:xfrm>
          <a:prstGeom prst="rect">
            <a:avLst/>
          </a:prstGeom>
          <a:noFill/>
        </p:spPr>
        <p:txBody>
          <a:bodyPr wrap="square" lIns="45720" rIns="45720" tIns="18288" bIns="18288">
            <a:spAutoFit/>
          </a:bodyPr>
          <a:lstStyle/>
          <a:p>
            <a:pPr algn="l">
              <a:spcAft>
                <a:spcPts val="100"/>
              </a:spcAft>
            </a:pPr>
            <a:r>
              <a:rPr sz="700" b="1" i="0">
                <a:solidFill>
                  <a:srgbClr val="2E9C4C"/>
                </a:solidFill>
                <a:latin typeface="Arial"/>
              </a:rPr>
              <a:t>Evidence</a:t>
            </a:r>
          </a:p>
          <a:p>
            <a:pPr algn="l">
              <a:lnSpc>
                <a:spcPct val="104000"/>
              </a:lnSpc>
            </a:pPr>
            <a:r>
              <a:rPr sz="700" b="0" i="0">
                <a:solidFill>
                  <a:srgbClr val="5C6B62"/>
                </a:solidFill>
                <a:latin typeface="Arial"/>
              </a:rPr>
              <a:t>slide 9  ·  one appointment message is the whole conversation</a:t>
            </a:r>
          </a:p>
        </p:txBody>
      </p:sp>
      <p:sp>
        <p:nvSpPr>
          <p:cNvPr id="25" name="Rectangle 24"/>
          <p:cNvSpPr/>
          <p:nvPr/>
        </p:nvSpPr>
        <p:spPr>
          <a:xfrm>
            <a:off x="2505456" y="3118104"/>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6" name="TextBox 25"/>
          <p:cNvSpPr txBox="1"/>
          <p:nvPr/>
        </p:nvSpPr>
        <p:spPr>
          <a:xfrm>
            <a:off x="2670048" y="3118104"/>
            <a:ext cx="4023360" cy="164592"/>
          </a:xfrm>
          <a:prstGeom prst="rect">
            <a:avLst/>
          </a:prstGeom>
          <a:noFill/>
        </p:spPr>
        <p:txBody>
          <a:bodyPr wrap="square" lIns="45720" rIns="45720" tIns="18288" bIns="18288">
            <a:spAutoFit/>
          </a:bodyPr>
          <a:lstStyle/>
          <a:p>
            <a:pPr algn="l"/>
            <a:r>
              <a:rPr sz="800" b="1" i="0">
                <a:solidFill>
                  <a:srgbClr val="2E9C4C"/>
                </a:solidFill>
                <a:latin typeface="Arial"/>
              </a:rPr>
              <a:t>POSITIVES</a:t>
            </a:r>
          </a:p>
        </p:txBody>
      </p:sp>
      <p:sp>
        <p:nvSpPr>
          <p:cNvPr id="27" name="TextBox 26"/>
          <p:cNvSpPr txBox="1"/>
          <p:nvPr/>
        </p:nvSpPr>
        <p:spPr>
          <a:xfrm>
            <a:off x="2670048" y="3291840"/>
            <a:ext cx="4023360" cy="960119"/>
          </a:xfrm>
          <a:prstGeom prst="rect">
            <a:avLst/>
          </a:prstGeom>
          <a:noFill/>
        </p:spPr>
        <p:txBody>
          <a:bodyPr wrap="square" lIns="45720" rIns="45720" tIns="18288" bIns="18288">
            <a:spAutoFit/>
          </a:bodyPr>
          <a:lstStyle/>
          <a:p>
            <a:pPr algn="l">
              <a:lnSpc>
                <a:spcPct val="106000"/>
              </a:lnSpc>
              <a:spcAft>
                <a:spcPts val="350"/>
              </a:spcAft>
            </a:pPr>
            <a:r>
              <a:rPr sz="850" b="0" i="0">
                <a:solidFill>
                  <a:srgbClr val="5C6B62"/>
                </a:solidFill>
                <a:latin typeface="Arial"/>
              </a:rPr>
              <a:t>—  </a:t>
            </a:r>
            <a:r>
              <a:rPr sz="850" b="0" i="0">
                <a:solidFill>
                  <a:srgbClr val="5C6B62"/>
                </a:solidFill>
                <a:latin typeface="Arial"/>
              </a:rPr>
              <a:t>None noted this week.</a:t>
            </a:r>
          </a:p>
        </p:txBody>
      </p:sp>
      <p:sp>
        <p:nvSpPr>
          <p:cNvPr id="28" name="Rectangle 27"/>
          <p:cNvSpPr/>
          <p:nvPr/>
        </p:nvSpPr>
        <p:spPr>
          <a:xfrm>
            <a:off x="6821424" y="3118104"/>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9" name="TextBox 28"/>
          <p:cNvSpPr txBox="1"/>
          <p:nvPr/>
        </p:nvSpPr>
        <p:spPr>
          <a:xfrm>
            <a:off x="6967728" y="3118104"/>
            <a:ext cx="4663440" cy="164592"/>
          </a:xfrm>
          <a:prstGeom prst="rect">
            <a:avLst/>
          </a:prstGeom>
          <a:noFill/>
        </p:spPr>
        <p:txBody>
          <a:bodyPr wrap="square" lIns="45720" rIns="45720" tIns="18288" bIns="18288">
            <a:spAutoFit/>
          </a:bodyPr>
          <a:lstStyle/>
          <a:p>
            <a:pPr algn="l"/>
            <a:r>
              <a:rPr sz="800" b="1" i="0">
                <a:solidFill>
                  <a:srgbClr val="B9770B"/>
                </a:solidFill>
                <a:latin typeface="Arial"/>
              </a:rPr>
              <a:t>AREAS FOR IMPROVEMENT</a:t>
            </a:r>
          </a:p>
        </p:txBody>
      </p:sp>
      <p:sp>
        <p:nvSpPr>
          <p:cNvPr id="30" name="TextBox 29"/>
          <p:cNvSpPr txBox="1"/>
          <p:nvPr/>
        </p:nvSpPr>
        <p:spPr>
          <a:xfrm>
            <a:off x="6967728" y="3291840"/>
            <a:ext cx="4663440" cy="960119"/>
          </a:xfrm>
          <a:prstGeom prst="rect">
            <a:avLst/>
          </a:prstGeom>
          <a:noFill/>
        </p:spPr>
        <p:txBody>
          <a:bodyPr wrap="square" lIns="45720" rIns="45720" tIns="18288" bIns="18288">
            <a:spAutoFit/>
          </a:bodyPr>
          <a:lstStyle/>
          <a:p>
            <a:pPr algn="l">
              <a:lnSpc>
                <a:spcPct val="106000"/>
              </a:lnSpc>
              <a:spcAft>
                <a:spcPts val="350"/>
              </a:spcAft>
            </a:pPr>
            <a:r>
              <a:rPr sz="850" b="0" i="0">
                <a:solidFill>
                  <a:srgbClr val="5C6B62"/>
                </a:solidFill>
                <a:latin typeface="Arial"/>
              </a:rPr>
              <a:t>▪  </a:t>
            </a:r>
            <a:r>
              <a:rPr sz="850" b="0" i="0">
                <a:solidFill>
                  <a:srgbClr val="5C6B62"/>
                </a:solidFill>
                <a:latin typeface="Arial"/>
              </a:rPr>
              <a:t>Very few customer contacts have been annotated.</a:t>
            </a:r>
          </a:p>
          <a:p>
            <a:pPr algn="l">
              <a:lnSpc>
                <a:spcPct val="106000"/>
              </a:lnSpc>
              <a:spcAft>
                <a:spcPts val="350"/>
              </a:spcAft>
            </a:pPr>
            <a:r>
              <a:rPr sz="850" b="0" i="0">
                <a:solidFill>
                  <a:srgbClr val="5C6B62"/>
                </a:solidFill>
                <a:latin typeface="Arial"/>
              </a:rPr>
              <a:t>▪  </a:t>
            </a:r>
            <a:r>
              <a:rPr sz="850" b="0" i="0">
                <a:solidFill>
                  <a:srgbClr val="5C6B62"/>
                </a:solidFill>
                <a:latin typeface="Arial"/>
              </a:rPr>
              <a:t>There is no content about membership benefits, and only a small amount of service information relating to collection and follow-up examinations.</a:t>
            </a:r>
          </a:p>
          <a:p>
            <a:pPr algn="l">
              <a:lnSpc>
                <a:spcPct val="106000"/>
              </a:lnSpc>
              <a:spcAft>
                <a:spcPts val="350"/>
              </a:spcAft>
            </a:pPr>
            <a:r>
              <a:rPr sz="850" b="0" i="0">
                <a:solidFill>
                  <a:srgbClr val="5C6B62"/>
                </a:solidFill>
                <a:latin typeface="Arial"/>
              </a:rPr>
              <a:t>▪  </a:t>
            </a:r>
            <a:r>
              <a:rPr sz="850" b="0" i="0">
                <a:solidFill>
                  <a:srgbClr val="5C6B62"/>
                </a:solidFill>
                <a:latin typeface="Arial"/>
              </a:rPr>
              <a:t>Follow-up and service for existing glasses customers are clearly insufficient.</a:t>
            </a:r>
          </a:p>
          <a:p>
            <a:pPr algn="l">
              <a:lnSpc>
                <a:spcPct val="106000"/>
              </a:lnSpc>
              <a:spcAft>
                <a:spcPts val="350"/>
              </a:spcAft>
            </a:pPr>
            <a:r>
              <a:rPr sz="850" b="0" i="0">
                <a:solidFill>
                  <a:srgbClr val="5C6B62"/>
                </a:solidFill>
                <a:latin typeface="Arial"/>
              </a:rPr>
              <a:t>▪  </a:t>
            </a:r>
            <a:r>
              <a:rPr sz="850" b="0" i="0">
                <a:solidFill>
                  <a:srgbClr val="5C6B62"/>
                </a:solidFill>
                <a:latin typeface="Arial"/>
              </a:rPr>
              <a:t>As this is a new centre with relatively few customers, strict standards for DA work should be enforced from the start.</a:t>
            </a:r>
          </a:p>
        </p:txBody>
      </p:sp>
      <p:sp>
        <p:nvSpPr>
          <p:cNvPr id="31" name="Rectangle 30"/>
          <p:cNvSpPr/>
          <p:nvPr/>
        </p:nvSpPr>
        <p:spPr>
          <a:xfrm>
            <a:off x="502920" y="4517136"/>
            <a:ext cx="11183112" cy="292608"/>
          </a:xfrm>
          <a:prstGeom prst="rect">
            <a:avLst/>
          </a:prstGeom>
          <a:solidFill>
            <a:srgbClr val="0C989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28016" rIns="109728"/>
          <a:lstStyle/>
          <a:p>
            <a:pPr algn="l"/>
            <a:r>
              <a:rPr sz="950" b="1" i="0">
                <a:solidFill>
                  <a:srgbClr val="FFFFFF"/>
                </a:solidFill>
                <a:latin typeface="Arial"/>
              </a:rPr>
              <a:t>WHAT THE OTHER FOUR SITES SHOULD TAKE FROM LA</a:t>
            </a:r>
          </a:p>
        </p:txBody>
      </p:sp>
      <p:sp>
        <p:nvSpPr>
          <p:cNvPr id="32" name="Rectangle 31"/>
          <p:cNvSpPr/>
          <p:nvPr/>
        </p:nvSpPr>
        <p:spPr>
          <a:xfrm>
            <a:off x="502920" y="4846320"/>
            <a:ext cx="3575304" cy="877824"/>
          </a:xfrm>
          <a:prstGeom prst="rect">
            <a:avLst/>
          </a:prstGeom>
          <a:solidFill>
            <a:srgbClr val="E4F3F3"/>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3" name="TextBox 32"/>
          <p:cNvSpPr txBox="1"/>
          <p:nvPr/>
        </p:nvSpPr>
        <p:spPr>
          <a:xfrm>
            <a:off x="649224" y="4910328"/>
            <a:ext cx="3300984" cy="182880"/>
          </a:xfrm>
          <a:prstGeom prst="rect">
            <a:avLst/>
          </a:prstGeom>
          <a:noFill/>
        </p:spPr>
        <p:txBody>
          <a:bodyPr wrap="square" lIns="45720" rIns="45720" tIns="18288" bIns="18288">
            <a:spAutoFit/>
          </a:bodyPr>
          <a:lstStyle/>
          <a:p>
            <a:pPr algn="l"/>
            <a:r>
              <a:rPr sz="850" b="1" i="0">
                <a:solidFill>
                  <a:srgbClr val="31633D"/>
                </a:solidFill>
                <a:latin typeface="Arial"/>
              </a:rPr>
              <a:t>Say what was ordered, and how long it will take</a:t>
            </a:r>
          </a:p>
        </p:txBody>
      </p:sp>
      <p:sp>
        <p:nvSpPr>
          <p:cNvPr id="34" name="TextBox 33"/>
          <p:cNvSpPr txBox="1"/>
          <p:nvPr/>
        </p:nvSpPr>
        <p:spPr>
          <a:xfrm>
            <a:off x="649224" y="5093208"/>
            <a:ext cx="3300984" cy="603504"/>
          </a:xfrm>
          <a:prstGeom prst="rect">
            <a:avLst/>
          </a:prstGeom>
          <a:noFill/>
        </p:spPr>
        <p:txBody>
          <a:bodyPr wrap="square" lIns="45720" rIns="45720" tIns="18288" bIns="18288">
            <a:spAutoFit/>
          </a:bodyPr>
          <a:lstStyle/>
          <a:p>
            <a:pPr algn="l">
              <a:lnSpc>
                <a:spcPct val="108000"/>
              </a:lnSpc>
            </a:pPr>
            <a:r>
              <a:rPr sz="750" b="0" i="0">
                <a:solidFill>
                  <a:srgbClr val="5C6B62"/>
                </a:solidFill>
                <a:latin typeface="Arial"/>
              </a:rPr>
              <a:t>LA’s D1 names the exam date, the product ordered and an estimated 3–10 days. The parent never has to ask, and never has to chase.</a:t>
            </a:r>
          </a:p>
        </p:txBody>
      </p:sp>
      <p:sp>
        <p:nvSpPr>
          <p:cNvPr id="35" name="Rectangle 34"/>
          <p:cNvSpPr/>
          <p:nvPr/>
        </p:nvSpPr>
        <p:spPr>
          <a:xfrm>
            <a:off x="4306824" y="4846320"/>
            <a:ext cx="3575304" cy="877824"/>
          </a:xfrm>
          <a:prstGeom prst="rect">
            <a:avLst/>
          </a:prstGeom>
          <a:solidFill>
            <a:srgbClr val="E4F3F3"/>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6" name="TextBox 35"/>
          <p:cNvSpPr txBox="1"/>
          <p:nvPr/>
        </p:nvSpPr>
        <p:spPr>
          <a:xfrm>
            <a:off x="4453128" y="4910328"/>
            <a:ext cx="3300984" cy="182880"/>
          </a:xfrm>
          <a:prstGeom prst="rect">
            <a:avLst/>
          </a:prstGeom>
          <a:noFill/>
        </p:spPr>
        <p:txBody>
          <a:bodyPr wrap="square" lIns="45720" rIns="45720" tIns="18288" bIns="18288">
            <a:spAutoFit/>
          </a:bodyPr>
          <a:lstStyle/>
          <a:p>
            <a:pPr algn="l"/>
            <a:r>
              <a:rPr sz="850" b="1" i="0">
                <a:solidFill>
                  <a:srgbClr val="31633D"/>
                </a:solidFill>
                <a:latin typeface="Arial"/>
              </a:rPr>
              <a:t>Ask a real question after collection</a:t>
            </a:r>
          </a:p>
        </p:txBody>
      </p:sp>
      <p:sp>
        <p:nvSpPr>
          <p:cNvPr id="37" name="TextBox 36"/>
          <p:cNvSpPr txBox="1"/>
          <p:nvPr/>
        </p:nvSpPr>
        <p:spPr>
          <a:xfrm>
            <a:off x="4453128" y="5093208"/>
            <a:ext cx="3300984" cy="603504"/>
          </a:xfrm>
          <a:prstGeom prst="rect">
            <a:avLst/>
          </a:prstGeom>
          <a:noFill/>
        </p:spPr>
        <p:txBody>
          <a:bodyPr wrap="square" lIns="45720" rIns="45720" tIns="18288" bIns="18288">
            <a:spAutoFit/>
          </a:bodyPr>
          <a:lstStyle/>
          <a:p>
            <a:pPr algn="l">
              <a:lnSpc>
                <a:spcPct val="108000"/>
              </a:lnSpc>
            </a:pPr>
            <a:r>
              <a:rPr sz="750" b="0" i="0">
                <a:solidFill>
                  <a:srgbClr val="5C6B62"/>
                </a:solidFill>
                <a:latin typeface="Arial"/>
              </a:rPr>
              <a:t>Her 9 September message asked whether the child had adapted and could see clearly. The parent replied the next morning. A standard line does not earn that.</a:t>
            </a:r>
          </a:p>
        </p:txBody>
      </p:sp>
      <p:sp>
        <p:nvSpPr>
          <p:cNvPr id="38" name="Rectangle 37"/>
          <p:cNvSpPr/>
          <p:nvPr/>
        </p:nvSpPr>
        <p:spPr>
          <a:xfrm>
            <a:off x="8110727" y="4846320"/>
            <a:ext cx="3575304" cy="877824"/>
          </a:xfrm>
          <a:prstGeom prst="rect">
            <a:avLst/>
          </a:prstGeom>
          <a:solidFill>
            <a:srgbClr val="E4F3F3"/>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9" name="TextBox 38"/>
          <p:cNvSpPr txBox="1"/>
          <p:nvPr/>
        </p:nvSpPr>
        <p:spPr>
          <a:xfrm>
            <a:off x="8257031" y="4910328"/>
            <a:ext cx="3300984" cy="182880"/>
          </a:xfrm>
          <a:prstGeom prst="rect">
            <a:avLst/>
          </a:prstGeom>
          <a:noFill/>
        </p:spPr>
        <p:txBody>
          <a:bodyPr wrap="square" lIns="45720" rIns="45720" tIns="18288" bIns="18288">
            <a:spAutoFit/>
          </a:bodyPr>
          <a:lstStyle/>
          <a:p>
            <a:pPr algn="l"/>
            <a:r>
              <a:rPr sz="850" b="1" i="0">
                <a:solidFill>
                  <a:srgbClr val="31633D"/>
                </a:solidFill>
                <a:latin typeface="Arial"/>
              </a:rPr>
              <a:t>Invite the recheck on time, and name the benefit</a:t>
            </a:r>
          </a:p>
        </p:txBody>
      </p:sp>
      <p:sp>
        <p:nvSpPr>
          <p:cNvPr id="40" name="TextBox 39"/>
          <p:cNvSpPr txBox="1"/>
          <p:nvPr/>
        </p:nvSpPr>
        <p:spPr>
          <a:xfrm>
            <a:off x="8257031" y="5093208"/>
            <a:ext cx="3300984" cy="603504"/>
          </a:xfrm>
          <a:prstGeom prst="rect">
            <a:avLst/>
          </a:prstGeom>
          <a:noFill/>
        </p:spPr>
        <p:txBody>
          <a:bodyPr wrap="square" lIns="45720" rIns="45720" tIns="18288" bIns="18288">
            <a:spAutoFit/>
          </a:bodyPr>
          <a:lstStyle/>
          <a:p>
            <a:pPr algn="l">
              <a:lnSpc>
                <a:spcPct val="108000"/>
              </a:lnSpc>
            </a:pPr>
            <a:r>
              <a:rPr sz="750" b="0" i="0">
                <a:solidFill>
                  <a:srgbClr val="5C6B62"/>
                </a:solidFill>
                <a:latin typeface="Arial"/>
              </a:rPr>
              <a:t>LA’s MC recheck invitations arrive when due and mention the warranty benefit — a care message and a benefits message in one.</a:t>
            </a:r>
          </a:p>
        </p:txBody>
      </p:sp>
      <p:sp>
        <p:nvSpPr>
          <p:cNvPr id="41" name="Rectangle 40"/>
          <p:cNvSpPr/>
          <p:nvPr/>
        </p:nvSpPr>
        <p:spPr>
          <a:xfrm>
            <a:off x="502920" y="5888736"/>
            <a:ext cx="64008" cy="457200"/>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2" name="Rectangle 41"/>
          <p:cNvSpPr/>
          <p:nvPr/>
        </p:nvSpPr>
        <p:spPr>
          <a:xfrm>
            <a:off x="566928" y="5888736"/>
            <a:ext cx="11119104" cy="45720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46304" rIns="109728"/>
          <a:lstStyle/>
          <a:p>
            <a:pPr algn="l"/>
            <a:r>
              <a:rPr sz="1150" b="1" i="0">
                <a:solidFill>
                  <a:srgbClr val="31633D"/>
                </a:solidFill>
                <a:latin typeface="Arial"/>
              </a:rPr>
              <a:t>LA proves the cadence is possible. SH has the fewest customers and the most room to get it right from the start.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 name="TextBox 2"/>
          <p:cNvSpPr txBox="1"/>
          <p:nvPr/>
        </p:nvSpPr>
        <p:spPr>
          <a:xfrm>
            <a:off x="502920" y="228600"/>
            <a:ext cx="9692640" cy="228600"/>
          </a:xfrm>
          <a:prstGeom prst="rect">
            <a:avLst/>
          </a:prstGeom>
          <a:noFill/>
        </p:spPr>
        <p:txBody>
          <a:bodyPr wrap="square" lIns="45720" rIns="45720" tIns="18288" bIns="18288">
            <a:spAutoFit/>
          </a:bodyPr>
          <a:lstStyle/>
          <a:p>
            <a:pPr algn="l"/>
            <a:r>
              <a:rPr sz="950" b="1" i="0">
                <a:solidFill>
                  <a:srgbClr val="2E9C4C"/>
                </a:solidFill>
                <a:latin typeface="Arial"/>
              </a:rPr>
              <a:t>3. EXAMPLE TO FOLLOW   |   LA</a:t>
            </a:r>
          </a:p>
        </p:txBody>
      </p:sp>
      <p:sp>
        <p:nvSpPr>
          <p:cNvPr id="4" name="TextBox 3"/>
          <p:cNvSpPr txBox="1"/>
          <p:nvPr/>
        </p:nvSpPr>
        <p:spPr>
          <a:xfrm>
            <a:off x="502920" y="493776"/>
            <a:ext cx="11247120" cy="640080"/>
          </a:xfrm>
          <a:prstGeom prst="rect">
            <a:avLst/>
          </a:prstGeom>
          <a:noFill/>
        </p:spPr>
        <p:txBody>
          <a:bodyPr wrap="square" lIns="45720" rIns="45720" tIns="18288" bIns="18288">
            <a:spAutoFit/>
          </a:bodyPr>
          <a:lstStyle/>
          <a:p>
            <a:pPr algn="l"/>
            <a:r>
              <a:rPr sz="1900" b="1" i="0">
                <a:solidFill>
                  <a:srgbClr val="31633D"/>
                </a:solidFill>
                <a:latin typeface="Arial"/>
              </a:rPr>
              <a:t>LA — the best D1 of the five, and a real question that earned a reply</a:t>
            </a:r>
          </a:p>
        </p:txBody>
      </p:sp>
      <p:sp>
        <p:nvSpPr>
          <p:cNvPr id="5" name="Rectangle 4"/>
          <p:cNvSpPr/>
          <p:nvPr/>
        </p:nvSpPr>
        <p:spPr>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6" name="TextBox 5"/>
          <p:cNvSpPr txBox="1"/>
          <p:nvPr/>
        </p:nvSpPr>
        <p:spPr>
          <a:xfrm>
            <a:off x="502920" y="6455664"/>
            <a:ext cx="5486400" cy="237744"/>
          </a:xfrm>
          <a:prstGeom prst="rect">
            <a:avLst/>
          </a:prstGeom>
          <a:noFill/>
        </p:spPr>
        <p:txBody>
          <a:bodyPr wrap="square" lIns="45720" rIns="45720" tIns="18288" bIns="18288">
            <a:spAutoFit/>
          </a:bodyPr>
          <a:lstStyle/>
          <a:p>
            <a:pPr algn="l"/>
            <a:r>
              <a:rPr sz="800" b="0" i="0">
                <a:solidFill>
                  <a:srgbClr val="5C6B62"/>
                </a:solidFill>
                <a:latin typeface="Arial"/>
              </a:rPr>
              <a:t>Mắt Sài Gòn  |  Optometry DA Training</a:t>
            </a:r>
          </a:p>
        </p:txBody>
      </p:sp>
      <p:sp>
        <p:nvSpPr>
          <p:cNvPr id="7" name="TextBox 6"/>
          <p:cNvSpPr txBox="1"/>
          <p:nvPr/>
        </p:nvSpPr>
        <p:spPr>
          <a:xfrm>
            <a:off x="10972800" y="6455664"/>
            <a:ext cx="713232" cy="237744"/>
          </a:xfrm>
          <a:prstGeom prst="rect">
            <a:avLst/>
          </a:prstGeom>
          <a:noFill/>
        </p:spPr>
        <p:txBody>
          <a:bodyPr wrap="square" lIns="45720" rIns="45720" tIns="18288" bIns="18288">
            <a:spAutoFit/>
          </a:bodyPr>
          <a:lstStyle/>
          <a:p>
            <a:pPr algn="r"/>
            <a:r>
              <a:rPr sz="800" b="1" i="0">
                <a:solidFill>
                  <a:srgbClr val="5C6B62"/>
                </a:solidFill>
                <a:latin typeface="Arial"/>
              </a:rPr>
              <a:t>5</a:t>
            </a:r>
          </a:p>
        </p:txBody>
      </p:sp>
      <p:sp>
        <p:nvSpPr>
          <p:cNvPr id="8" name="Rectangle 7"/>
          <p:cNvSpPr/>
          <p:nvPr/>
        </p:nvSpPr>
        <p:spPr>
          <a:xfrm>
            <a:off x="502920" y="1280160"/>
            <a:ext cx="11183112" cy="310896"/>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28016" rIns="109728"/>
          <a:lstStyle/>
          <a:p>
            <a:pPr algn="l"/>
            <a:r>
              <a:rPr sz="950" b="1" i="0">
                <a:solidFill>
                  <a:srgbClr val="2E9C4C"/>
                </a:solidFill>
                <a:latin typeface="Arial"/>
              </a:rPr>
              <a:t>MCY 260814  Anh Toàn · PH Nguyễn Quỳnh Chi </a:t>
            </a:r>
            <a:r>
              <a:rPr sz="950" b="0" i="0">
                <a:solidFill>
                  <a:srgbClr val="5C6B62"/>
                </a:solidFill>
                <a:latin typeface="Arial"/>
              </a:rPr>
              <a:t>— and Quang Minh, who is not in the contact name  ·  MC · myopia control  ·  LA  ·  15 August → 10 September</a:t>
            </a:r>
          </a:p>
        </p:txBody>
      </p:sp>
      <p:sp>
        <p:nvSpPr>
          <p:cNvPr id="9" name="Rectangle 8"/>
          <p:cNvSpPr/>
          <p:nvPr/>
        </p:nvSpPr>
        <p:spPr>
          <a:xfrm>
            <a:off x="502920" y="1700784"/>
            <a:ext cx="5888736" cy="4242816"/>
          </a:xfrm>
          <a:prstGeom prst="rect">
            <a:avLst/>
          </a:prstGeom>
          <a:solidFill>
            <a:srgbClr val="F7F8F7"/>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pic>
        <p:nvPicPr>
          <p:cNvPr id="10" name="Picture 9" descr="LA_composite.png"/>
          <p:cNvPicPr>
            <a:picLocks noChangeAspect="1"/>
          </p:cNvPicPr>
          <p:nvPr/>
        </p:nvPicPr>
        <p:blipFill>
          <a:blip r:embed="rId2"/>
          <a:stretch>
            <a:fillRect/>
          </a:stretch>
        </p:blipFill>
        <p:spPr>
          <a:xfrm>
            <a:off x="1169974" y="1700784"/>
            <a:ext cx="4554626" cy="4242816"/>
          </a:xfrm>
          <a:prstGeom prst="rect">
            <a:avLst/>
          </a:prstGeom>
        </p:spPr>
      </p:pic>
      <p:sp>
        <p:nvSpPr>
          <p:cNvPr id="11" name="Rectangle 10"/>
          <p:cNvSpPr/>
          <p:nvPr/>
        </p:nvSpPr>
        <p:spPr>
          <a:xfrm>
            <a:off x="2340864" y="4690872"/>
            <a:ext cx="2176272" cy="329184"/>
          </a:xfrm>
          <a:prstGeom prst="rect">
            <a:avLst/>
          </a:prstGeom>
          <a:solidFill>
            <a:srgbClr val="FDF6E3"/>
          </a:solidFill>
          <a:ln w="12700">
            <a:solidFill>
              <a:srgbClr val="B9770B"/>
            </a:solid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73152" rIns="73152"/>
          <a:lstStyle/>
          <a:p>
            <a:pPr algn="ctr">
              <a:lnSpc>
                <a:spcPct val="104000"/>
              </a:lnSpc>
            </a:pPr>
            <a:r>
              <a:rPr sz="800" b="1" i="0">
                <a:solidFill>
                  <a:srgbClr val="B9770B"/>
                </a:solidFill>
                <a:latin typeface="Arial"/>
              </a:rPr>
              <a:t>The referral moment — she did not ask</a:t>
            </a:r>
          </a:p>
        </p:txBody>
      </p:sp>
      <p:sp>
        <p:nvSpPr>
          <p:cNvPr id="12" name="Rectangle 11"/>
          <p:cNvSpPr/>
          <p:nvPr/>
        </p:nvSpPr>
        <p:spPr>
          <a:xfrm>
            <a:off x="6547104" y="1700784"/>
            <a:ext cx="5138928" cy="310896"/>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09728"/>
          <a:lstStyle/>
          <a:p>
            <a:pPr algn="l"/>
            <a:r>
              <a:rPr sz="1050" b="1" i="0">
                <a:solidFill>
                  <a:srgbClr val="FFFFFF"/>
                </a:solidFill>
                <a:latin typeface="Arial"/>
              </a:rPr>
              <a:t>What this DA did well — copy all of it except the gaps</a:t>
            </a:r>
          </a:p>
        </p:txBody>
      </p:sp>
      <p:sp>
        <p:nvSpPr>
          <p:cNvPr id="13" name="Rectangle 12"/>
          <p:cNvSpPr/>
          <p:nvPr/>
        </p:nvSpPr>
        <p:spPr>
          <a:xfrm>
            <a:off x="6547104" y="2029968"/>
            <a:ext cx="5138928" cy="1682496"/>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4" name="TextBox 13"/>
          <p:cNvSpPr txBox="1"/>
          <p:nvPr/>
        </p:nvSpPr>
        <p:spPr>
          <a:xfrm>
            <a:off x="6693408" y="2093976"/>
            <a:ext cx="4846320" cy="1554480"/>
          </a:xfrm>
          <a:prstGeom prst="rect">
            <a:avLst/>
          </a:prstGeom>
          <a:noFill/>
        </p:spPr>
        <p:txBody>
          <a:bodyPr wrap="square" lIns="45720" rIns="45720" tIns="18288" bIns="18288" anchor="ctr">
            <a:spAutoFit/>
          </a:bodyPr>
          <a:lstStyle/>
          <a:p>
            <a:pPr algn="l">
              <a:lnSpc>
                <a:spcPct val="105000"/>
              </a:lnSpc>
              <a:spcAft>
                <a:spcPts val="250"/>
              </a:spcAft>
            </a:pPr>
            <a:r>
              <a:rPr sz="750" b="1" i="0">
                <a:solidFill>
                  <a:srgbClr val="2E9C4C"/>
                </a:solidFill>
                <a:latin typeface="Arial"/>
              </a:rPr>
              <a:t>15 Aug · D1   </a:t>
            </a:r>
            <a:r>
              <a:rPr sz="750" b="0" i="0">
                <a:solidFill>
                  <a:srgbClr val="5C6B62"/>
                </a:solidFill>
                <a:latin typeface="Arial"/>
              </a:rPr>
              <a:t>Introduction with her name, role, centre and phone number — then the child was examined on 14 August and ordered MC glasses, about 3–10 days, and she will make contact as soon as they arrive.</a:t>
            </a:r>
          </a:p>
          <a:p>
            <a:pPr algn="l">
              <a:lnSpc>
                <a:spcPct val="105000"/>
              </a:lnSpc>
              <a:spcAft>
                <a:spcPts val="250"/>
              </a:spcAft>
            </a:pPr>
            <a:r>
              <a:rPr sz="750" b="1" i="0">
                <a:solidFill>
                  <a:srgbClr val="2E9C4C"/>
                </a:solidFill>
                <a:latin typeface="Arial"/>
              </a:rPr>
              <a:t>15 Aug → 9 Sep   </a:t>
            </a:r>
            <a:r>
              <a:rPr sz="750" b="0" i="0">
                <a:solidFill>
                  <a:srgbClr val="5C6B62"/>
                </a:solidFill>
                <a:latin typeface="Arial"/>
              </a:rPr>
              <a:t>Nothing in the thread for twenty-five days — which is why the collection date cannot be read off Zalo.</a:t>
            </a:r>
          </a:p>
          <a:p>
            <a:pPr algn="l">
              <a:lnSpc>
                <a:spcPct val="105000"/>
              </a:lnSpc>
              <a:spcAft>
                <a:spcPts val="250"/>
              </a:spcAft>
            </a:pPr>
            <a:r>
              <a:rPr sz="750" b="1" i="0">
                <a:solidFill>
                  <a:srgbClr val="2E9C4C"/>
                </a:solidFill>
                <a:latin typeface="Arial"/>
              </a:rPr>
              <a:t>9 Sep · benefits   </a:t>
            </a:r>
            <a:r>
              <a:rPr sz="750" b="0" i="0">
                <a:solidFill>
                  <a:srgbClr val="5C6B62"/>
                </a:solidFill>
                <a:latin typeface="Arial"/>
              </a:rPr>
              <a:t>Benefits sent with the benefits card. The card is fine as it is.</a:t>
            </a:r>
          </a:p>
          <a:p>
            <a:pPr algn="l">
              <a:lnSpc>
                <a:spcPct val="105000"/>
              </a:lnSpc>
              <a:spcAft>
                <a:spcPts val="250"/>
              </a:spcAft>
            </a:pPr>
            <a:r>
              <a:rPr sz="750" b="1" i="0">
                <a:solidFill>
                  <a:srgbClr val="2E9C4C"/>
                </a:solidFill>
                <a:latin typeface="Arial"/>
              </a:rPr>
              <a:t>9 Sep · care   </a:t>
            </a:r>
            <a:r>
              <a:rPr sz="750" b="0" i="0">
                <a:solidFill>
                  <a:srgbClr val="5C6B62"/>
                </a:solidFill>
                <a:latin typeface="Arial"/>
              </a:rPr>
              <a:t>She did not end on benefits. She asked a real question: has the child adapted, does she see clearly and feel comfortable?</a:t>
            </a:r>
          </a:p>
          <a:p>
            <a:pPr algn="l">
              <a:lnSpc>
                <a:spcPct val="105000"/>
              </a:lnSpc>
              <a:spcAft>
                <a:spcPts val="250"/>
              </a:spcAft>
            </a:pPr>
            <a:r>
              <a:rPr sz="750" b="1" i="0">
                <a:solidFill>
                  <a:srgbClr val="2E9C4C"/>
                </a:solidFill>
                <a:latin typeface="Arial"/>
              </a:rPr>
              <a:t>10 Sep · the reply   </a:t>
            </a:r>
            <a:r>
              <a:rPr sz="750" b="0" i="0">
                <a:solidFill>
                  <a:srgbClr val="5C6B62"/>
                </a:solidFill>
                <a:latin typeface="Arial"/>
              </a:rPr>
              <a:t>“Con ổn e ah, cám ơn e” with two hearts. That is what a real question earns — and the moment to ask for a referral. She did not.</a:t>
            </a:r>
          </a:p>
          <a:p>
            <a:pPr algn="l">
              <a:lnSpc>
                <a:spcPct val="105000"/>
              </a:lnSpc>
              <a:spcAft>
                <a:spcPts val="0"/>
              </a:spcAft>
            </a:pPr>
            <a:r>
              <a:rPr sz="750" b="1" i="0">
                <a:solidFill>
                  <a:srgbClr val="2E9C4C"/>
                </a:solidFill>
                <a:latin typeface="Arial"/>
              </a:rPr>
              <a:t>CD+30 · recheck   </a:t>
            </a:r>
            <a:r>
              <a:rPr sz="750" b="0" i="0">
                <a:solidFill>
                  <a:srgbClr val="5C6B62"/>
                </a:solidFill>
                <a:latin typeface="Arial"/>
              </a:rPr>
              <a:t>Free recheck after one month of wearing the glasses, naming both children. No other site does this.</a:t>
            </a:r>
          </a:p>
        </p:txBody>
      </p:sp>
      <p:sp>
        <p:nvSpPr>
          <p:cNvPr id="15" name="Rectangle 14"/>
          <p:cNvSpPr/>
          <p:nvPr/>
        </p:nvSpPr>
        <p:spPr>
          <a:xfrm>
            <a:off x="6547104" y="3767328"/>
            <a:ext cx="5138928" cy="274320"/>
          </a:xfrm>
          <a:prstGeom prst="rect">
            <a:avLst/>
          </a:prstGeom>
          <a:solidFill>
            <a:srgbClr val="31633D"/>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09728"/>
          <a:lstStyle/>
          <a:p>
            <a:pPr algn="l"/>
            <a:r>
              <a:rPr sz="950" b="1" i="0">
                <a:solidFill>
                  <a:srgbClr val="FFFFFF"/>
                </a:solidFill>
                <a:latin typeface="Arial"/>
              </a:rPr>
              <a:t>CADENCE CHECK</a:t>
            </a:r>
            <a:r>
              <a:rPr sz="850" b="0" i="0">
                <a:solidFill>
                  <a:srgbClr val="CFE6D8"/>
                </a:solidFill>
                <a:latin typeface="Arial"/>
              </a:rPr>
              <a:t>     what was due for </a:t>
            </a:r>
            <a:r>
              <a:rPr sz="850" b="1" i="0">
                <a:solidFill>
                  <a:srgbClr val="FFFFFF"/>
                </a:solidFill>
                <a:latin typeface="Arial"/>
              </a:rPr>
              <a:t>MC</a:t>
            </a:r>
          </a:p>
        </p:txBody>
      </p:sp>
      <p:sp>
        <p:nvSpPr>
          <p:cNvPr id="16" name="Rectangle 15"/>
          <p:cNvSpPr/>
          <p:nvPr/>
        </p:nvSpPr>
        <p:spPr>
          <a:xfrm>
            <a:off x="6547104" y="4078224"/>
            <a:ext cx="1101851" cy="182880"/>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9144" rIns="9144"/>
          <a:lstStyle/>
          <a:p>
            <a:pPr algn="ctr"/>
            <a:r>
              <a:rPr sz="600" b="1" i="0">
                <a:solidFill>
                  <a:srgbClr val="31633D"/>
                </a:solidFill>
                <a:latin typeface="Arial"/>
              </a:rPr>
              <a:t>BEFORE COLLECTION</a:t>
            </a:r>
          </a:p>
        </p:txBody>
      </p:sp>
      <p:sp>
        <p:nvSpPr>
          <p:cNvPr id="17" name="Rectangle 16"/>
          <p:cNvSpPr/>
          <p:nvPr/>
        </p:nvSpPr>
        <p:spPr>
          <a:xfrm>
            <a:off x="7690104" y="4078224"/>
            <a:ext cx="1673351" cy="182880"/>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9144" rIns="9144"/>
          <a:lstStyle/>
          <a:p>
            <a:pPr algn="ctr"/>
            <a:r>
              <a:rPr sz="600" b="1" i="0">
                <a:solidFill>
                  <a:srgbClr val="31633D"/>
                </a:solidFill>
                <a:latin typeface="Arial"/>
              </a:rPr>
              <a:t>CD  ·  COLLECTION DAY</a:t>
            </a:r>
          </a:p>
        </p:txBody>
      </p:sp>
      <p:sp>
        <p:nvSpPr>
          <p:cNvPr id="18" name="Rectangle 17"/>
          <p:cNvSpPr/>
          <p:nvPr/>
        </p:nvSpPr>
        <p:spPr>
          <a:xfrm>
            <a:off x="9404604" y="4078224"/>
            <a:ext cx="2244852" cy="182880"/>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9144" rIns="9144"/>
          <a:lstStyle/>
          <a:p>
            <a:pPr algn="ctr"/>
            <a:r>
              <a:rPr sz="600" b="1" i="0">
                <a:solidFill>
                  <a:srgbClr val="31633D"/>
                </a:solidFill>
                <a:latin typeface="Arial"/>
              </a:rPr>
              <a:t>AFTER COLLECTION</a:t>
            </a:r>
          </a:p>
        </p:txBody>
      </p:sp>
      <p:sp>
        <p:nvSpPr>
          <p:cNvPr id="19" name="Rectangle 18"/>
          <p:cNvSpPr/>
          <p:nvPr/>
        </p:nvSpPr>
        <p:spPr>
          <a:xfrm>
            <a:off x="6547104" y="4279392"/>
            <a:ext cx="530352" cy="420624"/>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0" name="TextBox 19"/>
          <p:cNvSpPr txBox="1"/>
          <p:nvPr/>
        </p:nvSpPr>
        <p:spPr>
          <a:xfrm>
            <a:off x="6547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D1</a:t>
            </a:r>
          </a:p>
        </p:txBody>
      </p:sp>
      <p:sp>
        <p:nvSpPr>
          <p:cNvPr id="21" name="TextBox 20"/>
          <p:cNvSpPr txBox="1"/>
          <p:nvPr/>
        </p:nvSpPr>
        <p:spPr>
          <a:xfrm>
            <a:off x="6547104" y="4462272"/>
            <a:ext cx="530352" cy="219456"/>
          </a:xfrm>
          <a:prstGeom prst="rect">
            <a:avLst/>
          </a:prstGeom>
          <a:noFill/>
        </p:spPr>
        <p:txBody>
          <a:bodyPr wrap="none" lIns="9144" rIns="9144" tIns="0" bIns="0">
            <a:spAutoFit/>
          </a:bodyPr>
          <a:lstStyle/>
          <a:p>
            <a:pPr algn="ctr"/>
            <a:r>
              <a:rPr sz="1100" b="1" i="0">
                <a:solidFill>
                  <a:srgbClr val="2E9C4C"/>
                </a:solidFill>
                <a:latin typeface="Arial"/>
              </a:rPr>
              <a:t>✓</a:t>
            </a:r>
          </a:p>
        </p:txBody>
      </p:sp>
      <p:sp>
        <p:nvSpPr>
          <p:cNvPr id="22" name="Rectangle 21"/>
          <p:cNvSpPr/>
          <p:nvPr/>
        </p:nvSpPr>
        <p:spPr>
          <a:xfrm>
            <a:off x="71186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3" name="TextBox 22"/>
          <p:cNvSpPr txBox="1"/>
          <p:nvPr/>
        </p:nvSpPr>
        <p:spPr>
          <a:xfrm>
            <a:off x="71186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D6-7</a:t>
            </a:r>
          </a:p>
        </p:txBody>
      </p:sp>
      <p:sp>
        <p:nvSpPr>
          <p:cNvPr id="24" name="TextBox 23"/>
          <p:cNvSpPr txBox="1"/>
          <p:nvPr/>
        </p:nvSpPr>
        <p:spPr>
          <a:xfrm>
            <a:off x="71186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25" name="Rectangle 24"/>
          <p:cNvSpPr/>
          <p:nvPr/>
        </p:nvSpPr>
        <p:spPr>
          <a:xfrm>
            <a:off x="76901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6" name="TextBox 25"/>
          <p:cNvSpPr txBox="1"/>
          <p:nvPr/>
        </p:nvSpPr>
        <p:spPr>
          <a:xfrm>
            <a:off x="7690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USAGE</a:t>
            </a:r>
          </a:p>
        </p:txBody>
      </p:sp>
      <p:sp>
        <p:nvSpPr>
          <p:cNvPr id="27" name="TextBox 26"/>
          <p:cNvSpPr txBox="1"/>
          <p:nvPr/>
        </p:nvSpPr>
        <p:spPr>
          <a:xfrm>
            <a:off x="76901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28" name="Rectangle 27"/>
          <p:cNvSpPr/>
          <p:nvPr/>
        </p:nvSpPr>
        <p:spPr>
          <a:xfrm>
            <a:off x="8261604" y="4279392"/>
            <a:ext cx="530352" cy="420624"/>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9" name="TextBox 28"/>
          <p:cNvSpPr txBox="1"/>
          <p:nvPr/>
        </p:nvSpPr>
        <p:spPr>
          <a:xfrm>
            <a:off x="82616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BENEFITS</a:t>
            </a:r>
          </a:p>
        </p:txBody>
      </p:sp>
      <p:sp>
        <p:nvSpPr>
          <p:cNvPr id="30" name="TextBox 29"/>
          <p:cNvSpPr txBox="1"/>
          <p:nvPr/>
        </p:nvSpPr>
        <p:spPr>
          <a:xfrm>
            <a:off x="8261604" y="4462272"/>
            <a:ext cx="530352" cy="219456"/>
          </a:xfrm>
          <a:prstGeom prst="rect">
            <a:avLst/>
          </a:prstGeom>
          <a:noFill/>
        </p:spPr>
        <p:txBody>
          <a:bodyPr wrap="none" lIns="9144" rIns="9144" tIns="0" bIns="0">
            <a:spAutoFit/>
          </a:bodyPr>
          <a:lstStyle/>
          <a:p>
            <a:pPr algn="ctr"/>
            <a:r>
              <a:rPr sz="1100" b="1" i="0">
                <a:solidFill>
                  <a:srgbClr val="2E9C4C"/>
                </a:solidFill>
                <a:latin typeface="Arial"/>
              </a:rPr>
              <a:t>✓</a:t>
            </a:r>
          </a:p>
        </p:txBody>
      </p:sp>
      <p:sp>
        <p:nvSpPr>
          <p:cNvPr id="31" name="Rectangle 30"/>
          <p:cNvSpPr/>
          <p:nvPr/>
        </p:nvSpPr>
        <p:spPr>
          <a:xfrm>
            <a:off x="88331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2" name="TextBox 31"/>
          <p:cNvSpPr txBox="1"/>
          <p:nvPr/>
        </p:nvSpPr>
        <p:spPr>
          <a:xfrm>
            <a:off x="8833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REFERRAL</a:t>
            </a:r>
          </a:p>
        </p:txBody>
      </p:sp>
      <p:sp>
        <p:nvSpPr>
          <p:cNvPr id="33" name="TextBox 32"/>
          <p:cNvSpPr txBox="1"/>
          <p:nvPr/>
        </p:nvSpPr>
        <p:spPr>
          <a:xfrm>
            <a:off x="88331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34" name="Rectangle 33"/>
          <p:cNvSpPr/>
          <p:nvPr/>
        </p:nvSpPr>
        <p:spPr>
          <a:xfrm>
            <a:off x="94046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5" name="TextBox 34"/>
          <p:cNvSpPr txBox="1"/>
          <p:nvPr/>
        </p:nvSpPr>
        <p:spPr>
          <a:xfrm>
            <a:off x="94046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CD+3-5</a:t>
            </a:r>
          </a:p>
        </p:txBody>
      </p:sp>
      <p:sp>
        <p:nvSpPr>
          <p:cNvPr id="36" name="TextBox 35"/>
          <p:cNvSpPr txBox="1"/>
          <p:nvPr/>
        </p:nvSpPr>
        <p:spPr>
          <a:xfrm>
            <a:off x="94046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37" name="Rectangle 36"/>
          <p:cNvSpPr/>
          <p:nvPr/>
        </p:nvSpPr>
        <p:spPr>
          <a:xfrm>
            <a:off x="9976104" y="4279392"/>
            <a:ext cx="530352" cy="420624"/>
          </a:xfrm>
          <a:prstGeom prst="rect">
            <a:avLst/>
          </a:prstGeom>
          <a:solidFill>
            <a:srgbClr val="F7F8F7"/>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8" name="TextBox 37"/>
          <p:cNvSpPr txBox="1"/>
          <p:nvPr/>
        </p:nvSpPr>
        <p:spPr>
          <a:xfrm>
            <a:off x="9976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CD+7</a:t>
            </a:r>
          </a:p>
        </p:txBody>
      </p:sp>
      <p:sp>
        <p:nvSpPr>
          <p:cNvPr id="39" name="TextBox 38"/>
          <p:cNvSpPr txBox="1"/>
          <p:nvPr/>
        </p:nvSpPr>
        <p:spPr>
          <a:xfrm>
            <a:off x="9976104" y="4462272"/>
            <a:ext cx="530352" cy="219456"/>
          </a:xfrm>
          <a:prstGeom prst="rect">
            <a:avLst/>
          </a:prstGeom>
          <a:noFill/>
        </p:spPr>
        <p:txBody>
          <a:bodyPr wrap="none" lIns="9144" rIns="9144" tIns="0" bIns="0">
            <a:spAutoFit/>
          </a:bodyPr>
          <a:lstStyle/>
          <a:p>
            <a:pPr algn="ctr"/>
            <a:r>
              <a:rPr sz="950" b="1" i="0">
                <a:solidFill>
                  <a:srgbClr val="5C6B62"/>
                </a:solidFill>
                <a:latin typeface="Arial"/>
              </a:rPr>
              <a:t>n/a</a:t>
            </a:r>
          </a:p>
        </p:txBody>
      </p:sp>
      <p:sp>
        <p:nvSpPr>
          <p:cNvPr id="40" name="Rectangle 39"/>
          <p:cNvSpPr/>
          <p:nvPr/>
        </p:nvSpPr>
        <p:spPr>
          <a:xfrm>
            <a:off x="10547604" y="4279392"/>
            <a:ext cx="530352" cy="420624"/>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1" name="TextBox 40"/>
          <p:cNvSpPr txBox="1"/>
          <p:nvPr/>
        </p:nvSpPr>
        <p:spPr>
          <a:xfrm>
            <a:off x="105476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CD+14</a:t>
            </a:r>
          </a:p>
        </p:txBody>
      </p:sp>
      <p:sp>
        <p:nvSpPr>
          <p:cNvPr id="42" name="TextBox 41"/>
          <p:cNvSpPr txBox="1"/>
          <p:nvPr/>
        </p:nvSpPr>
        <p:spPr>
          <a:xfrm>
            <a:off x="10547604" y="4462272"/>
            <a:ext cx="530352" cy="219456"/>
          </a:xfrm>
          <a:prstGeom prst="rect">
            <a:avLst/>
          </a:prstGeom>
          <a:noFill/>
        </p:spPr>
        <p:txBody>
          <a:bodyPr wrap="none" lIns="9144" rIns="9144" tIns="0" bIns="0">
            <a:spAutoFit/>
          </a:bodyPr>
          <a:lstStyle/>
          <a:p>
            <a:pPr algn="ctr"/>
            <a:r>
              <a:rPr sz="1100" b="1" i="0">
                <a:solidFill>
                  <a:srgbClr val="2E9C4C"/>
                </a:solidFill>
                <a:latin typeface="Arial"/>
              </a:rPr>
              <a:t>✓</a:t>
            </a:r>
          </a:p>
        </p:txBody>
      </p:sp>
      <p:sp>
        <p:nvSpPr>
          <p:cNvPr id="43" name="Rectangle 42"/>
          <p:cNvSpPr/>
          <p:nvPr/>
        </p:nvSpPr>
        <p:spPr>
          <a:xfrm>
            <a:off x="11119104" y="4279392"/>
            <a:ext cx="530352" cy="420624"/>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4" name="TextBox 43"/>
          <p:cNvSpPr txBox="1"/>
          <p:nvPr/>
        </p:nvSpPr>
        <p:spPr>
          <a:xfrm>
            <a:off x="11119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CD+30</a:t>
            </a:r>
          </a:p>
        </p:txBody>
      </p:sp>
      <p:sp>
        <p:nvSpPr>
          <p:cNvPr id="45" name="TextBox 44"/>
          <p:cNvSpPr txBox="1"/>
          <p:nvPr/>
        </p:nvSpPr>
        <p:spPr>
          <a:xfrm>
            <a:off x="11119104" y="4462272"/>
            <a:ext cx="530352" cy="219456"/>
          </a:xfrm>
          <a:prstGeom prst="rect">
            <a:avLst/>
          </a:prstGeom>
          <a:noFill/>
        </p:spPr>
        <p:txBody>
          <a:bodyPr wrap="none" lIns="9144" rIns="9144" tIns="0" bIns="0">
            <a:spAutoFit/>
          </a:bodyPr>
          <a:lstStyle/>
          <a:p>
            <a:pPr algn="ctr"/>
            <a:r>
              <a:rPr sz="1100" b="1" i="0">
                <a:solidFill>
                  <a:srgbClr val="2E9C4C"/>
                </a:solidFill>
                <a:latin typeface="Arial"/>
              </a:rPr>
              <a:t>✓</a:t>
            </a:r>
          </a:p>
        </p:txBody>
      </p:sp>
      <p:sp>
        <p:nvSpPr>
          <p:cNvPr id="46" name="TextBox 45"/>
          <p:cNvSpPr txBox="1"/>
          <p:nvPr/>
        </p:nvSpPr>
        <p:spPr>
          <a:xfrm>
            <a:off x="6547104" y="4718304"/>
            <a:ext cx="5138928" cy="164592"/>
          </a:xfrm>
          <a:prstGeom prst="rect">
            <a:avLst/>
          </a:prstGeom>
          <a:noFill/>
        </p:spPr>
        <p:txBody>
          <a:bodyPr wrap="square" lIns="18288" rIns="18288" tIns="0" bIns="0">
            <a:spAutoFit/>
          </a:bodyPr>
          <a:lstStyle/>
          <a:p>
            <a:pPr algn="l"/>
            <a:r>
              <a:rPr sz="700" b="1" i="0">
                <a:solidFill>
                  <a:srgbClr val="2E9C4C"/>
                </a:solidFill>
                <a:latin typeface="Arial"/>
              </a:rPr>
              <a:t>✓  done     </a:t>
            </a:r>
            <a:r>
              <a:rPr sz="700" b="1" i="0">
                <a:solidFill>
                  <a:srgbClr val="B9770B"/>
                </a:solidFill>
                <a:latin typeface="Arial"/>
              </a:rPr>
              <a:t>~  partly     </a:t>
            </a:r>
            <a:r>
              <a:rPr sz="700" b="1" i="0">
                <a:solidFill>
                  <a:srgbClr val="C0392B"/>
                </a:solidFill>
                <a:latin typeface="Arial"/>
              </a:rPr>
              <a:t>✕  not done     </a:t>
            </a:r>
            <a:r>
              <a:rPr sz="700" b="1" i="0">
                <a:solidFill>
                  <a:srgbClr val="5C6B62"/>
                </a:solidFill>
                <a:latin typeface="Arial"/>
              </a:rPr>
              <a:t>n/a  not due for this product</a:t>
            </a:r>
          </a:p>
        </p:txBody>
      </p:sp>
      <p:sp>
        <p:nvSpPr>
          <p:cNvPr id="47" name="Rectangle 46"/>
          <p:cNvSpPr/>
          <p:nvPr/>
        </p:nvSpPr>
        <p:spPr>
          <a:xfrm>
            <a:off x="6547104" y="4937760"/>
            <a:ext cx="5138928" cy="274320"/>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09728"/>
          <a:lstStyle/>
          <a:p>
            <a:pPr algn="l"/>
            <a:r>
              <a:rPr sz="950" b="1" i="0">
                <a:solidFill>
                  <a:srgbClr val="FFFFFF"/>
                </a:solidFill>
                <a:latin typeface="Arial"/>
              </a:rPr>
              <a:t>BENEFITS DATE TEST</a:t>
            </a:r>
            <a:r>
              <a:rPr sz="850" b="0" i="0">
                <a:solidFill>
                  <a:srgbClr val="FDECEA"/>
                </a:solidFill>
                <a:latin typeface="Arial"/>
              </a:rPr>
              <a:t>     is the date in the contact name the collection date?</a:t>
            </a:r>
          </a:p>
        </p:txBody>
      </p:sp>
      <p:sp>
        <p:nvSpPr>
          <p:cNvPr id="48" name="Rectangle 47"/>
          <p:cNvSpPr/>
          <p:nvPr/>
        </p:nvSpPr>
        <p:spPr>
          <a:xfrm>
            <a:off x="6547104" y="5248656"/>
            <a:ext cx="1243584" cy="47548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9" name="TextBox 48"/>
          <p:cNvSpPr txBox="1"/>
          <p:nvPr/>
        </p:nvSpPr>
        <p:spPr>
          <a:xfrm>
            <a:off x="6547104" y="5285232"/>
            <a:ext cx="1243584" cy="146304"/>
          </a:xfrm>
          <a:prstGeom prst="rect">
            <a:avLst/>
          </a:prstGeom>
          <a:noFill/>
        </p:spPr>
        <p:txBody>
          <a:bodyPr wrap="none" lIns="18288" rIns="18288" tIns="0" bIns="0">
            <a:spAutoFit/>
          </a:bodyPr>
          <a:lstStyle/>
          <a:p>
            <a:pPr algn="ctr"/>
            <a:r>
              <a:rPr sz="600" b="1" i="0">
                <a:solidFill>
                  <a:srgbClr val="5C6B62"/>
                </a:solidFill>
                <a:latin typeface="Arial"/>
              </a:rPr>
              <a:t>DATE IN NAME</a:t>
            </a:r>
          </a:p>
        </p:txBody>
      </p:sp>
      <p:sp>
        <p:nvSpPr>
          <p:cNvPr id="50" name="TextBox 49"/>
          <p:cNvSpPr txBox="1"/>
          <p:nvPr/>
        </p:nvSpPr>
        <p:spPr>
          <a:xfrm>
            <a:off x="6547104" y="5431536"/>
            <a:ext cx="1243584" cy="237744"/>
          </a:xfrm>
          <a:prstGeom prst="rect">
            <a:avLst/>
          </a:prstGeom>
          <a:noFill/>
        </p:spPr>
        <p:txBody>
          <a:bodyPr wrap="none" lIns="18288" rIns="18288" tIns="0" bIns="0">
            <a:spAutoFit/>
          </a:bodyPr>
          <a:lstStyle/>
          <a:p>
            <a:pPr algn="ctr"/>
            <a:r>
              <a:rPr sz="1050" b="1" i="0">
                <a:solidFill>
                  <a:srgbClr val="31633D"/>
                </a:solidFill>
                <a:latin typeface="Arial"/>
              </a:rPr>
              <a:t>14 Aug</a:t>
            </a:r>
          </a:p>
        </p:txBody>
      </p:sp>
      <p:sp>
        <p:nvSpPr>
          <p:cNvPr id="51" name="Rectangle 50"/>
          <p:cNvSpPr/>
          <p:nvPr/>
        </p:nvSpPr>
        <p:spPr>
          <a:xfrm>
            <a:off x="7827264" y="5248656"/>
            <a:ext cx="1243584" cy="47548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52" name="TextBox 51"/>
          <p:cNvSpPr txBox="1"/>
          <p:nvPr/>
        </p:nvSpPr>
        <p:spPr>
          <a:xfrm>
            <a:off x="7827264" y="5285232"/>
            <a:ext cx="1243584" cy="146304"/>
          </a:xfrm>
          <a:prstGeom prst="rect">
            <a:avLst/>
          </a:prstGeom>
          <a:noFill/>
        </p:spPr>
        <p:txBody>
          <a:bodyPr wrap="none" lIns="18288" rIns="18288" tIns="0" bIns="0">
            <a:spAutoFit/>
          </a:bodyPr>
          <a:lstStyle/>
          <a:p>
            <a:pPr algn="ctr"/>
            <a:r>
              <a:rPr sz="600" b="1" i="0">
                <a:solidFill>
                  <a:srgbClr val="5C6B62"/>
                </a:solidFill>
                <a:latin typeface="Arial"/>
              </a:rPr>
              <a:t>BENEFITS SENT</a:t>
            </a:r>
          </a:p>
        </p:txBody>
      </p:sp>
      <p:sp>
        <p:nvSpPr>
          <p:cNvPr id="53" name="TextBox 52"/>
          <p:cNvSpPr txBox="1"/>
          <p:nvPr/>
        </p:nvSpPr>
        <p:spPr>
          <a:xfrm>
            <a:off x="7827264" y="5431536"/>
            <a:ext cx="1243584" cy="237744"/>
          </a:xfrm>
          <a:prstGeom prst="rect">
            <a:avLst/>
          </a:prstGeom>
          <a:noFill/>
        </p:spPr>
        <p:txBody>
          <a:bodyPr wrap="none" lIns="18288" rIns="18288" tIns="0" bIns="0">
            <a:spAutoFit/>
          </a:bodyPr>
          <a:lstStyle/>
          <a:p>
            <a:pPr algn="ctr"/>
            <a:r>
              <a:rPr sz="1050" b="1" i="0">
                <a:solidFill>
                  <a:srgbClr val="31633D"/>
                </a:solidFill>
                <a:latin typeface="Arial"/>
              </a:rPr>
              <a:t>9 Sep</a:t>
            </a:r>
          </a:p>
        </p:txBody>
      </p:sp>
      <p:sp>
        <p:nvSpPr>
          <p:cNvPr id="54" name="Rectangle 53"/>
          <p:cNvSpPr/>
          <p:nvPr/>
        </p:nvSpPr>
        <p:spPr>
          <a:xfrm>
            <a:off x="9107424" y="5248656"/>
            <a:ext cx="1243584" cy="47548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55" name="TextBox 54"/>
          <p:cNvSpPr txBox="1"/>
          <p:nvPr/>
        </p:nvSpPr>
        <p:spPr>
          <a:xfrm>
            <a:off x="9107424" y="5285232"/>
            <a:ext cx="1243584" cy="146304"/>
          </a:xfrm>
          <a:prstGeom prst="rect">
            <a:avLst/>
          </a:prstGeom>
          <a:noFill/>
        </p:spPr>
        <p:txBody>
          <a:bodyPr wrap="none" lIns="18288" rIns="18288" tIns="0" bIns="0">
            <a:spAutoFit/>
          </a:bodyPr>
          <a:lstStyle/>
          <a:p>
            <a:pPr algn="ctr"/>
            <a:r>
              <a:rPr sz="600" b="1" i="0">
                <a:solidFill>
                  <a:srgbClr val="5C6B62"/>
                </a:solidFill>
                <a:latin typeface="Arial"/>
              </a:rPr>
              <a:t>GAP</a:t>
            </a:r>
          </a:p>
        </p:txBody>
      </p:sp>
      <p:sp>
        <p:nvSpPr>
          <p:cNvPr id="56" name="TextBox 55"/>
          <p:cNvSpPr txBox="1"/>
          <p:nvPr/>
        </p:nvSpPr>
        <p:spPr>
          <a:xfrm>
            <a:off x="9107424" y="5431536"/>
            <a:ext cx="1243584" cy="237744"/>
          </a:xfrm>
          <a:prstGeom prst="rect">
            <a:avLst/>
          </a:prstGeom>
          <a:noFill/>
        </p:spPr>
        <p:txBody>
          <a:bodyPr wrap="none" lIns="18288" rIns="18288" tIns="0" bIns="0">
            <a:spAutoFit/>
          </a:bodyPr>
          <a:lstStyle/>
          <a:p>
            <a:pPr algn="ctr"/>
            <a:r>
              <a:rPr sz="1050" b="1" i="0">
                <a:solidFill>
                  <a:srgbClr val="31633D"/>
                </a:solidFill>
                <a:latin typeface="Arial"/>
              </a:rPr>
              <a:t>+26 days</a:t>
            </a:r>
          </a:p>
        </p:txBody>
      </p:sp>
      <p:sp>
        <p:nvSpPr>
          <p:cNvPr id="57" name="Rectangle 56"/>
          <p:cNvSpPr/>
          <p:nvPr/>
        </p:nvSpPr>
        <p:spPr>
          <a:xfrm>
            <a:off x="10387584" y="5248656"/>
            <a:ext cx="1243584" cy="475488"/>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58" name="TextBox 57"/>
          <p:cNvSpPr txBox="1"/>
          <p:nvPr/>
        </p:nvSpPr>
        <p:spPr>
          <a:xfrm>
            <a:off x="10387584" y="5285232"/>
            <a:ext cx="1243584" cy="146304"/>
          </a:xfrm>
          <a:prstGeom prst="rect">
            <a:avLst/>
          </a:prstGeom>
          <a:noFill/>
        </p:spPr>
        <p:txBody>
          <a:bodyPr wrap="none" lIns="18288" rIns="18288" tIns="0" bIns="0">
            <a:spAutoFit/>
          </a:bodyPr>
          <a:lstStyle/>
          <a:p>
            <a:pPr algn="ctr"/>
            <a:r>
              <a:rPr sz="600" b="1" i="0">
                <a:solidFill>
                  <a:srgbClr val="5C6B62"/>
                </a:solidFill>
                <a:latin typeface="Arial"/>
              </a:rPr>
              <a:t>VERDICT</a:t>
            </a:r>
          </a:p>
        </p:txBody>
      </p:sp>
      <p:sp>
        <p:nvSpPr>
          <p:cNvPr id="59" name="TextBox 58"/>
          <p:cNvSpPr txBox="1"/>
          <p:nvPr/>
        </p:nvSpPr>
        <p:spPr>
          <a:xfrm>
            <a:off x="10387584" y="5431536"/>
            <a:ext cx="1243584" cy="237744"/>
          </a:xfrm>
          <a:prstGeom prst="rect">
            <a:avLst/>
          </a:prstGeom>
          <a:noFill/>
        </p:spPr>
        <p:txBody>
          <a:bodyPr wrap="none" lIns="18288" rIns="18288" tIns="0" bIns="0">
            <a:spAutoFit/>
          </a:bodyPr>
          <a:lstStyle/>
          <a:p>
            <a:pPr algn="ctr"/>
            <a:r>
              <a:rPr sz="1050" b="1" i="0">
                <a:solidFill>
                  <a:srgbClr val="C0392B"/>
                </a:solidFill>
                <a:latin typeface="Arial"/>
              </a:rPr>
              <a:t>Likely Wrong</a:t>
            </a:r>
          </a:p>
        </p:txBody>
      </p:sp>
      <p:sp>
        <p:nvSpPr>
          <p:cNvPr id="60" name="TextBox 59"/>
          <p:cNvSpPr txBox="1"/>
          <p:nvPr/>
        </p:nvSpPr>
        <p:spPr>
          <a:xfrm>
            <a:off x="6565392" y="5760720"/>
            <a:ext cx="5102352" cy="219456"/>
          </a:xfrm>
          <a:prstGeom prst="rect">
            <a:avLst/>
          </a:prstGeom>
          <a:noFill/>
        </p:spPr>
        <p:txBody>
          <a:bodyPr wrap="square" lIns="45720" rIns="45720" tIns="18288" bIns="18288">
            <a:spAutoFit/>
          </a:bodyPr>
          <a:lstStyle/>
          <a:p>
            <a:pPr algn="l">
              <a:lnSpc>
                <a:spcPct val="106000"/>
              </a:lnSpc>
            </a:pPr>
            <a:r>
              <a:rPr sz="750" b="0" i="0">
                <a:solidFill>
                  <a:srgbClr val="5C6B62"/>
                </a:solidFill>
                <a:latin typeface="Arial"/>
              </a:rPr>
              <a:t>Collection is somewhere between 14 Aug and 9 Sep. Confirm it and put that date in the Zalo tag.</a:t>
            </a:r>
          </a:p>
        </p:txBody>
      </p:sp>
      <p:sp>
        <p:nvSpPr>
          <p:cNvPr id="61" name="Rectangle 60"/>
          <p:cNvSpPr/>
          <p:nvPr/>
        </p:nvSpPr>
        <p:spPr>
          <a:xfrm>
            <a:off x="502920" y="5998464"/>
            <a:ext cx="64008" cy="438912"/>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62" name="Rectangle 61"/>
          <p:cNvSpPr/>
          <p:nvPr/>
        </p:nvSpPr>
        <p:spPr>
          <a:xfrm>
            <a:off x="566928" y="5998464"/>
            <a:ext cx="11119104" cy="438912"/>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46304" rIns="109728"/>
          <a:lstStyle/>
          <a:p>
            <a:pPr algn="l"/>
            <a:r>
              <a:rPr sz="1050" b="1" i="0">
                <a:solidFill>
                  <a:srgbClr val="31633D"/>
                </a:solidFill>
                <a:latin typeface="Arial"/>
              </a:rPr>
              <a:t>Copy her D1, her care question and her recheck. Add a CD+3-5 check-in, ask for the referral, and confirm the collection date.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 name="TextBox 2"/>
          <p:cNvSpPr txBox="1"/>
          <p:nvPr/>
        </p:nvSpPr>
        <p:spPr>
          <a:xfrm>
            <a:off x="502920" y="228600"/>
            <a:ext cx="9692640" cy="228600"/>
          </a:xfrm>
          <a:prstGeom prst="rect">
            <a:avLst/>
          </a:prstGeom>
          <a:noFill/>
        </p:spPr>
        <p:txBody>
          <a:bodyPr wrap="square" lIns="45720" rIns="45720" tIns="18288" bIns="18288">
            <a:spAutoFit/>
          </a:bodyPr>
          <a:lstStyle/>
          <a:p>
            <a:pPr algn="l"/>
            <a:r>
              <a:rPr sz="950" b="1" i="0">
                <a:solidFill>
                  <a:srgbClr val="2E9C4C"/>
                </a:solidFill>
                <a:latin typeface="Arial"/>
              </a:rPr>
              <a:t>4. CASE REVIEW   |   CTE D5</a:t>
            </a:r>
          </a:p>
        </p:txBody>
      </p:sp>
      <p:sp>
        <p:nvSpPr>
          <p:cNvPr id="4" name="TextBox 3"/>
          <p:cNvSpPr txBox="1"/>
          <p:nvPr/>
        </p:nvSpPr>
        <p:spPr>
          <a:xfrm>
            <a:off x="502920" y="493776"/>
            <a:ext cx="11247120" cy="640080"/>
          </a:xfrm>
          <a:prstGeom prst="rect">
            <a:avLst/>
          </a:prstGeom>
          <a:noFill/>
        </p:spPr>
        <p:txBody>
          <a:bodyPr wrap="square" lIns="45720" rIns="45720" tIns="18288" bIns="18288">
            <a:spAutoFit/>
          </a:bodyPr>
          <a:lstStyle/>
          <a:p>
            <a:pPr algn="l"/>
            <a:r>
              <a:rPr sz="2000" b="1" i="0">
                <a:solidFill>
                  <a:srgbClr val="31633D"/>
                </a:solidFill>
                <a:latin typeface="Arial"/>
              </a:rPr>
              <a:t>CTE D5 — the benefits message arrived, and nothing else did</a:t>
            </a:r>
          </a:p>
        </p:txBody>
      </p:sp>
      <p:sp>
        <p:nvSpPr>
          <p:cNvPr id="5" name="Rectangle 4"/>
          <p:cNvSpPr/>
          <p:nvPr/>
        </p:nvSpPr>
        <p:spPr>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6" name="TextBox 5"/>
          <p:cNvSpPr txBox="1"/>
          <p:nvPr/>
        </p:nvSpPr>
        <p:spPr>
          <a:xfrm>
            <a:off x="502920" y="6455664"/>
            <a:ext cx="5486400" cy="237744"/>
          </a:xfrm>
          <a:prstGeom prst="rect">
            <a:avLst/>
          </a:prstGeom>
          <a:noFill/>
        </p:spPr>
        <p:txBody>
          <a:bodyPr wrap="square" lIns="45720" rIns="45720" tIns="18288" bIns="18288">
            <a:spAutoFit/>
          </a:bodyPr>
          <a:lstStyle/>
          <a:p>
            <a:pPr algn="l"/>
            <a:r>
              <a:rPr sz="800" b="0" i="0">
                <a:solidFill>
                  <a:srgbClr val="5C6B62"/>
                </a:solidFill>
                <a:latin typeface="Arial"/>
              </a:rPr>
              <a:t>Mắt Sài Gòn  |  Optometry DA Training</a:t>
            </a:r>
          </a:p>
        </p:txBody>
      </p:sp>
      <p:sp>
        <p:nvSpPr>
          <p:cNvPr id="7" name="TextBox 6"/>
          <p:cNvSpPr txBox="1"/>
          <p:nvPr/>
        </p:nvSpPr>
        <p:spPr>
          <a:xfrm>
            <a:off x="10972800" y="6455664"/>
            <a:ext cx="713232" cy="237744"/>
          </a:xfrm>
          <a:prstGeom prst="rect">
            <a:avLst/>
          </a:prstGeom>
          <a:noFill/>
        </p:spPr>
        <p:txBody>
          <a:bodyPr wrap="square" lIns="45720" rIns="45720" tIns="18288" bIns="18288">
            <a:spAutoFit/>
          </a:bodyPr>
          <a:lstStyle/>
          <a:p>
            <a:pPr algn="r"/>
            <a:r>
              <a:rPr sz="800" b="1" i="0">
                <a:solidFill>
                  <a:srgbClr val="5C6B62"/>
                </a:solidFill>
                <a:latin typeface="Arial"/>
              </a:rPr>
              <a:t>6</a:t>
            </a:r>
          </a:p>
        </p:txBody>
      </p:sp>
      <p:sp>
        <p:nvSpPr>
          <p:cNvPr id="8" name="Rectangle 7"/>
          <p:cNvSpPr/>
          <p:nvPr/>
        </p:nvSpPr>
        <p:spPr>
          <a:xfrm>
            <a:off x="502920" y="1280160"/>
            <a:ext cx="11183112" cy="310896"/>
          </a:xfrm>
          <a:prstGeom prst="rect">
            <a:avLst/>
          </a:prstGeom>
          <a:solidFill>
            <a:srgbClr val="FDECE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28016" rIns="109728"/>
          <a:lstStyle/>
          <a:p>
            <a:pPr algn="l"/>
            <a:r>
              <a:rPr sz="950" b="1" i="0">
                <a:solidFill>
                  <a:srgbClr val="C0392B"/>
                </a:solidFill>
                <a:latin typeface="Arial"/>
              </a:rPr>
              <a:t>MCY-260817  Chị Minh · Huỳnh Trí Thành   ·   </a:t>
            </a:r>
            <a:r>
              <a:rPr sz="950" b="0" i="0">
                <a:solidFill>
                  <a:srgbClr val="5C6B62"/>
                </a:solidFill>
                <a:latin typeface="Arial"/>
              </a:rPr>
              <a:t>MC · myopia control  ·  CTE D5  ·  three contacts between 5 and 20 August</a:t>
            </a:r>
          </a:p>
        </p:txBody>
      </p:sp>
      <p:sp>
        <p:nvSpPr>
          <p:cNvPr id="9" name="Rectangle 8"/>
          <p:cNvSpPr/>
          <p:nvPr/>
        </p:nvSpPr>
        <p:spPr>
          <a:xfrm>
            <a:off x="502920" y="1700784"/>
            <a:ext cx="5888736" cy="4242816"/>
          </a:xfrm>
          <a:prstGeom prst="rect">
            <a:avLst/>
          </a:prstGeom>
          <a:solidFill>
            <a:srgbClr val="F7F8F7"/>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pic>
        <p:nvPicPr>
          <p:cNvPr id="10" name="Picture 9" descr="Screenshot 2026-09-23 193214.png"/>
          <p:cNvPicPr>
            <a:picLocks noChangeAspect="1"/>
          </p:cNvPicPr>
          <p:nvPr/>
        </p:nvPicPr>
        <p:blipFill>
          <a:blip r:embed="rId2"/>
          <a:srcRect b="6600"/>
          <a:stretch>
            <a:fillRect/>
          </a:stretch>
        </p:blipFill>
        <p:spPr>
          <a:xfrm>
            <a:off x="936802" y="1700784"/>
            <a:ext cx="5020970" cy="4242816"/>
          </a:xfrm>
          <a:prstGeom prst="rect">
            <a:avLst/>
          </a:prstGeom>
        </p:spPr>
      </p:pic>
      <p:sp>
        <p:nvSpPr>
          <p:cNvPr id="11" name="Rectangle 10"/>
          <p:cNvSpPr/>
          <p:nvPr/>
        </p:nvSpPr>
        <p:spPr>
          <a:xfrm>
            <a:off x="1188720" y="1938528"/>
            <a:ext cx="3657600" cy="329184"/>
          </a:xfrm>
          <a:prstGeom prst="rect">
            <a:avLst/>
          </a:prstGeom>
          <a:solidFill>
            <a:srgbClr val="FDECEA"/>
          </a:solidFill>
          <a:ln w="12700">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73152" rIns="73152"/>
          <a:lstStyle/>
          <a:p>
            <a:pPr algn="ctr">
              <a:lnSpc>
                <a:spcPct val="104000"/>
              </a:lnSpc>
            </a:pPr>
            <a:r>
              <a:rPr sz="800" b="1" i="0">
                <a:solidFill>
                  <a:srgbClr val="C0392B"/>
                </a:solidFill>
                <a:latin typeface="Arial"/>
              </a:rPr>
              <a:t>13 days with no message — 7 August to 20 August</a:t>
            </a:r>
          </a:p>
        </p:txBody>
      </p:sp>
      <p:sp>
        <p:nvSpPr>
          <p:cNvPr id="12" name="Rectangle 11"/>
          <p:cNvSpPr/>
          <p:nvPr/>
        </p:nvSpPr>
        <p:spPr>
          <a:xfrm>
            <a:off x="6547104" y="1700784"/>
            <a:ext cx="5138928" cy="310896"/>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09728"/>
          <a:lstStyle/>
          <a:p>
            <a:pPr algn="l"/>
            <a:r>
              <a:rPr sz="1050" b="1" i="0">
                <a:solidFill>
                  <a:srgbClr val="FFFFFF"/>
                </a:solidFill>
                <a:latin typeface="Arial"/>
              </a:rPr>
              <a:t>What was sent against what was due</a:t>
            </a:r>
          </a:p>
        </p:txBody>
      </p:sp>
      <p:sp>
        <p:nvSpPr>
          <p:cNvPr id="13" name="Rectangle 12"/>
          <p:cNvSpPr/>
          <p:nvPr/>
        </p:nvSpPr>
        <p:spPr>
          <a:xfrm>
            <a:off x="6547104" y="2029968"/>
            <a:ext cx="5138928" cy="1682496"/>
          </a:xfrm>
          <a:prstGeom prst="rect">
            <a:avLst/>
          </a:prstGeom>
          <a:solidFill>
            <a:srgbClr val="FDECEA"/>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4" name="TextBox 13"/>
          <p:cNvSpPr txBox="1"/>
          <p:nvPr/>
        </p:nvSpPr>
        <p:spPr>
          <a:xfrm>
            <a:off x="6693408" y="2093976"/>
            <a:ext cx="4846320" cy="1554480"/>
          </a:xfrm>
          <a:prstGeom prst="rect">
            <a:avLst/>
          </a:prstGeom>
          <a:noFill/>
        </p:spPr>
        <p:txBody>
          <a:bodyPr wrap="square" lIns="45720" rIns="45720" tIns="18288" bIns="18288" anchor="ctr">
            <a:spAutoFit/>
          </a:bodyPr>
          <a:lstStyle/>
          <a:p>
            <a:pPr algn="l">
              <a:lnSpc>
                <a:spcPct val="105000"/>
              </a:lnSpc>
              <a:spcAft>
                <a:spcPts val="250"/>
              </a:spcAft>
            </a:pPr>
            <a:r>
              <a:rPr sz="800" b="1" i="0">
                <a:solidFill>
                  <a:srgbClr val="C0392B"/>
                </a:solidFill>
                <a:latin typeface="Arial"/>
              </a:rPr>
              <a:t>5 Aug · D1   </a:t>
            </a:r>
            <a:r>
              <a:rPr sz="800" b="0" i="0">
                <a:solidFill>
                  <a:srgbClr val="5C6B62"/>
                </a:solidFill>
                <a:latin typeface="Arial"/>
              </a:rPr>
              <a:t>Introduction sent: name, role and phone number, and the offer to accompany the child’s eye care. But nothing at all about the glasses — no estimate, no next step. Half of D1.</a:t>
            </a:r>
          </a:p>
          <a:p>
            <a:pPr algn="l">
              <a:lnSpc>
                <a:spcPct val="105000"/>
              </a:lnSpc>
              <a:spcAft>
                <a:spcPts val="250"/>
              </a:spcAft>
            </a:pPr>
            <a:r>
              <a:rPr sz="800" b="1" i="0">
                <a:solidFill>
                  <a:srgbClr val="C0392B"/>
                </a:solidFill>
                <a:latin typeface="Arial"/>
              </a:rPr>
              <a:t>11–12 Aug · D6-7   </a:t>
            </a:r>
            <a:r>
              <a:rPr sz="800" b="0" i="0">
                <a:solidFill>
                  <a:srgbClr val="5C6B62"/>
                </a:solidFill>
                <a:latin typeface="Arial"/>
              </a:rPr>
              <a:t>Nothing. No production update, ready or not ready. Two phone calls on 7 August, nothing in writing the parent can read back.</a:t>
            </a:r>
          </a:p>
          <a:p>
            <a:pPr algn="l">
              <a:lnSpc>
                <a:spcPct val="105000"/>
              </a:lnSpc>
              <a:spcAft>
                <a:spcPts val="250"/>
              </a:spcAft>
            </a:pPr>
            <a:r>
              <a:rPr sz="800" b="1" i="0">
                <a:solidFill>
                  <a:srgbClr val="C0392B"/>
                </a:solidFill>
                <a:latin typeface="Arial"/>
              </a:rPr>
              <a:t>20 Aug · CD   </a:t>
            </a:r>
            <a:r>
              <a:rPr sz="800" b="0" i="0">
                <a:solidFill>
                  <a:srgbClr val="5C6B62"/>
                </a:solidFill>
                <a:latin typeface="Arial"/>
              </a:rPr>
              <a:t>Membership benefits, sent unprompted and with no usage instructions before them. Benefits belong on collection day, after the customer replies.</a:t>
            </a:r>
          </a:p>
          <a:p>
            <a:pPr algn="l">
              <a:lnSpc>
                <a:spcPct val="105000"/>
              </a:lnSpc>
              <a:spcAft>
                <a:spcPts val="0"/>
              </a:spcAft>
            </a:pPr>
            <a:r>
              <a:rPr sz="800" b="1" i="0">
                <a:solidFill>
                  <a:srgbClr val="C0392B"/>
                </a:solidFill>
                <a:latin typeface="Arial"/>
              </a:rPr>
              <a:t>After 20 Aug   </a:t>
            </a:r>
            <a:r>
              <a:rPr sz="800" b="0" i="0">
                <a:solidFill>
                  <a:srgbClr val="5C6B62"/>
                </a:solidFill>
                <a:latin typeface="Arial"/>
              </a:rPr>
              <a:t>Nothing. CD+3-5, CD+14 and CD+30 were never sent.</a:t>
            </a:r>
          </a:p>
        </p:txBody>
      </p:sp>
      <p:sp>
        <p:nvSpPr>
          <p:cNvPr id="15" name="Rectangle 14"/>
          <p:cNvSpPr/>
          <p:nvPr/>
        </p:nvSpPr>
        <p:spPr>
          <a:xfrm>
            <a:off x="6547104" y="3767328"/>
            <a:ext cx="5138928" cy="274320"/>
          </a:xfrm>
          <a:prstGeom prst="rect">
            <a:avLst/>
          </a:prstGeom>
          <a:solidFill>
            <a:srgbClr val="31633D"/>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09728"/>
          <a:lstStyle/>
          <a:p>
            <a:pPr algn="l"/>
            <a:r>
              <a:rPr sz="950" b="1" i="0">
                <a:solidFill>
                  <a:srgbClr val="FFFFFF"/>
                </a:solidFill>
                <a:latin typeface="Arial"/>
              </a:rPr>
              <a:t>CADENCE CHECK</a:t>
            </a:r>
            <a:r>
              <a:rPr sz="850" b="0" i="0">
                <a:solidFill>
                  <a:srgbClr val="CFE6D8"/>
                </a:solidFill>
                <a:latin typeface="Arial"/>
              </a:rPr>
              <a:t>     what was due for </a:t>
            </a:r>
            <a:r>
              <a:rPr sz="850" b="1" i="0">
                <a:solidFill>
                  <a:srgbClr val="FFFFFF"/>
                </a:solidFill>
                <a:latin typeface="Arial"/>
              </a:rPr>
              <a:t>MC</a:t>
            </a:r>
          </a:p>
        </p:txBody>
      </p:sp>
      <p:sp>
        <p:nvSpPr>
          <p:cNvPr id="16" name="Rectangle 15"/>
          <p:cNvSpPr/>
          <p:nvPr/>
        </p:nvSpPr>
        <p:spPr>
          <a:xfrm>
            <a:off x="6547104" y="4078224"/>
            <a:ext cx="1101851" cy="182880"/>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9144" rIns="9144"/>
          <a:lstStyle/>
          <a:p>
            <a:pPr algn="ctr"/>
            <a:r>
              <a:rPr sz="600" b="1" i="0">
                <a:solidFill>
                  <a:srgbClr val="31633D"/>
                </a:solidFill>
                <a:latin typeface="Arial"/>
              </a:rPr>
              <a:t>BEFORE COLLECTION</a:t>
            </a:r>
          </a:p>
        </p:txBody>
      </p:sp>
      <p:sp>
        <p:nvSpPr>
          <p:cNvPr id="17" name="Rectangle 16"/>
          <p:cNvSpPr/>
          <p:nvPr/>
        </p:nvSpPr>
        <p:spPr>
          <a:xfrm>
            <a:off x="7690104" y="4078224"/>
            <a:ext cx="1673351" cy="182880"/>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9144" rIns="9144"/>
          <a:lstStyle/>
          <a:p>
            <a:pPr algn="ctr"/>
            <a:r>
              <a:rPr sz="600" b="1" i="0">
                <a:solidFill>
                  <a:srgbClr val="31633D"/>
                </a:solidFill>
                <a:latin typeface="Arial"/>
              </a:rPr>
              <a:t>CD  ·  COLLECTION DAY</a:t>
            </a:r>
          </a:p>
        </p:txBody>
      </p:sp>
      <p:sp>
        <p:nvSpPr>
          <p:cNvPr id="18" name="Rectangle 17"/>
          <p:cNvSpPr/>
          <p:nvPr/>
        </p:nvSpPr>
        <p:spPr>
          <a:xfrm>
            <a:off x="9404604" y="4078224"/>
            <a:ext cx="2244852" cy="182880"/>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9144" rIns="9144"/>
          <a:lstStyle/>
          <a:p>
            <a:pPr algn="ctr"/>
            <a:r>
              <a:rPr sz="600" b="1" i="0">
                <a:solidFill>
                  <a:srgbClr val="31633D"/>
                </a:solidFill>
                <a:latin typeface="Arial"/>
              </a:rPr>
              <a:t>AFTER COLLECTION</a:t>
            </a:r>
          </a:p>
        </p:txBody>
      </p:sp>
      <p:sp>
        <p:nvSpPr>
          <p:cNvPr id="19" name="Rectangle 18"/>
          <p:cNvSpPr/>
          <p:nvPr/>
        </p:nvSpPr>
        <p:spPr>
          <a:xfrm>
            <a:off x="6547104" y="4279392"/>
            <a:ext cx="530352" cy="420624"/>
          </a:xfrm>
          <a:prstGeom prst="rect">
            <a:avLst/>
          </a:prstGeom>
          <a:solidFill>
            <a:srgbClr val="FDF6E3"/>
          </a:solidFill>
          <a:ln w="9525">
            <a:solidFill>
              <a:srgbClr val="B9770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0" name="TextBox 19"/>
          <p:cNvSpPr txBox="1"/>
          <p:nvPr/>
        </p:nvSpPr>
        <p:spPr>
          <a:xfrm>
            <a:off x="6547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D1</a:t>
            </a:r>
          </a:p>
        </p:txBody>
      </p:sp>
      <p:sp>
        <p:nvSpPr>
          <p:cNvPr id="21" name="TextBox 20"/>
          <p:cNvSpPr txBox="1"/>
          <p:nvPr/>
        </p:nvSpPr>
        <p:spPr>
          <a:xfrm>
            <a:off x="6547104" y="4462272"/>
            <a:ext cx="530352" cy="219456"/>
          </a:xfrm>
          <a:prstGeom prst="rect">
            <a:avLst/>
          </a:prstGeom>
          <a:noFill/>
        </p:spPr>
        <p:txBody>
          <a:bodyPr wrap="none" lIns="9144" rIns="9144" tIns="0" bIns="0">
            <a:spAutoFit/>
          </a:bodyPr>
          <a:lstStyle/>
          <a:p>
            <a:pPr algn="ctr"/>
            <a:r>
              <a:rPr sz="1100" b="1" i="0">
                <a:solidFill>
                  <a:srgbClr val="B9770B"/>
                </a:solidFill>
                <a:latin typeface="Arial"/>
              </a:rPr>
              <a:t>~</a:t>
            </a:r>
          </a:p>
        </p:txBody>
      </p:sp>
      <p:sp>
        <p:nvSpPr>
          <p:cNvPr id="22" name="Rectangle 21"/>
          <p:cNvSpPr/>
          <p:nvPr/>
        </p:nvSpPr>
        <p:spPr>
          <a:xfrm>
            <a:off x="71186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3" name="TextBox 22"/>
          <p:cNvSpPr txBox="1"/>
          <p:nvPr/>
        </p:nvSpPr>
        <p:spPr>
          <a:xfrm>
            <a:off x="71186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D6-7</a:t>
            </a:r>
          </a:p>
        </p:txBody>
      </p:sp>
      <p:sp>
        <p:nvSpPr>
          <p:cNvPr id="24" name="TextBox 23"/>
          <p:cNvSpPr txBox="1"/>
          <p:nvPr/>
        </p:nvSpPr>
        <p:spPr>
          <a:xfrm>
            <a:off x="71186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25" name="Rectangle 24"/>
          <p:cNvSpPr/>
          <p:nvPr/>
        </p:nvSpPr>
        <p:spPr>
          <a:xfrm>
            <a:off x="76901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6" name="TextBox 25"/>
          <p:cNvSpPr txBox="1"/>
          <p:nvPr/>
        </p:nvSpPr>
        <p:spPr>
          <a:xfrm>
            <a:off x="7690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USAGE</a:t>
            </a:r>
          </a:p>
        </p:txBody>
      </p:sp>
      <p:sp>
        <p:nvSpPr>
          <p:cNvPr id="27" name="TextBox 26"/>
          <p:cNvSpPr txBox="1"/>
          <p:nvPr/>
        </p:nvSpPr>
        <p:spPr>
          <a:xfrm>
            <a:off x="76901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28" name="Rectangle 27"/>
          <p:cNvSpPr/>
          <p:nvPr/>
        </p:nvSpPr>
        <p:spPr>
          <a:xfrm>
            <a:off x="8261604" y="4279392"/>
            <a:ext cx="530352" cy="420624"/>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9" name="TextBox 28"/>
          <p:cNvSpPr txBox="1"/>
          <p:nvPr/>
        </p:nvSpPr>
        <p:spPr>
          <a:xfrm>
            <a:off x="82616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BENEFITS</a:t>
            </a:r>
          </a:p>
        </p:txBody>
      </p:sp>
      <p:sp>
        <p:nvSpPr>
          <p:cNvPr id="30" name="TextBox 29"/>
          <p:cNvSpPr txBox="1"/>
          <p:nvPr/>
        </p:nvSpPr>
        <p:spPr>
          <a:xfrm>
            <a:off x="8261604" y="4462272"/>
            <a:ext cx="530352" cy="219456"/>
          </a:xfrm>
          <a:prstGeom prst="rect">
            <a:avLst/>
          </a:prstGeom>
          <a:noFill/>
        </p:spPr>
        <p:txBody>
          <a:bodyPr wrap="none" lIns="9144" rIns="9144" tIns="0" bIns="0">
            <a:spAutoFit/>
          </a:bodyPr>
          <a:lstStyle/>
          <a:p>
            <a:pPr algn="ctr"/>
            <a:r>
              <a:rPr sz="1100" b="1" i="0">
                <a:solidFill>
                  <a:srgbClr val="2E9C4C"/>
                </a:solidFill>
                <a:latin typeface="Arial"/>
              </a:rPr>
              <a:t>✓</a:t>
            </a:r>
          </a:p>
        </p:txBody>
      </p:sp>
      <p:sp>
        <p:nvSpPr>
          <p:cNvPr id="31" name="Rectangle 30"/>
          <p:cNvSpPr/>
          <p:nvPr/>
        </p:nvSpPr>
        <p:spPr>
          <a:xfrm>
            <a:off x="8833104" y="4279392"/>
            <a:ext cx="530352" cy="420624"/>
          </a:xfrm>
          <a:prstGeom prst="rect">
            <a:avLst/>
          </a:prstGeom>
          <a:solidFill>
            <a:srgbClr val="FDF6E3"/>
          </a:solidFill>
          <a:ln w="9525">
            <a:solidFill>
              <a:srgbClr val="B9770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2" name="TextBox 31"/>
          <p:cNvSpPr txBox="1"/>
          <p:nvPr/>
        </p:nvSpPr>
        <p:spPr>
          <a:xfrm>
            <a:off x="8833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REFERRAL</a:t>
            </a:r>
          </a:p>
        </p:txBody>
      </p:sp>
      <p:sp>
        <p:nvSpPr>
          <p:cNvPr id="33" name="TextBox 32"/>
          <p:cNvSpPr txBox="1"/>
          <p:nvPr/>
        </p:nvSpPr>
        <p:spPr>
          <a:xfrm>
            <a:off x="8833104" y="4462272"/>
            <a:ext cx="530352" cy="219456"/>
          </a:xfrm>
          <a:prstGeom prst="rect">
            <a:avLst/>
          </a:prstGeom>
          <a:noFill/>
        </p:spPr>
        <p:txBody>
          <a:bodyPr wrap="none" lIns="9144" rIns="9144" tIns="0" bIns="0">
            <a:spAutoFit/>
          </a:bodyPr>
          <a:lstStyle/>
          <a:p>
            <a:pPr algn="ctr"/>
            <a:r>
              <a:rPr sz="1100" b="1" i="0">
                <a:solidFill>
                  <a:srgbClr val="B9770B"/>
                </a:solidFill>
                <a:latin typeface="Arial"/>
              </a:rPr>
              <a:t>~</a:t>
            </a:r>
          </a:p>
        </p:txBody>
      </p:sp>
      <p:sp>
        <p:nvSpPr>
          <p:cNvPr id="34" name="Rectangle 33"/>
          <p:cNvSpPr/>
          <p:nvPr/>
        </p:nvSpPr>
        <p:spPr>
          <a:xfrm>
            <a:off x="94046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5" name="TextBox 34"/>
          <p:cNvSpPr txBox="1"/>
          <p:nvPr/>
        </p:nvSpPr>
        <p:spPr>
          <a:xfrm>
            <a:off x="94046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CD+3-5</a:t>
            </a:r>
          </a:p>
        </p:txBody>
      </p:sp>
      <p:sp>
        <p:nvSpPr>
          <p:cNvPr id="36" name="TextBox 35"/>
          <p:cNvSpPr txBox="1"/>
          <p:nvPr/>
        </p:nvSpPr>
        <p:spPr>
          <a:xfrm>
            <a:off x="94046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37" name="Rectangle 36"/>
          <p:cNvSpPr/>
          <p:nvPr/>
        </p:nvSpPr>
        <p:spPr>
          <a:xfrm>
            <a:off x="9976104" y="4279392"/>
            <a:ext cx="530352" cy="420624"/>
          </a:xfrm>
          <a:prstGeom prst="rect">
            <a:avLst/>
          </a:prstGeom>
          <a:solidFill>
            <a:srgbClr val="F7F8F7"/>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8" name="TextBox 37"/>
          <p:cNvSpPr txBox="1"/>
          <p:nvPr/>
        </p:nvSpPr>
        <p:spPr>
          <a:xfrm>
            <a:off x="9976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CD+7</a:t>
            </a:r>
          </a:p>
        </p:txBody>
      </p:sp>
      <p:sp>
        <p:nvSpPr>
          <p:cNvPr id="39" name="TextBox 38"/>
          <p:cNvSpPr txBox="1"/>
          <p:nvPr/>
        </p:nvSpPr>
        <p:spPr>
          <a:xfrm>
            <a:off x="9976104" y="4462272"/>
            <a:ext cx="530352" cy="219456"/>
          </a:xfrm>
          <a:prstGeom prst="rect">
            <a:avLst/>
          </a:prstGeom>
          <a:noFill/>
        </p:spPr>
        <p:txBody>
          <a:bodyPr wrap="none" lIns="9144" rIns="9144" tIns="0" bIns="0">
            <a:spAutoFit/>
          </a:bodyPr>
          <a:lstStyle/>
          <a:p>
            <a:pPr algn="ctr"/>
            <a:r>
              <a:rPr sz="950" b="1" i="0">
                <a:solidFill>
                  <a:srgbClr val="5C6B62"/>
                </a:solidFill>
                <a:latin typeface="Arial"/>
              </a:rPr>
              <a:t>n/a</a:t>
            </a:r>
          </a:p>
        </p:txBody>
      </p:sp>
      <p:sp>
        <p:nvSpPr>
          <p:cNvPr id="40" name="Rectangle 39"/>
          <p:cNvSpPr/>
          <p:nvPr/>
        </p:nvSpPr>
        <p:spPr>
          <a:xfrm>
            <a:off x="105476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1" name="TextBox 40"/>
          <p:cNvSpPr txBox="1"/>
          <p:nvPr/>
        </p:nvSpPr>
        <p:spPr>
          <a:xfrm>
            <a:off x="105476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CD+14</a:t>
            </a:r>
          </a:p>
        </p:txBody>
      </p:sp>
      <p:sp>
        <p:nvSpPr>
          <p:cNvPr id="42" name="TextBox 41"/>
          <p:cNvSpPr txBox="1"/>
          <p:nvPr/>
        </p:nvSpPr>
        <p:spPr>
          <a:xfrm>
            <a:off x="105476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43" name="Rectangle 42"/>
          <p:cNvSpPr/>
          <p:nvPr/>
        </p:nvSpPr>
        <p:spPr>
          <a:xfrm>
            <a:off x="111191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4" name="TextBox 43"/>
          <p:cNvSpPr txBox="1"/>
          <p:nvPr/>
        </p:nvSpPr>
        <p:spPr>
          <a:xfrm>
            <a:off x="11119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CD+30</a:t>
            </a:r>
          </a:p>
        </p:txBody>
      </p:sp>
      <p:sp>
        <p:nvSpPr>
          <p:cNvPr id="45" name="TextBox 44"/>
          <p:cNvSpPr txBox="1"/>
          <p:nvPr/>
        </p:nvSpPr>
        <p:spPr>
          <a:xfrm>
            <a:off x="111191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46" name="TextBox 45"/>
          <p:cNvSpPr txBox="1"/>
          <p:nvPr/>
        </p:nvSpPr>
        <p:spPr>
          <a:xfrm>
            <a:off x="6547104" y="4718304"/>
            <a:ext cx="5138928" cy="164592"/>
          </a:xfrm>
          <a:prstGeom prst="rect">
            <a:avLst/>
          </a:prstGeom>
          <a:noFill/>
        </p:spPr>
        <p:txBody>
          <a:bodyPr wrap="square" lIns="18288" rIns="18288" tIns="0" bIns="0">
            <a:spAutoFit/>
          </a:bodyPr>
          <a:lstStyle/>
          <a:p>
            <a:pPr algn="l"/>
            <a:r>
              <a:rPr sz="700" b="1" i="0">
                <a:solidFill>
                  <a:srgbClr val="2E9C4C"/>
                </a:solidFill>
                <a:latin typeface="Arial"/>
              </a:rPr>
              <a:t>✓  done     </a:t>
            </a:r>
            <a:r>
              <a:rPr sz="700" b="1" i="0">
                <a:solidFill>
                  <a:srgbClr val="B9770B"/>
                </a:solidFill>
                <a:latin typeface="Arial"/>
              </a:rPr>
              <a:t>~  partly     </a:t>
            </a:r>
            <a:r>
              <a:rPr sz="700" b="1" i="0">
                <a:solidFill>
                  <a:srgbClr val="C0392B"/>
                </a:solidFill>
                <a:latin typeface="Arial"/>
              </a:rPr>
              <a:t>✕  not done     </a:t>
            </a:r>
            <a:r>
              <a:rPr sz="700" b="1" i="0">
                <a:solidFill>
                  <a:srgbClr val="5C6B62"/>
                </a:solidFill>
                <a:latin typeface="Arial"/>
              </a:rPr>
              <a:t>n/a  not due for this product</a:t>
            </a:r>
          </a:p>
        </p:txBody>
      </p:sp>
      <p:sp>
        <p:nvSpPr>
          <p:cNvPr id="47" name="Rectangle 46"/>
          <p:cNvSpPr/>
          <p:nvPr/>
        </p:nvSpPr>
        <p:spPr>
          <a:xfrm>
            <a:off x="6547104" y="4937760"/>
            <a:ext cx="5138928" cy="274320"/>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09728"/>
          <a:lstStyle/>
          <a:p>
            <a:pPr algn="l"/>
            <a:r>
              <a:rPr sz="950" b="1" i="0">
                <a:solidFill>
                  <a:srgbClr val="FFFFFF"/>
                </a:solidFill>
                <a:latin typeface="Arial"/>
              </a:rPr>
              <a:t>BENEFITS DATE TEST</a:t>
            </a:r>
            <a:r>
              <a:rPr sz="850" b="0" i="0">
                <a:solidFill>
                  <a:srgbClr val="FDECEA"/>
                </a:solidFill>
                <a:latin typeface="Arial"/>
              </a:rPr>
              <a:t>     is the date in the contact name the collection date?</a:t>
            </a:r>
          </a:p>
        </p:txBody>
      </p:sp>
      <p:sp>
        <p:nvSpPr>
          <p:cNvPr id="48" name="Rectangle 47"/>
          <p:cNvSpPr/>
          <p:nvPr/>
        </p:nvSpPr>
        <p:spPr>
          <a:xfrm>
            <a:off x="6547104" y="5248656"/>
            <a:ext cx="1243584" cy="47548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9" name="TextBox 48"/>
          <p:cNvSpPr txBox="1"/>
          <p:nvPr/>
        </p:nvSpPr>
        <p:spPr>
          <a:xfrm>
            <a:off x="6547104" y="5285232"/>
            <a:ext cx="1243584" cy="146304"/>
          </a:xfrm>
          <a:prstGeom prst="rect">
            <a:avLst/>
          </a:prstGeom>
          <a:noFill/>
        </p:spPr>
        <p:txBody>
          <a:bodyPr wrap="none" lIns="18288" rIns="18288" tIns="0" bIns="0">
            <a:spAutoFit/>
          </a:bodyPr>
          <a:lstStyle/>
          <a:p>
            <a:pPr algn="ctr"/>
            <a:r>
              <a:rPr sz="600" b="1" i="0">
                <a:solidFill>
                  <a:srgbClr val="5C6B62"/>
                </a:solidFill>
                <a:latin typeface="Arial"/>
              </a:rPr>
              <a:t>DATE IN NAME</a:t>
            </a:r>
          </a:p>
        </p:txBody>
      </p:sp>
      <p:sp>
        <p:nvSpPr>
          <p:cNvPr id="50" name="TextBox 49"/>
          <p:cNvSpPr txBox="1"/>
          <p:nvPr/>
        </p:nvSpPr>
        <p:spPr>
          <a:xfrm>
            <a:off x="6547104" y="5431536"/>
            <a:ext cx="1243584" cy="237744"/>
          </a:xfrm>
          <a:prstGeom prst="rect">
            <a:avLst/>
          </a:prstGeom>
          <a:noFill/>
        </p:spPr>
        <p:txBody>
          <a:bodyPr wrap="none" lIns="18288" rIns="18288" tIns="0" bIns="0">
            <a:spAutoFit/>
          </a:bodyPr>
          <a:lstStyle/>
          <a:p>
            <a:pPr algn="ctr"/>
            <a:r>
              <a:rPr sz="1050" b="1" i="0">
                <a:solidFill>
                  <a:srgbClr val="31633D"/>
                </a:solidFill>
                <a:latin typeface="Arial"/>
              </a:rPr>
              <a:t>17 Aug</a:t>
            </a:r>
          </a:p>
        </p:txBody>
      </p:sp>
      <p:sp>
        <p:nvSpPr>
          <p:cNvPr id="51" name="Rectangle 50"/>
          <p:cNvSpPr/>
          <p:nvPr/>
        </p:nvSpPr>
        <p:spPr>
          <a:xfrm>
            <a:off x="7827264" y="5248656"/>
            <a:ext cx="1243584" cy="47548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52" name="TextBox 51"/>
          <p:cNvSpPr txBox="1"/>
          <p:nvPr/>
        </p:nvSpPr>
        <p:spPr>
          <a:xfrm>
            <a:off x="7827264" y="5285232"/>
            <a:ext cx="1243584" cy="146304"/>
          </a:xfrm>
          <a:prstGeom prst="rect">
            <a:avLst/>
          </a:prstGeom>
          <a:noFill/>
        </p:spPr>
        <p:txBody>
          <a:bodyPr wrap="none" lIns="18288" rIns="18288" tIns="0" bIns="0">
            <a:spAutoFit/>
          </a:bodyPr>
          <a:lstStyle/>
          <a:p>
            <a:pPr algn="ctr"/>
            <a:r>
              <a:rPr sz="600" b="1" i="0">
                <a:solidFill>
                  <a:srgbClr val="5C6B62"/>
                </a:solidFill>
                <a:latin typeface="Arial"/>
              </a:rPr>
              <a:t>BENEFITS SENT</a:t>
            </a:r>
          </a:p>
        </p:txBody>
      </p:sp>
      <p:sp>
        <p:nvSpPr>
          <p:cNvPr id="53" name="TextBox 52"/>
          <p:cNvSpPr txBox="1"/>
          <p:nvPr/>
        </p:nvSpPr>
        <p:spPr>
          <a:xfrm>
            <a:off x="7827264" y="5431536"/>
            <a:ext cx="1243584" cy="237744"/>
          </a:xfrm>
          <a:prstGeom prst="rect">
            <a:avLst/>
          </a:prstGeom>
          <a:noFill/>
        </p:spPr>
        <p:txBody>
          <a:bodyPr wrap="none" lIns="18288" rIns="18288" tIns="0" bIns="0">
            <a:spAutoFit/>
          </a:bodyPr>
          <a:lstStyle/>
          <a:p>
            <a:pPr algn="ctr"/>
            <a:r>
              <a:rPr sz="1050" b="1" i="0">
                <a:solidFill>
                  <a:srgbClr val="31633D"/>
                </a:solidFill>
                <a:latin typeface="Arial"/>
              </a:rPr>
              <a:t>20 Aug</a:t>
            </a:r>
          </a:p>
        </p:txBody>
      </p:sp>
      <p:sp>
        <p:nvSpPr>
          <p:cNvPr id="54" name="Rectangle 53"/>
          <p:cNvSpPr/>
          <p:nvPr/>
        </p:nvSpPr>
        <p:spPr>
          <a:xfrm>
            <a:off x="9107424" y="5248656"/>
            <a:ext cx="1243584" cy="47548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55" name="TextBox 54"/>
          <p:cNvSpPr txBox="1"/>
          <p:nvPr/>
        </p:nvSpPr>
        <p:spPr>
          <a:xfrm>
            <a:off x="9107424" y="5285232"/>
            <a:ext cx="1243584" cy="146304"/>
          </a:xfrm>
          <a:prstGeom prst="rect">
            <a:avLst/>
          </a:prstGeom>
          <a:noFill/>
        </p:spPr>
        <p:txBody>
          <a:bodyPr wrap="none" lIns="18288" rIns="18288" tIns="0" bIns="0">
            <a:spAutoFit/>
          </a:bodyPr>
          <a:lstStyle/>
          <a:p>
            <a:pPr algn="ctr"/>
            <a:r>
              <a:rPr sz="600" b="1" i="0">
                <a:solidFill>
                  <a:srgbClr val="5C6B62"/>
                </a:solidFill>
                <a:latin typeface="Arial"/>
              </a:rPr>
              <a:t>GAP</a:t>
            </a:r>
          </a:p>
        </p:txBody>
      </p:sp>
      <p:sp>
        <p:nvSpPr>
          <p:cNvPr id="56" name="TextBox 55"/>
          <p:cNvSpPr txBox="1"/>
          <p:nvPr/>
        </p:nvSpPr>
        <p:spPr>
          <a:xfrm>
            <a:off x="9107424" y="5431536"/>
            <a:ext cx="1243584" cy="237744"/>
          </a:xfrm>
          <a:prstGeom prst="rect">
            <a:avLst/>
          </a:prstGeom>
          <a:noFill/>
        </p:spPr>
        <p:txBody>
          <a:bodyPr wrap="none" lIns="18288" rIns="18288" tIns="0" bIns="0">
            <a:spAutoFit/>
          </a:bodyPr>
          <a:lstStyle/>
          <a:p>
            <a:pPr algn="ctr"/>
            <a:r>
              <a:rPr sz="1050" b="1" i="0">
                <a:solidFill>
                  <a:srgbClr val="31633D"/>
                </a:solidFill>
                <a:latin typeface="Arial"/>
              </a:rPr>
              <a:t>+3 days</a:t>
            </a:r>
          </a:p>
        </p:txBody>
      </p:sp>
      <p:sp>
        <p:nvSpPr>
          <p:cNvPr id="57" name="Rectangle 56"/>
          <p:cNvSpPr/>
          <p:nvPr/>
        </p:nvSpPr>
        <p:spPr>
          <a:xfrm>
            <a:off x="10387584" y="5248656"/>
            <a:ext cx="1243584" cy="475488"/>
          </a:xfrm>
          <a:prstGeom prst="rect">
            <a:avLst/>
          </a:prstGeom>
          <a:solidFill>
            <a:srgbClr val="FDF6E3"/>
          </a:solidFill>
          <a:ln w="9525">
            <a:solidFill>
              <a:srgbClr val="B9770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58" name="TextBox 57"/>
          <p:cNvSpPr txBox="1"/>
          <p:nvPr/>
        </p:nvSpPr>
        <p:spPr>
          <a:xfrm>
            <a:off x="10387584" y="5285232"/>
            <a:ext cx="1243584" cy="146304"/>
          </a:xfrm>
          <a:prstGeom prst="rect">
            <a:avLst/>
          </a:prstGeom>
          <a:noFill/>
        </p:spPr>
        <p:txBody>
          <a:bodyPr wrap="none" lIns="18288" rIns="18288" tIns="0" bIns="0">
            <a:spAutoFit/>
          </a:bodyPr>
          <a:lstStyle/>
          <a:p>
            <a:pPr algn="ctr"/>
            <a:r>
              <a:rPr sz="600" b="1" i="0">
                <a:solidFill>
                  <a:srgbClr val="5C6B62"/>
                </a:solidFill>
                <a:latin typeface="Arial"/>
              </a:rPr>
              <a:t>VERDICT</a:t>
            </a:r>
          </a:p>
        </p:txBody>
      </p:sp>
      <p:sp>
        <p:nvSpPr>
          <p:cNvPr id="59" name="TextBox 58"/>
          <p:cNvSpPr txBox="1"/>
          <p:nvPr/>
        </p:nvSpPr>
        <p:spPr>
          <a:xfrm>
            <a:off x="10387584" y="5431536"/>
            <a:ext cx="1243584" cy="237744"/>
          </a:xfrm>
          <a:prstGeom prst="rect">
            <a:avLst/>
          </a:prstGeom>
          <a:noFill/>
        </p:spPr>
        <p:txBody>
          <a:bodyPr wrap="none" lIns="18288" rIns="18288" tIns="0" bIns="0">
            <a:spAutoFit/>
          </a:bodyPr>
          <a:lstStyle/>
          <a:p>
            <a:pPr algn="ctr"/>
            <a:r>
              <a:rPr sz="1050" b="1" i="0">
                <a:solidFill>
                  <a:srgbClr val="B9770B"/>
                </a:solidFill>
                <a:latin typeface="Arial"/>
              </a:rPr>
              <a:t>Uncertain</a:t>
            </a:r>
          </a:p>
        </p:txBody>
      </p:sp>
      <p:sp>
        <p:nvSpPr>
          <p:cNvPr id="60" name="TextBox 59"/>
          <p:cNvSpPr txBox="1"/>
          <p:nvPr/>
        </p:nvSpPr>
        <p:spPr>
          <a:xfrm>
            <a:off x="6565392" y="5760720"/>
            <a:ext cx="5102352" cy="219456"/>
          </a:xfrm>
          <a:prstGeom prst="rect">
            <a:avLst/>
          </a:prstGeom>
          <a:noFill/>
        </p:spPr>
        <p:txBody>
          <a:bodyPr wrap="square" lIns="45720" rIns="45720" tIns="18288" bIns="18288">
            <a:spAutoFit/>
          </a:bodyPr>
          <a:lstStyle/>
          <a:p>
            <a:pPr algn="l">
              <a:lnSpc>
                <a:spcPct val="106000"/>
              </a:lnSpc>
            </a:pPr>
            <a:r>
              <a:rPr sz="750" b="0" i="0">
                <a:solidFill>
                  <a:srgbClr val="5C6B62"/>
                </a:solidFill>
                <a:latin typeface="Arial"/>
              </a:rPr>
              <a:t>Only three days apart. Check this one against the tracker before assuming the name date is right.</a:t>
            </a:r>
          </a:p>
        </p:txBody>
      </p:sp>
      <p:sp>
        <p:nvSpPr>
          <p:cNvPr id="61" name="Rectangle 60"/>
          <p:cNvSpPr/>
          <p:nvPr/>
        </p:nvSpPr>
        <p:spPr>
          <a:xfrm>
            <a:off x="502920" y="5998464"/>
            <a:ext cx="64008" cy="438912"/>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62" name="Rectangle 61"/>
          <p:cNvSpPr/>
          <p:nvPr/>
        </p:nvSpPr>
        <p:spPr>
          <a:xfrm>
            <a:off x="566928" y="5998464"/>
            <a:ext cx="11119104" cy="438912"/>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46304" rIns="109728"/>
          <a:lstStyle/>
          <a:p>
            <a:pPr algn="l"/>
            <a:r>
              <a:rPr sz="1050" b="1" i="0">
                <a:solidFill>
                  <a:srgbClr val="31633D"/>
                </a:solidFill>
                <a:latin typeface="Arial"/>
              </a:rPr>
              <a:t>Finish D1 with how long the glasses will take. Then the day 6-7 update, usage instructions at collection, and the cadence after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 name="TextBox 2"/>
          <p:cNvSpPr txBox="1"/>
          <p:nvPr/>
        </p:nvSpPr>
        <p:spPr>
          <a:xfrm>
            <a:off x="502920" y="228600"/>
            <a:ext cx="9692640" cy="228600"/>
          </a:xfrm>
          <a:prstGeom prst="rect">
            <a:avLst/>
          </a:prstGeom>
          <a:noFill/>
        </p:spPr>
        <p:txBody>
          <a:bodyPr wrap="square" lIns="45720" rIns="45720" tIns="18288" bIns="18288">
            <a:spAutoFit/>
          </a:bodyPr>
          <a:lstStyle/>
          <a:p>
            <a:pPr algn="l"/>
            <a:r>
              <a:rPr sz="950" b="1" i="0">
                <a:solidFill>
                  <a:srgbClr val="2E9C4C"/>
                </a:solidFill>
                <a:latin typeface="Arial"/>
              </a:rPr>
              <a:t>4. CASE REVIEW   |   CTE D7</a:t>
            </a:r>
          </a:p>
        </p:txBody>
      </p:sp>
      <p:sp>
        <p:nvSpPr>
          <p:cNvPr id="4" name="TextBox 3"/>
          <p:cNvSpPr txBox="1"/>
          <p:nvPr/>
        </p:nvSpPr>
        <p:spPr>
          <a:xfrm>
            <a:off x="502920" y="493776"/>
            <a:ext cx="11247120" cy="640080"/>
          </a:xfrm>
          <a:prstGeom prst="rect">
            <a:avLst/>
          </a:prstGeom>
          <a:noFill/>
        </p:spPr>
        <p:txBody>
          <a:bodyPr wrap="square" lIns="45720" rIns="45720" tIns="18288" bIns="18288">
            <a:spAutoFit/>
          </a:bodyPr>
          <a:lstStyle/>
          <a:p>
            <a:pPr algn="l"/>
            <a:r>
              <a:rPr sz="1800" b="1" i="0">
                <a:solidFill>
                  <a:srgbClr val="31633D"/>
                </a:solidFill>
                <a:latin typeface="Arial"/>
              </a:rPr>
              <a:t>CTE D7 — the best D1 and collection handling of the five, wrong date on it</a:t>
            </a:r>
          </a:p>
        </p:txBody>
      </p:sp>
      <p:sp>
        <p:nvSpPr>
          <p:cNvPr id="5" name="Rectangle 4"/>
          <p:cNvSpPr/>
          <p:nvPr/>
        </p:nvSpPr>
        <p:spPr>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6" name="TextBox 5"/>
          <p:cNvSpPr txBox="1"/>
          <p:nvPr/>
        </p:nvSpPr>
        <p:spPr>
          <a:xfrm>
            <a:off x="502920" y="6455664"/>
            <a:ext cx="5486400" cy="237744"/>
          </a:xfrm>
          <a:prstGeom prst="rect">
            <a:avLst/>
          </a:prstGeom>
          <a:noFill/>
        </p:spPr>
        <p:txBody>
          <a:bodyPr wrap="square" lIns="45720" rIns="45720" tIns="18288" bIns="18288">
            <a:spAutoFit/>
          </a:bodyPr>
          <a:lstStyle/>
          <a:p>
            <a:pPr algn="l"/>
            <a:r>
              <a:rPr sz="800" b="0" i="0">
                <a:solidFill>
                  <a:srgbClr val="5C6B62"/>
                </a:solidFill>
                <a:latin typeface="Arial"/>
              </a:rPr>
              <a:t>Mắt Sài Gòn  |  Optometry DA Training</a:t>
            </a:r>
          </a:p>
        </p:txBody>
      </p:sp>
      <p:sp>
        <p:nvSpPr>
          <p:cNvPr id="7" name="TextBox 6"/>
          <p:cNvSpPr txBox="1"/>
          <p:nvPr/>
        </p:nvSpPr>
        <p:spPr>
          <a:xfrm>
            <a:off x="10972800" y="6455664"/>
            <a:ext cx="713232" cy="237744"/>
          </a:xfrm>
          <a:prstGeom prst="rect">
            <a:avLst/>
          </a:prstGeom>
          <a:noFill/>
        </p:spPr>
        <p:txBody>
          <a:bodyPr wrap="square" lIns="45720" rIns="45720" tIns="18288" bIns="18288">
            <a:spAutoFit/>
          </a:bodyPr>
          <a:lstStyle/>
          <a:p>
            <a:pPr algn="r"/>
            <a:r>
              <a:rPr sz="800" b="1" i="0">
                <a:solidFill>
                  <a:srgbClr val="5C6B62"/>
                </a:solidFill>
                <a:latin typeface="Arial"/>
              </a:rPr>
              <a:t>7</a:t>
            </a:r>
          </a:p>
        </p:txBody>
      </p:sp>
      <p:sp>
        <p:nvSpPr>
          <p:cNvPr id="8" name="Rectangle 7"/>
          <p:cNvSpPr/>
          <p:nvPr/>
        </p:nvSpPr>
        <p:spPr>
          <a:xfrm>
            <a:off x="502920" y="1280160"/>
            <a:ext cx="11183112" cy="310896"/>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28016" rIns="109728"/>
          <a:lstStyle/>
          <a:p>
            <a:pPr algn="l"/>
            <a:r>
              <a:rPr sz="950" b="1" i="0">
                <a:solidFill>
                  <a:srgbClr val="2E9C4C"/>
                </a:solidFill>
                <a:latin typeface="Arial"/>
              </a:rPr>
              <a:t>MCY 260811  Chị Tâm · bé Lưu Ngọc Hân and bé Lưu Gia Hân   ·   </a:t>
            </a:r>
            <a:r>
              <a:rPr sz="950" b="0" i="0">
                <a:solidFill>
                  <a:srgbClr val="5C6B62"/>
                </a:solidFill>
                <a:latin typeface="Arial"/>
              </a:rPr>
              <a:t>MC · myopia control  ·  two children under one contact  ·  CTE D7</a:t>
            </a:r>
          </a:p>
        </p:txBody>
      </p:sp>
      <p:sp>
        <p:nvSpPr>
          <p:cNvPr id="9" name="Rectangle 8"/>
          <p:cNvSpPr/>
          <p:nvPr/>
        </p:nvSpPr>
        <p:spPr>
          <a:xfrm>
            <a:off x="502920" y="1700784"/>
            <a:ext cx="5888736" cy="4242816"/>
          </a:xfrm>
          <a:prstGeom prst="rect">
            <a:avLst/>
          </a:prstGeom>
          <a:solidFill>
            <a:srgbClr val="F7F8F7"/>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pic>
        <p:nvPicPr>
          <p:cNvPr id="10" name="Picture 9" descr="Screenshot 2026-09-23 193518.png"/>
          <p:cNvPicPr>
            <a:picLocks noChangeAspect="1"/>
          </p:cNvPicPr>
          <p:nvPr/>
        </p:nvPicPr>
        <p:blipFill>
          <a:blip r:embed="rId2"/>
          <a:srcRect b="1500"/>
          <a:stretch>
            <a:fillRect/>
          </a:stretch>
        </p:blipFill>
        <p:spPr>
          <a:xfrm>
            <a:off x="612190" y="1700784"/>
            <a:ext cx="5670194" cy="4242816"/>
          </a:xfrm>
          <a:prstGeom prst="rect">
            <a:avLst/>
          </a:prstGeom>
        </p:spPr>
      </p:pic>
      <p:sp>
        <p:nvSpPr>
          <p:cNvPr id="11" name="Rectangle 10"/>
          <p:cNvSpPr/>
          <p:nvPr/>
        </p:nvSpPr>
        <p:spPr>
          <a:xfrm>
            <a:off x="6547104" y="1700784"/>
            <a:ext cx="5138928" cy="310896"/>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09728"/>
          <a:lstStyle/>
          <a:p>
            <a:pPr algn="l"/>
            <a:r>
              <a:rPr sz="1050" b="1" i="0">
                <a:solidFill>
                  <a:srgbClr val="FFFFFF"/>
                </a:solidFill>
                <a:latin typeface="Arial"/>
              </a:rPr>
              <a:t>What this DA did well — copy the first two</a:t>
            </a:r>
          </a:p>
        </p:txBody>
      </p:sp>
      <p:sp>
        <p:nvSpPr>
          <p:cNvPr id="12" name="Rectangle 11"/>
          <p:cNvSpPr/>
          <p:nvPr/>
        </p:nvSpPr>
        <p:spPr>
          <a:xfrm>
            <a:off x="6547104" y="2029968"/>
            <a:ext cx="5138928" cy="1682496"/>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3" name="TextBox 12"/>
          <p:cNvSpPr txBox="1"/>
          <p:nvPr/>
        </p:nvSpPr>
        <p:spPr>
          <a:xfrm>
            <a:off x="6693408" y="2093976"/>
            <a:ext cx="4846320" cy="1554480"/>
          </a:xfrm>
          <a:prstGeom prst="rect">
            <a:avLst/>
          </a:prstGeom>
          <a:noFill/>
        </p:spPr>
        <p:txBody>
          <a:bodyPr wrap="square" lIns="45720" rIns="45720" tIns="18288" bIns="18288" anchor="ctr">
            <a:spAutoFit/>
          </a:bodyPr>
          <a:lstStyle/>
          <a:p>
            <a:pPr algn="l">
              <a:lnSpc>
                <a:spcPct val="105000"/>
              </a:lnSpc>
              <a:spcAft>
                <a:spcPts val="250"/>
              </a:spcAft>
            </a:pPr>
            <a:r>
              <a:rPr sz="800" b="1" i="0">
                <a:solidFill>
                  <a:srgbClr val="2E9C4C"/>
                </a:solidFill>
                <a:latin typeface="Arial"/>
              </a:rPr>
              <a:t>12 Aug · D1   </a:t>
            </a:r>
            <a:r>
              <a:rPr sz="800" b="0" i="0">
                <a:solidFill>
                  <a:srgbClr val="5C6B62"/>
                </a:solidFill>
                <a:latin typeface="Arial"/>
              </a:rPr>
              <a:t>Measurement results for both children, then the preparation explained: a custom order built on the child’s own measurements, about 7–10 days, with progress updates promised. Introduction and estimated time, both done.</a:t>
            </a:r>
          </a:p>
          <a:p>
            <a:pPr algn="l">
              <a:lnSpc>
                <a:spcPct val="105000"/>
              </a:lnSpc>
              <a:spcAft>
                <a:spcPts val="250"/>
              </a:spcAft>
            </a:pPr>
            <a:r>
              <a:rPr sz="800" b="1" i="0">
                <a:solidFill>
                  <a:srgbClr val="2E9C4C"/>
                </a:solidFill>
                <a:latin typeface="Arial"/>
              </a:rPr>
              <a:t>18–19 Aug · D6-7   </a:t>
            </a:r>
            <a:r>
              <a:rPr sz="800" b="0" i="0">
                <a:solidFill>
                  <a:srgbClr val="5C6B62"/>
                </a:solidFill>
                <a:latin typeface="Arial"/>
              </a:rPr>
              <a:t>No update at day 6-7. The ready notice came on 24 August instead, twelve days after the order.</a:t>
            </a:r>
          </a:p>
          <a:p>
            <a:pPr algn="l">
              <a:lnSpc>
                <a:spcPct val="105000"/>
              </a:lnSpc>
              <a:spcAft>
                <a:spcPts val="250"/>
              </a:spcAft>
            </a:pPr>
            <a:r>
              <a:rPr sz="800" b="1" i="0">
                <a:solidFill>
                  <a:srgbClr val="2E9C4C"/>
                </a:solidFill>
                <a:latin typeface="Arial"/>
              </a:rPr>
              <a:t>24 Aug · collection   </a:t>
            </a:r>
            <a:r>
              <a:rPr sz="800" b="0" i="0">
                <a:solidFill>
                  <a:srgbClr val="5C6B62"/>
                </a:solidFill>
                <a:latin typeface="Arial"/>
              </a:rPr>
              <a:t>Glasses ready. She asked when would suit, recommended bringing the child in so the fit could be checked, and suggested a quiet weekday slot. Excellent.</a:t>
            </a:r>
          </a:p>
          <a:p>
            <a:pPr algn="l">
              <a:lnSpc>
                <a:spcPct val="105000"/>
              </a:lnSpc>
              <a:spcAft>
                <a:spcPts val="0"/>
              </a:spcAft>
            </a:pPr>
            <a:r>
              <a:rPr sz="800" b="1" i="0">
                <a:solidFill>
                  <a:srgbClr val="2E9C4C"/>
                </a:solidFill>
                <a:latin typeface="Arial"/>
              </a:rPr>
              <a:t>30 Aug · benefits   </a:t>
            </a:r>
            <a:r>
              <a:rPr sz="800" b="0" i="0">
                <a:solidFill>
                  <a:srgbClr val="5C6B62"/>
                </a:solidFill>
                <a:latin typeface="Arial"/>
              </a:rPr>
              <a:t>Membership benefits in full, with the referral terms.</a:t>
            </a:r>
          </a:p>
        </p:txBody>
      </p:sp>
      <p:sp>
        <p:nvSpPr>
          <p:cNvPr id="14" name="Rectangle 13"/>
          <p:cNvSpPr/>
          <p:nvPr/>
        </p:nvSpPr>
        <p:spPr>
          <a:xfrm>
            <a:off x="6547104" y="3767328"/>
            <a:ext cx="5138928" cy="274320"/>
          </a:xfrm>
          <a:prstGeom prst="rect">
            <a:avLst/>
          </a:prstGeom>
          <a:solidFill>
            <a:srgbClr val="31633D"/>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09728"/>
          <a:lstStyle/>
          <a:p>
            <a:pPr algn="l"/>
            <a:r>
              <a:rPr sz="950" b="1" i="0">
                <a:solidFill>
                  <a:srgbClr val="FFFFFF"/>
                </a:solidFill>
                <a:latin typeface="Arial"/>
              </a:rPr>
              <a:t>CADENCE CHECK</a:t>
            </a:r>
            <a:r>
              <a:rPr sz="850" b="0" i="0">
                <a:solidFill>
                  <a:srgbClr val="CFE6D8"/>
                </a:solidFill>
                <a:latin typeface="Arial"/>
              </a:rPr>
              <a:t>     what was due for </a:t>
            </a:r>
            <a:r>
              <a:rPr sz="850" b="1" i="0">
                <a:solidFill>
                  <a:srgbClr val="FFFFFF"/>
                </a:solidFill>
                <a:latin typeface="Arial"/>
              </a:rPr>
              <a:t>MC</a:t>
            </a:r>
          </a:p>
        </p:txBody>
      </p:sp>
      <p:sp>
        <p:nvSpPr>
          <p:cNvPr id="15" name="Rectangle 14"/>
          <p:cNvSpPr/>
          <p:nvPr/>
        </p:nvSpPr>
        <p:spPr>
          <a:xfrm>
            <a:off x="6547104" y="4078224"/>
            <a:ext cx="1101851" cy="182880"/>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9144" rIns="9144"/>
          <a:lstStyle/>
          <a:p>
            <a:pPr algn="ctr"/>
            <a:r>
              <a:rPr sz="600" b="1" i="0">
                <a:solidFill>
                  <a:srgbClr val="31633D"/>
                </a:solidFill>
                <a:latin typeface="Arial"/>
              </a:rPr>
              <a:t>BEFORE COLLECTION</a:t>
            </a:r>
          </a:p>
        </p:txBody>
      </p:sp>
      <p:sp>
        <p:nvSpPr>
          <p:cNvPr id="16" name="Rectangle 15"/>
          <p:cNvSpPr/>
          <p:nvPr/>
        </p:nvSpPr>
        <p:spPr>
          <a:xfrm>
            <a:off x="7690104" y="4078224"/>
            <a:ext cx="1673351" cy="182880"/>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9144" rIns="9144"/>
          <a:lstStyle/>
          <a:p>
            <a:pPr algn="ctr"/>
            <a:r>
              <a:rPr sz="600" b="1" i="0">
                <a:solidFill>
                  <a:srgbClr val="31633D"/>
                </a:solidFill>
                <a:latin typeface="Arial"/>
              </a:rPr>
              <a:t>CD  ·  COLLECTION DAY</a:t>
            </a:r>
          </a:p>
        </p:txBody>
      </p:sp>
      <p:sp>
        <p:nvSpPr>
          <p:cNvPr id="17" name="Rectangle 16"/>
          <p:cNvSpPr/>
          <p:nvPr/>
        </p:nvSpPr>
        <p:spPr>
          <a:xfrm>
            <a:off x="9404604" y="4078224"/>
            <a:ext cx="2244852" cy="182880"/>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9144" rIns="9144"/>
          <a:lstStyle/>
          <a:p>
            <a:pPr algn="ctr"/>
            <a:r>
              <a:rPr sz="600" b="1" i="0">
                <a:solidFill>
                  <a:srgbClr val="31633D"/>
                </a:solidFill>
                <a:latin typeface="Arial"/>
              </a:rPr>
              <a:t>AFTER COLLECTION</a:t>
            </a:r>
          </a:p>
        </p:txBody>
      </p:sp>
      <p:sp>
        <p:nvSpPr>
          <p:cNvPr id="18" name="Rectangle 17"/>
          <p:cNvSpPr/>
          <p:nvPr/>
        </p:nvSpPr>
        <p:spPr>
          <a:xfrm>
            <a:off x="6547104" y="4279392"/>
            <a:ext cx="530352" cy="420624"/>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9" name="TextBox 18"/>
          <p:cNvSpPr txBox="1"/>
          <p:nvPr/>
        </p:nvSpPr>
        <p:spPr>
          <a:xfrm>
            <a:off x="6547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D1</a:t>
            </a:r>
          </a:p>
        </p:txBody>
      </p:sp>
      <p:sp>
        <p:nvSpPr>
          <p:cNvPr id="20" name="TextBox 19"/>
          <p:cNvSpPr txBox="1"/>
          <p:nvPr/>
        </p:nvSpPr>
        <p:spPr>
          <a:xfrm>
            <a:off x="6547104" y="4462272"/>
            <a:ext cx="530352" cy="219456"/>
          </a:xfrm>
          <a:prstGeom prst="rect">
            <a:avLst/>
          </a:prstGeom>
          <a:noFill/>
        </p:spPr>
        <p:txBody>
          <a:bodyPr wrap="none" lIns="9144" rIns="9144" tIns="0" bIns="0">
            <a:spAutoFit/>
          </a:bodyPr>
          <a:lstStyle/>
          <a:p>
            <a:pPr algn="ctr"/>
            <a:r>
              <a:rPr sz="1100" b="1" i="0">
                <a:solidFill>
                  <a:srgbClr val="2E9C4C"/>
                </a:solidFill>
                <a:latin typeface="Arial"/>
              </a:rPr>
              <a:t>✓</a:t>
            </a:r>
          </a:p>
        </p:txBody>
      </p:sp>
      <p:sp>
        <p:nvSpPr>
          <p:cNvPr id="21" name="Rectangle 20"/>
          <p:cNvSpPr/>
          <p:nvPr/>
        </p:nvSpPr>
        <p:spPr>
          <a:xfrm>
            <a:off x="7118604" y="4279392"/>
            <a:ext cx="530352" cy="420624"/>
          </a:xfrm>
          <a:prstGeom prst="rect">
            <a:avLst/>
          </a:prstGeom>
          <a:solidFill>
            <a:srgbClr val="FDF6E3"/>
          </a:solidFill>
          <a:ln w="9525">
            <a:solidFill>
              <a:srgbClr val="B9770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2" name="TextBox 21"/>
          <p:cNvSpPr txBox="1"/>
          <p:nvPr/>
        </p:nvSpPr>
        <p:spPr>
          <a:xfrm>
            <a:off x="71186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D6-7</a:t>
            </a:r>
          </a:p>
        </p:txBody>
      </p:sp>
      <p:sp>
        <p:nvSpPr>
          <p:cNvPr id="23" name="TextBox 22"/>
          <p:cNvSpPr txBox="1"/>
          <p:nvPr/>
        </p:nvSpPr>
        <p:spPr>
          <a:xfrm>
            <a:off x="7118604" y="4462272"/>
            <a:ext cx="530352" cy="219456"/>
          </a:xfrm>
          <a:prstGeom prst="rect">
            <a:avLst/>
          </a:prstGeom>
          <a:noFill/>
        </p:spPr>
        <p:txBody>
          <a:bodyPr wrap="none" lIns="9144" rIns="9144" tIns="0" bIns="0">
            <a:spAutoFit/>
          </a:bodyPr>
          <a:lstStyle/>
          <a:p>
            <a:pPr algn="ctr"/>
            <a:r>
              <a:rPr sz="1100" b="1" i="0">
                <a:solidFill>
                  <a:srgbClr val="B9770B"/>
                </a:solidFill>
                <a:latin typeface="Arial"/>
              </a:rPr>
              <a:t>~</a:t>
            </a:r>
          </a:p>
        </p:txBody>
      </p:sp>
      <p:sp>
        <p:nvSpPr>
          <p:cNvPr id="24" name="Rectangle 23"/>
          <p:cNvSpPr/>
          <p:nvPr/>
        </p:nvSpPr>
        <p:spPr>
          <a:xfrm>
            <a:off x="76901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5" name="TextBox 24"/>
          <p:cNvSpPr txBox="1"/>
          <p:nvPr/>
        </p:nvSpPr>
        <p:spPr>
          <a:xfrm>
            <a:off x="7690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USAGE</a:t>
            </a:r>
          </a:p>
        </p:txBody>
      </p:sp>
      <p:sp>
        <p:nvSpPr>
          <p:cNvPr id="26" name="TextBox 25"/>
          <p:cNvSpPr txBox="1"/>
          <p:nvPr/>
        </p:nvSpPr>
        <p:spPr>
          <a:xfrm>
            <a:off x="76901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27" name="Rectangle 26"/>
          <p:cNvSpPr/>
          <p:nvPr/>
        </p:nvSpPr>
        <p:spPr>
          <a:xfrm>
            <a:off x="8261604" y="4279392"/>
            <a:ext cx="530352" cy="420624"/>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8" name="TextBox 27"/>
          <p:cNvSpPr txBox="1"/>
          <p:nvPr/>
        </p:nvSpPr>
        <p:spPr>
          <a:xfrm>
            <a:off x="82616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BENEFITS</a:t>
            </a:r>
          </a:p>
        </p:txBody>
      </p:sp>
      <p:sp>
        <p:nvSpPr>
          <p:cNvPr id="29" name="TextBox 28"/>
          <p:cNvSpPr txBox="1"/>
          <p:nvPr/>
        </p:nvSpPr>
        <p:spPr>
          <a:xfrm>
            <a:off x="8261604" y="4462272"/>
            <a:ext cx="530352" cy="219456"/>
          </a:xfrm>
          <a:prstGeom prst="rect">
            <a:avLst/>
          </a:prstGeom>
          <a:noFill/>
        </p:spPr>
        <p:txBody>
          <a:bodyPr wrap="none" lIns="9144" rIns="9144" tIns="0" bIns="0">
            <a:spAutoFit/>
          </a:bodyPr>
          <a:lstStyle/>
          <a:p>
            <a:pPr algn="ctr"/>
            <a:r>
              <a:rPr sz="1100" b="1" i="0">
                <a:solidFill>
                  <a:srgbClr val="2E9C4C"/>
                </a:solidFill>
                <a:latin typeface="Arial"/>
              </a:rPr>
              <a:t>✓</a:t>
            </a:r>
          </a:p>
        </p:txBody>
      </p:sp>
      <p:sp>
        <p:nvSpPr>
          <p:cNvPr id="30" name="Rectangle 29"/>
          <p:cNvSpPr/>
          <p:nvPr/>
        </p:nvSpPr>
        <p:spPr>
          <a:xfrm>
            <a:off x="8833104" y="4279392"/>
            <a:ext cx="530352" cy="420624"/>
          </a:xfrm>
          <a:prstGeom prst="rect">
            <a:avLst/>
          </a:prstGeom>
          <a:solidFill>
            <a:srgbClr val="FDF6E3"/>
          </a:solidFill>
          <a:ln w="9525">
            <a:solidFill>
              <a:srgbClr val="B9770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1" name="TextBox 30"/>
          <p:cNvSpPr txBox="1"/>
          <p:nvPr/>
        </p:nvSpPr>
        <p:spPr>
          <a:xfrm>
            <a:off x="8833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REFERRAL</a:t>
            </a:r>
          </a:p>
        </p:txBody>
      </p:sp>
      <p:sp>
        <p:nvSpPr>
          <p:cNvPr id="32" name="TextBox 31"/>
          <p:cNvSpPr txBox="1"/>
          <p:nvPr/>
        </p:nvSpPr>
        <p:spPr>
          <a:xfrm>
            <a:off x="8833104" y="4462272"/>
            <a:ext cx="530352" cy="219456"/>
          </a:xfrm>
          <a:prstGeom prst="rect">
            <a:avLst/>
          </a:prstGeom>
          <a:noFill/>
        </p:spPr>
        <p:txBody>
          <a:bodyPr wrap="none" lIns="9144" rIns="9144" tIns="0" bIns="0">
            <a:spAutoFit/>
          </a:bodyPr>
          <a:lstStyle/>
          <a:p>
            <a:pPr algn="ctr"/>
            <a:r>
              <a:rPr sz="1100" b="1" i="0">
                <a:solidFill>
                  <a:srgbClr val="B9770B"/>
                </a:solidFill>
                <a:latin typeface="Arial"/>
              </a:rPr>
              <a:t>~</a:t>
            </a:r>
          </a:p>
        </p:txBody>
      </p:sp>
      <p:sp>
        <p:nvSpPr>
          <p:cNvPr id="33" name="Rectangle 32"/>
          <p:cNvSpPr/>
          <p:nvPr/>
        </p:nvSpPr>
        <p:spPr>
          <a:xfrm>
            <a:off x="94046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4" name="TextBox 33"/>
          <p:cNvSpPr txBox="1"/>
          <p:nvPr/>
        </p:nvSpPr>
        <p:spPr>
          <a:xfrm>
            <a:off x="94046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CD+3-5</a:t>
            </a:r>
          </a:p>
        </p:txBody>
      </p:sp>
      <p:sp>
        <p:nvSpPr>
          <p:cNvPr id="35" name="TextBox 34"/>
          <p:cNvSpPr txBox="1"/>
          <p:nvPr/>
        </p:nvSpPr>
        <p:spPr>
          <a:xfrm>
            <a:off x="94046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36" name="Rectangle 35"/>
          <p:cNvSpPr/>
          <p:nvPr/>
        </p:nvSpPr>
        <p:spPr>
          <a:xfrm>
            <a:off x="9976104" y="4279392"/>
            <a:ext cx="530352" cy="420624"/>
          </a:xfrm>
          <a:prstGeom prst="rect">
            <a:avLst/>
          </a:prstGeom>
          <a:solidFill>
            <a:srgbClr val="F7F8F7"/>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7" name="TextBox 36"/>
          <p:cNvSpPr txBox="1"/>
          <p:nvPr/>
        </p:nvSpPr>
        <p:spPr>
          <a:xfrm>
            <a:off x="9976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CD+7</a:t>
            </a:r>
          </a:p>
        </p:txBody>
      </p:sp>
      <p:sp>
        <p:nvSpPr>
          <p:cNvPr id="38" name="TextBox 37"/>
          <p:cNvSpPr txBox="1"/>
          <p:nvPr/>
        </p:nvSpPr>
        <p:spPr>
          <a:xfrm>
            <a:off x="9976104" y="4462272"/>
            <a:ext cx="530352" cy="219456"/>
          </a:xfrm>
          <a:prstGeom prst="rect">
            <a:avLst/>
          </a:prstGeom>
          <a:noFill/>
        </p:spPr>
        <p:txBody>
          <a:bodyPr wrap="none" lIns="9144" rIns="9144" tIns="0" bIns="0">
            <a:spAutoFit/>
          </a:bodyPr>
          <a:lstStyle/>
          <a:p>
            <a:pPr algn="ctr"/>
            <a:r>
              <a:rPr sz="950" b="1" i="0">
                <a:solidFill>
                  <a:srgbClr val="5C6B62"/>
                </a:solidFill>
                <a:latin typeface="Arial"/>
              </a:rPr>
              <a:t>n/a</a:t>
            </a:r>
          </a:p>
        </p:txBody>
      </p:sp>
      <p:sp>
        <p:nvSpPr>
          <p:cNvPr id="39" name="Rectangle 38"/>
          <p:cNvSpPr/>
          <p:nvPr/>
        </p:nvSpPr>
        <p:spPr>
          <a:xfrm>
            <a:off x="105476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0" name="TextBox 39"/>
          <p:cNvSpPr txBox="1"/>
          <p:nvPr/>
        </p:nvSpPr>
        <p:spPr>
          <a:xfrm>
            <a:off x="105476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CD+14</a:t>
            </a:r>
          </a:p>
        </p:txBody>
      </p:sp>
      <p:sp>
        <p:nvSpPr>
          <p:cNvPr id="41" name="TextBox 40"/>
          <p:cNvSpPr txBox="1"/>
          <p:nvPr/>
        </p:nvSpPr>
        <p:spPr>
          <a:xfrm>
            <a:off x="105476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42" name="Rectangle 41"/>
          <p:cNvSpPr/>
          <p:nvPr/>
        </p:nvSpPr>
        <p:spPr>
          <a:xfrm>
            <a:off x="111191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3" name="TextBox 42"/>
          <p:cNvSpPr txBox="1"/>
          <p:nvPr/>
        </p:nvSpPr>
        <p:spPr>
          <a:xfrm>
            <a:off x="11119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CD+30</a:t>
            </a:r>
          </a:p>
        </p:txBody>
      </p:sp>
      <p:sp>
        <p:nvSpPr>
          <p:cNvPr id="44" name="TextBox 43"/>
          <p:cNvSpPr txBox="1"/>
          <p:nvPr/>
        </p:nvSpPr>
        <p:spPr>
          <a:xfrm>
            <a:off x="111191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45" name="TextBox 44"/>
          <p:cNvSpPr txBox="1"/>
          <p:nvPr/>
        </p:nvSpPr>
        <p:spPr>
          <a:xfrm>
            <a:off x="6547104" y="4718304"/>
            <a:ext cx="5138928" cy="164592"/>
          </a:xfrm>
          <a:prstGeom prst="rect">
            <a:avLst/>
          </a:prstGeom>
          <a:noFill/>
        </p:spPr>
        <p:txBody>
          <a:bodyPr wrap="square" lIns="18288" rIns="18288" tIns="0" bIns="0">
            <a:spAutoFit/>
          </a:bodyPr>
          <a:lstStyle/>
          <a:p>
            <a:pPr algn="l"/>
            <a:r>
              <a:rPr sz="700" b="1" i="0">
                <a:solidFill>
                  <a:srgbClr val="2E9C4C"/>
                </a:solidFill>
                <a:latin typeface="Arial"/>
              </a:rPr>
              <a:t>✓  done     </a:t>
            </a:r>
            <a:r>
              <a:rPr sz="700" b="1" i="0">
                <a:solidFill>
                  <a:srgbClr val="B9770B"/>
                </a:solidFill>
                <a:latin typeface="Arial"/>
              </a:rPr>
              <a:t>~  partly     </a:t>
            </a:r>
            <a:r>
              <a:rPr sz="700" b="1" i="0">
                <a:solidFill>
                  <a:srgbClr val="C0392B"/>
                </a:solidFill>
                <a:latin typeface="Arial"/>
              </a:rPr>
              <a:t>✕  not done     </a:t>
            </a:r>
            <a:r>
              <a:rPr sz="700" b="1" i="0">
                <a:solidFill>
                  <a:srgbClr val="5C6B62"/>
                </a:solidFill>
                <a:latin typeface="Arial"/>
              </a:rPr>
              <a:t>n/a  not due for this product</a:t>
            </a:r>
          </a:p>
        </p:txBody>
      </p:sp>
      <p:sp>
        <p:nvSpPr>
          <p:cNvPr id="46" name="Rectangle 45"/>
          <p:cNvSpPr/>
          <p:nvPr/>
        </p:nvSpPr>
        <p:spPr>
          <a:xfrm>
            <a:off x="6547104" y="4937760"/>
            <a:ext cx="5138928" cy="274320"/>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09728"/>
          <a:lstStyle/>
          <a:p>
            <a:pPr algn="l"/>
            <a:r>
              <a:rPr sz="950" b="1" i="0">
                <a:solidFill>
                  <a:srgbClr val="FFFFFF"/>
                </a:solidFill>
                <a:latin typeface="Arial"/>
              </a:rPr>
              <a:t>BENEFITS DATE TEST</a:t>
            </a:r>
            <a:r>
              <a:rPr sz="850" b="0" i="0">
                <a:solidFill>
                  <a:srgbClr val="FDECEA"/>
                </a:solidFill>
                <a:latin typeface="Arial"/>
              </a:rPr>
              <a:t>     is the date in the contact name the collection date?</a:t>
            </a:r>
          </a:p>
        </p:txBody>
      </p:sp>
      <p:sp>
        <p:nvSpPr>
          <p:cNvPr id="47" name="Rectangle 46"/>
          <p:cNvSpPr/>
          <p:nvPr/>
        </p:nvSpPr>
        <p:spPr>
          <a:xfrm>
            <a:off x="6547104" y="5248656"/>
            <a:ext cx="1243584" cy="47548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8" name="TextBox 47"/>
          <p:cNvSpPr txBox="1"/>
          <p:nvPr/>
        </p:nvSpPr>
        <p:spPr>
          <a:xfrm>
            <a:off x="6547104" y="5285232"/>
            <a:ext cx="1243584" cy="146304"/>
          </a:xfrm>
          <a:prstGeom prst="rect">
            <a:avLst/>
          </a:prstGeom>
          <a:noFill/>
        </p:spPr>
        <p:txBody>
          <a:bodyPr wrap="none" lIns="18288" rIns="18288" tIns="0" bIns="0">
            <a:spAutoFit/>
          </a:bodyPr>
          <a:lstStyle/>
          <a:p>
            <a:pPr algn="ctr"/>
            <a:r>
              <a:rPr sz="600" b="1" i="0">
                <a:solidFill>
                  <a:srgbClr val="5C6B62"/>
                </a:solidFill>
                <a:latin typeface="Arial"/>
              </a:rPr>
              <a:t>DATE IN NAME</a:t>
            </a:r>
          </a:p>
        </p:txBody>
      </p:sp>
      <p:sp>
        <p:nvSpPr>
          <p:cNvPr id="49" name="TextBox 48"/>
          <p:cNvSpPr txBox="1"/>
          <p:nvPr/>
        </p:nvSpPr>
        <p:spPr>
          <a:xfrm>
            <a:off x="6547104" y="5431536"/>
            <a:ext cx="1243584" cy="237744"/>
          </a:xfrm>
          <a:prstGeom prst="rect">
            <a:avLst/>
          </a:prstGeom>
          <a:noFill/>
        </p:spPr>
        <p:txBody>
          <a:bodyPr wrap="none" lIns="18288" rIns="18288" tIns="0" bIns="0">
            <a:spAutoFit/>
          </a:bodyPr>
          <a:lstStyle/>
          <a:p>
            <a:pPr algn="ctr"/>
            <a:r>
              <a:rPr sz="1050" b="1" i="0">
                <a:solidFill>
                  <a:srgbClr val="31633D"/>
                </a:solidFill>
                <a:latin typeface="Arial"/>
              </a:rPr>
              <a:t>11 Aug</a:t>
            </a:r>
          </a:p>
        </p:txBody>
      </p:sp>
      <p:sp>
        <p:nvSpPr>
          <p:cNvPr id="50" name="Rectangle 49"/>
          <p:cNvSpPr/>
          <p:nvPr/>
        </p:nvSpPr>
        <p:spPr>
          <a:xfrm>
            <a:off x="7827264" y="5248656"/>
            <a:ext cx="1243584" cy="47548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51" name="TextBox 50"/>
          <p:cNvSpPr txBox="1"/>
          <p:nvPr/>
        </p:nvSpPr>
        <p:spPr>
          <a:xfrm>
            <a:off x="7827264" y="5285232"/>
            <a:ext cx="1243584" cy="146304"/>
          </a:xfrm>
          <a:prstGeom prst="rect">
            <a:avLst/>
          </a:prstGeom>
          <a:noFill/>
        </p:spPr>
        <p:txBody>
          <a:bodyPr wrap="none" lIns="18288" rIns="18288" tIns="0" bIns="0">
            <a:spAutoFit/>
          </a:bodyPr>
          <a:lstStyle/>
          <a:p>
            <a:pPr algn="ctr"/>
            <a:r>
              <a:rPr sz="600" b="1" i="0">
                <a:solidFill>
                  <a:srgbClr val="5C6B62"/>
                </a:solidFill>
                <a:latin typeface="Arial"/>
              </a:rPr>
              <a:t>BENEFITS SENT</a:t>
            </a:r>
          </a:p>
        </p:txBody>
      </p:sp>
      <p:sp>
        <p:nvSpPr>
          <p:cNvPr id="52" name="TextBox 51"/>
          <p:cNvSpPr txBox="1"/>
          <p:nvPr/>
        </p:nvSpPr>
        <p:spPr>
          <a:xfrm>
            <a:off x="7827264" y="5431536"/>
            <a:ext cx="1243584" cy="237744"/>
          </a:xfrm>
          <a:prstGeom prst="rect">
            <a:avLst/>
          </a:prstGeom>
          <a:noFill/>
        </p:spPr>
        <p:txBody>
          <a:bodyPr wrap="none" lIns="18288" rIns="18288" tIns="0" bIns="0">
            <a:spAutoFit/>
          </a:bodyPr>
          <a:lstStyle/>
          <a:p>
            <a:pPr algn="ctr"/>
            <a:r>
              <a:rPr sz="1050" b="1" i="0">
                <a:solidFill>
                  <a:srgbClr val="31633D"/>
                </a:solidFill>
                <a:latin typeface="Arial"/>
              </a:rPr>
              <a:t>30 Aug</a:t>
            </a:r>
          </a:p>
        </p:txBody>
      </p:sp>
      <p:sp>
        <p:nvSpPr>
          <p:cNvPr id="53" name="Rectangle 52"/>
          <p:cNvSpPr/>
          <p:nvPr/>
        </p:nvSpPr>
        <p:spPr>
          <a:xfrm>
            <a:off x="9107424" y="5248656"/>
            <a:ext cx="1243584" cy="47548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54" name="TextBox 53"/>
          <p:cNvSpPr txBox="1"/>
          <p:nvPr/>
        </p:nvSpPr>
        <p:spPr>
          <a:xfrm>
            <a:off x="9107424" y="5285232"/>
            <a:ext cx="1243584" cy="146304"/>
          </a:xfrm>
          <a:prstGeom prst="rect">
            <a:avLst/>
          </a:prstGeom>
          <a:noFill/>
        </p:spPr>
        <p:txBody>
          <a:bodyPr wrap="none" lIns="18288" rIns="18288" tIns="0" bIns="0">
            <a:spAutoFit/>
          </a:bodyPr>
          <a:lstStyle/>
          <a:p>
            <a:pPr algn="ctr"/>
            <a:r>
              <a:rPr sz="600" b="1" i="0">
                <a:solidFill>
                  <a:srgbClr val="5C6B62"/>
                </a:solidFill>
                <a:latin typeface="Arial"/>
              </a:rPr>
              <a:t>GAP</a:t>
            </a:r>
          </a:p>
        </p:txBody>
      </p:sp>
      <p:sp>
        <p:nvSpPr>
          <p:cNvPr id="55" name="TextBox 54"/>
          <p:cNvSpPr txBox="1"/>
          <p:nvPr/>
        </p:nvSpPr>
        <p:spPr>
          <a:xfrm>
            <a:off x="9107424" y="5431536"/>
            <a:ext cx="1243584" cy="237744"/>
          </a:xfrm>
          <a:prstGeom prst="rect">
            <a:avLst/>
          </a:prstGeom>
          <a:noFill/>
        </p:spPr>
        <p:txBody>
          <a:bodyPr wrap="none" lIns="18288" rIns="18288" tIns="0" bIns="0">
            <a:spAutoFit/>
          </a:bodyPr>
          <a:lstStyle/>
          <a:p>
            <a:pPr algn="ctr"/>
            <a:r>
              <a:rPr sz="1050" b="1" i="0">
                <a:solidFill>
                  <a:srgbClr val="31633D"/>
                </a:solidFill>
                <a:latin typeface="Arial"/>
              </a:rPr>
              <a:t>+19 days</a:t>
            </a:r>
          </a:p>
        </p:txBody>
      </p:sp>
      <p:sp>
        <p:nvSpPr>
          <p:cNvPr id="56" name="Rectangle 55"/>
          <p:cNvSpPr/>
          <p:nvPr/>
        </p:nvSpPr>
        <p:spPr>
          <a:xfrm>
            <a:off x="10387584" y="5248656"/>
            <a:ext cx="1243584" cy="475488"/>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57" name="TextBox 56"/>
          <p:cNvSpPr txBox="1"/>
          <p:nvPr/>
        </p:nvSpPr>
        <p:spPr>
          <a:xfrm>
            <a:off x="10387584" y="5285232"/>
            <a:ext cx="1243584" cy="146304"/>
          </a:xfrm>
          <a:prstGeom prst="rect">
            <a:avLst/>
          </a:prstGeom>
          <a:noFill/>
        </p:spPr>
        <p:txBody>
          <a:bodyPr wrap="none" lIns="18288" rIns="18288" tIns="0" bIns="0">
            <a:spAutoFit/>
          </a:bodyPr>
          <a:lstStyle/>
          <a:p>
            <a:pPr algn="ctr"/>
            <a:r>
              <a:rPr sz="600" b="1" i="0">
                <a:solidFill>
                  <a:srgbClr val="5C6B62"/>
                </a:solidFill>
                <a:latin typeface="Arial"/>
              </a:rPr>
              <a:t>VERDICT</a:t>
            </a:r>
          </a:p>
        </p:txBody>
      </p:sp>
      <p:sp>
        <p:nvSpPr>
          <p:cNvPr id="58" name="TextBox 57"/>
          <p:cNvSpPr txBox="1"/>
          <p:nvPr/>
        </p:nvSpPr>
        <p:spPr>
          <a:xfrm>
            <a:off x="10387584" y="5431536"/>
            <a:ext cx="1243584" cy="237744"/>
          </a:xfrm>
          <a:prstGeom prst="rect">
            <a:avLst/>
          </a:prstGeom>
          <a:noFill/>
        </p:spPr>
        <p:txBody>
          <a:bodyPr wrap="none" lIns="18288" rIns="18288" tIns="0" bIns="0">
            <a:spAutoFit/>
          </a:bodyPr>
          <a:lstStyle/>
          <a:p>
            <a:pPr algn="ctr"/>
            <a:r>
              <a:rPr sz="1050" b="1" i="0">
                <a:solidFill>
                  <a:srgbClr val="C0392B"/>
                </a:solidFill>
                <a:latin typeface="Arial"/>
              </a:rPr>
              <a:t>Likely Wrong</a:t>
            </a:r>
          </a:p>
        </p:txBody>
      </p:sp>
      <p:sp>
        <p:nvSpPr>
          <p:cNvPr id="59" name="TextBox 58"/>
          <p:cNvSpPr txBox="1"/>
          <p:nvPr/>
        </p:nvSpPr>
        <p:spPr>
          <a:xfrm>
            <a:off x="6565392" y="5760720"/>
            <a:ext cx="5102352" cy="219456"/>
          </a:xfrm>
          <a:prstGeom prst="rect">
            <a:avLst/>
          </a:prstGeom>
          <a:noFill/>
        </p:spPr>
        <p:txBody>
          <a:bodyPr wrap="square" lIns="45720" rIns="45720" tIns="18288" bIns="18288">
            <a:spAutoFit/>
          </a:bodyPr>
          <a:lstStyle/>
          <a:p>
            <a:pPr algn="l">
              <a:lnSpc>
                <a:spcPct val="106000"/>
              </a:lnSpc>
            </a:pPr>
            <a:r>
              <a:rPr sz="750" b="0" i="0">
                <a:solidFill>
                  <a:srgbClr val="5C6B62"/>
                </a:solidFill>
                <a:latin typeface="Arial"/>
              </a:rPr>
              <a:t>The glasses were only ready on 24 August, so 11 August cannot be the collection date.</a:t>
            </a:r>
          </a:p>
        </p:txBody>
      </p:sp>
      <p:sp>
        <p:nvSpPr>
          <p:cNvPr id="60" name="Rectangle 59"/>
          <p:cNvSpPr/>
          <p:nvPr/>
        </p:nvSpPr>
        <p:spPr>
          <a:xfrm>
            <a:off x="502920" y="5998464"/>
            <a:ext cx="64008" cy="438912"/>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61" name="Rectangle 60"/>
          <p:cNvSpPr/>
          <p:nvPr/>
        </p:nvSpPr>
        <p:spPr>
          <a:xfrm>
            <a:off x="566928" y="5998464"/>
            <a:ext cx="11119104" cy="438912"/>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46304" rIns="109728"/>
          <a:lstStyle/>
          <a:p>
            <a:pPr algn="l"/>
            <a:r>
              <a:rPr sz="1050" b="1" i="0">
                <a:solidFill>
                  <a:srgbClr val="31633D"/>
                </a:solidFill>
                <a:latin typeface="Arial"/>
              </a:rPr>
              <a:t>Best D1 of the five. Fix the date in the name, then carry the care past the benefits message.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 name="TextBox 2"/>
          <p:cNvSpPr txBox="1"/>
          <p:nvPr/>
        </p:nvSpPr>
        <p:spPr>
          <a:xfrm>
            <a:off x="502920" y="228600"/>
            <a:ext cx="9692640" cy="228600"/>
          </a:xfrm>
          <a:prstGeom prst="rect">
            <a:avLst/>
          </a:prstGeom>
          <a:noFill/>
        </p:spPr>
        <p:txBody>
          <a:bodyPr wrap="square" lIns="45720" rIns="45720" tIns="18288" bIns="18288">
            <a:spAutoFit/>
          </a:bodyPr>
          <a:lstStyle/>
          <a:p>
            <a:pPr algn="l"/>
            <a:r>
              <a:rPr sz="950" b="1" i="0">
                <a:solidFill>
                  <a:srgbClr val="2E9C4C"/>
                </a:solidFill>
                <a:latin typeface="Arial"/>
              </a:rPr>
              <a:t>4. CASE REVIEW   |   NGT</a:t>
            </a:r>
          </a:p>
        </p:txBody>
      </p:sp>
      <p:sp>
        <p:nvSpPr>
          <p:cNvPr id="4" name="TextBox 3"/>
          <p:cNvSpPr txBox="1"/>
          <p:nvPr/>
        </p:nvSpPr>
        <p:spPr>
          <a:xfrm>
            <a:off x="502920" y="493776"/>
            <a:ext cx="11247120" cy="640080"/>
          </a:xfrm>
          <a:prstGeom prst="rect">
            <a:avLst/>
          </a:prstGeom>
          <a:noFill/>
        </p:spPr>
        <p:txBody>
          <a:bodyPr wrap="square" lIns="45720" rIns="45720" tIns="18288" bIns="18288">
            <a:spAutoFit/>
          </a:bodyPr>
          <a:lstStyle/>
          <a:p>
            <a:pPr algn="l"/>
            <a:r>
              <a:rPr sz="1900" b="1" i="0">
                <a:solidFill>
                  <a:srgbClr val="31633D"/>
                </a:solidFill>
                <a:latin typeface="Arial"/>
              </a:rPr>
              <a:t>NGT — written well, but the parent had to ask and the date is wrong</a:t>
            </a:r>
          </a:p>
        </p:txBody>
      </p:sp>
      <p:sp>
        <p:nvSpPr>
          <p:cNvPr id="5" name="Rectangle 4"/>
          <p:cNvSpPr/>
          <p:nvPr/>
        </p:nvSpPr>
        <p:spPr>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6" name="TextBox 5"/>
          <p:cNvSpPr txBox="1"/>
          <p:nvPr/>
        </p:nvSpPr>
        <p:spPr>
          <a:xfrm>
            <a:off x="502920" y="6455664"/>
            <a:ext cx="5486400" cy="237744"/>
          </a:xfrm>
          <a:prstGeom prst="rect">
            <a:avLst/>
          </a:prstGeom>
          <a:noFill/>
        </p:spPr>
        <p:txBody>
          <a:bodyPr wrap="square" lIns="45720" rIns="45720" tIns="18288" bIns="18288">
            <a:spAutoFit/>
          </a:bodyPr>
          <a:lstStyle/>
          <a:p>
            <a:pPr algn="l"/>
            <a:r>
              <a:rPr sz="800" b="0" i="0">
                <a:solidFill>
                  <a:srgbClr val="5C6B62"/>
                </a:solidFill>
                <a:latin typeface="Arial"/>
              </a:rPr>
              <a:t>Mắt Sài Gòn  |  Optometry DA Training</a:t>
            </a:r>
          </a:p>
        </p:txBody>
      </p:sp>
      <p:sp>
        <p:nvSpPr>
          <p:cNvPr id="7" name="TextBox 6"/>
          <p:cNvSpPr txBox="1"/>
          <p:nvPr/>
        </p:nvSpPr>
        <p:spPr>
          <a:xfrm>
            <a:off x="10972800" y="6455664"/>
            <a:ext cx="713232" cy="237744"/>
          </a:xfrm>
          <a:prstGeom prst="rect">
            <a:avLst/>
          </a:prstGeom>
          <a:noFill/>
        </p:spPr>
        <p:txBody>
          <a:bodyPr wrap="square" lIns="45720" rIns="45720" tIns="18288" bIns="18288">
            <a:spAutoFit/>
          </a:bodyPr>
          <a:lstStyle/>
          <a:p>
            <a:pPr algn="r"/>
            <a:r>
              <a:rPr sz="800" b="1" i="0">
                <a:solidFill>
                  <a:srgbClr val="5C6B62"/>
                </a:solidFill>
                <a:latin typeface="Arial"/>
              </a:rPr>
              <a:t>8</a:t>
            </a:r>
          </a:p>
        </p:txBody>
      </p:sp>
      <p:sp>
        <p:nvSpPr>
          <p:cNvPr id="8" name="Rectangle 7"/>
          <p:cNvSpPr/>
          <p:nvPr/>
        </p:nvSpPr>
        <p:spPr>
          <a:xfrm>
            <a:off x="502920" y="1280160"/>
            <a:ext cx="11183112" cy="310896"/>
          </a:xfrm>
          <a:prstGeom prst="rect">
            <a:avLst/>
          </a:prstGeom>
          <a:solidFill>
            <a:srgbClr val="FDF6E3"/>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28016" rIns="109728"/>
          <a:lstStyle/>
          <a:p>
            <a:pPr algn="l"/>
            <a:r>
              <a:rPr sz="950" b="1" i="0">
                <a:solidFill>
                  <a:srgbClr val="B9770B"/>
                </a:solidFill>
                <a:latin typeface="Arial"/>
              </a:rPr>
              <a:t>KTY 260815  MẸ BÉ MINH NGỌC   ·   </a:t>
            </a:r>
            <a:r>
              <a:rPr sz="950" b="0" i="0">
                <a:solidFill>
                  <a:srgbClr val="5C6B62"/>
                </a:solidFill>
                <a:latin typeface="Arial"/>
              </a:rPr>
              <a:t>Kính · glasses  ·  NGT  ·  on 15 August the parent was still asking whether the glasses had arrived</a:t>
            </a:r>
          </a:p>
        </p:txBody>
      </p:sp>
      <p:sp>
        <p:nvSpPr>
          <p:cNvPr id="9" name="Rectangle 8"/>
          <p:cNvSpPr/>
          <p:nvPr/>
        </p:nvSpPr>
        <p:spPr>
          <a:xfrm>
            <a:off x="502920" y="1700784"/>
            <a:ext cx="5888736" cy="4242816"/>
          </a:xfrm>
          <a:prstGeom prst="rect">
            <a:avLst/>
          </a:prstGeom>
          <a:solidFill>
            <a:srgbClr val="F7F8F7"/>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pic>
        <p:nvPicPr>
          <p:cNvPr id="10" name="Picture 9" descr="NGT_composite.png"/>
          <p:cNvPicPr>
            <a:picLocks noChangeAspect="1"/>
          </p:cNvPicPr>
          <p:nvPr/>
        </p:nvPicPr>
        <p:blipFill>
          <a:blip r:embed="rId2"/>
          <a:stretch>
            <a:fillRect/>
          </a:stretch>
        </p:blipFill>
        <p:spPr>
          <a:xfrm>
            <a:off x="566928" y="2324770"/>
            <a:ext cx="5760720" cy="2994934"/>
          </a:xfrm>
          <a:prstGeom prst="rect">
            <a:avLst/>
          </a:prstGeom>
        </p:spPr>
      </p:pic>
      <p:sp>
        <p:nvSpPr>
          <p:cNvPr id="11" name="Rectangle 10"/>
          <p:cNvSpPr/>
          <p:nvPr/>
        </p:nvSpPr>
        <p:spPr>
          <a:xfrm>
            <a:off x="1371600" y="3611880"/>
            <a:ext cx="2423160" cy="228600"/>
          </a:xfrm>
          <a:prstGeom prst="rect">
            <a:avLst/>
          </a:prstGeom>
          <a:solidFill>
            <a:srgbClr val="FDECEA"/>
          </a:solidFill>
          <a:ln w="12700">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73152" rIns="73152"/>
          <a:lstStyle/>
          <a:p>
            <a:pPr algn="ctr">
              <a:lnSpc>
                <a:spcPct val="104000"/>
              </a:lnSpc>
            </a:pPr>
            <a:r>
              <a:rPr sz="750" b="1" i="0">
                <a:solidFill>
                  <a:srgbClr val="C0392B"/>
                </a:solidFill>
                <a:latin typeface="Arial"/>
              </a:rPr>
              <a:t>Parent had to ask — no update was sent</a:t>
            </a:r>
          </a:p>
        </p:txBody>
      </p:sp>
      <p:sp>
        <p:nvSpPr>
          <p:cNvPr id="12" name="Rectangle 11"/>
          <p:cNvSpPr/>
          <p:nvPr/>
        </p:nvSpPr>
        <p:spPr>
          <a:xfrm>
            <a:off x="6547104" y="1700784"/>
            <a:ext cx="5138928" cy="310896"/>
          </a:xfrm>
          <a:prstGeom prst="rect">
            <a:avLst/>
          </a:prstGeom>
          <a:solidFill>
            <a:srgbClr val="B9770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09728"/>
          <a:lstStyle/>
          <a:p>
            <a:pPr algn="l"/>
            <a:r>
              <a:rPr sz="1050" b="1" i="0">
                <a:solidFill>
                  <a:srgbClr val="FFFFFF"/>
                </a:solidFill>
                <a:latin typeface="Arial"/>
              </a:rPr>
              <a:t>What was sent against what was due</a:t>
            </a:r>
          </a:p>
        </p:txBody>
      </p:sp>
      <p:sp>
        <p:nvSpPr>
          <p:cNvPr id="13" name="Rectangle 12"/>
          <p:cNvSpPr/>
          <p:nvPr/>
        </p:nvSpPr>
        <p:spPr>
          <a:xfrm>
            <a:off x="6547104" y="2029968"/>
            <a:ext cx="5138928" cy="1682496"/>
          </a:xfrm>
          <a:prstGeom prst="rect">
            <a:avLst/>
          </a:prstGeom>
          <a:solidFill>
            <a:srgbClr val="FDF6E3"/>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4" name="TextBox 13"/>
          <p:cNvSpPr txBox="1"/>
          <p:nvPr/>
        </p:nvSpPr>
        <p:spPr>
          <a:xfrm>
            <a:off x="6693408" y="2093976"/>
            <a:ext cx="4846320" cy="1554480"/>
          </a:xfrm>
          <a:prstGeom prst="rect">
            <a:avLst/>
          </a:prstGeom>
          <a:noFill/>
        </p:spPr>
        <p:txBody>
          <a:bodyPr wrap="square" lIns="45720" rIns="45720" tIns="18288" bIns="18288" anchor="ctr">
            <a:spAutoFit/>
          </a:bodyPr>
          <a:lstStyle/>
          <a:p>
            <a:pPr algn="l">
              <a:lnSpc>
                <a:spcPct val="105000"/>
              </a:lnSpc>
              <a:spcAft>
                <a:spcPts val="250"/>
              </a:spcAft>
            </a:pPr>
            <a:r>
              <a:rPr sz="800" b="1" i="0">
                <a:solidFill>
                  <a:srgbClr val="B9770B"/>
                </a:solidFill>
                <a:latin typeface="Arial"/>
              </a:rPr>
              <a:t>Before 15 Aug · D1   </a:t>
            </a:r>
            <a:r>
              <a:rPr sz="800" b="0" i="0">
                <a:solidFill>
                  <a:srgbClr val="5C6B62"/>
                </a:solidFill>
                <a:latin typeface="Arial"/>
              </a:rPr>
              <a:t>Introduction sent: name, role and phone number, then “I will let you know as soon as the centre has the glasses.” The parent thanked her and the reply was “Dạ vâng ạ”. No number of days, at either chance.</a:t>
            </a:r>
          </a:p>
          <a:p>
            <a:pPr algn="l">
              <a:lnSpc>
                <a:spcPct val="105000"/>
              </a:lnSpc>
              <a:spcAft>
                <a:spcPts val="250"/>
              </a:spcAft>
            </a:pPr>
            <a:r>
              <a:rPr sz="800" b="1" i="0">
                <a:solidFill>
                  <a:srgbClr val="B9770B"/>
                </a:solidFill>
                <a:latin typeface="Arial"/>
              </a:rPr>
              <a:t>15 Aug · D6-7   </a:t>
            </a:r>
            <a:r>
              <a:rPr sz="800" b="0" i="0">
                <a:solidFill>
                  <a:srgbClr val="5C6B62"/>
                </a:solidFill>
                <a:latin typeface="Arial"/>
              </a:rPr>
              <a:t>“Em ơi! Kính của bé có chưa em?” The parent had to ask. The day 6-7 production update was never sent, so the promise was not kept.</a:t>
            </a:r>
          </a:p>
          <a:p>
            <a:pPr algn="l">
              <a:lnSpc>
                <a:spcPct val="105000"/>
              </a:lnSpc>
              <a:spcAft>
                <a:spcPts val="250"/>
              </a:spcAft>
            </a:pPr>
            <a:r>
              <a:rPr sz="800" b="1" i="0">
                <a:solidFill>
                  <a:srgbClr val="B9770B"/>
                </a:solidFill>
                <a:latin typeface="Arial"/>
              </a:rPr>
              <a:t>17 Aug   </a:t>
            </a:r>
            <a:r>
              <a:rPr sz="800" b="0" i="0">
                <a:solidFill>
                  <a:srgbClr val="5C6B62"/>
                </a:solidFill>
                <a:latin typeface="Arial"/>
              </a:rPr>
              <a:t>A missed call out, then a 30-second call in. Nothing in writing.</a:t>
            </a:r>
          </a:p>
          <a:p>
            <a:pPr algn="l">
              <a:lnSpc>
                <a:spcPct val="105000"/>
              </a:lnSpc>
              <a:spcAft>
                <a:spcPts val="250"/>
              </a:spcAft>
            </a:pPr>
            <a:r>
              <a:rPr sz="800" b="1" i="0">
                <a:solidFill>
                  <a:srgbClr val="B9770B"/>
                </a:solidFill>
                <a:latin typeface="Arial"/>
              </a:rPr>
              <a:t>24 Aug · benefits   </a:t>
            </a:r>
            <a:r>
              <a:rPr sz="800" b="0" i="0">
                <a:solidFill>
                  <a:srgbClr val="5C6B62"/>
                </a:solidFill>
                <a:latin typeface="Arial"/>
              </a:rPr>
              <a:t>Membership benefits in full, with the voucher and referral terms. Written well and tailored to the parent.</a:t>
            </a:r>
          </a:p>
          <a:p>
            <a:pPr algn="l">
              <a:lnSpc>
                <a:spcPct val="105000"/>
              </a:lnSpc>
              <a:spcAft>
                <a:spcPts val="0"/>
              </a:spcAft>
            </a:pPr>
            <a:r>
              <a:rPr sz="800" b="1" i="0">
                <a:solidFill>
                  <a:srgbClr val="B9770B"/>
                </a:solidFill>
                <a:latin typeface="Arial"/>
              </a:rPr>
              <a:t>After 24 Aug   </a:t>
            </a:r>
            <a:r>
              <a:rPr sz="800" b="0" i="0">
                <a:solidFill>
                  <a:srgbClr val="5C6B62"/>
                </a:solidFill>
                <a:latin typeface="Arial"/>
              </a:rPr>
              <a:t>Nothing. CD+3-5, CD+7 and CD+30 were never sent.</a:t>
            </a:r>
          </a:p>
        </p:txBody>
      </p:sp>
      <p:sp>
        <p:nvSpPr>
          <p:cNvPr id="15" name="Rectangle 14"/>
          <p:cNvSpPr/>
          <p:nvPr/>
        </p:nvSpPr>
        <p:spPr>
          <a:xfrm>
            <a:off x="6547104" y="3767328"/>
            <a:ext cx="5138928" cy="274320"/>
          </a:xfrm>
          <a:prstGeom prst="rect">
            <a:avLst/>
          </a:prstGeom>
          <a:solidFill>
            <a:srgbClr val="31633D"/>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09728"/>
          <a:lstStyle/>
          <a:p>
            <a:pPr algn="l"/>
            <a:r>
              <a:rPr sz="950" b="1" i="0">
                <a:solidFill>
                  <a:srgbClr val="FFFFFF"/>
                </a:solidFill>
                <a:latin typeface="Arial"/>
              </a:rPr>
              <a:t>CADENCE CHECK</a:t>
            </a:r>
            <a:r>
              <a:rPr sz="850" b="0" i="0">
                <a:solidFill>
                  <a:srgbClr val="CFE6D8"/>
                </a:solidFill>
                <a:latin typeface="Arial"/>
              </a:rPr>
              <a:t>     what was due for </a:t>
            </a:r>
            <a:r>
              <a:rPr sz="850" b="1" i="0">
                <a:solidFill>
                  <a:srgbClr val="FFFFFF"/>
                </a:solidFill>
                <a:latin typeface="Arial"/>
              </a:rPr>
              <a:t>Kính · glasses</a:t>
            </a:r>
          </a:p>
        </p:txBody>
      </p:sp>
      <p:sp>
        <p:nvSpPr>
          <p:cNvPr id="16" name="Rectangle 15"/>
          <p:cNvSpPr/>
          <p:nvPr/>
        </p:nvSpPr>
        <p:spPr>
          <a:xfrm>
            <a:off x="6547104" y="4078224"/>
            <a:ext cx="1101851" cy="182880"/>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9144" rIns="9144"/>
          <a:lstStyle/>
          <a:p>
            <a:pPr algn="ctr"/>
            <a:r>
              <a:rPr sz="600" b="1" i="0">
                <a:solidFill>
                  <a:srgbClr val="31633D"/>
                </a:solidFill>
                <a:latin typeface="Arial"/>
              </a:rPr>
              <a:t>BEFORE COLLECTION</a:t>
            </a:r>
          </a:p>
        </p:txBody>
      </p:sp>
      <p:sp>
        <p:nvSpPr>
          <p:cNvPr id="17" name="Rectangle 16"/>
          <p:cNvSpPr/>
          <p:nvPr/>
        </p:nvSpPr>
        <p:spPr>
          <a:xfrm>
            <a:off x="7690104" y="4078224"/>
            <a:ext cx="1673351" cy="182880"/>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9144" rIns="9144"/>
          <a:lstStyle/>
          <a:p>
            <a:pPr algn="ctr"/>
            <a:r>
              <a:rPr sz="600" b="1" i="0">
                <a:solidFill>
                  <a:srgbClr val="31633D"/>
                </a:solidFill>
                <a:latin typeface="Arial"/>
              </a:rPr>
              <a:t>CD  ·  COLLECTION DAY</a:t>
            </a:r>
          </a:p>
        </p:txBody>
      </p:sp>
      <p:sp>
        <p:nvSpPr>
          <p:cNvPr id="18" name="Rectangle 17"/>
          <p:cNvSpPr/>
          <p:nvPr/>
        </p:nvSpPr>
        <p:spPr>
          <a:xfrm>
            <a:off x="9404604" y="4078224"/>
            <a:ext cx="2244852" cy="182880"/>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9144" rIns="9144"/>
          <a:lstStyle/>
          <a:p>
            <a:pPr algn="ctr"/>
            <a:r>
              <a:rPr sz="600" b="1" i="0">
                <a:solidFill>
                  <a:srgbClr val="31633D"/>
                </a:solidFill>
                <a:latin typeface="Arial"/>
              </a:rPr>
              <a:t>AFTER COLLECTION</a:t>
            </a:r>
          </a:p>
        </p:txBody>
      </p:sp>
      <p:sp>
        <p:nvSpPr>
          <p:cNvPr id="19" name="Rectangle 18"/>
          <p:cNvSpPr/>
          <p:nvPr/>
        </p:nvSpPr>
        <p:spPr>
          <a:xfrm>
            <a:off x="6547104" y="4279392"/>
            <a:ext cx="530352" cy="420624"/>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0" name="TextBox 19"/>
          <p:cNvSpPr txBox="1"/>
          <p:nvPr/>
        </p:nvSpPr>
        <p:spPr>
          <a:xfrm>
            <a:off x="6547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D1</a:t>
            </a:r>
          </a:p>
        </p:txBody>
      </p:sp>
      <p:sp>
        <p:nvSpPr>
          <p:cNvPr id="21" name="TextBox 20"/>
          <p:cNvSpPr txBox="1"/>
          <p:nvPr/>
        </p:nvSpPr>
        <p:spPr>
          <a:xfrm>
            <a:off x="6547104" y="4462272"/>
            <a:ext cx="530352" cy="219456"/>
          </a:xfrm>
          <a:prstGeom prst="rect">
            <a:avLst/>
          </a:prstGeom>
          <a:noFill/>
        </p:spPr>
        <p:txBody>
          <a:bodyPr wrap="none" lIns="9144" rIns="9144" tIns="0" bIns="0">
            <a:spAutoFit/>
          </a:bodyPr>
          <a:lstStyle/>
          <a:p>
            <a:pPr algn="ctr"/>
            <a:r>
              <a:rPr sz="1100" b="1" i="0">
                <a:solidFill>
                  <a:srgbClr val="2E9C4C"/>
                </a:solidFill>
                <a:latin typeface="Arial"/>
              </a:rPr>
              <a:t>✓</a:t>
            </a:r>
          </a:p>
        </p:txBody>
      </p:sp>
      <p:sp>
        <p:nvSpPr>
          <p:cNvPr id="22" name="Rectangle 21"/>
          <p:cNvSpPr/>
          <p:nvPr/>
        </p:nvSpPr>
        <p:spPr>
          <a:xfrm>
            <a:off x="71186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3" name="TextBox 22"/>
          <p:cNvSpPr txBox="1"/>
          <p:nvPr/>
        </p:nvSpPr>
        <p:spPr>
          <a:xfrm>
            <a:off x="71186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D6-7</a:t>
            </a:r>
          </a:p>
        </p:txBody>
      </p:sp>
      <p:sp>
        <p:nvSpPr>
          <p:cNvPr id="24" name="TextBox 23"/>
          <p:cNvSpPr txBox="1"/>
          <p:nvPr/>
        </p:nvSpPr>
        <p:spPr>
          <a:xfrm>
            <a:off x="71186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25" name="Rectangle 24"/>
          <p:cNvSpPr/>
          <p:nvPr/>
        </p:nvSpPr>
        <p:spPr>
          <a:xfrm>
            <a:off x="76901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6" name="TextBox 25"/>
          <p:cNvSpPr txBox="1"/>
          <p:nvPr/>
        </p:nvSpPr>
        <p:spPr>
          <a:xfrm>
            <a:off x="7690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USAGE</a:t>
            </a:r>
          </a:p>
        </p:txBody>
      </p:sp>
      <p:sp>
        <p:nvSpPr>
          <p:cNvPr id="27" name="TextBox 26"/>
          <p:cNvSpPr txBox="1"/>
          <p:nvPr/>
        </p:nvSpPr>
        <p:spPr>
          <a:xfrm>
            <a:off x="76901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28" name="Rectangle 27"/>
          <p:cNvSpPr/>
          <p:nvPr/>
        </p:nvSpPr>
        <p:spPr>
          <a:xfrm>
            <a:off x="8261604" y="4279392"/>
            <a:ext cx="530352" cy="420624"/>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9" name="TextBox 28"/>
          <p:cNvSpPr txBox="1"/>
          <p:nvPr/>
        </p:nvSpPr>
        <p:spPr>
          <a:xfrm>
            <a:off x="82616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BENEFITS</a:t>
            </a:r>
          </a:p>
        </p:txBody>
      </p:sp>
      <p:sp>
        <p:nvSpPr>
          <p:cNvPr id="30" name="TextBox 29"/>
          <p:cNvSpPr txBox="1"/>
          <p:nvPr/>
        </p:nvSpPr>
        <p:spPr>
          <a:xfrm>
            <a:off x="8261604" y="4462272"/>
            <a:ext cx="530352" cy="219456"/>
          </a:xfrm>
          <a:prstGeom prst="rect">
            <a:avLst/>
          </a:prstGeom>
          <a:noFill/>
        </p:spPr>
        <p:txBody>
          <a:bodyPr wrap="none" lIns="9144" rIns="9144" tIns="0" bIns="0">
            <a:spAutoFit/>
          </a:bodyPr>
          <a:lstStyle/>
          <a:p>
            <a:pPr algn="ctr"/>
            <a:r>
              <a:rPr sz="1100" b="1" i="0">
                <a:solidFill>
                  <a:srgbClr val="2E9C4C"/>
                </a:solidFill>
                <a:latin typeface="Arial"/>
              </a:rPr>
              <a:t>✓</a:t>
            </a:r>
          </a:p>
        </p:txBody>
      </p:sp>
      <p:sp>
        <p:nvSpPr>
          <p:cNvPr id="31" name="Rectangle 30"/>
          <p:cNvSpPr/>
          <p:nvPr/>
        </p:nvSpPr>
        <p:spPr>
          <a:xfrm>
            <a:off x="8833104" y="4279392"/>
            <a:ext cx="530352" cy="420624"/>
          </a:xfrm>
          <a:prstGeom prst="rect">
            <a:avLst/>
          </a:prstGeom>
          <a:solidFill>
            <a:srgbClr val="FDF6E3"/>
          </a:solidFill>
          <a:ln w="9525">
            <a:solidFill>
              <a:srgbClr val="B9770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2" name="TextBox 31"/>
          <p:cNvSpPr txBox="1"/>
          <p:nvPr/>
        </p:nvSpPr>
        <p:spPr>
          <a:xfrm>
            <a:off x="8833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REFERRAL</a:t>
            </a:r>
          </a:p>
        </p:txBody>
      </p:sp>
      <p:sp>
        <p:nvSpPr>
          <p:cNvPr id="33" name="TextBox 32"/>
          <p:cNvSpPr txBox="1"/>
          <p:nvPr/>
        </p:nvSpPr>
        <p:spPr>
          <a:xfrm>
            <a:off x="8833104" y="4462272"/>
            <a:ext cx="530352" cy="219456"/>
          </a:xfrm>
          <a:prstGeom prst="rect">
            <a:avLst/>
          </a:prstGeom>
          <a:noFill/>
        </p:spPr>
        <p:txBody>
          <a:bodyPr wrap="none" lIns="9144" rIns="9144" tIns="0" bIns="0">
            <a:spAutoFit/>
          </a:bodyPr>
          <a:lstStyle/>
          <a:p>
            <a:pPr algn="ctr"/>
            <a:r>
              <a:rPr sz="1100" b="1" i="0">
                <a:solidFill>
                  <a:srgbClr val="B9770B"/>
                </a:solidFill>
                <a:latin typeface="Arial"/>
              </a:rPr>
              <a:t>~</a:t>
            </a:r>
          </a:p>
        </p:txBody>
      </p:sp>
      <p:sp>
        <p:nvSpPr>
          <p:cNvPr id="34" name="Rectangle 33"/>
          <p:cNvSpPr/>
          <p:nvPr/>
        </p:nvSpPr>
        <p:spPr>
          <a:xfrm>
            <a:off x="94046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5" name="TextBox 34"/>
          <p:cNvSpPr txBox="1"/>
          <p:nvPr/>
        </p:nvSpPr>
        <p:spPr>
          <a:xfrm>
            <a:off x="94046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CD+3-5</a:t>
            </a:r>
          </a:p>
        </p:txBody>
      </p:sp>
      <p:sp>
        <p:nvSpPr>
          <p:cNvPr id="36" name="TextBox 35"/>
          <p:cNvSpPr txBox="1"/>
          <p:nvPr/>
        </p:nvSpPr>
        <p:spPr>
          <a:xfrm>
            <a:off x="94046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37" name="Rectangle 36"/>
          <p:cNvSpPr/>
          <p:nvPr/>
        </p:nvSpPr>
        <p:spPr>
          <a:xfrm>
            <a:off x="99761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8" name="TextBox 37"/>
          <p:cNvSpPr txBox="1"/>
          <p:nvPr/>
        </p:nvSpPr>
        <p:spPr>
          <a:xfrm>
            <a:off x="9976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CD+7</a:t>
            </a:r>
          </a:p>
        </p:txBody>
      </p:sp>
      <p:sp>
        <p:nvSpPr>
          <p:cNvPr id="39" name="TextBox 38"/>
          <p:cNvSpPr txBox="1"/>
          <p:nvPr/>
        </p:nvSpPr>
        <p:spPr>
          <a:xfrm>
            <a:off x="99761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40" name="Rectangle 39"/>
          <p:cNvSpPr/>
          <p:nvPr/>
        </p:nvSpPr>
        <p:spPr>
          <a:xfrm>
            <a:off x="10547604" y="4279392"/>
            <a:ext cx="530352" cy="420624"/>
          </a:xfrm>
          <a:prstGeom prst="rect">
            <a:avLst/>
          </a:prstGeom>
          <a:solidFill>
            <a:srgbClr val="F7F8F7"/>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1" name="TextBox 40"/>
          <p:cNvSpPr txBox="1"/>
          <p:nvPr/>
        </p:nvSpPr>
        <p:spPr>
          <a:xfrm>
            <a:off x="105476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CD+14</a:t>
            </a:r>
          </a:p>
        </p:txBody>
      </p:sp>
      <p:sp>
        <p:nvSpPr>
          <p:cNvPr id="42" name="TextBox 41"/>
          <p:cNvSpPr txBox="1"/>
          <p:nvPr/>
        </p:nvSpPr>
        <p:spPr>
          <a:xfrm>
            <a:off x="10547604" y="4462272"/>
            <a:ext cx="530352" cy="219456"/>
          </a:xfrm>
          <a:prstGeom prst="rect">
            <a:avLst/>
          </a:prstGeom>
          <a:noFill/>
        </p:spPr>
        <p:txBody>
          <a:bodyPr wrap="none" lIns="9144" rIns="9144" tIns="0" bIns="0">
            <a:spAutoFit/>
          </a:bodyPr>
          <a:lstStyle/>
          <a:p>
            <a:pPr algn="ctr"/>
            <a:r>
              <a:rPr sz="950" b="1" i="0">
                <a:solidFill>
                  <a:srgbClr val="5C6B62"/>
                </a:solidFill>
                <a:latin typeface="Arial"/>
              </a:rPr>
              <a:t>n/a</a:t>
            </a:r>
          </a:p>
        </p:txBody>
      </p:sp>
      <p:sp>
        <p:nvSpPr>
          <p:cNvPr id="43" name="Rectangle 42"/>
          <p:cNvSpPr/>
          <p:nvPr/>
        </p:nvSpPr>
        <p:spPr>
          <a:xfrm>
            <a:off x="111191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4" name="TextBox 43"/>
          <p:cNvSpPr txBox="1"/>
          <p:nvPr/>
        </p:nvSpPr>
        <p:spPr>
          <a:xfrm>
            <a:off x="11119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CD+30</a:t>
            </a:r>
          </a:p>
        </p:txBody>
      </p:sp>
      <p:sp>
        <p:nvSpPr>
          <p:cNvPr id="45" name="TextBox 44"/>
          <p:cNvSpPr txBox="1"/>
          <p:nvPr/>
        </p:nvSpPr>
        <p:spPr>
          <a:xfrm>
            <a:off x="111191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46" name="TextBox 45"/>
          <p:cNvSpPr txBox="1"/>
          <p:nvPr/>
        </p:nvSpPr>
        <p:spPr>
          <a:xfrm>
            <a:off x="6547104" y="4718304"/>
            <a:ext cx="5138928" cy="164592"/>
          </a:xfrm>
          <a:prstGeom prst="rect">
            <a:avLst/>
          </a:prstGeom>
          <a:noFill/>
        </p:spPr>
        <p:txBody>
          <a:bodyPr wrap="square" lIns="18288" rIns="18288" tIns="0" bIns="0">
            <a:spAutoFit/>
          </a:bodyPr>
          <a:lstStyle/>
          <a:p>
            <a:pPr algn="l"/>
            <a:r>
              <a:rPr sz="700" b="1" i="0">
                <a:solidFill>
                  <a:srgbClr val="2E9C4C"/>
                </a:solidFill>
                <a:latin typeface="Arial"/>
              </a:rPr>
              <a:t>✓  done     </a:t>
            </a:r>
            <a:r>
              <a:rPr sz="700" b="1" i="0">
                <a:solidFill>
                  <a:srgbClr val="B9770B"/>
                </a:solidFill>
                <a:latin typeface="Arial"/>
              </a:rPr>
              <a:t>~  partly     </a:t>
            </a:r>
            <a:r>
              <a:rPr sz="700" b="1" i="0">
                <a:solidFill>
                  <a:srgbClr val="C0392B"/>
                </a:solidFill>
                <a:latin typeface="Arial"/>
              </a:rPr>
              <a:t>✕  not done     </a:t>
            </a:r>
            <a:r>
              <a:rPr sz="700" b="1" i="0">
                <a:solidFill>
                  <a:srgbClr val="5C6B62"/>
                </a:solidFill>
                <a:latin typeface="Arial"/>
              </a:rPr>
              <a:t>n/a  not due for this product</a:t>
            </a:r>
          </a:p>
        </p:txBody>
      </p:sp>
      <p:sp>
        <p:nvSpPr>
          <p:cNvPr id="47" name="Rectangle 46"/>
          <p:cNvSpPr/>
          <p:nvPr/>
        </p:nvSpPr>
        <p:spPr>
          <a:xfrm>
            <a:off x="6547104" y="4937760"/>
            <a:ext cx="5138928" cy="274320"/>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09728"/>
          <a:lstStyle/>
          <a:p>
            <a:pPr algn="l"/>
            <a:r>
              <a:rPr sz="950" b="1" i="0">
                <a:solidFill>
                  <a:srgbClr val="FFFFFF"/>
                </a:solidFill>
                <a:latin typeface="Arial"/>
              </a:rPr>
              <a:t>BENEFITS DATE TEST</a:t>
            </a:r>
            <a:r>
              <a:rPr sz="850" b="0" i="0">
                <a:solidFill>
                  <a:srgbClr val="FDECEA"/>
                </a:solidFill>
                <a:latin typeface="Arial"/>
              </a:rPr>
              <a:t>     is the date in the contact name the collection date?</a:t>
            </a:r>
          </a:p>
        </p:txBody>
      </p:sp>
      <p:sp>
        <p:nvSpPr>
          <p:cNvPr id="48" name="Rectangle 47"/>
          <p:cNvSpPr/>
          <p:nvPr/>
        </p:nvSpPr>
        <p:spPr>
          <a:xfrm>
            <a:off x="6547104" y="5248656"/>
            <a:ext cx="1243584" cy="47548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9" name="TextBox 48"/>
          <p:cNvSpPr txBox="1"/>
          <p:nvPr/>
        </p:nvSpPr>
        <p:spPr>
          <a:xfrm>
            <a:off x="6547104" y="5285232"/>
            <a:ext cx="1243584" cy="146304"/>
          </a:xfrm>
          <a:prstGeom prst="rect">
            <a:avLst/>
          </a:prstGeom>
          <a:noFill/>
        </p:spPr>
        <p:txBody>
          <a:bodyPr wrap="none" lIns="18288" rIns="18288" tIns="0" bIns="0">
            <a:spAutoFit/>
          </a:bodyPr>
          <a:lstStyle/>
          <a:p>
            <a:pPr algn="ctr"/>
            <a:r>
              <a:rPr sz="600" b="1" i="0">
                <a:solidFill>
                  <a:srgbClr val="5C6B62"/>
                </a:solidFill>
                <a:latin typeface="Arial"/>
              </a:rPr>
              <a:t>DATE IN NAME</a:t>
            </a:r>
          </a:p>
        </p:txBody>
      </p:sp>
      <p:sp>
        <p:nvSpPr>
          <p:cNvPr id="50" name="TextBox 49"/>
          <p:cNvSpPr txBox="1"/>
          <p:nvPr/>
        </p:nvSpPr>
        <p:spPr>
          <a:xfrm>
            <a:off x="6547104" y="5431536"/>
            <a:ext cx="1243584" cy="237744"/>
          </a:xfrm>
          <a:prstGeom prst="rect">
            <a:avLst/>
          </a:prstGeom>
          <a:noFill/>
        </p:spPr>
        <p:txBody>
          <a:bodyPr wrap="none" lIns="18288" rIns="18288" tIns="0" bIns="0">
            <a:spAutoFit/>
          </a:bodyPr>
          <a:lstStyle/>
          <a:p>
            <a:pPr algn="ctr"/>
            <a:r>
              <a:rPr sz="1050" b="1" i="0">
                <a:solidFill>
                  <a:srgbClr val="31633D"/>
                </a:solidFill>
                <a:latin typeface="Arial"/>
              </a:rPr>
              <a:t>15 Aug</a:t>
            </a:r>
          </a:p>
        </p:txBody>
      </p:sp>
      <p:sp>
        <p:nvSpPr>
          <p:cNvPr id="51" name="Rectangle 50"/>
          <p:cNvSpPr/>
          <p:nvPr/>
        </p:nvSpPr>
        <p:spPr>
          <a:xfrm>
            <a:off x="7827264" y="5248656"/>
            <a:ext cx="1243584" cy="47548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52" name="TextBox 51"/>
          <p:cNvSpPr txBox="1"/>
          <p:nvPr/>
        </p:nvSpPr>
        <p:spPr>
          <a:xfrm>
            <a:off x="7827264" y="5285232"/>
            <a:ext cx="1243584" cy="146304"/>
          </a:xfrm>
          <a:prstGeom prst="rect">
            <a:avLst/>
          </a:prstGeom>
          <a:noFill/>
        </p:spPr>
        <p:txBody>
          <a:bodyPr wrap="none" lIns="18288" rIns="18288" tIns="0" bIns="0">
            <a:spAutoFit/>
          </a:bodyPr>
          <a:lstStyle/>
          <a:p>
            <a:pPr algn="ctr"/>
            <a:r>
              <a:rPr sz="600" b="1" i="0">
                <a:solidFill>
                  <a:srgbClr val="5C6B62"/>
                </a:solidFill>
                <a:latin typeface="Arial"/>
              </a:rPr>
              <a:t>BENEFITS SENT</a:t>
            </a:r>
          </a:p>
        </p:txBody>
      </p:sp>
      <p:sp>
        <p:nvSpPr>
          <p:cNvPr id="53" name="TextBox 52"/>
          <p:cNvSpPr txBox="1"/>
          <p:nvPr/>
        </p:nvSpPr>
        <p:spPr>
          <a:xfrm>
            <a:off x="7827264" y="5431536"/>
            <a:ext cx="1243584" cy="237744"/>
          </a:xfrm>
          <a:prstGeom prst="rect">
            <a:avLst/>
          </a:prstGeom>
          <a:noFill/>
        </p:spPr>
        <p:txBody>
          <a:bodyPr wrap="none" lIns="18288" rIns="18288" tIns="0" bIns="0">
            <a:spAutoFit/>
          </a:bodyPr>
          <a:lstStyle/>
          <a:p>
            <a:pPr algn="ctr"/>
            <a:r>
              <a:rPr sz="1050" b="1" i="0">
                <a:solidFill>
                  <a:srgbClr val="31633D"/>
                </a:solidFill>
                <a:latin typeface="Arial"/>
              </a:rPr>
              <a:t>24 Aug</a:t>
            </a:r>
          </a:p>
        </p:txBody>
      </p:sp>
      <p:sp>
        <p:nvSpPr>
          <p:cNvPr id="54" name="Rectangle 53"/>
          <p:cNvSpPr/>
          <p:nvPr/>
        </p:nvSpPr>
        <p:spPr>
          <a:xfrm>
            <a:off x="9107424" y="5248656"/>
            <a:ext cx="1243584" cy="47548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55" name="TextBox 54"/>
          <p:cNvSpPr txBox="1"/>
          <p:nvPr/>
        </p:nvSpPr>
        <p:spPr>
          <a:xfrm>
            <a:off x="9107424" y="5285232"/>
            <a:ext cx="1243584" cy="146304"/>
          </a:xfrm>
          <a:prstGeom prst="rect">
            <a:avLst/>
          </a:prstGeom>
          <a:noFill/>
        </p:spPr>
        <p:txBody>
          <a:bodyPr wrap="none" lIns="18288" rIns="18288" tIns="0" bIns="0">
            <a:spAutoFit/>
          </a:bodyPr>
          <a:lstStyle/>
          <a:p>
            <a:pPr algn="ctr"/>
            <a:r>
              <a:rPr sz="600" b="1" i="0">
                <a:solidFill>
                  <a:srgbClr val="5C6B62"/>
                </a:solidFill>
                <a:latin typeface="Arial"/>
              </a:rPr>
              <a:t>GAP</a:t>
            </a:r>
          </a:p>
        </p:txBody>
      </p:sp>
      <p:sp>
        <p:nvSpPr>
          <p:cNvPr id="56" name="TextBox 55"/>
          <p:cNvSpPr txBox="1"/>
          <p:nvPr/>
        </p:nvSpPr>
        <p:spPr>
          <a:xfrm>
            <a:off x="9107424" y="5431536"/>
            <a:ext cx="1243584" cy="237744"/>
          </a:xfrm>
          <a:prstGeom prst="rect">
            <a:avLst/>
          </a:prstGeom>
          <a:noFill/>
        </p:spPr>
        <p:txBody>
          <a:bodyPr wrap="none" lIns="18288" rIns="18288" tIns="0" bIns="0">
            <a:spAutoFit/>
          </a:bodyPr>
          <a:lstStyle/>
          <a:p>
            <a:pPr algn="ctr"/>
            <a:r>
              <a:rPr sz="1050" b="1" i="0">
                <a:solidFill>
                  <a:srgbClr val="31633D"/>
                </a:solidFill>
                <a:latin typeface="Arial"/>
              </a:rPr>
              <a:t>+9 days</a:t>
            </a:r>
          </a:p>
        </p:txBody>
      </p:sp>
      <p:sp>
        <p:nvSpPr>
          <p:cNvPr id="57" name="Rectangle 56"/>
          <p:cNvSpPr/>
          <p:nvPr/>
        </p:nvSpPr>
        <p:spPr>
          <a:xfrm>
            <a:off x="10387584" y="5248656"/>
            <a:ext cx="1243584" cy="475488"/>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58" name="TextBox 57"/>
          <p:cNvSpPr txBox="1"/>
          <p:nvPr/>
        </p:nvSpPr>
        <p:spPr>
          <a:xfrm>
            <a:off x="10387584" y="5285232"/>
            <a:ext cx="1243584" cy="146304"/>
          </a:xfrm>
          <a:prstGeom prst="rect">
            <a:avLst/>
          </a:prstGeom>
          <a:noFill/>
        </p:spPr>
        <p:txBody>
          <a:bodyPr wrap="none" lIns="18288" rIns="18288" tIns="0" bIns="0">
            <a:spAutoFit/>
          </a:bodyPr>
          <a:lstStyle/>
          <a:p>
            <a:pPr algn="ctr"/>
            <a:r>
              <a:rPr sz="600" b="1" i="0">
                <a:solidFill>
                  <a:srgbClr val="5C6B62"/>
                </a:solidFill>
                <a:latin typeface="Arial"/>
              </a:rPr>
              <a:t>VERDICT</a:t>
            </a:r>
          </a:p>
        </p:txBody>
      </p:sp>
      <p:sp>
        <p:nvSpPr>
          <p:cNvPr id="59" name="TextBox 58"/>
          <p:cNvSpPr txBox="1"/>
          <p:nvPr/>
        </p:nvSpPr>
        <p:spPr>
          <a:xfrm>
            <a:off x="10387584" y="5431536"/>
            <a:ext cx="1243584" cy="237744"/>
          </a:xfrm>
          <a:prstGeom prst="rect">
            <a:avLst/>
          </a:prstGeom>
          <a:noFill/>
        </p:spPr>
        <p:txBody>
          <a:bodyPr wrap="none" lIns="18288" rIns="18288" tIns="0" bIns="0">
            <a:spAutoFit/>
          </a:bodyPr>
          <a:lstStyle/>
          <a:p>
            <a:pPr algn="ctr"/>
            <a:r>
              <a:rPr sz="1050" b="1" i="0">
                <a:solidFill>
                  <a:srgbClr val="C0392B"/>
                </a:solidFill>
                <a:latin typeface="Arial"/>
              </a:rPr>
              <a:t>Likely Wrong</a:t>
            </a:r>
          </a:p>
        </p:txBody>
      </p:sp>
      <p:sp>
        <p:nvSpPr>
          <p:cNvPr id="60" name="TextBox 59"/>
          <p:cNvSpPr txBox="1"/>
          <p:nvPr/>
        </p:nvSpPr>
        <p:spPr>
          <a:xfrm>
            <a:off x="6565392" y="5760720"/>
            <a:ext cx="5102352" cy="219456"/>
          </a:xfrm>
          <a:prstGeom prst="rect">
            <a:avLst/>
          </a:prstGeom>
          <a:noFill/>
        </p:spPr>
        <p:txBody>
          <a:bodyPr wrap="square" lIns="45720" rIns="45720" tIns="18288" bIns="18288">
            <a:spAutoFit/>
          </a:bodyPr>
          <a:lstStyle/>
          <a:p>
            <a:pPr algn="l">
              <a:lnSpc>
                <a:spcPct val="106000"/>
              </a:lnSpc>
            </a:pPr>
            <a:r>
              <a:rPr sz="750" b="0" i="0">
                <a:solidFill>
                  <a:srgbClr val="5C6B62"/>
                </a:solidFill>
                <a:latin typeface="Arial"/>
              </a:rPr>
              <a:t>On 15 August the parent was still asking where the glasses were — 15 August is the order date.</a:t>
            </a:r>
          </a:p>
        </p:txBody>
      </p:sp>
      <p:sp>
        <p:nvSpPr>
          <p:cNvPr id="61" name="Rectangle 60"/>
          <p:cNvSpPr/>
          <p:nvPr/>
        </p:nvSpPr>
        <p:spPr>
          <a:xfrm>
            <a:off x="502920" y="5998464"/>
            <a:ext cx="64008" cy="438912"/>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62" name="Rectangle 61"/>
          <p:cNvSpPr/>
          <p:nvPr/>
        </p:nvSpPr>
        <p:spPr>
          <a:xfrm>
            <a:off x="566928" y="5998464"/>
            <a:ext cx="11119104" cy="438912"/>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46304" rIns="109728"/>
          <a:lstStyle/>
          <a:p>
            <a:pPr algn="l"/>
            <a:r>
              <a:rPr sz="1050" b="1" i="0">
                <a:solidFill>
                  <a:srgbClr val="31633D"/>
                </a:solidFill>
                <a:latin typeface="Arial"/>
              </a:rPr>
              <a:t>Change the date on collection day, and send the day 6-7 update so the parent never has to ask.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 name="TextBox 2"/>
          <p:cNvSpPr txBox="1"/>
          <p:nvPr/>
        </p:nvSpPr>
        <p:spPr>
          <a:xfrm>
            <a:off x="502920" y="228600"/>
            <a:ext cx="9692640" cy="228600"/>
          </a:xfrm>
          <a:prstGeom prst="rect">
            <a:avLst/>
          </a:prstGeom>
          <a:noFill/>
        </p:spPr>
        <p:txBody>
          <a:bodyPr wrap="square" lIns="45720" rIns="45720" tIns="18288" bIns="18288">
            <a:spAutoFit/>
          </a:bodyPr>
          <a:lstStyle/>
          <a:p>
            <a:pPr algn="l"/>
            <a:r>
              <a:rPr sz="950" b="1" i="0">
                <a:solidFill>
                  <a:srgbClr val="2E9C4C"/>
                </a:solidFill>
                <a:latin typeface="Arial"/>
              </a:rPr>
              <a:t>4. CASE REVIEW   |   SH (SONG HAN)</a:t>
            </a:r>
          </a:p>
        </p:txBody>
      </p:sp>
      <p:sp>
        <p:nvSpPr>
          <p:cNvPr id="4" name="TextBox 3"/>
          <p:cNvSpPr txBox="1"/>
          <p:nvPr/>
        </p:nvSpPr>
        <p:spPr>
          <a:xfrm>
            <a:off x="502920" y="493776"/>
            <a:ext cx="11247120" cy="640080"/>
          </a:xfrm>
          <a:prstGeom prst="rect">
            <a:avLst/>
          </a:prstGeom>
          <a:noFill/>
        </p:spPr>
        <p:txBody>
          <a:bodyPr wrap="square" lIns="45720" rIns="45720" tIns="18288" bIns="18288">
            <a:spAutoFit/>
          </a:bodyPr>
          <a:lstStyle/>
          <a:p>
            <a:pPr algn="l"/>
            <a:r>
              <a:rPr sz="1800" b="1" i="0">
                <a:solidFill>
                  <a:srgbClr val="31633D"/>
                </a:solidFill>
                <a:latin typeface="Arial"/>
              </a:rPr>
              <a:t>SH — the cadence has not started, and the name cannot tell us which one is due</a:t>
            </a:r>
          </a:p>
        </p:txBody>
      </p:sp>
      <p:sp>
        <p:nvSpPr>
          <p:cNvPr id="5" name="Rectangle 4"/>
          <p:cNvSpPr/>
          <p:nvPr/>
        </p:nvSpPr>
        <p:spPr>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6" name="TextBox 5"/>
          <p:cNvSpPr txBox="1"/>
          <p:nvPr/>
        </p:nvSpPr>
        <p:spPr>
          <a:xfrm>
            <a:off x="502920" y="6455664"/>
            <a:ext cx="5486400" cy="237744"/>
          </a:xfrm>
          <a:prstGeom prst="rect">
            <a:avLst/>
          </a:prstGeom>
          <a:noFill/>
        </p:spPr>
        <p:txBody>
          <a:bodyPr wrap="square" lIns="45720" rIns="45720" tIns="18288" bIns="18288">
            <a:spAutoFit/>
          </a:bodyPr>
          <a:lstStyle/>
          <a:p>
            <a:pPr algn="l"/>
            <a:r>
              <a:rPr sz="800" b="0" i="0">
                <a:solidFill>
                  <a:srgbClr val="5C6B62"/>
                </a:solidFill>
                <a:latin typeface="Arial"/>
              </a:rPr>
              <a:t>Mắt Sài Gòn  |  Optometry DA Training</a:t>
            </a:r>
          </a:p>
        </p:txBody>
      </p:sp>
      <p:sp>
        <p:nvSpPr>
          <p:cNvPr id="7" name="TextBox 6"/>
          <p:cNvSpPr txBox="1"/>
          <p:nvPr/>
        </p:nvSpPr>
        <p:spPr>
          <a:xfrm>
            <a:off x="10972800" y="6455664"/>
            <a:ext cx="713232" cy="237744"/>
          </a:xfrm>
          <a:prstGeom prst="rect">
            <a:avLst/>
          </a:prstGeom>
          <a:noFill/>
        </p:spPr>
        <p:txBody>
          <a:bodyPr wrap="square" lIns="45720" rIns="45720" tIns="18288" bIns="18288">
            <a:spAutoFit/>
          </a:bodyPr>
          <a:lstStyle/>
          <a:p>
            <a:pPr algn="r"/>
            <a:r>
              <a:rPr sz="800" b="1" i="0">
                <a:solidFill>
                  <a:srgbClr val="5C6B62"/>
                </a:solidFill>
                <a:latin typeface="Arial"/>
              </a:rPr>
              <a:t>9</a:t>
            </a:r>
          </a:p>
        </p:txBody>
      </p:sp>
      <p:sp>
        <p:nvSpPr>
          <p:cNvPr id="8" name="Rectangle 7"/>
          <p:cNvSpPr/>
          <p:nvPr/>
        </p:nvSpPr>
        <p:spPr>
          <a:xfrm>
            <a:off x="502920" y="1280160"/>
            <a:ext cx="11183112" cy="310896"/>
          </a:xfrm>
          <a:prstGeom prst="rect">
            <a:avLst/>
          </a:prstGeom>
          <a:solidFill>
            <a:srgbClr val="FDECE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28016" rIns="109728"/>
          <a:lstStyle/>
          <a:p>
            <a:pPr algn="l"/>
            <a:r>
              <a:rPr sz="950" b="1" i="0">
                <a:solidFill>
                  <a:srgbClr val="C0392B"/>
                </a:solidFill>
                <a:latin typeface="Arial"/>
              </a:rPr>
              <a:t>Huy Phan 905092982 BVĐ   ·   </a:t>
            </a:r>
            <a:r>
              <a:rPr sz="950" b="0" i="0">
                <a:solidFill>
                  <a:srgbClr val="5C6B62"/>
                </a:solidFill>
                <a:latin typeface="Arial"/>
              </a:rPr>
              <a:t>SH (Song Han)  ·  no product code, no date, no child’s name  ·  one message in the whole thread</a:t>
            </a:r>
          </a:p>
        </p:txBody>
      </p:sp>
      <p:sp>
        <p:nvSpPr>
          <p:cNvPr id="9" name="Rectangle 8"/>
          <p:cNvSpPr/>
          <p:nvPr/>
        </p:nvSpPr>
        <p:spPr>
          <a:xfrm>
            <a:off x="502920" y="1700784"/>
            <a:ext cx="5888736" cy="4242816"/>
          </a:xfrm>
          <a:prstGeom prst="rect">
            <a:avLst/>
          </a:prstGeom>
          <a:solidFill>
            <a:srgbClr val="F7F8F7"/>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pic>
        <p:nvPicPr>
          <p:cNvPr id="10" name="Picture 9" descr="SH_composite.png"/>
          <p:cNvPicPr>
            <a:picLocks noChangeAspect="1"/>
          </p:cNvPicPr>
          <p:nvPr/>
        </p:nvPicPr>
        <p:blipFill>
          <a:blip r:embed="rId2"/>
          <a:stretch>
            <a:fillRect/>
          </a:stretch>
        </p:blipFill>
        <p:spPr>
          <a:xfrm>
            <a:off x="1586392" y="1700784"/>
            <a:ext cx="3721699" cy="4242816"/>
          </a:xfrm>
          <a:prstGeom prst="rect">
            <a:avLst/>
          </a:prstGeom>
        </p:spPr>
      </p:pic>
      <p:sp>
        <p:nvSpPr>
          <p:cNvPr id="11" name="Rectangle 10"/>
          <p:cNvSpPr/>
          <p:nvPr/>
        </p:nvSpPr>
        <p:spPr>
          <a:xfrm>
            <a:off x="2148840" y="2148840"/>
            <a:ext cx="2971800" cy="310896"/>
          </a:xfrm>
          <a:prstGeom prst="rect">
            <a:avLst/>
          </a:prstGeom>
          <a:solidFill>
            <a:srgbClr val="FDECEA"/>
          </a:solidFill>
          <a:ln w="12700">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73152" rIns="73152"/>
          <a:lstStyle/>
          <a:p>
            <a:pPr algn="ctr">
              <a:lnSpc>
                <a:spcPct val="104000"/>
              </a:lnSpc>
            </a:pPr>
            <a:r>
              <a:rPr sz="800" b="1" i="0">
                <a:solidFill>
                  <a:srgbClr val="C0392B"/>
                </a:solidFill>
                <a:latin typeface="Arial"/>
              </a:rPr>
              <a:t>Contact name: no product code, no date, no child’s name</a:t>
            </a:r>
          </a:p>
        </p:txBody>
      </p:sp>
      <p:sp>
        <p:nvSpPr>
          <p:cNvPr id="12" name="Rectangle 11"/>
          <p:cNvSpPr/>
          <p:nvPr/>
        </p:nvSpPr>
        <p:spPr>
          <a:xfrm>
            <a:off x="2148840" y="3566160"/>
            <a:ext cx="2971800" cy="292608"/>
          </a:xfrm>
          <a:prstGeom prst="rect">
            <a:avLst/>
          </a:prstGeom>
          <a:solidFill>
            <a:srgbClr val="FDECEA"/>
          </a:solidFill>
          <a:ln w="12700">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73152" rIns="73152"/>
          <a:lstStyle/>
          <a:p>
            <a:pPr algn="ctr">
              <a:lnSpc>
                <a:spcPct val="104000"/>
              </a:lnSpc>
            </a:pPr>
            <a:r>
              <a:rPr sz="800" b="1" i="0">
                <a:solidFill>
                  <a:srgbClr val="C0392B"/>
                </a:solidFill>
                <a:latin typeface="Arial"/>
              </a:rPr>
              <a:t>No other messages in this conversation</a:t>
            </a:r>
          </a:p>
        </p:txBody>
      </p:sp>
      <p:sp>
        <p:nvSpPr>
          <p:cNvPr id="13" name="Rectangle 12"/>
          <p:cNvSpPr/>
          <p:nvPr/>
        </p:nvSpPr>
        <p:spPr>
          <a:xfrm>
            <a:off x="6547104" y="1700784"/>
            <a:ext cx="5138928" cy="310896"/>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09728"/>
          <a:lstStyle/>
          <a:p>
            <a:pPr algn="l"/>
            <a:r>
              <a:rPr sz="1050" b="1" i="0">
                <a:solidFill>
                  <a:srgbClr val="FFFFFF"/>
                </a:solidFill>
                <a:latin typeface="Arial"/>
              </a:rPr>
              <a:t>What the whole conversation contains</a:t>
            </a:r>
          </a:p>
        </p:txBody>
      </p:sp>
      <p:sp>
        <p:nvSpPr>
          <p:cNvPr id="14" name="Rectangle 13"/>
          <p:cNvSpPr/>
          <p:nvPr/>
        </p:nvSpPr>
        <p:spPr>
          <a:xfrm>
            <a:off x="6547104" y="2029968"/>
            <a:ext cx="5138928" cy="1682496"/>
          </a:xfrm>
          <a:prstGeom prst="rect">
            <a:avLst/>
          </a:prstGeom>
          <a:solidFill>
            <a:srgbClr val="FDECEA"/>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5" name="TextBox 14"/>
          <p:cNvSpPr txBox="1"/>
          <p:nvPr/>
        </p:nvSpPr>
        <p:spPr>
          <a:xfrm>
            <a:off x="6693408" y="2093976"/>
            <a:ext cx="4846320" cy="1554480"/>
          </a:xfrm>
          <a:prstGeom prst="rect">
            <a:avLst/>
          </a:prstGeom>
          <a:noFill/>
        </p:spPr>
        <p:txBody>
          <a:bodyPr wrap="square" lIns="45720" rIns="45720" tIns="18288" bIns="18288" anchor="ctr">
            <a:spAutoFit/>
          </a:bodyPr>
          <a:lstStyle/>
          <a:p>
            <a:pPr algn="l">
              <a:lnSpc>
                <a:spcPct val="105000"/>
              </a:lnSpc>
              <a:spcAft>
                <a:spcPts val="250"/>
              </a:spcAft>
            </a:pPr>
            <a:r>
              <a:rPr sz="800" b="1" i="0">
                <a:solidFill>
                  <a:srgbClr val="C0392B"/>
                </a:solidFill>
                <a:latin typeface="Arial"/>
              </a:rPr>
              <a:t>The name   </a:t>
            </a:r>
            <a:r>
              <a:rPr sz="800" b="0" i="0">
                <a:solidFill>
                  <a:srgbClr val="5C6B62"/>
                </a:solidFill>
                <a:latin typeface="Arial"/>
              </a:rPr>
              <a:t>“Huy Phan 905092982 BVĐ”. Without a product code there is no way to know whether MC, Kính or Ortho-K applies — so no cadence can be scheduled at all.</a:t>
            </a:r>
          </a:p>
          <a:p>
            <a:pPr algn="l">
              <a:lnSpc>
                <a:spcPct val="105000"/>
              </a:lnSpc>
              <a:spcAft>
                <a:spcPts val="250"/>
              </a:spcAft>
            </a:pPr>
            <a:r>
              <a:rPr sz="800" b="1" i="0">
                <a:solidFill>
                  <a:srgbClr val="C0392B"/>
                </a:solidFill>
                <a:latin typeface="Arial"/>
              </a:rPr>
              <a:t>22 Sep   </a:t>
            </a:r>
            <a:r>
              <a:rPr sz="800" b="0" i="0">
                <a:solidFill>
                  <a:srgbClr val="5C6B62"/>
                </a:solidFill>
                <a:latin typeface="Arial"/>
              </a:rPr>
              <a:t>One message: Thúy reconfirms the 16:30 eye examination for Phan Phạm Minh Châu. Polite and clear, but it sits before the purchase.</a:t>
            </a:r>
          </a:p>
          <a:p>
            <a:pPr algn="l">
              <a:lnSpc>
                <a:spcPct val="105000"/>
              </a:lnSpc>
              <a:spcAft>
                <a:spcPts val="0"/>
              </a:spcAft>
            </a:pPr>
            <a:r>
              <a:rPr sz="800" b="1" i="0">
                <a:solidFill>
                  <a:srgbClr val="C0392B"/>
                </a:solidFill>
                <a:latin typeface="Arial"/>
              </a:rPr>
              <a:t>Everything else   </a:t>
            </a:r>
            <a:r>
              <a:rPr sz="800" b="0" i="0">
                <a:solidFill>
                  <a:srgbClr val="5C6B62"/>
                </a:solidFill>
                <a:latin typeface="Arial"/>
              </a:rPr>
              <a:t>No D1 introduction, no production update, no usage instructions, no benefits, no care, no educational content.</a:t>
            </a:r>
          </a:p>
        </p:txBody>
      </p:sp>
      <p:sp>
        <p:nvSpPr>
          <p:cNvPr id="16" name="Rectangle 15"/>
          <p:cNvSpPr/>
          <p:nvPr/>
        </p:nvSpPr>
        <p:spPr>
          <a:xfrm>
            <a:off x="6547104" y="3767328"/>
            <a:ext cx="5138928" cy="274320"/>
          </a:xfrm>
          <a:prstGeom prst="rect">
            <a:avLst/>
          </a:prstGeom>
          <a:solidFill>
            <a:srgbClr val="31633D"/>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09728"/>
          <a:lstStyle/>
          <a:p>
            <a:pPr algn="l"/>
            <a:r>
              <a:rPr sz="950" b="1" i="0">
                <a:solidFill>
                  <a:srgbClr val="FFFFFF"/>
                </a:solidFill>
                <a:latin typeface="Arial"/>
              </a:rPr>
              <a:t>CADENCE CHECK</a:t>
            </a:r>
            <a:r>
              <a:rPr sz="850" b="0" i="0">
                <a:solidFill>
                  <a:srgbClr val="CFE6D8"/>
                </a:solidFill>
                <a:latin typeface="Arial"/>
              </a:rPr>
              <a:t>     what was due for </a:t>
            </a:r>
            <a:r>
              <a:rPr sz="850" b="1" i="0">
                <a:solidFill>
                  <a:srgbClr val="FFFFFF"/>
                </a:solidFill>
                <a:latin typeface="Arial"/>
              </a:rPr>
              <a:t>unknown — no product code</a:t>
            </a:r>
          </a:p>
        </p:txBody>
      </p:sp>
      <p:sp>
        <p:nvSpPr>
          <p:cNvPr id="17" name="Rectangle 16"/>
          <p:cNvSpPr/>
          <p:nvPr/>
        </p:nvSpPr>
        <p:spPr>
          <a:xfrm>
            <a:off x="6547104" y="4078224"/>
            <a:ext cx="1101851" cy="182880"/>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9144" rIns="9144"/>
          <a:lstStyle/>
          <a:p>
            <a:pPr algn="ctr"/>
            <a:r>
              <a:rPr sz="600" b="1" i="0">
                <a:solidFill>
                  <a:srgbClr val="31633D"/>
                </a:solidFill>
                <a:latin typeface="Arial"/>
              </a:rPr>
              <a:t>BEFORE COLLECTION</a:t>
            </a:r>
          </a:p>
        </p:txBody>
      </p:sp>
      <p:sp>
        <p:nvSpPr>
          <p:cNvPr id="18" name="Rectangle 17"/>
          <p:cNvSpPr/>
          <p:nvPr/>
        </p:nvSpPr>
        <p:spPr>
          <a:xfrm>
            <a:off x="7690104" y="4078224"/>
            <a:ext cx="1673351" cy="182880"/>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9144" rIns="9144"/>
          <a:lstStyle/>
          <a:p>
            <a:pPr algn="ctr"/>
            <a:r>
              <a:rPr sz="600" b="1" i="0">
                <a:solidFill>
                  <a:srgbClr val="31633D"/>
                </a:solidFill>
                <a:latin typeface="Arial"/>
              </a:rPr>
              <a:t>CD  ·  COLLECTION DAY</a:t>
            </a:r>
          </a:p>
        </p:txBody>
      </p:sp>
      <p:sp>
        <p:nvSpPr>
          <p:cNvPr id="19" name="Rectangle 18"/>
          <p:cNvSpPr/>
          <p:nvPr/>
        </p:nvSpPr>
        <p:spPr>
          <a:xfrm>
            <a:off x="9404604" y="4078224"/>
            <a:ext cx="2244852" cy="182880"/>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9144" rIns="9144"/>
          <a:lstStyle/>
          <a:p>
            <a:pPr algn="ctr"/>
            <a:r>
              <a:rPr sz="600" b="1" i="0">
                <a:solidFill>
                  <a:srgbClr val="31633D"/>
                </a:solidFill>
                <a:latin typeface="Arial"/>
              </a:rPr>
              <a:t>AFTER COLLECTION</a:t>
            </a:r>
          </a:p>
        </p:txBody>
      </p:sp>
      <p:sp>
        <p:nvSpPr>
          <p:cNvPr id="20" name="Rectangle 19"/>
          <p:cNvSpPr/>
          <p:nvPr/>
        </p:nvSpPr>
        <p:spPr>
          <a:xfrm>
            <a:off x="65471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1" name="TextBox 20"/>
          <p:cNvSpPr txBox="1"/>
          <p:nvPr/>
        </p:nvSpPr>
        <p:spPr>
          <a:xfrm>
            <a:off x="6547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D1</a:t>
            </a:r>
          </a:p>
        </p:txBody>
      </p:sp>
      <p:sp>
        <p:nvSpPr>
          <p:cNvPr id="22" name="TextBox 21"/>
          <p:cNvSpPr txBox="1"/>
          <p:nvPr/>
        </p:nvSpPr>
        <p:spPr>
          <a:xfrm>
            <a:off x="65471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23" name="Rectangle 22"/>
          <p:cNvSpPr/>
          <p:nvPr/>
        </p:nvSpPr>
        <p:spPr>
          <a:xfrm>
            <a:off x="71186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4" name="TextBox 23"/>
          <p:cNvSpPr txBox="1"/>
          <p:nvPr/>
        </p:nvSpPr>
        <p:spPr>
          <a:xfrm>
            <a:off x="71186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D6-7</a:t>
            </a:r>
          </a:p>
        </p:txBody>
      </p:sp>
      <p:sp>
        <p:nvSpPr>
          <p:cNvPr id="25" name="TextBox 24"/>
          <p:cNvSpPr txBox="1"/>
          <p:nvPr/>
        </p:nvSpPr>
        <p:spPr>
          <a:xfrm>
            <a:off x="71186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26" name="Rectangle 25"/>
          <p:cNvSpPr/>
          <p:nvPr/>
        </p:nvSpPr>
        <p:spPr>
          <a:xfrm>
            <a:off x="76901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7" name="TextBox 26"/>
          <p:cNvSpPr txBox="1"/>
          <p:nvPr/>
        </p:nvSpPr>
        <p:spPr>
          <a:xfrm>
            <a:off x="7690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USAGE</a:t>
            </a:r>
          </a:p>
        </p:txBody>
      </p:sp>
      <p:sp>
        <p:nvSpPr>
          <p:cNvPr id="28" name="TextBox 27"/>
          <p:cNvSpPr txBox="1"/>
          <p:nvPr/>
        </p:nvSpPr>
        <p:spPr>
          <a:xfrm>
            <a:off x="76901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29" name="Rectangle 28"/>
          <p:cNvSpPr/>
          <p:nvPr/>
        </p:nvSpPr>
        <p:spPr>
          <a:xfrm>
            <a:off x="82616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0" name="TextBox 29"/>
          <p:cNvSpPr txBox="1"/>
          <p:nvPr/>
        </p:nvSpPr>
        <p:spPr>
          <a:xfrm>
            <a:off x="82616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BENEFITS</a:t>
            </a:r>
          </a:p>
        </p:txBody>
      </p:sp>
      <p:sp>
        <p:nvSpPr>
          <p:cNvPr id="31" name="TextBox 30"/>
          <p:cNvSpPr txBox="1"/>
          <p:nvPr/>
        </p:nvSpPr>
        <p:spPr>
          <a:xfrm>
            <a:off x="82616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32" name="Rectangle 31"/>
          <p:cNvSpPr/>
          <p:nvPr/>
        </p:nvSpPr>
        <p:spPr>
          <a:xfrm>
            <a:off x="88331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3" name="TextBox 32"/>
          <p:cNvSpPr txBox="1"/>
          <p:nvPr/>
        </p:nvSpPr>
        <p:spPr>
          <a:xfrm>
            <a:off x="8833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REFERRAL</a:t>
            </a:r>
          </a:p>
        </p:txBody>
      </p:sp>
      <p:sp>
        <p:nvSpPr>
          <p:cNvPr id="34" name="TextBox 33"/>
          <p:cNvSpPr txBox="1"/>
          <p:nvPr/>
        </p:nvSpPr>
        <p:spPr>
          <a:xfrm>
            <a:off x="88331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35" name="Rectangle 34"/>
          <p:cNvSpPr/>
          <p:nvPr/>
        </p:nvSpPr>
        <p:spPr>
          <a:xfrm>
            <a:off x="94046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6" name="TextBox 35"/>
          <p:cNvSpPr txBox="1"/>
          <p:nvPr/>
        </p:nvSpPr>
        <p:spPr>
          <a:xfrm>
            <a:off x="94046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CD+3-5</a:t>
            </a:r>
          </a:p>
        </p:txBody>
      </p:sp>
      <p:sp>
        <p:nvSpPr>
          <p:cNvPr id="37" name="TextBox 36"/>
          <p:cNvSpPr txBox="1"/>
          <p:nvPr/>
        </p:nvSpPr>
        <p:spPr>
          <a:xfrm>
            <a:off x="94046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38" name="Rectangle 37"/>
          <p:cNvSpPr/>
          <p:nvPr/>
        </p:nvSpPr>
        <p:spPr>
          <a:xfrm>
            <a:off x="99761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9" name="TextBox 38"/>
          <p:cNvSpPr txBox="1"/>
          <p:nvPr/>
        </p:nvSpPr>
        <p:spPr>
          <a:xfrm>
            <a:off x="9976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CD+7</a:t>
            </a:r>
          </a:p>
        </p:txBody>
      </p:sp>
      <p:sp>
        <p:nvSpPr>
          <p:cNvPr id="40" name="TextBox 39"/>
          <p:cNvSpPr txBox="1"/>
          <p:nvPr/>
        </p:nvSpPr>
        <p:spPr>
          <a:xfrm>
            <a:off x="99761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41" name="Rectangle 40"/>
          <p:cNvSpPr/>
          <p:nvPr/>
        </p:nvSpPr>
        <p:spPr>
          <a:xfrm>
            <a:off x="105476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2" name="TextBox 41"/>
          <p:cNvSpPr txBox="1"/>
          <p:nvPr/>
        </p:nvSpPr>
        <p:spPr>
          <a:xfrm>
            <a:off x="105476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CD+14</a:t>
            </a:r>
          </a:p>
        </p:txBody>
      </p:sp>
      <p:sp>
        <p:nvSpPr>
          <p:cNvPr id="43" name="TextBox 42"/>
          <p:cNvSpPr txBox="1"/>
          <p:nvPr/>
        </p:nvSpPr>
        <p:spPr>
          <a:xfrm>
            <a:off x="105476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44" name="Rectangle 43"/>
          <p:cNvSpPr/>
          <p:nvPr/>
        </p:nvSpPr>
        <p:spPr>
          <a:xfrm>
            <a:off x="11119104" y="4279392"/>
            <a:ext cx="530352" cy="42062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5" name="TextBox 44"/>
          <p:cNvSpPr txBox="1"/>
          <p:nvPr/>
        </p:nvSpPr>
        <p:spPr>
          <a:xfrm>
            <a:off x="11119104" y="4311396"/>
            <a:ext cx="530352" cy="164592"/>
          </a:xfrm>
          <a:prstGeom prst="rect">
            <a:avLst/>
          </a:prstGeom>
          <a:noFill/>
        </p:spPr>
        <p:txBody>
          <a:bodyPr wrap="none" lIns="9144" rIns="9144" tIns="0" bIns="0">
            <a:spAutoFit/>
          </a:bodyPr>
          <a:lstStyle/>
          <a:p>
            <a:pPr algn="ctr"/>
            <a:r>
              <a:rPr sz="600" b="1" i="0">
                <a:solidFill>
                  <a:srgbClr val="5C6B62"/>
                </a:solidFill>
                <a:latin typeface="Arial"/>
              </a:rPr>
              <a:t>CD+30</a:t>
            </a:r>
          </a:p>
        </p:txBody>
      </p:sp>
      <p:sp>
        <p:nvSpPr>
          <p:cNvPr id="46" name="TextBox 45"/>
          <p:cNvSpPr txBox="1"/>
          <p:nvPr/>
        </p:nvSpPr>
        <p:spPr>
          <a:xfrm>
            <a:off x="11119104" y="4462272"/>
            <a:ext cx="530352" cy="219456"/>
          </a:xfrm>
          <a:prstGeom prst="rect">
            <a:avLst/>
          </a:prstGeom>
          <a:noFill/>
        </p:spPr>
        <p:txBody>
          <a:bodyPr wrap="none" lIns="9144" rIns="9144" tIns="0" bIns="0">
            <a:spAutoFit/>
          </a:bodyPr>
          <a:lstStyle/>
          <a:p>
            <a:pPr algn="ctr"/>
            <a:r>
              <a:rPr sz="1100" b="1" i="0">
                <a:solidFill>
                  <a:srgbClr val="C0392B"/>
                </a:solidFill>
                <a:latin typeface="Arial"/>
              </a:rPr>
              <a:t>✕</a:t>
            </a:r>
          </a:p>
        </p:txBody>
      </p:sp>
      <p:sp>
        <p:nvSpPr>
          <p:cNvPr id="47" name="TextBox 46"/>
          <p:cNvSpPr txBox="1"/>
          <p:nvPr/>
        </p:nvSpPr>
        <p:spPr>
          <a:xfrm>
            <a:off x="6547104" y="4718304"/>
            <a:ext cx="5138928" cy="164592"/>
          </a:xfrm>
          <a:prstGeom prst="rect">
            <a:avLst/>
          </a:prstGeom>
          <a:noFill/>
        </p:spPr>
        <p:txBody>
          <a:bodyPr wrap="square" lIns="18288" rIns="18288" tIns="0" bIns="0">
            <a:spAutoFit/>
          </a:bodyPr>
          <a:lstStyle/>
          <a:p>
            <a:pPr algn="l"/>
            <a:r>
              <a:rPr sz="700" b="1" i="0">
                <a:solidFill>
                  <a:srgbClr val="2E9C4C"/>
                </a:solidFill>
                <a:latin typeface="Arial"/>
              </a:rPr>
              <a:t>✓  done     </a:t>
            </a:r>
            <a:r>
              <a:rPr sz="700" b="1" i="0">
                <a:solidFill>
                  <a:srgbClr val="B9770B"/>
                </a:solidFill>
                <a:latin typeface="Arial"/>
              </a:rPr>
              <a:t>~  partly     </a:t>
            </a:r>
            <a:r>
              <a:rPr sz="700" b="1" i="0">
                <a:solidFill>
                  <a:srgbClr val="C0392B"/>
                </a:solidFill>
                <a:latin typeface="Arial"/>
              </a:rPr>
              <a:t>✕  not done     </a:t>
            </a:r>
            <a:r>
              <a:rPr sz="700" b="1" i="0">
                <a:solidFill>
                  <a:srgbClr val="5C6B62"/>
                </a:solidFill>
                <a:latin typeface="Arial"/>
              </a:rPr>
              <a:t>n/a  not due for this product</a:t>
            </a:r>
          </a:p>
        </p:txBody>
      </p:sp>
      <p:sp>
        <p:nvSpPr>
          <p:cNvPr id="48" name="Rectangle 47"/>
          <p:cNvSpPr/>
          <p:nvPr/>
        </p:nvSpPr>
        <p:spPr>
          <a:xfrm>
            <a:off x="6547104" y="4937760"/>
            <a:ext cx="5138928" cy="274320"/>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09728"/>
          <a:lstStyle/>
          <a:p>
            <a:pPr algn="l"/>
            <a:r>
              <a:rPr sz="950" b="1" i="0">
                <a:solidFill>
                  <a:srgbClr val="FFFFFF"/>
                </a:solidFill>
                <a:latin typeface="Arial"/>
              </a:rPr>
              <a:t>BENEFITS DATE TEST</a:t>
            </a:r>
            <a:r>
              <a:rPr sz="850" b="0" i="0">
                <a:solidFill>
                  <a:srgbClr val="FDECEA"/>
                </a:solidFill>
                <a:latin typeface="Arial"/>
              </a:rPr>
              <a:t>     is the date in the contact name the collection date?</a:t>
            </a:r>
          </a:p>
        </p:txBody>
      </p:sp>
      <p:sp>
        <p:nvSpPr>
          <p:cNvPr id="49" name="Rectangle 48"/>
          <p:cNvSpPr/>
          <p:nvPr/>
        </p:nvSpPr>
        <p:spPr>
          <a:xfrm>
            <a:off x="6547104" y="5248656"/>
            <a:ext cx="1243584" cy="47548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50" name="TextBox 49"/>
          <p:cNvSpPr txBox="1"/>
          <p:nvPr/>
        </p:nvSpPr>
        <p:spPr>
          <a:xfrm>
            <a:off x="6547104" y="5285232"/>
            <a:ext cx="1243584" cy="146304"/>
          </a:xfrm>
          <a:prstGeom prst="rect">
            <a:avLst/>
          </a:prstGeom>
          <a:noFill/>
        </p:spPr>
        <p:txBody>
          <a:bodyPr wrap="none" lIns="18288" rIns="18288" tIns="0" bIns="0">
            <a:spAutoFit/>
          </a:bodyPr>
          <a:lstStyle/>
          <a:p>
            <a:pPr algn="ctr"/>
            <a:r>
              <a:rPr sz="600" b="1" i="0">
                <a:solidFill>
                  <a:srgbClr val="5C6B62"/>
                </a:solidFill>
                <a:latin typeface="Arial"/>
              </a:rPr>
              <a:t>DATE IN NAME</a:t>
            </a:r>
          </a:p>
        </p:txBody>
      </p:sp>
      <p:sp>
        <p:nvSpPr>
          <p:cNvPr id="51" name="TextBox 50"/>
          <p:cNvSpPr txBox="1"/>
          <p:nvPr/>
        </p:nvSpPr>
        <p:spPr>
          <a:xfrm>
            <a:off x="6547104" y="5431536"/>
            <a:ext cx="1243584" cy="237744"/>
          </a:xfrm>
          <a:prstGeom prst="rect">
            <a:avLst/>
          </a:prstGeom>
          <a:noFill/>
        </p:spPr>
        <p:txBody>
          <a:bodyPr wrap="none" lIns="18288" rIns="18288" tIns="0" bIns="0">
            <a:spAutoFit/>
          </a:bodyPr>
          <a:lstStyle/>
          <a:p>
            <a:pPr algn="ctr"/>
            <a:r>
              <a:rPr sz="1050" b="1" i="0">
                <a:solidFill>
                  <a:srgbClr val="31633D"/>
                </a:solidFill>
                <a:latin typeface="Arial"/>
              </a:rPr>
              <a:t>none</a:t>
            </a:r>
          </a:p>
        </p:txBody>
      </p:sp>
      <p:sp>
        <p:nvSpPr>
          <p:cNvPr id="52" name="Rectangle 51"/>
          <p:cNvSpPr/>
          <p:nvPr/>
        </p:nvSpPr>
        <p:spPr>
          <a:xfrm>
            <a:off x="7827264" y="5248656"/>
            <a:ext cx="1243584" cy="47548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53" name="TextBox 52"/>
          <p:cNvSpPr txBox="1"/>
          <p:nvPr/>
        </p:nvSpPr>
        <p:spPr>
          <a:xfrm>
            <a:off x="7827264" y="5285232"/>
            <a:ext cx="1243584" cy="146304"/>
          </a:xfrm>
          <a:prstGeom prst="rect">
            <a:avLst/>
          </a:prstGeom>
          <a:noFill/>
        </p:spPr>
        <p:txBody>
          <a:bodyPr wrap="none" lIns="18288" rIns="18288" tIns="0" bIns="0">
            <a:spAutoFit/>
          </a:bodyPr>
          <a:lstStyle/>
          <a:p>
            <a:pPr algn="ctr"/>
            <a:r>
              <a:rPr sz="600" b="1" i="0">
                <a:solidFill>
                  <a:srgbClr val="5C6B62"/>
                </a:solidFill>
                <a:latin typeface="Arial"/>
              </a:rPr>
              <a:t>BENEFITS SENT</a:t>
            </a:r>
          </a:p>
        </p:txBody>
      </p:sp>
      <p:sp>
        <p:nvSpPr>
          <p:cNvPr id="54" name="TextBox 53"/>
          <p:cNvSpPr txBox="1"/>
          <p:nvPr/>
        </p:nvSpPr>
        <p:spPr>
          <a:xfrm>
            <a:off x="7827264" y="5431536"/>
            <a:ext cx="1243584" cy="237744"/>
          </a:xfrm>
          <a:prstGeom prst="rect">
            <a:avLst/>
          </a:prstGeom>
          <a:noFill/>
        </p:spPr>
        <p:txBody>
          <a:bodyPr wrap="none" lIns="18288" rIns="18288" tIns="0" bIns="0">
            <a:spAutoFit/>
          </a:bodyPr>
          <a:lstStyle/>
          <a:p>
            <a:pPr algn="ctr"/>
            <a:r>
              <a:rPr sz="1050" b="1" i="0">
                <a:solidFill>
                  <a:srgbClr val="31633D"/>
                </a:solidFill>
                <a:latin typeface="Arial"/>
              </a:rPr>
              <a:t>none</a:t>
            </a:r>
          </a:p>
        </p:txBody>
      </p:sp>
      <p:sp>
        <p:nvSpPr>
          <p:cNvPr id="55" name="Rectangle 54"/>
          <p:cNvSpPr/>
          <p:nvPr/>
        </p:nvSpPr>
        <p:spPr>
          <a:xfrm>
            <a:off x="9107424" y="5248656"/>
            <a:ext cx="1243584" cy="47548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56" name="TextBox 55"/>
          <p:cNvSpPr txBox="1"/>
          <p:nvPr/>
        </p:nvSpPr>
        <p:spPr>
          <a:xfrm>
            <a:off x="9107424" y="5285232"/>
            <a:ext cx="1243584" cy="146304"/>
          </a:xfrm>
          <a:prstGeom prst="rect">
            <a:avLst/>
          </a:prstGeom>
          <a:noFill/>
        </p:spPr>
        <p:txBody>
          <a:bodyPr wrap="none" lIns="18288" rIns="18288" tIns="0" bIns="0">
            <a:spAutoFit/>
          </a:bodyPr>
          <a:lstStyle/>
          <a:p>
            <a:pPr algn="ctr"/>
            <a:r>
              <a:rPr sz="600" b="1" i="0">
                <a:solidFill>
                  <a:srgbClr val="5C6B62"/>
                </a:solidFill>
                <a:latin typeface="Arial"/>
              </a:rPr>
              <a:t>GAP</a:t>
            </a:r>
          </a:p>
        </p:txBody>
      </p:sp>
      <p:sp>
        <p:nvSpPr>
          <p:cNvPr id="57" name="TextBox 56"/>
          <p:cNvSpPr txBox="1"/>
          <p:nvPr/>
        </p:nvSpPr>
        <p:spPr>
          <a:xfrm>
            <a:off x="9107424" y="5431536"/>
            <a:ext cx="1243584" cy="237744"/>
          </a:xfrm>
          <a:prstGeom prst="rect">
            <a:avLst/>
          </a:prstGeom>
          <a:noFill/>
        </p:spPr>
        <p:txBody>
          <a:bodyPr wrap="none" lIns="18288" rIns="18288" tIns="0" bIns="0">
            <a:spAutoFit/>
          </a:bodyPr>
          <a:lstStyle/>
          <a:p>
            <a:pPr algn="ctr"/>
            <a:r>
              <a:rPr sz="1050" b="1" i="0">
                <a:solidFill>
                  <a:srgbClr val="31633D"/>
                </a:solidFill>
                <a:latin typeface="Arial"/>
              </a:rPr>
              <a:t>—</a:t>
            </a:r>
          </a:p>
        </p:txBody>
      </p:sp>
      <p:sp>
        <p:nvSpPr>
          <p:cNvPr id="58" name="Rectangle 57"/>
          <p:cNvSpPr/>
          <p:nvPr/>
        </p:nvSpPr>
        <p:spPr>
          <a:xfrm>
            <a:off x="10387584" y="5248656"/>
            <a:ext cx="1243584" cy="475488"/>
          </a:xfrm>
          <a:prstGeom prst="rect">
            <a:avLst/>
          </a:prstGeom>
          <a:solidFill>
            <a:srgbClr val="F7F8F7"/>
          </a:solidFill>
          <a:ln w="9525">
            <a:solidFill>
              <a:srgbClr val="5C6B62"/>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59" name="TextBox 58"/>
          <p:cNvSpPr txBox="1"/>
          <p:nvPr/>
        </p:nvSpPr>
        <p:spPr>
          <a:xfrm>
            <a:off x="10387584" y="5285232"/>
            <a:ext cx="1243584" cy="146304"/>
          </a:xfrm>
          <a:prstGeom prst="rect">
            <a:avLst/>
          </a:prstGeom>
          <a:noFill/>
        </p:spPr>
        <p:txBody>
          <a:bodyPr wrap="none" lIns="18288" rIns="18288" tIns="0" bIns="0">
            <a:spAutoFit/>
          </a:bodyPr>
          <a:lstStyle/>
          <a:p>
            <a:pPr algn="ctr"/>
            <a:r>
              <a:rPr sz="600" b="1" i="0">
                <a:solidFill>
                  <a:srgbClr val="5C6B62"/>
                </a:solidFill>
                <a:latin typeface="Arial"/>
              </a:rPr>
              <a:t>VERDICT</a:t>
            </a:r>
          </a:p>
        </p:txBody>
      </p:sp>
      <p:sp>
        <p:nvSpPr>
          <p:cNvPr id="60" name="TextBox 59"/>
          <p:cNvSpPr txBox="1"/>
          <p:nvPr/>
        </p:nvSpPr>
        <p:spPr>
          <a:xfrm>
            <a:off x="10387584" y="5431536"/>
            <a:ext cx="1243584" cy="237744"/>
          </a:xfrm>
          <a:prstGeom prst="rect">
            <a:avLst/>
          </a:prstGeom>
          <a:noFill/>
        </p:spPr>
        <p:txBody>
          <a:bodyPr wrap="none" lIns="18288" rIns="18288" tIns="0" bIns="0">
            <a:spAutoFit/>
          </a:bodyPr>
          <a:lstStyle/>
          <a:p>
            <a:pPr algn="ctr"/>
            <a:r>
              <a:rPr sz="1050" b="1" i="0">
                <a:solidFill>
                  <a:srgbClr val="5C6B62"/>
                </a:solidFill>
                <a:latin typeface="Arial"/>
              </a:rPr>
              <a:t>Uncertain</a:t>
            </a:r>
          </a:p>
        </p:txBody>
      </p:sp>
      <p:sp>
        <p:nvSpPr>
          <p:cNvPr id="61" name="TextBox 60"/>
          <p:cNvSpPr txBox="1"/>
          <p:nvPr/>
        </p:nvSpPr>
        <p:spPr>
          <a:xfrm>
            <a:off x="6565392" y="5760720"/>
            <a:ext cx="5102352" cy="219456"/>
          </a:xfrm>
          <a:prstGeom prst="rect">
            <a:avLst/>
          </a:prstGeom>
          <a:noFill/>
        </p:spPr>
        <p:txBody>
          <a:bodyPr wrap="square" lIns="45720" rIns="45720" tIns="18288" bIns="18288">
            <a:spAutoFit/>
          </a:bodyPr>
          <a:lstStyle/>
          <a:p>
            <a:pPr algn="l">
              <a:lnSpc>
                <a:spcPct val="106000"/>
              </a:lnSpc>
            </a:pPr>
            <a:r>
              <a:rPr sz="750" b="0" i="0">
                <a:solidFill>
                  <a:srgbClr val="5C6B62"/>
                </a:solidFill>
                <a:latin typeface="Arial"/>
              </a:rPr>
              <a:t>No date and no benefits message, so the test cannot be run until the contact is annotated.</a:t>
            </a:r>
          </a:p>
        </p:txBody>
      </p:sp>
      <p:sp>
        <p:nvSpPr>
          <p:cNvPr id="62" name="Rectangle 61"/>
          <p:cNvSpPr/>
          <p:nvPr/>
        </p:nvSpPr>
        <p:spPr>
          <a:xfrm>
            <a:off x="502920" y="5998464"/>
            <a:ext cx="64008" cy="438912"/>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63" name="Rectangle 62"/>
          <p:cNvSpPr/>
          <p:nvPr/>
        </p:nvSpPr>
        <p:spPr>
          <a:xfrm>
            <a:off x="566928" y="5998464"/>
            <a:ext cx="11119104" cy="438912"/>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46304" rIns="109728"/>
          <a:lstStyle/>
          <a:p>
            <a:pPr algn="l"/>
            <a:r>
              <a:rPr sz="1050" b="1" i="0">
                <a:solidFill>
                  <a:srgbClr val="31633D"/>
                </a:solidFill>
                <a:latin typeface="Arial"/>
              </a:rPr>
              <a:t>Annotate the contact first — product code, date, child’s name. Nothing can be scheduled or measured until then.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 name="TextBox 2"/>
          <p:cNvSpPr txBox="1"/>
          <p:nvPr/>
        </p:nvSpPr>
        <p:spPr>
          <a:xfrm>
            <a:off x="502920" y="228600"/>
            <a:ext cx="9692640" cy="228600"/>
          </a:xfrm>
          <a:prstGeom prst="rect">
            <a:avLst/>
          </a:prstGeom>
          <a:noFill/>
        </p:spPr>
        <p:txBody>
          <a:bodyPr wrap="square" lIns="45720" rIns="45720" tIns="18288" bIns="18288">
            <a:spAutoFit/>
          </a:bodyPr>
          <a:lstStyle/>
          <a:p>
            <a:pPr algn="l"/>
            <a:r>
              <a:rPr sz="950" b="1" i="0">
                <a:solidFill>
                  <a:srgbClr val="2E9C4C"/>
                </a:solidFill>
                <a:latin typeface="Arial"/>
              </a:rPr>
              <a:t>5. WHAT TO DO NEXT   |   TRAINING PRIORITIES</a:t>
            </a:r>
          </a:p>
        </p:txBody>
      </p:sp>
      <p:sp>
        <p:nvSpPr>
          <p:cNvPr id="4" name="TextBox 3"/>
          <p:cNvSpPr txBox="1"/>
          <p:nvPr/>
        </p:nvSpPr>
        <p:spPr>
          <a:xfrm>
            <a:off x="502920" y="493776"/>
            <a:ext cx="11247120" cy="640080"/>
          </a:xfrm>
          <a:prstGeom prst="rect">
            <a:avLst/>
          </a:prstGeom>
          <a:noFill/>
        </p:spPr>
        <p:txBody>
          <a:bodyPr wrap="square" lIns="45720" rIns="45720" tIns="18288" bIns="18288">
            <a:spAutoFit/>
          </a:bodyPr>
          <a:lstStyle/>
          <a:p>
            <a:pPr algn="l"/>
            <a:r>
              <a:rPr sz="2200" b="1" i="0">
                <a:solidFill>
                  <a:srgbClr val="31633D"/>
                </a:solidFill>
                <a:latin typeface="Arial"/>
              </a:rPr>
              <a:t>Tomorrow’s two priorities</a:t>
            </a:r>
          </a:p>
        </p:txBody>
      </p:sp>
      <p:sp>
        <p:nvSpPr>
          <p:cNvPr id="5" name="Rectangle 4"/>
          <p:cNvSpPr/>
          <p:nvPr/>
        </p:nvSpPr>
        <p:spPr>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6" name="TextBox 5"/>
          <p:cNvSpPr txBox="1"/>
          <p:nvPr/>
        </p:nvSpPr>
        <p:spPr>
          <a:xfrm>
            <a:off x="502920" y="6455664"/>
            <a:ext cx="5486400" cy="237744"/>
          </a:xfrm>
          <a:prstGeom prst="rect">
            <a:avLst/>
          </a:prstGeom>
          <a:noFill/>
        </p:spPr>
        <p:txBody>
          <a:bodyPr wrap="square" lIns="45720" rIns="45720" tIns="18288" bIns="18288">
            <a:spAutoFit/>
          </a:bodyPr>
          <a:lstStyle/>
          <a:p>
            <a:pPr algn="l"/>
            <a:r>
              <a:rPr sz="800" b="0" i="0">
                <a:solidFill>
                  <a:srgbClr val="5C6B62"/>
                </a:solidFill>
                <a:latin typeface="Arial"/>
              </a:rPr>
              <a:t>Mắt Sài Gòn  |  Optometry DA Training</a:t>
            </a:r>
          </a:p>
        </p:txBody>
      </p:sp>
      <p:sp>
        <p:nvSpPr>
          <p:cNvPr id="7" name="TextBox 6"/>
          <p:cNvSpPr txBox="1"/>
          <p:nvPr/>
        </p:nvSpPr>
        <p:spPr>
          <a:xfrm>
            <a:off x="10972800" y="6455664"/>
            <a:ext cx="713232" cy="237744"/>
          </a:xfrm>
          <a:prstGeom prst="rect">
            <a:avLst/>
          </a:prstGeom>
          <a:noFill/>
        </p:spPr>
        <p:txBody>
          <a:bodyPr wrap="square" lIns="45720" rIns="45720" tIns="18288" bIns="18288">
            <a:spAutoFit/>
          </a:bodyPr>
          <a:lstStyle/>
          <a:p>
            <a:pPr algn="r"/>
            <a:r>
              <a:rPr sz="800" b="1" i="0">
                <a:solidFill>
                  <a:srgbClr val="5C6B62"/>
                </a:solidFill>
                <a:latin typeface="Arial"/>
              </a:rPr>
              <a:t>10</a:t>
            </a:r>
          </a:p>
        </p:txBody>
      </p:sp>
      <p:sp>
        <p:nvSpPr>
          <p:cNvPr id="8" name="Rectangle 7"/>
          <p:cNvSpPr/>
          <p:nvPr/>
        </p:nvSpPr>
        <p:spPr>
          <a:xfrm>
            <a:off x="502920" y="1353312"/>
            <a:ext cx="5486400" cy="393192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9" name="Rectangle 8"/>
          <p:cNvSpPr/>
          <p:nvPr/>
        </p:nvSpPr>
        <p:spPr>
          <a:xfrm>
            <a:off x="502920" y="1353312"/>
            <a:ext cx="5486400" cy="5486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0" name="Oval 9"/>
          <p:cNvSpPr/>
          <p:nvPr/>
        </p:nvSpPr>
        <p:spPr>
          <a:xfrm>
            <a:off x="649224" y="1536192"/>
            <a:ext cx="310896" cy="310896"/>
          </a:xfrm>
          <a:prstGeom prst="ellipse">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 bIns="9144" lIns="9144" rIns="9144"/>
          <a:lstStyle/>
          <a:p>
            <a:pPr algn="ctr"/>
            <a:r>
              <a:rPr sz="1200" b="1" i="0">
                <a:solidFill>
                  <a:srgbClr val="FFFFFF"/>
                </a:solidFill>
                <a:latin typeface="Arial"/>
              </a:rPr>
              <a:t>1</a:t>
            </a:r>
          </a:p>
        </p:txBody>
      </p:sp>
      <p:sp>
        <p:nvSpPr>
          <p:cNvPr id="11" name="TextBox 10"/>
          <p:cNvSpPr txBox="1"/>
          <p:nvPr/>
        </p:nvSpPr>
        <p:spPr>
          <a:xfrm>
            <a:off x="1051560" y="1481328"/>
            <a:ext cx="4754880" cy="512064"/>
          </a:xfrm>
          <a:prstGeom prst="rect">
            <a:avLst/>
          </a:prstGeom>
          <a:noFill/>
        </p:spPr>
        <p:txBody>
          <a:bodyPr wrap="square" lIns="45720" rIns="45720" tIns="18288" bIns="18288">
            <a:spAutoFit/>
          </a:bodyPr>
          <a:lstStyle/>
          <a:p>
            <a:pPr algn="l">
              <a:lnSpc>
                <a:spcPct val="102000"/>
              </a:lnSpc>
            </a:pPr>
            <a:r>
              <a:rPr sz="1300" b="1" i="0">
                <a:solidFill>
                  <a:srgbClr val="31633D"/>
                </a:solidFill>
                <a:latin typeface="Arial"/>
              </a:rPr>
              <a:t>Get the dates right</a:t>
            </a:r>
          </a:p>
          <a:p>
            <a:pPr algn="l">
              <a:lnSpc>
                <a:spcPct val="102000"/>
              </a:lnSpc>
            </a:pPr>
            <a:r>
              <a:rPr sz="1300" b="1" i="0">
                <a:solidFill>
                  <a:srgbClr val="31633D"/>
                </a:solidFill>
                <a:latin typeface="Arial"/>
              </a:rPr>
              <a:t>including the old ones</a:t>
            </a:r>
          </a:p>
        </p:txBody>
      </p:sp>
      <p:sp>
        <p:nvSpPr>
          <p:cNvPr id="12" name="Rectangle 11"/>
          <p:cNvSpPr/>
          <p:nvPr/>
        </p:nvSpPr>
        <p:spPr>
          <a:xfrm>
            <a:off x="649224" y="2103120"/>
            <a:ext cx="5193792" cy="9144"/>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3" name="TextBox 12"/>
          <p:cNvSpPr txBox="1"/>
          <p:nvPr/>
        </p:nvSpPr>
        <p:spPr>
          <a:xfrm>
            <a:off x="649224" y="2212848"/>
            <a:ext cx="5193792" cy="1828800"/>
          </a:xfrm>
          <a:prstGeom prst="rect">
            <a:avLst/>
          </a:prstGeom>
          <a:noFill/>
        </p:spPr>
        <p:txBody>
          <a:bodyPr wrap="square" lIns="45720" rIns="45720" tIns="18288" bIns="18288">
            <a:spAutoFit/>
          </a:bodyPr>
          <a:lstStyle/>
          <a:p>
            <a:pPr algn="l">
              <a:lnSpc>
                <a:spcPct val="108000"/>
              </a:lnSpc>
              <a:spcAft>
                <a:spcPts val="700"/>
              </a:spcAft>
            </a:pPr>
            <a:r>
              <a:rPr sz="1050" b="0" i="0">
                <a:solidFill>
                  <a:srgbClr val="5C6B62"/>
                </a:solidFill>
                <a:latin typeface="Arial"/>
              </a:rPr>
              <a:t>▪  </a:t>
            </a:r>
            <a:r>
              <a:rPr sz="1050" b="0" i="0">
                <a:solidFill>
                  <a:srgbClr val="5C6B62"/>
                </a:solidFill>
                <a:latin typeface="Arial"/>
              </a:rPr>
              <a:t>The date in the contact name must be the date the customer collected</a:t>
            </a:r>
          </a:p>
          <a:p>
            <a:pPr algn="l">
              <a:lnSpc>
                <a:spcPct val="108000"/>
              </a:lnSpc>
              <a:spcAft>
                <a:spcPts val="700"/>
              </a:spcAft>
            </a:pPr>
            <a:r>
              <a:rPr sz="1050" b="0" i="0">
                <a:solidFill>
                  <a:srgbClr val="5C6B62"/>
                </a:solidFill>
                <a:latin typeface="Arial"/>
              </a:rPr>
              <a:t>▪  </a:t>
            </a:r>
            <a:r>
              <a:rPr sz="1050" b="0" i="0">
                <a:solidFill>
                  <a:srgbClr val="5C6B62"/>
                </a:solidFill>
                <a:latin typeface="Arial"/>
              </a:rPr>
              <a:t>Update it on the day of collection, not later in the week</a:t>
            </a:r>
          </a:p>
          <a:p>
            <a:pPr algn="l">
              <a:lnSpc>
                <a:spcPct val="108000"/>
              </a:lnSpc>
              <a:spcAft>
                <a:spcPts val="700"/>
              </a:spcAft>
            </a:pPr>
            <a:r>
              <a:rPr sz="1050" b="0" i="0">
                <a:solidFill>
                  <a:srgbClr val="5C6B62"/>
                </a:solidFill>
                <a:latin typeface="Arial"/>
              </a:rPr>
              <a:t>▪  </a:t>
            </a:r>
            <a:r>
              <a:rPr sz="1050" b="0" i="0">
                <a:solidFill>
                  <a:srgbClr val="5C6B62"/>
                </a:solidFill>
                <a:latin typeface="Arial"/>
              </a:rPr>
              <a:t>Go back through the existing contacts and correct the dates that are wrong</a:t>
            </a:r>
          </a:p>
          <a:p>
            <a:pPr algn="l">
              <a:lnSpc>
                <a:spcPct val="108000"/>
              </a:lnSpc>
              <a:spcAft>
                <a:spcPts val="700"/>
              </a:spcAft>
            </a:pPr>
            <a:r>
              <a:rPr sz="1050" b="0" i="0">
                <a:solidFill>
                  <a:srgbClr val="5C6B62"/>
                </a:solidFill>
                <a:latin typeface="Arial"/>
              </a:rPr>
              <a:t>▪  </a:t>
            </a:r>
            <a:r>
              <a:rPr sz="1050" b="0" i="0">
                <a:solidFill>
                  <a:srgbClr val="5C6B62"/>
                </a:solidFill>
                <a:latin typeface="Arial"/>
              </a:rPr>
              <a:t>Check yourself: the benefits message should carry the same date as the name</a:t>
            </a:r>
          </a:p>
          <a:p>
            <a:pPr algn="l">
              <a:lnSpc>
                <a:spcPct val="108000"/>
              </a:lnSpc>
              <a:spcAft>
                <a:spcPts val="700"/>
              </a:spcAft>
            </a:pPr>
            <a:r>
              <a:rPr sz="1050" b="0" i="0">
                <a:solidFill>
                  <a:srgbClr val="5C6B62"/>
                </a:solidFill>
                <a:latin typeface="Arial"/>
              </a:rPr>
              <a:t>▪  </a:t>
            </a:r>
            <a:r>
              <a:rPr sz="1050" b="0" i="0">
                <a:solidFill>
                  <a:srgbClr val="5C6B62"/>
                </a:solidFill>
                <a:latin typeface="Arial"/>
              </a:rPr>
              <a:t>Until the dates are right, nothing in the tracker can be trusted</a:t>
            </a:r>
          </a:p>
        </p:txBody>
      </p:sp>
      <p:sp>
        <p:nvSpPr>
          <p:cNvPr id="14" name="Rectangle 13"/>
          <p:cNvSpPr/>
          <p:nvPr/>
        </p:nvSpPr>
        <p:spPr>
          <a:xfrm>
            <a:off x="649224" y="4187952"/>
            <a:ext cx="5193792" cy="950976"/>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36576" bIns="36576" lIns="164592" rIns="164592"/>
          <a:lstStyle/>
          <a:p>
            <a:pPr algn="l">
              <a:lnSpc>
                <a:spcPct val="110000"/>
              </a:lnSpc>
            </a:pPr>
            <a:r>
              <a:rPr sz="1200" b="1" i="0">
                <a:solidFill>
                  <a:srgbClr val="31633D"/>
                </a:solidFill>
                <a:latin typeface="Arial"/>
              </a:rPr>
              <a:t>Right date, or nothing can be measured.</a:t>
            </a:r>
          </a:p>
        </p:txBody>
      </p:sp>
      <p:sp>
        <p:nvSpPr>
          <p:cNvPr id="15" name="Rectangle 14"/>
          <p:cNvSpPr/>
          <p:nvPr/>
        </p:nvSpPr>
        <p:spPr>
          <a:xfrm>
            <a:off x="6199632" y="1353312"/>
            <a:ext cx="5486400" cy="393192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6" name="Rectangle 15"/>
          <p:cNvSpPr/>
          <p:nvPr/>
        </p:nvSpPr>
        <p:spPr>
          <a:xfrm>
            <a:off x="6199632" y="1353312"/>
            <a:ext cx="5486400" cy="54864"/>
          </a:xfrm>
          <a:prstGeom prst="rect">
            <a:avLst/>
          </a:prstGeom>
          <a:solidFill>
            <a:srgbClr val="0C989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7" name="Oval 16"/>
          <p:cNvSpPr/>
          <p:nvPr/>
        </p:nvSpPr>
        <p:spPr>
          <a:xfrm>
            <a:off x="6345936" y="1536192"/>
            <a:ext cx="310896" cy="310896"/>
          </a:xfrm>
          <a:prstGeom prst="ellipse">
            <a:avLst/>
          </a:prstGeom>
          <a:solidFill>
            <a:srgbClr val="0C989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 bIns="9144" lIns="9144" rIns="9144"/>
          <a:lstStyle/>
          <a:p>
            <a:pPr algn="ctr"/>
            <a:r>
              <a:rPr sz="1200" b="1" i="0">
                <a:solidFill>
                  <a:srgbClr val="FFFFFF"/>
                </a:solidFill>
                <a:latin typeface="Arial"/>
              </a:rPr>
              <a:t>2</a:t>
            </a:r>
          </a:p>
        </p:txBody>
      </p:sp>
      <p:sp>
        <p:nvSpPr>
          <p:cNvPr id="18" name="TextBox 17"/>
          <p:cNvSpPr txBox="1"/>
          <p:nvPr/>
        </p:nvSpPr>
        <p:spPr>
          <a:xfrm>
            <a:off x="6748272" y="1481328"/>
            <a:ext cx="4754880" cy="512064"/>
          </a:xfrm>
          <a:prstGeom prst="rect">
            <a:avLst/>
          </a:prstGeom>
          <a:noFill/>
        </p:spPr>
        <p:txBody>
          <a:bodyPr wrap="square" lIns="45720" rIns="45720" tIns="18288" bIns="18288">
            <a:spAutoFit/>
          </a:bodyPr>
          <a:lstStyle/>
          <a:p>
            <a:pPr algn="l">
              <a:lnSpc>
                <a:spcPct val="102000"/>
              </a:lnSpc>
            </a:pPr>
            <a:r>
              <a:rPr sz="1300" b="1" i="0">
                <a:solidFill>
                  <a:srgbClr val="31633D"/>
                </a:solidFill>
                <a:latin typeface="Arial"/>
              </a:rPr>
              <a:t>Message on every due date</a:t>
            </a:r>
          </a:p>
          <a:p>
            <a:pPr algn="l">
              <a:lnSpc>
                <a:spcPct val="102000"/>
              </a:lnSpc>
            </a:pPr>
            <a:r>
              <a:rPr sz="1300" b="1" i="0">
                <a:solidFill>
                  <a:srgbClr val="31633D"/>
                </a:solidFill>
                <a:latin typeface="Arial"/>
              </a:rPr>
              <a:t>D1 through to CD+30</a:t>
            </a:r>
          </a:p>
        </p:txBody>
      </p:sp>
      <p:sp>
        <p:nvSpPr>
          <p:cNvPr id="19" name="Rectangle 18"/>
          <p:cNvSpPr/>
          <p:nvPr/>
        </p:nvSpPr>
        <p:spPr>
          <a:xfrm>
            <a:off x="6345936" y="2103120"/>
            <a:ext cx="5193792" cy="9144"/>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0" name="TextBox 19"/>
          <p:cNvSpPr txBox="1"/>
          <p:nvPr/>
        </p:nvSpPr>
        <p:spPr>
          <a:xfrm>
            <a:off x="6345936" y="2212848"/>
            <a:ext cx="5193792" cy="1828800"/>
          </a:xfrm>
          <a:prstGeom prst="rect">
            <a:avLst/>
          </a:prstGeom>
          <a:noFill/>
        </p:spPr>
        <p:txBody>
          <a:bodyPr wrap="square" lIns="45720" rIns="45720" tIns="18288" bIns="18288">
            <a:spAutoFit/>
          </a:bodyPr>
          <a:lstStyle/>
          <a:p>
            <a:pPr algn="l">
              <a:lnSpc>
                <a:spcPct val="108000"/>
              </a:lnSpc>
              <a:spcAft>
                <a:spcPts val="700"/>
              </a:spcAft>
            </a:pPr>
            <a:r>
              <a:rPr sz="1050" b="0" i="0">
                <a:solidFill>
                  <a:srgbClr val="5C6B62"/>
                </a:solidFill>
                <a:latin typeface="Arial"/>
              </a:rPr>
              <a:t>▪  </a:t>
            </a:r>
            <a:r>
              <a:rPr sz="1050" b="0" i="0">
                <a:solidFill>
                  <a:srgbClr val="5C6B62"/>
                </a:solidFill>
                <a:latin typeface="Arial"/>
              </a:rPr>
              <a:t>D1: the introduction and how long the glasses will take</a:t>
            </a:r>
          </a:p>
          <a:p>
            <a:pPr algn="l">
              <a:lnSpc>
                <a:spcPct val="108000"/>
              </a:lnSpc>
              <a:spcAft>
                <a:spcPts val="700"/>
              </a:spcAft>
            </a:pPr>
            <a:r>
              <a:rPr sz="1050" b="0" i="0">
                <a:solidFill>
                  <a:srgbClr val="5C6B62"/>
                </a:solidFill>
                <a:latin typeface="Arial"/>
              </a:rPr>
              <a:t>▪  </a:t>
            </a:r>
            <a:r>
              <a:rPr sz="1050" b="0" i="0">
                <a:solidFill>
                  <a:srgbClr val="5C6B62"/>
                </a:solidFill>
                <a:latin typeface="Arial"/>
              </a:rPr>
              <a:t>Day 6-7: the production update, ready or not ready</a:t>
            </a:r>
          </a:p>
          <a:p>
            <a:pPr algn="l">
              <a:lnSpc>
                <a:spcPct val="108000"/>
              </a:lnSpc>
              <a:spcAft>
                <a:spcPts val="700"/>
              </a:spcAft>
            </a:pPr>
            <a:r>
              <a:rPr sz="1050" b="0" i="0">
                <a:solidFill>
                  <a:srgbClr val="5C6B62"/>
                </a:solidFill>
                <a:latin typeface="Arial"/>
              </a:rPr>
              <a:t>▪  </a:t>
            </a:r>
            <a:r>
              <a:rPr sz="1050" b="0" i="0">
                <a:solidFill>
                  <a:srgbClr val="5C6B62"/>
                </a:solidFill>
                <a:latin typeface="Arial"/>
              </a:rPr>
              <a:t>CD: usage instructions, then benefits after they reply, then the referral ask</a:t>
            </a:r>
          </a:p>
          <a:p>
            <a:pPr algn="l">
              <a:lnSpc>
                <a:spcPct val="108000"/>
              </a:lnSpc>
              <a:spcAft>
                <a:spcPts val="700"/>
              </a:spcAft>
            </a:pPr>
            <a:r>
              <a:rPr sz="1050" b="0" i="0">
                <a:solidFill>
                  <a:srgbClr val="5C6B62"/>
                </a:solidFill>
                <a:latin typeface="Arial"/>
              </a:rPr>
              <a:t>▪  </a:t>
            </a:r>
            <a:r>
              <a:rPr sz="1050" b="0" i="0">
                <a:solidFill>
                  <a:srgbClr val="5C6B62"/>
                </a:solidFill>
                <a:latin typeface="Arial"/>
              </a:rPr>
              <a:t>Then CD+3-5, CD+7 or CD+14 by product, and CD+30</a:t>
            </a:r>
          </a:p>
          <a:p>
            <a:pPr algn="l">
              <a:lnSpc>
                <a:spcPct val="108000"/>
              </a:lnSpc>
              <a:spcAft>
                <a:spcPts val="700"/>
              </a:spcAft>
            </a:pPr>
            <a:r>
              <a:rPr sz="1050" b="0" i="0">
                <a:solidFill>
                  <a:srgbClr val="5C6B62"/>
                </a:solidFill>
                <a:latin typeface="Arial"/>
              </a:rPr>
              <a:t>▪  </a:t>
            </a:r>
            <a:r>
              <a:rPr sz="1050" b="0" i="0">
                <a:solidFill>
                  <a:srgbClr val="5C6B62"/>
                </a:solidFill>
                <a:latin typeface="Arial"/>
              </a:rPr>
              <a:t>Every customer who buys glasses, not only some</a:t>
            </a:r>
          </a:p>
        </p:txBody>
      </p:sp>
      <p:sp>
        <p:nvSpPr>
          <p:cNvPr id="21" name="Rectangle 20"/>
          <p:cNvSpPr/>
          <p:nvPr/>
        </p:nvSpPr>
        <p:spPr>
          <a:xfrm>
            <a:off x="6345936" y="4187952"/>
            <a:ext cx="5193792" cy="950976"/>
          </a:xfrm>
          <a:prstGeom prst="rect">
            <a:avLst/>
          </a:prstGeom>
          <a:solidFill>
            <a:srgbClr val="E4F3F3"/>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36576" bIns="36576" lIns="164592" rIns="164592"/>
          <a:lstStyle/>
          <a:p>
            <a:pPr algn="l">
              <a:lnSpc>
                <a:spcPct val="110000"/>
              </a:lnSpc>
            </a:pPr>
            <a:r>
              <a:rPr sz="1200" b="1" i="0">
                <a:solidFill>
                  <a:srgbClr val="31633D"/>
                </a:solidFill>
                <a:latin typeface="Arial"/>
              </a:rPr>
              <a:t>Benefits are part of CD, not a substitute for it.</a:t>
            </a:r>
          </a:p>
        </p:txBody>
      </p:sp>
      <p:sp>
        <p:nvSpPr>
          <p:cNvPr id="22" name="Rectangle 21"/>
          <p:cNvSpPr/>
          <p:nvPr/>
        </p:nvSpPr>
        <p:spPr>
          <a:xfrm>
            <a:off x="502920" y="5431536"/>
            <a:ext cx="11183112" cy="402336"/>
          </a:xfrm>
          <a:prstGeom prst="rect">
            <a:avLst/>
          </a:prstGeom>
          <a:solidFill>
            <a:srgbClr val="FDECE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46304" rIns="128016"/>
          <a:lstStyle/>
          <a:p>
            <a:pPr algn="l"/>
            <a:r>
              <a:rPr sz="950" b="1" i="0">
                <a:solidFill>
                  <a:srgbClr val="C0392B"/>
                </a:solidFill>
                <a:latin typeface="Arial"/>
              </a:rPr>
              <a:t>Separate issue for SH (Song Han):  </a:t>
            </a:r>
            <a:r>
              <a:rPr sz="950" b="0" i="0">
                <a:solidFill>
                  <a:srgbClr val="5C6B62"/>
                </a:solidFill>
                <a:latin typeface="Arial"/>
              </a:rPr>
              <a:t>almost no customer contacts are annotated and no membership benefits content has been sent. Start with the contact names — every other measurement depends on them.</a:t>
            </a:r>
          </a:p>
        </p:txBody>
      </p:sp>
      <p:sp>
        <p:nvSpPr>
          <p:cNvPr id="23" name="Rectangle 22"/>
          <p:cNvSpPr/>
          <p:nvPr/>
        </p:nvSpPr>
        <p:spPr>
          <a:xfrm>
            <a:off x="502920" y="5925312"/>
            <a:ext cx="11183112" cy="457200"/>
          </a:xfrm>
          <a:prstGeom prst="rect">
            <a:avLst/>
          </a:prstGeom>
          <a:solidFill>
            <a:srgbClr val="31633D"/>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a:lstStyle/>
          <a:p>
            <a:pPr algn="ctr"/>
            <a:r>
              <a:rPr sz="1600" b="1" i="0">
                <a:solidFill>
                  <a:srgbClr val="FFFFFF"/>
                </a:solidFill>
                <a:latin typeface="Arial"/>
              </a:rPr>
              <a:t>Every customer.    On time.    With the right content.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