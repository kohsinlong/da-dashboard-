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0" autoAdjust="0"/>
    <p:restoredTop sz="97218" autoAdjust="0"/>
  </p:normalViewPr>
  <p:slideViewPr>
    <p:cSldViewPr snapToGrid="0" snapToObjects="1">
      <p:cViewPr>
        <p:scale>
          <a:sx n="100" d="100"/>
          <a:sy n="100" d="100"/>
        </p:scale>
        <p:origin x="485" y="-1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29DCD4-E5E1-4931-B635-68873E32E1A8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CB61F9-EEAC-4562-B0FE-8177FD5D87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898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8CB61F9-EEAC-4562-B0FE-8177FD5D875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8241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D1DF3C-9737-A116-EE99-8303E0FC975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2557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Classification: Limited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316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46304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989320"/>
            <a:ext cx="12191969" cy="868680"/>
          </a:xfrm>
          <a:prstGeom prst="rect">
            <a:avLst/>
          </a:prstGeom>
          <a:solidFill>
            <a:srgbClr val="275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2048256"/>
            <a:ext cx="10424160" cy="21236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SG" sz="1200" b="1" i="0" dirty="0">
                <a:solidFill>
                  <a:srgbClr val="CFE6D8"/>
                </a:solidFill>
                <a:latin typeface="Arial"/>
              </a:rPr>
              <a:t>3 September 2026</a:t>
            </a:r>
            <a:endParaRPr sz="1200" b="1" i="0" dirty="0">
              <a:solidFill>
                <a:srgbClr val="CFE6D8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66928" y="2414016"/>
            <a:ext cx="10607040" cy="62459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lnSpc>
                <a:spcPct val="102000"/>
              </a:lnSpc>
            </a:pPr>
            <a:r>
              <a:rPr lang="en-US" sz="4000" b="1" dirty="0">
                <a:solidFill>
                  <a:srgbClr val="CFE6D8"/>
                </a:solidFill>
                <a:latin typeface="Arial"/>
              </a:rPr>
              <a:t>Optometry Doctor’s Assistant Training</a:t>
            </a:r>
            <a:endParaRPr sz="4000" b="1" i="0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66928" y="4078224"/>
            <a:ext cx="1920240" cy="45720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6928" y="4297680"/>
            <a:ext cx="8412480" cy="21236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dirty="0">
                <a:solidFill>
                  <a:srgbClr val="CFE6D8"/>
                </a:solidFill>
                <a:latin typeface="Arial"/>
              </a:rPr>
              <a:t>NGT   ·   CTE D5   ·   CTE D7   ·   LA   ·   SH (Song Han)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217920"/>
            <a:ext cx="7315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CFE6D8"/>
                </a:solidFill>
                <a:latin typeface="Arial"/>
              </a:rPr>
              <a:t>Prepared for DA training and review  ·  Internal use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100584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92640" cy="17581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 dirty="0">
                <a:solidFill>
                  <a:srgbClr val="2E9C4C"/>
                </a:solidFill>
                <a:latin typeface="Arial"/>
              </a:rPr>
              <a:t>1. </a:t>
            </a:r>
            <a:r>
              <a:rPr lang="en-SG" sz="950" b="1" i="0" dirty="0">
                <a:solidFill>
                  <a:srgbClr val="2E9C4C"/>
                </a:solidFill>
                <a:latin typeface="Arial"/>
              </a:rPr>
              <a:t>ZALO</a:t>
            </a:r>
            <a:r>
              <a:rPr sz="950" b="1" i="0" dirty="0">
                <a:solidFill>
                  <a:srgbClr val="2E9C4C"/>
                </a:solidFill>
                <a:latin typeface="Arial"/>
              </a:rPr>
              <a:t> F</a:t>
            </a:r>
            <a:r>
              <a:rPr lang="en-SG" sz="950" b="1" i="0" dirty="0">
                <a:solidFill>
                  <a:srgbClr val="2E9C4C"/>
                </a:solidFill>
                <a:latin typeface="Arial"/>
              </a:rPr>
              <a:t>EEDBACK</a:t>
            </a:r>
            <a:r>
              <a:rPr sz="950" b="1" i="0" dirty="0">
                <a:solidFill>
                  <a:srgbClr val="2E9C4C"/>
                </a:solidFill>
                <a:latin typeface="Arial"/>
              </a:rPr>
              <a:t>  |</a:t>
            </a:r>
            <a:r>
              <a:rPr lang="en-SG" sz="950" b="1" i="0" dirty="0">
                <a:solidFill>
                  <a:srgbClr val="2E9C4C"/>
                </a:solidFill>
                <a:latin typeface="Arial"/>
              </a:rPr>
              <a:t> CLINIC SPECIFIC</a:t>
            </a:r>
            <a:endParaRPr sz="950" b="1" i="0" dirty="0">
              <a:solidFill>
                <a:srgbClr val="2E9C4C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247120" cy="34842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lang="en-SG" sz="2200" b="1" i="0" dirty="0" err="1">
                <a:solidFill>
                  <a:srgbClr val="31633D"/>
                </a:solidFill>
                <a:latin typeface="Arial"/>
              </a:rPr>
              <a:t>Zalo</a:t>
            </a:r>
            <a:r>
              <a:rPr lang="en-SG" sz="2200" b="1" i="0" dirty="0">
                <a:solidFill>
                  <a:srgbClr val="31633D"/>
                </a:solidFill>
                <a:latin typeface="Arial"/>
              </a:rPr>
              <a:t> Performance and Feedback for each clinic </a:t>
            </a:r>
            <a:endParaRPr sz="2200" b="1" i="0" dirty="0">
              <a:solidFill>
                <a:srgbClr val="31633D"/>
              </a:solidFill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2920" y="1179576"/>
            <a:ext cx="11186129" cy="18288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548640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62"/>
                </a:solidFill>
                <a:latin typeface="Arial"/>
              </a:rPr>
              <a:t>Mắt Sài Gòn  |  Optometry DA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13232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C6B62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060704"/>
            <a:ext cx="11183112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C0392B"/>
                </a:solidFill>
                <a:latin typeface="Arial"/>
              </a:rPr>
              <a:t>Read these numbers with slide 8 in mind: some Zalo tag dates are wrong, so follow-up that was sent can appear as missed.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16736"/>
            <a:ext cx="3712463" cy="3931920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316736"/>
            <a:ext cx="3712463" cy="59436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9224" y="1444752"/>
            <a:ext cx="146304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1633D"/>
                </a:solidFill>
                <a:latin typeface="Arial"/>
              </a:rPr>
              <a:t>NGT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1481328"/>
            <a:ext cx="1920239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62"/>
                </a:solidFill>
                <a:latin typeface="Arial"/>
              </a:rPr>
              <a:t>Total  </a:t>
            </a:r>
            <a:r>
              <a:rPr sz="1000" b="1">
                <a:solidFill>
                  <a:srgbClr val="2E9C4C"/>
                </a:solidFill>
                <a:latin typeface="Arial"/>
              </a:rPr>
              <a:t>11/26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" y="1755648"/>
            <a:ext cx="656539" cy="420624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1783080"/>
            <a:ext cx="638251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5C6B62"/>
                </a:solidFill>
                <a:latin typeface="Arial"/>
              </a:rPr>
              <a:t>D6-7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1938528"/>
            <a:ext cx="638251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1633D"/>
                </a:solidFill>
                <a:latin typeface="Arial"/>
              </a:rPr>
              <a:t>2/3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33195" y="1755648"/>
            <a:ext cx="656539" cy="420624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42339" y="1783080"/>
            <a:ext cx="638251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5C6B62"/>
                </a:solidFill>
                <a:latin typeface="Arial"/>
              </a:rPr>
              <a:t>CD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2339" y="1938528"/>
            <a:ext cx="638251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1633D"/>
                </a:solidFill>
                <a:latin typeface="Arial"/>
              </a:rPr>
              <a:t>2/3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017166" y="1755648"/>
            <a:ext cx="656539" cy="420624"/>
          </a:xfrm>
          <a:prstGeom prst="rect">
            <a:avLst/>
          </a:prstGeom>
          <a:solidFill>
            <a:srgbClr val="FDECEA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026310" y="1783080"/>
            <a:ext cx="638251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5C6B62"/>
                </a:solidFill>
                <a:latin typeface="Arial"/>
              </a:rPr>
              <a:t>CD+3-5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26310" y="1938528"/>
            <a:ext cx="638251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0392B"/>
                </a:solidFill>
                <a:latin typeface="Arial"/>
              </a:rPr>
              <a:t>0/4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01137" y="1755648"/>
            <a:ext cx="656539" cy="420624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710281" y="1783080"/>
            <a:ext cx="638251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5C6B62"/>
                </a:solidFill>
                <a:latin typeface="Arial"/>
              </a:rPr>
              <a:t>CD+14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10281" y="1938528"/>
            <a:ext cx="638251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1633D"/>
                </a:solidFill>
                <a:latin typeface="Arial"/>
              </a:rPr>
              <a:t>2/3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85108" y="1755648"/>
            <a:ext cx="656539" cy="420624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394252" y="1783080"/>
            <a:ext cx="638251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5C6B62"/>
                </a:solidFill>
                <a:latin typeface="Arial"/>
              </a:rPr>
              <a:t>CD+30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94252" y="1938528"/>
            <a:ext cx="638251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1633D"/>
                </a:solidFill>
                <a:latin typeface="Arial"/>
              </a:rPr>
              <a:t>5/13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" y="2267712"/>
            <a:ext cx="3419856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E9C4C"/>
                </a:solidFill>
                <a:latin typeface="Arial"/>
              </a:rPr>
              <a:t>What went well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" y="2423160"/>
            <a:ext cx="3419856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5C6B62"/>
                </a:solidFill>
                <a:latin typeface="Arial"/>
              </a:rPr>
              <a:t>✓  Some customers received the CD30 follow-up, but not all of them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5C6B62"/>
                </a:solidFill>
                <a:latin typeface="Arial"/>
              </a:rPr>
              <a:t>✓  Referrals were asked for, but not often enough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" y="2761488"/>
            <a:ext cx="3419856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9770B"/>
                </a:solidFill>
                <a:latin typeface="Arial"/>
              </a:rPr>
              <a:t>What to change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" y="2916936"/>
            <a:ext cx="3419856" cy="94500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dirty="0">
                <a:solidFill>
                  <a:srgbClr val="5C6B62"/>
                </a:solidFill>
                <a:latin typeface="Arial"/>
              </a:rPr>
              <a:t>▪  Send more follow-ups on time — usage instructions (CD1), check on the child’s glasses (CD3–CD</a:t>
            </a:r>
            <a:r>
              <a:rPr lang="en-SG" sz="800" b="0" i="0" dirty="0">
                <a:solidFill>
                  <a:srgbClr val="5C6B62"/>
                </a:solidFill>
                <a:latin typeface="Arial"/>
              </a:rPr>
              <a:t>5</a:t>
            </a:r>
            <a:r>
              <a:rPr sz="800" b="0" i="0" dirty="0">
                <a:solidFill>
                  <a:srgbClr val="5C6B62"/>
                </a:solidFill>
                <a:latin typeface="Arial"/>
              </a:rPr>
              <a:t>), myopia-control information (CD14), usage check (CD30)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dirty="0">
                <a:solidFill>
                  <a:srgbClr val="5C6B62"/>
                </a:solidFill>
                <a:latin typeface="Arial"/>
              </a:rPr>
              <a:t>▪  Every customer must be followed up, not only some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dirty="0">
                <a:solidFill>
                  <a:srgbClr val="5C6B62"/>
                </a:solidFill>
                <a:latin typeface="Arial"/>
              </a:rPr>
              <a:t>▪  Meet every customer in person at collection, so they know who you are when you message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dirty="0">
                <a:solidFill>
                  <a:srgbClr val="5C6B62"/>
                </a:solidFill>
                <a:latin typeface="Arial"/>
              </a:rPr>
              <a:t>▪  Ask every customer for a referral. If you do not ask, they will not refer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71416" y="1316736"/>
            <a:ext cx="3712463" cy="3931920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471416" y="1316736"/>
            <a:ext cx="3712463" cy="59436"/>
          </a:xfrm>
          <a:prstGeom prst="rect">
            <a:avLst/>
          </a:prstGeom>
          <a:solidFill>
            <a:srgbClr val="B97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17720" y="1444752"/>
            <a:ext cx="146304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1633D"/>
                </a:solidFill>
                <a:latin typeface="Arial"/>
              </a:rPr>
              <a:t>CTE D5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17336" y="1481328"/>
            <a:ext cx="1920239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62"/>
                </a:solidFill>
                <a:latin typeface="Arial"/>
              </a:rPr>
              <a:t>Total  </a:t>
            </a:r>
            <a:r>
              <a:rPr sz="1000" b="1">
                <a:solidFill>
                  <a:srgbClr val="B9770B"/>
                </a:solidFill>
                <a:latin typeface="Arial"/>
              </a:rPr>
              <a:t>5/14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17720" y="1755648"/>
            <a:ext cx="542543" cy="420624"/>
          </a:xfrm>
          <a:prstGeom prst="rect">
            <a:avLst/>
          </a:prstGeom>
          <a:solidFill>
            <a:srgbClr val="F2F2F2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626864" y="1783080"/>
            <a:ext cx="524255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5C6B62"/>
                </a:solidFill>
                <a:latin typeface="Arial"/>
              </a:rPr>
              <a:t>D6-7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26864" y="1938528"/>
            <a:ext cx="524255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1633D"/>
                </a:solidFill>
                <a:latin typeface="Arial"/>
              </a:rPr>
              <a:t>—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187696" y="1755648"/>
            <a:ext cx="542543" cy="420624"/>
          </a:xfrm>
          <a:prstGeom prst="rect">
            <a:avLst/>
          </a:prstGeom>
          <a:solidFill>
            <a:srgbClr val="F2F2F2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196839" y="1783080"/>
            <a:ext cx="524255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5C6B62"/>
                </a:solidFill>
                <a:latin typeface="Arial"/>
              </a:rPr>
              <a:t>CD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96839" y="1938528"/>
            <a:ext cx="524255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1633D"/>
                </a:solidFill>
                <a:latin typeface="Arial"/>
              </a:rPr>
              <a:t>—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757671" y="1755648"/>
            <a:ext cx="542543" cy="420624"/>
          </a:xfrm>
          <a:prstGeom prst="rect">
            <a:avLst/>
          </a:prstGeom>
          <a:solidFill>
            <a:srgbClr val="FDECEA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766815" y="1783080"/>
            <a:ext cx="524255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5C6B62"/>
                </a:solidFill>
                <a:latin typeface="Arial"/>
              </a:rPr>
              <a:t>CD+3-5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766815" y="1938528"/>
            <a:ext cx="524255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0392B"/>
                </a:solidFill>
                <a:latin typeface="Arial"/>
              </a:rPr>
              <a:t>0/2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27647" y="1755648"/>
            <a:ext cx="542543" cy="420624"/>
          </a:xfrm>
          <a:prstGeom prst="rect">
            <a:avLst/>
          </a:prstGeom>
          <a:solidFill>
            <a:srgbClr val="FDECEA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336791" y="1783080"/>
            <a:ext cx="524255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5C6B62"/>
                </a:solidFill>
                <a:latin typeface="Arial"/>
              </a:rPr>
              <a:t>CD+7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36791" y="1938528"/>
            <a:ext cx="524255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0392B"/>
                </a:solidFill>
                <a:latin typeface="Arial"/>
              </a:rPr>
              <a:t>0/2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897623" y="1755648"/>
            <a:ext cx="542543" cy="420624"/>
          </a:xfrm>
          <a:prstGeom prst="rect">
            <a:avLst/>
          </a:prstGeom>
          <a:solidFill>
            <a:srgbClr val="FDECEA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906767" y="1783080"/>
            <a:ext cx="524255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5C6B62"/>
                </a:solidFill>
                <a:latin typeface="Arial"/>
              </a:rPr>
              <a:t>CD+14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06767" y="1938528"/>
            <a:ext cx="524255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0392B"/>
                </a:solidFill>
                <a:latin typeface="Arial"/>
              </a:rPr>
              <a:t>0/4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67599" y="1755648"/>
            <a:ext cx="542543" cy="420624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476743" y="1783080"/>
            <a:ext cx="524255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5C6B62"/>
                </a:solidFill>
                <a:latin typeface="Arial"/>
              </a:rPr>
              <a:t>CD+30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76743" y="1938528"/>
            <a:ext cx="524255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1633D"/>
                </a:solidFill>
                <a:latin typeface="Arial"/>
              </a:rPr>
              <a:t>5/6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17720" y="2267712"/>
            <a:ext cx="3419856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E9C4C"/>
                </a:solidFill>
                <a:latin typeface="Arial"/>
              </a:rPr>
              <a:t>What went well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17720" y="2423160"/>
            <a:ext cx="3419856" cy="6903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5C6B62"/>
                </a:solidFill>
                <a:latin typeface="Arial"/>
              </a:rPr>
              <a:t>✓  CD30 follow-ups were made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5C6B62"/>
                </a:solidFill>
                <a:latin typeface="Arial"/>
              </a:rPr>
              <a:t>✓  Collection notifications were sent, and some customers were helped with courier delivery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>
                <a:solidFill>
                  <a:srgbClr val="5C6B62"/>
                </a:solidFill>
                <a:latin typeface="Arial"/>
              </a:rPr>
              <a:t>✓  The QR code on the counter card has increased the number of customers added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17720" y="3131820"/>
            <a:ext cx="3419856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9770B"/>
                </a:solidFill>
                <a:latin typeface="Arial"/>
              </a:rPr>
              <a:t>What to change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17720" y="3287268"/>
            <a:ext cx="3419856" cy="9555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dirty="0">
                <a:solidFill>
                  <a:srgbClr val="5C6B62"/>
                </a:solidFill>
                <a:latin typeface="Arial"/>
              </a:rPr>
              <a:t>▪  After payment, add the customer on </a:t>
            </a:r>
            <a:r>
              <a:rPr sz="800" b="0" i="0" dirty="0" err="1">
                <a:solidFill>
                  <a:srgbClr val="5C6B62"/>
                </a:solidFill>
                <a:latin typeface="Arial"/>
              </a:rPr>
              <a:t>Zalo</a:t>
            </a:r>
            <a:r>
              <a:rPr sz="800" b="0" i="0" dirty="0">
                <a:solidFill>
                  <a:srgbClr val="5C6B62"/>
                </a:solidFill>
                <a:latin typeface="Arial"/>
              </a:rPr>
              <a:t> and tell them how long the glasses will take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dirty="0">
                <a:solidFill>
                  <a:srgbClr val="5C6B62"/>
                </a:solidFill>
                <a:latin typeface="Arial"/>
              </a:rPr>
              <a:t>▪  After collection, send a CD</a:t>
            </a:r>
            <a:r>
              <a:rPr lang="en-SG" sz="800" dirty="0">
                <a:solidFill>
                  <a:srgbClr val="5C6B62"/>
                </a:solidFill>
                <a:latin typeface="Arial"/>
              </a:rPr>
              <a:t>+3-5</a:t>
            </a:r>
            <a:r>
              <a:rPr sz="800" b="0" i="0" dirty="0">
                <a:solidFill>
                  <a:srgbClr val="5C6B62"/>
                </a:solidFill>
                <a:latin typeface="Arial"/>
              </a:rPr>
              <a:t> follow-up to ask how the glasses are being worn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dirty="0">
                <a:solidFill>
                  <a:srgbClr val="5C6B62"/>
                </a:solidFill>
                <a:latin typeface="Arial"/>
              </a:rPr>
              <a:t>▪  Ask for a referral once the customer has replied positively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dirty="0">
                <a:solidFill>
                  <a:srgbClr val="5C6B62"/>
                </a:solidFill>
                <a:latin typeface="Arial"/>
              </a:rPr>
              <a:t>▪  Use the CD14 follow-up to send educational content or discuss how the glasses are being used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439912" y="1316736"/>
            <a:ext cx="3712463" cy="3931920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8439912" y="1316736"/>
            <a:ext cx="3712463" cy="59436"/>
          </a:xfrm>
          <a:prstGeom prst="rect">
            <a:avLst/>
          </a:prstGeom>
          <a:solidFill>
            <a:srgbClr val="0C9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586216" y="1444752"/>
            <a:ext cx="146304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31633D"/>
                </a:solidFill>
                <a:latin typeface="Arial"/>
              </a:rPr>
              <a:t>CTE D7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85832" y="1481328"/>
            <a:ext cx="1920239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C6B62"/>
                </a:solidFill>
                <a:latin typeface="Arial"/>
              </a:rPr>
              <a:t>Total  </a:t>
            </a:r>
            <a:r>
              <a:rPr sz="1000" b="1">
                <a:solidFill>
                  <a:srgbClr val="0C989A"/>
                </a:solidFill>
                <a:latin typeface="Arial"/>
              </a:rPr>
              <a:t>3/6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586216" y="1755648"/>
            <a:ext cx="656539" cy="420624"/>
          </a:xfrm>
          <a:prstGeom prst="rect">
            <a:avLst/>
          </a:prstGeom>
          <a:solidFill>
            <a:srgbClr val="F2F2F2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595360" y="1783080"/>
            <a:ext cx="638251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5C6B62"/>
                </a:solidFill>
                <a:latin typeface="Arial"/>
              </a:rPr>
              <a:t>D6-7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595360" y="1938528"/>
            <a:ext cx="638251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1633D"/>
                </a:solidFill>
                <a:latin typeface="Arial"/>
              </a:rPr>
              <a:t>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270187" y="1755648"/>
            <a:ext cx="656539" cy="420624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9279331" y="1783080"/>
            <a:ext cx="638251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5C6B62"/>
                </a:solidFill>
                <a:latin typeface="Arial"/>
              </a:rPr>
              <a:t>CD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79331" y="1938528"/>
            <a:ext cx="638251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1633D"/>
                </a:solidFill>
                <a:latin typeface="Arial"/>
              </a:rPr>
              <a:t>2/2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954158" y="1755648"/>
            <a:ext cx="656539" cy="420624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9963302" y="1783080"/>
            <a:ext cx="638251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5C6B62"/>
                </a:solidFill>
                <a:latin typeface="Arial"/>
              </a:rPr>
              <a:t>CD+3-5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963302" y="1938528"/>
            <a:ext cx="638251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1633D"/>
                </a:solidFill>
                <a:latin typeface="Arial"/>
              </a:rPr>
              <a:t>1/2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638129" y="1755648"/>
            <a:ext cx="656539" cy="420624"/>
          </a:xfrm>
          <a:prstGeom prst="rect">
            <a:avLst/>
          </a:prstGeom>
          <a:solidFill>
            <a:srgbClr val="FDECEA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0647273" y="1783080"/>
            <a:ext cx="638251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5C6B62"/>
                </a:solidFill>
                <a:latin typeface="Arial"/>
              </a:rPr>
              <a:t>CD+14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647273" y="1938528"/>
            <a:ext cx="638251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0392B"/>
                </a:solidFill>
                <a:latin typeface="Arial"/>
              </a:rPr>
              <a:t>0/1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1322100" y="1755648"/>
            <a:ext cx="656539" cy="420624"/>
          </a:xfrm>
          <a:prstGeom prst="rect">
            <a:avLst/>
          </a:prstGeom>
          <a:solidFill>
            <a:srgbClr val="FDECEA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1331244" y="1783080"/>
            <a:ext cx="638251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5C6B62"/>
                </a:solidFill>
                <a:latin typeface="Arial"/>
              </a:rPr>
              <a:t>CD+30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331244" y="1938528"/>
            <a:ext cx="638251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0392B"/>
                </a:solidFill>
                <a:latin typeface="Arial"/>
              </a:rPr>
              <a:t>0/1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586216" y="2267712"/>
            <a:ext cx="3419856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E9C4C"/>
                </a:solidFill>
                <a:latin typeface="Arial"/>
              </a:rPr>
              <a:t>What went well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586216" y="2423160"/>
            <a:ext cx="3419856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dirty="0">
                <a:solidFill>
                  <a:srgbClr val="5C6B62"/>
                </a:solidFill>
                <a:latin typeface="Arial"/>
              </a:rPr>
              <a:t>✓  Some customers were told how long the glasses would take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dirty="0">
                <a:solidFill>
                  <a:srgbClr val="5C6B62"/>
                </a:solidFill>
                <a:latin typeface="Arial"/>
              </a:rPr>
              <a:t>✓  Customer enquiries were followed up promptly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8586216" y="2761488"/>
            <a:ext cx="3419856" cy="164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9770B"/>
                </a:solidFill>
                <a:latin typeface="Arial"/>
              </a:rPr>
              <a:t>What to change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586216" y="2916936"/>
            <a:ext cx="3419856" cy="9555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dirty="0">
                <a:solidFill>
                  <a:srgbClr val="5C6B62"/>
                </a:solidFill>
                <a:latin typeface="Arial"/>
              </a:rPr>
              <a:t>▪  Customer numbers are low, so there is time to message first and send every CD follow-up on time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dirty="0">
                <a:solidFill>
                  <a:srgbClr val="5C6B62"/>
                </a:solidFill>
                <a:latin typeface="Arial"/>
              </a:rPr>
              <a:t>▪  Send usage instructions (CD1), check on the child’s glasses (CD3–CD7), myopia-control information (CD14) and a usage check (CD30)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300"/>
              </a:spcAft>
            </a:pPr>
            <a:r>
              <a:rPr sz="800" b="0" i="0" dirty="0">
                <a:solidFill>
                  <a:srgbClr val="5C6B62"/>
                </a:solidFill>
                <a:latin typeface="Arial"/>
              </a:rPr>
              <a:t>▪  When the customer replies well — for example after you confirm courier delivery — ask them for a referral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02920" y="5376672"/>
            <a:ext cx="11186129" cy="256032"/>
          </a:xfrm>
          <a:prstGeom prst="rect">
            <a:avLst/>
          </a:prstGeom>
          <a:solidFill>
            <a:srgbClr val="316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Not yet in the tracked numbers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02920" y="5650992"/>
            <a:ext cx="5705856" cy="566928"/>
          </a:xfrm>
          <a:prstGeom prst="rect">
            <a:avLst/>
          </a:prstGeom>
          <a:solidFill>
            <a:srgbClr val="FDECEA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tlCol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 dirty="0">
                <a:solidFill>
                  <a:srgbClr val="C0392B"/>
                </a:solidFill>
                <a:latin typeface="Arial"/>
              </a:rPr>
              <a:t>SH (Song Han)  ·  </a:t>
            </a:r>
            <a:r>
              <a:rPr sz="1000" b="1" dirty="0">
                <a:solidFill>
                  <a:srgbClr val="31633D"/>
                </a:solidFill>
                <a:latin typeface="Arial"/>
              </a:rPr>
              <a:t>Access to </a:t>
            </a:r>
            <a:r>
              <a:rPr sz="1000" b="1" dirty="0" err="1">
                <a:solidFill>
                  <a:srgbClr val="31633D"/>
                </a:solidFill>
                <a:latin typeface="Arial"/>
              </a:rPr>
              <a:t>Zalo</a:t>
            </a:r>
            <a:r>
              <a:rPr sz="1000" b="1" dirty="0">
                <a:solidFill>
                  <a:srgbClr val="31633D"/>
                </a:solidFill>
                <a:latin typeface="Arial"/>
              </a:rPr>
              <a:t> disconnected</a:t>
            </a:r>
            <a:r>
              <a:rPr lang="en-SG" sz="1000" b="1" dirty="0">
                <a:solidFill>
                  <a:srgbClr val="31633D"/>
                </a:solidFill>
                <a:latin typeface="Arial"/>
              </a:rPr>
              <a:t> &amp; CRM Form not updated – as of 2/9/26</a:t>
            </a:r>
            <a:endParaRPr sz="1000" b="1" dirty="0">
              <a:solidFill>
                <a:srgbClr val="31633D"/>
              </a:solidFill>
              <a:latin typeface="Arial"/>
            </a:endParaRP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dirty="0">
                <a:solidFill>
                  <a:srgbClr val="5C6B62"/>
                </a:solidFill>
                <a:latin typeface="Arial"/>
              </a:rPr>
              <a:t>Pending update of the CRM form. There is no channel to send follow-up on, so nothing can be sent or measured. This needs to be fixed by IT, not by the DA.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45936" y="5650992"/>
            <a:ext cx="5340096" cy="566928"/>
          </a:xfrm>
          <a:prstGeom prst="rect">
            <a:avLst/>
          </a:prstGeom>
          <a:solidFill>
            <a:srgbClr val="FDF6E3"/>
          </a:solidFill>
          <a:ln w="9525">
            <a:solidFill>
              <a:srgbClr val="B977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73152" rtlCol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B9770B"/>
                </a:solidFill>
                <a:latin typeface="Arial"/>
              </a:rPr>
              <a:t>LA  ·  </a:t>
            </a:r>
            <a:r>
              <a:rPr sz="1000" b="1">
                <a:solidFill>
                  <a:srgbClr val="31633D"/>
                </a:solidFill>
                <a:latin typeface="Arial"/>
              </a:rPr>
              <a:t>Pending tracker go-live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B62"/>
                </a:solidFill>
                <a:latin typeface="Arial"/>
              </a:rPr>
              <a:t>Not measured this week. Reviewed by reading the conversations. See slide 3.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100584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92640" cy="17581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lnSpc>
                <a:spcPct val="95000"/>
              </a:lnSpc>
            </a:pPr>
            <a:r>
              <a:rPr lang="en-SG" sz="950" b="1" dirty="0">
                <a:solidFill>
                  <a:srgbClr val="2E9C4C"/>
                </a:solidFill>
                <a:latin typeface="Arial"/>
              </a:rPr>
              <a:t>1. ZALO FEEDBACK  | CLINIC SPECIFIC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24712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1633D"/>
                </a:solidFill>
                <a:latin typeface="Arial"/>
              </a:rPr>
              <a:t>LA — what worked, and what to change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9576"/>
            <a:ext cx="11186129" cy="18288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548640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62"/>
                </a:solidFill>
                <a:latin typeface="Arial"/>
              </a:rPr>
              <a:t>Mắt Sài Gòn  |  Optometry DA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13232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C6B62"/>
                </a:solidFill>
                <a:latin typeface="Arial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16736"/>
            <a:ext cx="11183112" cy="347472"/>
          </a:xfrm>
          <a:prstGeom prst="rect">
            <a:avLst/>
          </a:prstGeom>
          <a:solidFill>
            <a:srgbClr val="FDF6E3"/>
          </a:solidFill>
          <a:ln w="9525">
            <a:solidFill>
              <a:srgbClr val="B977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tlCol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B9770B"/>
                </a:solidFill>
                <a:latin typeface="Arial"/>
              </a:rPr>
              <a:t>LA  ·  Pending tracker go-live.  </a:t>
            </a:r>
            <a:r>
              <a:rPr sz="1000" b="0">
                <a:solidFill>
                  <a:srgbClr val="5C6B62"/>
                </a:solidFill>
                <a:latin typeface="Arial"/>
              </a:rPr>
              <a:t>Not measured this week. Reviewed by reading the conversations.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92224"/>
            <a:ext cx="5577840" cy="310896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What went well — other clinics should do the same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57984"/>
            <a:ext cx="5577840" cy="1133856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2157984"/>
            <a:ext cx="50292" cy="1133856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249424"/>
            <a:ext cx="5230368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E9C4C"/>
                </a:solidFill>
                <a:latin typeface="Arial"/>
              </a:rPr>
              <a:t>✓  </a:t>
            </a:r>
            <a:r>
              <a:rPr sz="1050" b="1">
                <a:solidFill>
                  <a:srgbClr val="31633D"/>
                </a:solidFill>
                <a:latin typeface="Arial"/>
              </a:rPr>
              <a:t>Ortho-K day-one follow-up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505456"/>
            <a:ext cx="5230368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62"/>
                </a:solidFill>
                <a:latin typeface="Arial"/>
              </a:rPr>
              <a:t>Some Ortho-K customers were called on the child’s first day wearing the lenses. This is good. Do this for every Ortho-K customer, not only some.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64991"/>
            <a:ext cx="5577840" cy="1133856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2920" y="3364991"/>
            <a:ext cx="50292" cy="1133856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3456432"/>
            <a:ext cx="5230368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E9C4C"/>
                </a:solidFill>
                <a:latin typeface="Arial"/>
              </a:rPr>
              <a:t>✓  </a:t>
            </a:r>
            <a:r>
              <a:rPr sz="1050" b="1">
                <a:solidFill>
                  <a:srgbClr val="31633D"/>
                </a:solidFill>
                <a:latin typeface="Arial"/>
              </a:rPr>
              <a:t>Free recheck follow-up for MC customers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712463"/>
            <a:ext cx="5230368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62"/>
                </a:solidFill>
                <a:latin typeface="Arial"/>
              </a:rPr>
              <a:t>MC customers were contacted about their free recheck. This is good. In the same conversation, ask the customer to refer someone.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572000"/>
            <a:ext cx="5577840" cy="1133856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2920" y="4572000"/>
            <a:ext cx="50292" cy="1133856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4663440"/>
            <a:ext cx="5230368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2E9C4C"/>
                </a:solidFill>
                <a:latin typeface="Arial"/>
              </a:rPr>
              <a:t>✓  </a:t>
            </a:r>
            <a:r>
              <a:rPr sz="1050" b="1">
                <a:solidFill>
                  <a:srgbClr val="31633D"/>
                </a:solidFill>
                <a:latin typeface="Arial"/>
              </a:rPr>
              <a:t>Customer enquiries answered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919472"/>
            <a:ext cx="5230368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62"/>
                </a:solidFill>
                <a:latin typeface="Arial"/>
              </a:rPr>
              <a:t>Almost all customer questions were answered. This is good. Keep learning about the products, because solving more problems builds trust.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91072" y="1792224"/>
            <a:ext cx="5394960" cy="310896"/>
          </a:xfrm>
          <a:prstGeom prst="rect">
            <a:avLst/>
          </a:prstGeom>
          <a:solidFill>
            <a:srgbClr val="B97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What to change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91072" y="2157984"/>
            <a:ext cx="5394960" cy="1133856"/>
          </a:xfrm>
          <a:prstGeom prst="rect">
            <a:avLst/>
          </a:prstGeom>
          <a:solidFill>
            <a:srgbClr val="FDF6E3"/>
          </a:solidFill>
          <a:ln w="9525">
            <a:solidFill>
              <a:srgbClr val="B977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437376" y="2276856"/>
            <a:ext cx="237744" cy="237744"/>
          </a:xfrm>
          <a:prstGeom prst="ellipse">
            <a:avLst/>
          </a:prstGeom>
          <a:solidFill>
            <a:srgbClr val="B97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8272" y="2258568"/>
            <a:ext cx="4773168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1633D"/>
                </a:solidFill>
                <a:latin typeface="Arial"/>
              </a:rPr>
              <a:t>Add remarks for older existing customers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8272" y="2523744"/>
            <a:ext cx="4773168" cy="6949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62"/>
                </a:solidFill>
                <a:latin typeface="Arial"/>
              </a:rPr>
              <a:t>For customers who bought before the tracker started, add a remark with the approximate collection date.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91072" y="3364991"/>
            <a:ext cx="5394960" cy="1133856"/>
          </a:xfrm>
          <a:prstGeom prst="rect">
            <a:avLst/>
          </a:prstGeom>
          <a:solidFill>
            <a:srgbClr val="FDF6E3"/>
          </a:solidFill>
          <a:ln w="9525">
            <a:solidFill>
              <a:srgbClr val="B977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6437376" y="3483863"/>
            <a:ext cx="237744" cy="237744"/>
          </a:xfrm>
          <a:prstGeom prst="ellipse">
            <a:avLst/>
          </a:prstGeom>
          <a:solidFill>
            <a:srgbClr val="B97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8272" y="3465575"/>
            <a:ext cx="4773168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1633D"/>
                </a:solidFill>
                <a:latin typeface="Arial"/>
              </a:rPr>
              <a:t>Combine free recheck and warranty notices with the CD follow-ups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8272" y="3730752"/>
            <a:ext cx="4773168" cy="6949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62"/>
                </a:solidFill>
                <a:latin typeface="Arial"/>
              </a:rPr>
              <a:t>Use the free-recheck and warranty messages to also cover the CD follow-ups — usage instructions (CD1), check on the child’s glasses (CD3–CD7), myopia-control information (CD14) and usage (CD30).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91072" y="4572000"/>
            <a:ext cx="5394960" cy="1133856"/>
          </a:xfrm>
          <a:prstGeom prst="rect">
            <a:avLst/>
          </a:prstGeom>
          <a:solidFill>
            <a:srgbClr val="FDF6E3"/>
          </a:solidFill>
          <a:ln w="9525">
            <a:solidFill>
              <a:srgbClr val="B977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437376" y="4690872"/>
            <a:ext cx="237744" cy="237744"/>
          </a:xfrm>
          <a:prstGeom prst="ellipse">
            <a:avLst/>
          </a:prstGeom>
          <a:solidFill>
            <a:srgbClr val="B97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48272" y="4672584"/>
            <a:ext cx="4773168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1633D"/>
                </a:solidFill>
                <a:latin typeface="Arial"/>
              </a:rPr>
              <a:t>Ask for referrals far more often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48272" y="4937760"/>
            <a:ext cx="4773168" cy="6949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C6B62"/>
                </a:solidFill>
                <a:latin typeface="Arial"/>
              </a:rPr>
              <a:t>Ask after you have solved a problem, sent a courier delivery, or the customer has thanked you. If you do not ask, they will not refer.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779008"/>
            <a:ext cx="11183112" cy="420624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tlCol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E9C4C"/>
                </a:solidFill>
                <a:latin typeface="Arial"/>
              </a:rPr>
              <a:t>Related:  </a:t>
            </a:r>
            <a:r>
              <a:rPr sz="950" b="0">
                <a:solidFill>
                  <a:srgbClr val="5C6B62"/>
                </a:solidFill>
                <a:latin typeface="Arial"/>
              </a:rPr>
              <a:t>LA’s point about collection-date remarks is the same problem as the Zalo tag date on slide 8. If the collection date is not recorded, the CRM cannot work out when follow-ups are due.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100584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9264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E9C4C"/>
                </a:solidFill>
                <a:latin typeface="Arial"/>
              </a:rPr>
              <a:t>2. RECOMMENDATIONS   |   GENERAL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24712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1633D"/>
                </a:solidFill>
                <a:latin typeface="Arial"/>
              </a:rPr>
              <a:t>Five recommendations for all clinics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9576"/>
            <a:ext cx="11186129" cy="18288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548640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62"/>
                </a:solidFill>
                <a:latin typeface="Arial"/>
              </a:rPr>
              <a:t>Mắt Sài Gòn  |  Optometry DA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13232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C6B62"/>
                </a:solidFill>
                <a:latin typeface="Arial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61872"/>
            <a:ext cx="11183112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5C6B62"/>
                </a:solidFill>
                <a:latin typeface="Arial"/>
              </a:rPr>
              <a:t>These are about order and consistency: the same work, done in the right order, for every customer.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91056"/>
            <a:ext cx="11183112" cy="786384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591056"/>
            <a:ext cx="50292" cy="786384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76656" y="1709928"/>
            <a:ext cx="274320" cy="274320"/>
          </a:xfrm>
          <a:prstGeom prst="ellipse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1673352"/>
            <a:ext cx="4041648" cy="6583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1633D"/>
                </a:solidFill>
                <a:latin typeface="Arial"/>
              </a:rPr>
              <a:t>Add the customer on Zalo on D1, right after the deposit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75504" y="1673352"/>
            <a:ext cx="6437376" cy="6766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B62"/>
                </a:solidFill>
                <a:latin typeface="Arial"/>
              </a:rPr>
              <a:t>Do not wait until collection day. When the deposit is paid, add them on Zalo, give your name and role, and tell them how long the glasses will take.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450591"/>
            <a:ext cx="11183112" cy="786384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2450591"/>
            <a:ext cx="50292" cy="786384"/>
          </a:xfrm>
          <a:prstGeom prst="rect">
            <a:avLst/>
          </a:prstGeom>
          <a:solidFill>
            <a:srgbClr val="0C9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76656" y="2569463"/>
            <a:ext cx="274320" cy="274320"/>
          </a:xfrm>
          <a:prstGeom prst="ellipse">
            <a:avLst/>
          </a:prstGeom>
          <a:solidFill>
            <a:srgbClr val="0C9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" y="2532887"/>
            <a:ext cx="4041648" cy="6583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1633D"/>
                </a:solidFill>
                <a:latin typeface="Arial"/>
              </a:rPr>
              <a:t>Send usage instructions at collection. Send benefits after the customer replies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75504" y="2532887"/>
            <a:ext cx="6437376" cy="664669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dirty="0">
                <a:solidFill>
                  <a:srgbClr val="5C6B62"/>
                </a:solidFill>
                <a:latin typeface="Arial"/>
              </a:rPr>
              <a:t>Send usage instructions on collection day. Send membership benefits only after the customer replies. Do not let the benefits message be the last message.</a:t>
            </a:r>
          </a:p>
          <a:p>
            <a:pPr>
              <a:lnSpc>
                <a:spcPct val="96000"/>
              </a:lnSpc>
              <a:spcAft>
                <a:spcPts val="0"/>
              </a:spcAft>
            </a:pPr>
            <a:endParaRPr lang="en-SG" sz="850" dirty="0">
              <a:solidFill>
                <a:srgbClr val="5C6B62"/>
              </a:solidFill>
              <a:latin typeface="Arial"/>
            </a:endParaRPr>
          </a:p>
          <a:p>
            <a:pPr>
              <a:lnSpc>
                <a:spcPct val="96000"/>
              </a:lnSpc>
              <a:spcAft>
                <a:spcPts val="0"/>
              </a:spcAft>
            </a:pPr>
            <a:r>
              <a:rPr sz="850" dirty="0">
                <a:solidFill>
                  <a:srgbClr val="5C6B62"/>
                </a:solidFill>
                <a:latin typeface="Arial"/>
              </a:rPr>
              <a:t>A benefits message sent with no reply looks like advertising. </a:t>
            </a:r>
            <a:r>
              <a:rPr lang="en-SG" sz="850" dirty="0">
                <a:solidFill>
                  <a:srgbClr val="5C6B62"/>
                </a:solidFill>
                <a:latin typeface="Arial"/>
              </a:rPr>
              <a:t>Benefits </a:t>
            </a:r>
            <a:r>
              <a:rPr sz="850" dirty="0">
                <a:solidFill>
                  <a:srgbClr val="5C6B62"/>
                </a:solidFill>
                <a:latin typeface="Arial"/>
              </a:rPr>
              <a:t>message </a:t>
            </a:r>
            <a:r>
              <a:rPr lang="en-SG" sz="850" dirty="0">
                <a:solidFill>
                  <a:srgbClr val="5C6B62"/>
                </a:solidFill>
                <a:latin typeface="Arial"/>
              </a:rPr>
              <a:t>flows more naturally and more likely to be read and considered by the member. </a:t>
            </a:r>
            <a:endParaRPr sz="850" dirty="0">
              <a:solidFill>
                <a:srgbClr val="5C6B62"/>
              </a:solidFill>
              <a:latin typeface="Arial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02920" y="3310127"/>
            <a:ext cx="11183112" cy="786384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502920" y="3310127"/>
            <a:ext cx="50292" cy="786384"/>
          </a:xfrm>
          <a:prstGeom prst="rect">
            <a:avLst/>
          </a:prstGeom>
          <a:solidFill>
            <a:srgbClr val="5B2C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76656" y="3428999"/>
            <a:ext cx="274320" cy="274320"/>
          </a:xfrm>
          <a:prstGeom prst="ellipse">
            <a:avLst/>
          </a:prstGeom>
          <a:solidFill>
            <a:srgbClr val="5B2C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" y="3392423"/>
            <a:ext cx="4041648" cy="6583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1633D"/>
                </a:solidFill>
                <a:latin typeface="Arial"/>
              </a:rPr>
              <a:t>Speak to the customer in person at collection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5504" y="3392423"/>
            <a:ext cx="6437376" cy="2880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dirty="0">
                <a:solidFill>
                  <a:srgbClr val="5C6B62"/>
                </a:solidFill>
                <a:latin typeface="Arial"/>
              </a:rPr>
              <a:t>Introduce yourself at the counter and explain the membership benefits in person, not only by message.</a:t>
            </a:r>
            <a:r>
              <a:rPr lang="en-SG" sz="850" b="0" i="0" dirty="0">
                <a:solidFill>
                  <a:srgbClr val="5C6B62"/>
                </a:solidFill>
                <a:latin typeface="Arial"/>
              </a:rPr>
              <a:t> This is a chance for you to build trust and rapport with parents. </a:t>
            </a:r>
            <a:endParaRPr sz="850" b="0" i="0" dirty="0">
              <a:solidFill>
                <a:srgbClr val="5C6B62"/>
              </a:solidFill>
              <a:latin typeface="Arial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502920" y="4169663"/>
            <a:ext cx="11183112" cy="786384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02920" y="4169663"/>
            <a:ext cx="50292" cy="786384"/>
          </a:xfrm>
          <a:prstGeom prst="rect">
            <a:avLst/>
          </a:prstGeom>
          <a:solidFill>
            <a:srgbClr val="D9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76656" y="4288536"/>
            <a:ext cx="274320" cy="274320"/>
          </a:xfrm>
          <a:prstGeom prst="ellipse">
            <a:avLst/>
          </a:prstGeom>
          <a:solidFill>
            <a:srgbClr val="D960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" y="4251959"/>
            <a:ext cx="4041648" cy="34073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dirty="0">
                <a:solidFill>
                  <a:srgbClr val="31633D"/>
                </a:solidFill>
                <a:latin typeface="Arial"/>
              </a:rPr>
              <a:t>If the customer does not reply, </a:t>
            </a:r>
            <a:r>
              <a:rPr lang="en-SG" sz="1050" b="1" dirty="0">
                <a:solidFill>
                  <a:srgbClr val="31633D"/>
                </a:solidFill>
                <a:latin typeface="Arial"/>
              </a:rPr>
              <a:t>we should still </a:t>
            </a:r>
            <a:r>
              <a:rPr sz="1050" b="1" i="0" dirty="0">
                <a:solidFill>
                  <a:srgbClr val="31633D"/>
                </a:solidFill>
                <a:latin typeface="Arial"/>
              </a:rPr>
              <a:t>send messages</a:t>
            </a:r>
            <a:r>
              <a:rPr lang="en-SG" sz="1050" b="1" i="0" dirty="0">
                <a:solidFill>
                  <a:srgbClr val="31633D"/>
                </a:solidFill>
                <a:latin typeface="Arial"/>
              </a:rPr>
              <a:t> thoughtfully</a:t>
            </a:r>
            <a:endParaRPr sz="1050" b="1" i="0" dirty="0">
              <a:solidFill>
                <a:srgbClr val="31633D"/>
              </a:solidFill>
              <a:latin typeface="Arial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175504" y="4251959"/>
            <a:ext cx="6437376" cy="28802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dirty="0">
                <a:solidFill>
                  <a:srgbClr val="5C6B62"/>
                </a:solidFill>
                <a:latin typeface="Arial"/>
              </a:rPr>
              <a:t>No reply does not mean stop. </a:t>
            </a:r>
            <a:r>
              <a:rPr lang="en-SG" sz="850" b="0" i="0" dirty="0">
                <a:solidFill>
                  <a:srgbClr val="5C6B62"/>
                </a:solidFill>
                <a:latin typeface="Arial"/>
              </a:rPr>
              <a:t>We can ask them are the glasses fitting well, provide them with </a:t>
            </a:r>
            <a:r>
              <a:rPr sz="850" b="0" i="0" dirty="0">
                <a:solidFill>
                  <a:srgbClr val="5C6B62"/>
                </a:solidFill>
                <a:latin typeface="Arial"/>
              </a:rPr>
              <a:t>basic glasses-usage information, and myopia-control information.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5029200"/>
            <a:ext cx="11183112" cy="786384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02920" y="5029200"/>
            <a:ext cx="50292" cy="786384"/>
          </a:xfrm>
          <a:prstGeom prst="rect">
            <a:avLst/>
          </a:prstGeom>
          <a:solidFill>
            <a:srgbClr val="316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676656" y="5148072"/>
            <a:ext cx="274320" cy="274320"/>
          </a:xfrm>
          <a:prstGeom prst="ellipse">
            <a:avLst/>
          </a:prstGeom>
          <a:solidFill>
            <a:srgbClr val="316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60704" y="5111496"/>
            <a:ext cx="4041648" cy="6583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31633D"/>
                </a:solidFill>
                <a:latin typeface="Arial"/>
              </a:rPr>
              <a:t>Send follow-ups as often as the product requires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75504" y="5111496"/>
            <a:ext cx="6437376" cy="6766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B62"/>
                </a:solidFill>
                <a:latin typeface="Arial"/>
              </a:rPr>
              <a:t>Every customer, at every point the product requires — not only some customers, and not only the easy ones.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961888"/>
            <a:ext cx="68580" cy="475488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571500" y="5961888"/>
            <a:ext cx="11117549" cy="475488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09728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dirty="0">
                <a:solidFill>
                  <a:srgbClr val="31633D"/>
                </a:solidFill>
                <a:latin typeface="Arial"/>
              </a:rPr>
              <a:t>Recommendation 5 depends on the product. Slide 5 shows what is required.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100584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9264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E9C4C"/>
                </a:solidFill>
                <a:latin typeface="Arial"/>
              </a:rPr>
              <a:t>3. REQUIRED FOLLOW-UP   |   REQUIRED FOLLOW-UP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24712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1633D"/>
                </a:solidFill>
                <a:latin typeface="Arial"/>
              </a:rPr>
              <a:t>Required follow-up for each 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9576"/>
            <a:ext cx="11186129" cy="18288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548640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62"/>
                </a:solidFill>
                <a:latin typeface="Arial"/>
              </a:rPr>
              <a:t>Mắt Sài Gòn  |  Optometry DA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13232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C6B62"/>
                </a:solidFill>
                <a:latin typeface="Arial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61872"/>
            <a:ext cx="11183112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5C6B62"/>
                </a:solidFill>
                <a:latin typeface="Arial"/>
              </a:rPr>
              <a:t>Find the product column and read down. A dash means that follow-up does not apply to that product, so it was never due.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481328"/>
            <a:ext cx="1335024" cy="347472"/>
          </a:xfrm>
          <a:prstGeom prst="rect">
            <a:avLst/>
          </a:prstGeom>
          <a:solidFill>
            <a:srgbClr val="316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76072" y="1554480"/>
            <a:ext cx="118872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rial"/>
              </a:rPr>
              <a:t>FOLLOW-UP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837943" y="1481328"/>
            <a:ext cx="3282696" cy="347472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874519" y="1545336"/>
            <a:ext cx="3209544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MC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1481328"/>
            <a:ext cx="3282696" cy="347472"/>
          </a:xfrm>
          <a:prstGeom prst="rect">
            <a:avLst/>
          </a:prstGeom>
          <a:solidFill>
            <a:srgbClr val="0C9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57216" y="1545336"/>
            <a:ext cx="3209544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Kính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03336" y="1481328"/>
            <a:ext cx="3282696" cy="347472"/>
          </a:xfrm>
          <a:prstGeom prst="rect">
            <a:avLst/>
          </a:prstGeom>
          <a:solidFill>
            <a:srgbClr val="5B2C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39911" y="1545336"/>
            <a:ext cx="3209544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Ortho-K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1828800"/>
            <a:ext cx="1335024" cy="269748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76072" y="1851660"/>
            <a:ext cx="1188720" cy="1417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1633D"/>
                </a:solidFill>
                <a:latin typeface="Arial"/>
              </a:rPr>
              <a:t>D1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1979676"/>
            <a:ext cx="1188720" cy="1234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1">
                <a:solidFill>
                  <a:srgbClr val="5C6B62"/>
                </a:solidFill>
                <a:latin typeface="Arial"/>
              </a:rPr>
              <a:t>deposit day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837943" y="1828800"/>
            <a:ext cx="3282696" cy="2697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837943" y="1828800"/>
            <a:ext cx="32004" cy="269748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929384" y="1854403"/>
            <a:ext cx="3118103" cy="2468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C6B62"/>
                </a:solidFill>
                <a:latin typeface="Arial"/>
              </a:rPr>
              <a:t>Send introduction; tell the customer how long the glasses will take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20640" y="1828800"/>
            <a:ext cx="3282696" cy="2697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120640" y="1828800"/>
            <a:ext cx="32004" cy="269748"/>
          </a:xfrm>
          <a:prstGeom prst="rect">
            <a:avLst/>
          </a:prstGeom>
          <a:solidFill>
            <a:srgbClr val="0C9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12079" y="1854403"/>
            <a:ext cx="3118103" cy="2468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C6B62"/>
                </a:solidFill>
                <a:latin typeface="Arial"/>
              </a:rPr>
              <a:t>Send introduction; tell the customer how long the glasses will take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403336" y="1828800"/>
            <a:ext cx="3282696" cy="2697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403336" y="1828800"/>
            <a:ext cx="32004" cy="269748"/>
          </a:xfrm>
          <a:prstGeom prst="rect">
            <a:avLst/>
          </a:prstGeom>
          <a:solidFill>
            <a:srgbClr val="5B2C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94776" y="1854403"/>
            <a:ext cx="3118103" cy="2468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C6B62"/>
                </a:solidFill>
                <a:latin typeface="Arial"/>
              </a:rPr>
              <a:t>Send introduction; tell the customer how long the lenses will take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2098548"/>
            <a:ext cx="1335024" cy="269748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76072" y="2121408"/>
            <a:ext cx="1188720" cy="1417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1633D"/>
                </a:solidFill>
                <a:latin typeface="Arial"/>
              </a:rPr>
              <a:t>D6-7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6072" y="2249424"/>
            <a:ext cx="1188720" cy="1234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1">
                <a:solidFill>
                  <a:srgbClr val="5C6B62"/>
                </a:solidFill>
                <a:latin typeface="Arial"/>
              </a:rPr>
              <a:t>production check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37943" y="2098548"/>
            <a:ext cx="3282696" cy="2697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1837943" y="2098548"/>
            <a:ext cx="32004" cy="269748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929384" y="2124151"/>
            <a:ext cx="3118103" cy="2468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C6B62"/>
                </a:solidFill>
                <a:latin typeface="Arial"/>
              </a:rPr>
              <a:t>If ready: tell the customer within 4 hours and give the collection date. If not ready: say the glasses are still being made, and you will update them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120640" y="2098548"/>
            <a:ext cx="3282696" cy="2697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120640" y="2098548"/>
            <a:ext cx="32004" cy="269748"/>
          </a:xfrm>
          <a:prstGeom prst="rect">
            <a:avLst/>
          </a:prstGeom>
          <a:solidFill>
            <a:srgbClr val="0C9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212079" y="2124151"/>
            <a:ext cx="3118103" cy="2468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C6B62"/>
                </a:solidFill>
                <a:latin typeface="Arial"/>
              </a:rPr>
              <a:t>If ready: tell the customer within 4 hours and give the collection date. If not ready: say the glasses are still being made, and you will update them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03336" y="2098548"/>
            <a:ext cx="3282696" cy="2697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8403336" y="2098548"/>
            <a:ext cx="32004" cy="269748"/>
          </a:xfrm>
          <a:prstGeom prst="rect">
            <a:avLst/>
          </a:prstGeom>
          <a:solidFill>
            <a:srgbClr val="5B2C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494776" y="2124151"/>
            <a:ext cx="3118103" cy="2468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C6B62"/>
                </a:solidFill>
                <a:latin typeface="Arial"/>
              </a:rPr>
              <a:t>If ready: tell the customer within 4 hours and give the collection date. If not ready: say the glasses are still being made, and you will update them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2368296"/>
            <a:ext cx="1335024" cy="269748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76072" y="2391156"/>
            <a:ext cx="1188720" cy="1417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1633D"/>
                </a:solidFill>
                <a:latin typeface="Arial"/>
              </a:rPr>
              <a:t>CD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72" y="2519172"/>
            <a:ext cx="1188720" cy="1234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1">
                <a:solidFill>
                  <a:srgbClr val="5C6B62"/>
                </a:solidFill>
                <a:latin typeface="Arial"/>
              </a:rPr>
              <a:t>collection day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837943" y="2368296"/>
            <a:ext cx="3282696" cy="2697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1837943" y="2368296"/>
            <a:ext cx="32004" cy="269748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929384" y="2393899"/>
            <a:ext cx="3118103" cy="2468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C6B62"/>
                </a:solidFill>
                <a:latin typeface="Arial"/>
              </a:rPr>
              <a:t>Send usage instructions; benefits after they reply; ask for a referral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120640" y="2368296"/>
            <a:ext cx="3282696" cy="2697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5120640" y="2368296"/>
            <a:ext cx="32004" cy="269748"/>
          </a:xfrm>
          <a:prstGeom prst="rect">
            <a:avLst/>
          </a:prstGeom>
          <a:solidFill>
            <a:srgbClr val="0C9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212079" y="2393899"/>
            <a:ext cx="3118103" cy="2468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C6B62"/>
                </a:solidFill>
                <a:latin typeface="Arial"/>
              </a:rPr>
              <a:t>Send usage instructions; benefits after they reply; ask for a referral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403336" y="2368296"/>
            <a:ext cx="3282696" cy="2697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403336" y="2368296"/>
            <a:ext cx="32004" cy="269748"/>
          </a:xfrm>
          <a:prstGeom prst="rect">
            <a:avLst/>
          </a:prstGeom>
          <a:solidFill>
            <a:srgbClr val="5B2C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494776" y="2393899"/>
            <a:ext cx="3118103" cy="2468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C6B62"/>
                </a:solidFill>
                <a:latin typeface="Arial"/>
              </a:rPr>
              <a:t>Send usage instructions; benefits after they reply; ask for a referral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2638044"/>
            <a:ext cx="1335024" cy="269748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76072" y="2660903"/>
            <a:ext cx="1188720" cy="1417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1633D"/>
                </a:solidFill>
                <a:latin typeface="Arial"/>
              </a:rPr>
              <a:t>CDN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76072" y="2788920"/>
            <a:ext cx="1188720" cy="1234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1">
                <a:solidFill>
                  <a:srgbClr val="5C6B62"/>
                </a:solidFill>
                <a:latin typeface="Arial"/>
              </a:rPr>
              <a:t>collection evening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837943" y="2638044"/>
            <a:ext cx="3282696" cy="269748"/>
          </a:xfrm>
          <a:prstGeom prst="rect">
            <a:avLst/>
          </a:prstGeom>
          <a:solidFill>
            <a:srgbClr val="F1F2F1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1874519" y="2711196"/>
            <a:ext cx="3209544" cy="1554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AEB8B2"/>
                </a:solidFill>
                <a:latin typeface="Arial"/>
              </a:rPr>
              <a:t>—  not applicable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120640" y="2638044"/>
            <a:ext cx="3282696" cy="269748"/>
          </a:xfrm>
          <a:prstGeom prst="rect">
            <a:avLst/>
          </a:prstGeom>
          <a:solidFill>
            <a:srgbClr val="F1F2F1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157216" y="2711196"/>
            <a:ext cx="3209544" cy="1554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AEB8B2"/>
                </a:solidFill>
                <a:latin typeface="Arial"/>
              </a:rPr>
              <a:t>—  not applicable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03336" y="2638044"/>
            <a:ext cx="3282696" cy="2697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403336" y="2638044"/>
            <a:ext cx="32004" cy="269748"/>
          </a:xfrm>
          <a:prstGeom prst="rect">
            <a:avLst/>
          </a:prstGeom>
          <a:solidFill>
            <a:srgbClr val="5B2C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494776" y="2663647"/>
            <a:ext cx="3118103" cy="2468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C6B62"/>
                </a:solidFill>
                <a:latin typeface="Arial"/>
              </a:rPr>
              <a:t>Ask about the first Ortho-K wear; help adjust if it does not fit well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02920" y="2907791"/>
            <a:ext cx="1335024" cy="269748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576072" y="2930651"/>
            <a:ext cx="1188720" cy="1417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1633D"/>
                </a:solidFill>
                <a:latin typeface="Arial"/>
              </a:rPr>
              <a:t>CD+1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6072" y="3058668"/>
            <a:ext cx="1188720" cy="1234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1">
                <a:solidFill>
                  <a:srgbClr val="5C6B62"/>
                </a:solidFill>
                <a:latin typeface="Arial"/>
              </a:rPr>
              <a:t>next day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837943" y="2907791"/>
            <a:ext cx="3282696" cy="269748"/>
          </a:xfrm>
          <a:prstGeom prst="rect">
            <a:avLst/>
          </a:prstGeom>
          <a:solidFill>
            <a:srgbClr val="F1F2F1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874519" y="2980944"/>
            <a:ext cx="3209544" cy="1554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AEB8B2"/>
                </a:solidFill>
                <a:latin typeface="Arial"/>
              </a:rPr>
              <a:t>—  not applicable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120640" y="2907791"/>
            <a:ext cx="3282696" cy="269748"/>
          </a:xfrm>
          <a:prstGeom prst="rect">
            <a:avLst/>
          </a:prstGeom>
          <a:solidFill>
            <a:srgbClr val="F1F2F1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5157216" y="2980944"/>
            <a:ext cx="3209544" cy="1554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AEB8B2"/>
                </a:solidFill>
                <a:latin typeface="Arial"/>
              </a:rPr>
              <a:t>—  not applicable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403336" y="2907791"/>
            <a:ext cx="3282696" cy="2697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403336" y="2907791"/>
            <a:ext cx="32004" cy="269748"/>
          </a:xfrm>
          <a:prstGeom prst="rect">
            <a:avLst/>
          </a:prstGeom>
          <a:solidFill>
            <a:srgbClr val="5B2C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8494776" y="2933395"/>
            <a:ext cx="3118103" cy="2468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C6B62"/>
                </a:solidFill>
                <a:latin typeface="Arial"/>
              </a:rPr>
              <a:t>Check how the first night went; ask for a referral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2920" y="3177539"/>
            <a:ext cx="1335024" cy="269748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576072" y="3200399"/>
            <a:ext cx="1188720" cy="1417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1633D"/>
                </a:solidFill>
                <a:latin typeface="Arial"/>
              </a:rPr>
              <a:t>CD+3-5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76072" y="3328415"/>
            <a:ext cx="1188720" cy="1234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1">
                <a:solidFill>
                  <a:srgbClr val="5C6B62"/>
                </a:solidFill>
                <a:latin typeface="Arial"/>
              </a:rPr>
              <a:t>care check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837943" y="3177539"/>
            <a:ext cx="3282696" cy="2697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1837943" y="3177539"/>
            <a:ext cx="32004" cy="269748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1929384" y="3203143"/>
            <a:ext cx="3118103" cy="2468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C6B62"/>
                </a:solidFill>
                <a:latin typeface="Arial"/>
              </a:rPr>
              <a:t>Ask how the child is getting on; ask for a referral after they reply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120640" y="3177539"/>
            <a:ext cx="3282696" cy="2697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5120640" y="3177539"/>
            <a:ext cx="32004" cy="269748"/>
          </a:xfrm>
          <a:prstGeom prst="rect">
            <a:avLst/>
          </a:prstGeom>
          <a:solidFill>
            <a:srgbClr val="0C9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5212079" y="3203143"/>
            <a:ext cx="3118103" cy="2468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C6B62"/>
                </a:solidFill>
                <a:latin typeface="Arial"/>
              </a:rPr>
              <a:t>Ask how the child is getting on; ask for a referral after they reply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403336" y="3177539"/>
            <a:ext cx="3282696" cy="2697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8403336" y="3177539"/>
            <a:ext cx="32004" cy="269748"/>
          </a:xfrm>
          <a:prstGeom prst="rect">
            <a:avLst/>
          </a:prstGeom>
          <a:solidFill>
            <a:srgbClr val="5B2C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8494776" y="3203143"/>
            <a:ext cx="3118103" cy="2468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C6B62"/>
                </a:solidFill>
                <a:latin typeface="Arial"/>
              </a:rPr>
              <a:t>Ask how the child is getting on; ask for a referral after they reply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02920" y="3447287"/>
            <a:ext cx="1335024" cy="269748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576072" y="3470147"/>
            <a:ext cx="1188720" cy="1417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1633D"/>
                </a:solidFill>
                <a:latin typeface="Arial"/>
              </a:rPr>
              <a:t>CD+7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76072" y="3598163"/>
            <a:ext cx="1188720" cy="1234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1">
                <a:solidFill>
                  <a:srgbClr val="5C6B62"/>
                </a:solidFill>
                <a:latin typeface="Arial"/>
              </a:rPr>
              <a:t>usage check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837943" y="3447287"/>
            <a:ext cx="3282696" cy="269748"/>
          </a:xfrm>
          <a:prstGeom prst="rect">
            <a:avLst/>
          </a:prstGeom>
          <a:solidFill>
            <a:srgbClr val="F1F2F1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89" name="TextBox 88"/>
          <p:cNvSpPr txBox="1"/>
          <p:nvPr/>
        </p:nvSpPr>
        <p:spPr>
          <a:xfrm>
            <a:off x="1874519" y="3520439"/>
            <a:ext cx="3209544" cy="1554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AEB8B2"/>
                </a:solidFill>
                <a:latin typeface="Arial"/>
              </a:rPr>
              <a:t>—  not applicable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120640" y="3447287"/>
            <a:ext cx="3282696" cy="2697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5120640" y="3447287"/>
            <a:ext cx="32004" cy="269748"/>
          </a:xfrm>
          <a:prstGeom prst="rect">
            <a:avLst/>
          </a:prstGeom>
          <a:solidFill>
            <a:srgbClr val="0C9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5212079" y="3472891"/>
            <a:ext cx="3118103" cy="2468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C6B62"/>
                </a:solidFill>
                <a:latin typeface="Arial"/>
              </a:rPr>
              <a:t>Check usage; free frame adjustment; benefits; ask for a referral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403336" y="3447287"/>
            <a:ext cx="3282696" cy="2697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8403336" y="3447287"/>
            <a:ext cx="32004" cy="269748"/>
          </a:xfrm>
          <a:prstGeom prst="rect">
            <a:avLst/>
          </a:prstGeom>
          <a:solidFill>
            <a:srgbClr val="5B2C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8494776" y="3472891"/>
            <a:ext cx="3118103" cy="2468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C6B62"/>
                </a:solidFill>
                <a:latin typeface="Arial"/>
              </a:rPr>
              <a:t>Book the recheck appointment; benefits; ask for a referral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02920" y="3717035"/>
            <a:ext cx="1335024" cy="269748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576072" y="3739896"/>
            <a:ext cx="1188720" cy="1417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1633D"/>
                </a:solidFill>
                <a:latin typeface="Arial"/>
              </a:rPr>
              <a:t>CD+14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76072" y="3867911"/>
            <a:ext cx="1188720" cy="1234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1">
                <a:solidFill>
                  <a:srgbClr val="5C6B62"/>
                </a:solidFill>
                <a:latin typeface="Arial"/>
              </a:rPr>
              <a:t>myopia education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837943" y="3717035"/>
            <a:ext cx="3282696" cy="2697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1837943" y="3717035"/>
            <a:ext cx="32004" cy="269748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1" name="TextBox 100"/>
          <p:cNvSpPr txBox="1"/>
          <p:nvPr/>
        </p:nvSpPr>
        <p:spPr>
          <a:xfrm>
            <a:off x="1929384" y="3742639"/>
            <a:ext cx="3118103" cy="2468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C6B62"/>
                </a:solidFill>
                <a:latin typeface="Arial"/>
              </a:rPr>
              <a:t>Check usage; remind ≥ 12h wear per day; benefits; ask for a referral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120640" y="3717035"/>
            <a:ext cx="3282696" cy="269748"/>
          </a:xfrm>
          <a:prstGeom prst="rect">
            <a:avLst/>
          </a:prstGeom>
          <a:solidFill>
            <a:srgbClr val="F1F2F1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5157216" y="3790187"/>
            <a:ext cx="3209544" cy="1554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AEB8B2"/>
                </a:solidFill>
                <a:latin typeface="Arial"/>
              </a:rPr>
              <a:t>—  not applicable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8403336" y="3717035"/>
            <a:ext cx="3282696" cy="269748"/>
          </a:xfrm>
          <a:prstGeom prst="rect">
            <a:avLst/>
          </a:prstGeom>
          <a:solidFill>
            <a:srgbClr val="F1F2F1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5" name="TextBox 104"/>
          <p:cNvSpPr txBox="1"/>
          <p:nvPr/>
        </p:nvSpPr>
        <p:spPr>
          <a:xfrm>
            <a:off x="8439911" y="3790187"/>
            <a:ext cx="3209544" cy="1554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1">
                <a:solidFill>
                  <a:srgbClr val="AEB8B2"/>
                </a:solidFill>
                <a:latin typeface="Arial"/>
              </a:rPr>
              <a:t>—  not applicable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02920" y="3986783"/>
            <a:ext cx="1335024" cy="269748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576072" y="4009644"/>
            <a:ext cx="1188720" cy="1417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1633D"/>
                </a:solidFill>
                <a:latin typeface="Arial"/>
              </a:rPr>
              <a:t>CD+30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76072" y="4137659"/>
            <a:ext cx="1188720" cy="1234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1">
                <a:solidFill>
                  <a:srgbClr val="5C6B62"/>
                </a:solidFill>
                <a:latin typeface="Arial"/>
              </a:rPr>
              <a:t>usage review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837943" y="3986783"/>
            <a:ext cx="3282696" cy="2697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1837943" y="3986783"/>
            <a:ext cx="32004" cy="269748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1929384" y="4012387"/>
            <a:ext cx="3118103" cy="2468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C6B62"/>
                </a:solidFill>
                <a:latin typeface="Arial"/>
              </a:rPr>
              <a:t>Check usage; send education content; benefits; ask for a referral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5120640" y="3986783"/>
            <a:ext cx="3282696" cy="2697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5120640" y="3986783"/>
            <a:ext cx="32004" cy="269748"/>
          </a:xfrm>
          <a:prstGeom prst="rect">
            <a:avLst/>
          </a:prstGeom>
          <a:solidFill>
            <a:srgbClr val="0C9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5212079" y="4012387"/>
            <a:ext cx="3118103" cy="2468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C6B62"/>
                </a:solidFill>
                <a:latin typeface="Arial"/>
              </a:rPr>
              <a:t>Check usage; benefits; ask for a referral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403336" y="3986783"/>
            <a:ext cx="3282696" cy="2697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8403336" y="3986783"/>
            <a:ext cx="32004" cy="269748"/>
          </a:xfrm>
          <a:prstGeom prst="rect">
            <a:avLst/>
          </a:prstGeom>
          <a:solidFill>
            <a:srgbClr val="5B2C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8494776" y="4012387"/>
            <a:ext cx="3118103" cy="2468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C6B62"/>
                </a:solidFill>
                <a:latin typeface="Arial"/>
              </a:rPr>
              <a:t>Book recheck; remind ≥ 6 wears per week; benefits; ask for a referral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502920" y="4256531"/>
            <a:ext cx="1335024" cy="269748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576072" y="4279392"/>
            <a:ext cx="1188720" cy="1417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1633D"/>
                </a:solidFill>
                <a:latin typeface="Arial"/>
              </a:rPr>
              <a:t>CD+90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76072" y="4407407"/>
            <a:ext cx="1188720" cy="1234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1">
                <a:solidFill>
                  <a:srgbClr val="5C6B62"/>
                </a:solidFill>
                <a:latin typeface="Arial"/>
              </a:rPr>
              <a:t>3-month recheck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837943" y="4256531"/>
            <a:ext cx="3282696" cy="2697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1837943" y="4256531"/>
            <a:ext cx="32004" cy="269748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1929384" y="4282135"/>
            <a:ext cx="3118103" cy="2468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C6B62"/>
                </a:solidFill>
                <a:latin typeface="Arial"/>
              </a:rPr>
              <a:t>Check usage; send education content; benefits; ask for a referral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120640" y="4256531"/>
            <a:ext cx="3282696" cy="2697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5120640" y="4256531"/>
            <a:ext cx="32004" cy="269748"/>
          </a:xfrm>
          <a:prstGeom prst="rect">
            <a:avLst/>
          </a:prstGeom>
          <a:solidFill>
            <a:srgbClr val="0C9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5212079" y="4282135"/>
            <a:ext cx="3118103" cy="2468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C6B62"/>
                </a:solidFill>
                <a:latin typeface="Arial"/>
              </a:rPr>
              <a:t>Check usage; send education content; benefits; ask for a referral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8403336" y="4256531"/>
            <a:ext cx="3282696" cy="2697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8403336" y="4256531"/>
            <a:ext cx="32004" cy="269748"/>
          </a:xfrm>
          <a:prstGeom prst="rect">
            <a:avLst/>
          </a:prstGeom>
          <a:solidFill>
            <a:srgbClr val="5B2C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29" name="TextBox 128"/>
          <p:cNvSpPr txBox="1"/>
          <p:nvPr/>
        </p:nvSpPr>
        <p:spPr>
          <a:xfrm>
            <a:off x="8494776" y="4282135"/>
            <a:ext cx="3118103" cy="2468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C6B62"/>
                </a:solidFill>
                <a:latin typeface="Arial"/>
              </a:rPr>
              <a:t>Book recheck; remind ≥ 6 wears per week; benefits; ask for a referral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502920" y="4526279"/>
            <a:ext cx="1335024" cy="269748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576072" y="4549140"/>
            <a:ext cx="1188720" cy="1417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1633D"/>
                </a:solidFill>
                <a:latin typeface="Arial"/>
              </a:rPr>
              <a:t>CD+180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76072" y="4677155"/>
            <a:ext cx="1188720" cy="1234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1">
                <a:solidFill>
                  <a:srgbClr val="5C6B62"/>
                </a:solidFill>
                <a:latin typeface="Arial"/>
              </a:rPr>
              <a:t>6-month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837943" y="4526279"/>
            <a:ext cx="3282696" cy="2697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1837943" y="4526279"/>
            <a:ext cx="32004" cy="269748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5" name="TextBox 134"/>
          <p:cNvSpPr txBox="1"/>
          <p:nvPr/>
        </p:nvSpPr>
        <p:spPr>
          <a:xfrm>
            <a:off x="1929384" y="4551883"/>
            <a:ext cx="3118103" cy="2468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C6B62"/>
                </a:solidFill>
                <a:latin typeface="Arial"/>
              </a:rPr>
              <a:t>Invite recheck; benefits; ask for a referral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5120640" y="4526279"/>
            <a:ext cx="3282696" cy="2697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5120640" y="4526279"/>
            <a:ext cx="32004" cy="269748"/>
          </a:xfrm>
          <a:prstGeom prst="rect">
            <a:avLst/>
          </a:prstGeom>
          <a:solidFill>
            <a:srgbClr val="0C9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8" name="TextBox 137"/>
          <p:cNvSpPr txBox="1"/>
          <p:nvPr/>
        </p:nvSpPr>
        <p:spPr>
          <a:xfrm>
            <a:off x="5212079" y="4551883"/>
            <a:ext cx="3118103" cy="2468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C6B62"/>
                </a:solidFill>
                <a:latin typeface="Arial"/>
              </a:rPr>
              <a:t>Invite recheck booking; benefits; ask for a referral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403336" y="4526279"/>
            <a:ext cx="3282696" cy="2697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8403336" y="4526279"/>
            <a:ext cx="32004" cy="269748"/>
          </a:xfrm>
          <a:prstGeom prst="rect">
            <a:avLst/>
          </a:prstGeom>
          <a:solidFill>
            <a:srgbClr val="5B2C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8494776" y="4551883"/>
            <a:ext cx="3118103" cy="2468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C6B62"/>
                </a:solidFill>
                <a:latin typeface="Arial"/>
              </a:rPr>
              <a:t>Book recheck; remind ≥ 6 wears per week; benefits; ask for a referral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502920" y="4796027"/>
            <a:ext cx="1335024" cy="269748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3" name="TextBox 142"/>
          <p:cNvSpPr txBox="1"/>
          <p:nvPr/>
        </p:nvSpPr>
        <p:spPr>
          <a:xfrm>
            <a:off x="576072" y="4818888"/>
            <a:ext cx="1188720" cy="1417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1633D"/>
                </a:solidFill>
                <a:latin typeface="Arial"/>
              </a:rPr>
              <a:t>CD+270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576072" y="4946903"/>
            <a:ext cx="1188720" cy="1234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1">
                <a:solidFill>
                  <a:srgbClr val="5C6B62"/>
                </a:solidFill>
                <a:latin typeface="Arial"/>
              </a:rPr>
              <a:t>9-month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837943" y="4796027"/>
            <a:ext cx="3282696" cy="2697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1837943" y="4796027"/>
            <a:ext cx="32004" cy="269748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7" name="TextBox 146"/>
          <p:cNvSpPr txBox="1"/>
          <p:nvPr/>
        </p:nvSpPr>
        <p:spPr>
          <a:xfrm>
            <a:off x="1929384" y="4821631"/>
            <a:ext cx="3118103" cy="2468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C6B62"/>
                </a:solidFill>
                <a:latin typeface="Arial"/>
              </a:rPr>
              <a:t>Check usage; send education content; benefits; ask for a referral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5120640" y="4796027"/>
            <a:ext cx="3282696" cy="2697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5120640" y="4796027"/>
            <a:ext cx="32004" cy="269748"/>
          </a:xfrm>
          <a:prstGeom prst="rect">
            <a:avLst/>
          </a:prstGeom>
          <a:solidFill>
            <a:srgbClr val="0C9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0" name="TextBox 149"/>
          <p:cNvSpPr txBox="1"/>
          <p:nvPr/>
        </p:nvSpPr>
        <p:spPr>
          <a:xfrm>
            <a:off x="5212079" y="4821631"/>
            <a:ext cx="3118103" cy="2468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C6B62"/>
                </a:solidFill>
                <a:latin typeface="Arial"/>
              </a:rPr>
              <a:t>Check usage; benefits; ask for a referral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8403336" y="4796027"/>
            <a:ext cx="3282696" cy="2697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8403336" y="4796027"/>
            <a:ext cx="32004" cy="269748"/>
          </a:xfrm>
          <a:prstGeom prst="rect">
            <a:avLst/>
          </a:prstGeom>
          <a:solidFill>
            <a:srgbClr val="5B2C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3" name="TextBox 152"/>
          <p:cNvSpPr txBox="1"/>
          <p:nvPr/>
        </p:nvSpPr>
        <p:spPr>
          <a:xfrm>
            <a:off x="8494776" y="4821631"/>
            <a:ext cx="3118103" cy="2468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C6B62"/>
                </a:solidFill>
                <a:latin typeface="Arial"/>
              </a:rPr>
              <a:t>Book recheck; remind ≥ 6 wears per week; benefits; ask for a referral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502920" y="5065775"/>
            <a:ext cx="1335024" cy="269748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5" name="TextBox 154"/>
          <p:cNvSpPr txBox="1"/>
          <p:nvPr/>
        </p:nvSpPr>
        <p:spPr>
          <a:xfrm>
            <a:off x="576072" y="5088636"/>
            <a:ext cx="1188720" cy="1417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31633D"/>
                </a:solidFill>
                <a:latin typeface="Arial"/>
              </a:rPr>
              <a:t>CD+365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576072" y="5216651"/>
            <a:ext cx="1188720" cy="1234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1">
                <a:solidFill>
                  <a:srgbClr val="5C6B62"/>
                </a:solidFill>
                <a:latin typeface="Arial"/>
              </a:rPr>
              <a:t>12-month + renewal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1837943" y="5065775"/>
            <a:ext cx="3282696" cy="2697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1837943" y="5065775"/>
            <a:ext cx="32004" cy="269748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9" name="TextBox 158"/>
          <p:cNvSpPr txBox="1"/>
          <p:nvPr/>
        </p:nvSpPr>
        <p:spPr>
          <a:xfrm>
            <a:off x="1929384" y="5091379"/>
            <a:ext cx="3118103" cy="2468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C6B62"/>
                </a:solidFill>
                <a:latin typeface="Arial"/>
              </a:rPr>
              <a:t>Invite recheck; benefits; ask for a referral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5120640" y="5065775"/>
            <a:ext cx="3282696" cy="2697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5120640" y="5065775"/>
            <a:ext cx="32004" cy="269748"/>
          </a:xfrm>
          <a:prstGeom prst="rect">
            <a:avLst/>
          </a:prstGeom>
          <a:solidFill>
            <a:srgbClr val="0C9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2" name="TextBox 161"/>
          <p:cNvSpPr txBox="1"/>
          <p:nvPr/>
        </p:nvSpPr>
        <p:spPr>
          <a:xfrm>
            <a:off x="5212079" y="5091379"/>
            <a:ext cx="3118103" cy="2468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C6B62"/>
                </a:solidFill>
                <a:latin typeface="Arial"/>
              </a:rPr>
              <a:t>Invite recheck; membership renewal; lifetime free frame adjustment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8403336" y="5065775"/>
            <a:ext cx="3282696" cy="2697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8403336" y="5065775"/>
            <a:ext cx="32004" cy="269748"/>
          </a:xfrm>
          <a:prstGeom prst="rect">
            <a:avLst/>
          </a:prstGeom>
          <a:solidFill>
            <a:srgbClr val="5B2C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8494776" y="5091379"/>
            <a:ext cx="3118103" cy="2468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5C6B62"/>
                </a:solidFill>
                <a:latin typeface="Arial"/>
              </a:rPr>
              <a:t>Invite recheck; benefits; ask for a referral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502920" y="5394960"/>
            <a:ext cx="11183112" cy="256032"/>
          </a:xfrm>
          <a:prstGeom prst="rect">
            <a:avLst/>
          </a:prstGeom>
          <a:solidFill>
            <a:srgbClr val="316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FFFF"/>
                </a:solidFill>
                <a:latin typeface="Arial"/>
              </a:rPr>
              <a:t>Four rules that apply to every follow-up, for every product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502920" y="5669280"/>
            <a:ext cx="11183112" cy="512064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rtlCol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1">
                <a:solidFill>
                  <a:srgbClr val="2E9C4C"/>
                </a:solidFill>
                <a:latin typeface="Arial"/>
              </a:rPr>
              <a:t>1  Send benefits only after the customer replies. </a:t>
            </a:r>
            <a:r>
              <a:rPr sz="850" b="0">
                <a:solidFill>
                  <a:srgbClr val="5C6B62"/>
                </a:solidFill>
                <a:latin typeface="Arial"/>
              </a:rPr>
              <a:t>If there is no reply, send a care message the next day instead.   </a:t>
            </a:r>
            <a:r>
              <a:rPr sz="850" b="1">
                <a:solidFill>
                  <a:srgbClr val="2E9C4C"/>
                </a:solidFill>
                <a:latin typeface="Arial"/>
              </a:rPr>
              <a:t>2  Do not end on a benefits message. </a:t>
            </a:r>
            <a:r>
              <a:rPr sz="850" b="0">
                <a:solidFill>
                  <a:srgbClr val="5C6B62"/>
                </a:solidFill>
                <a:latin typeface="Arial"/>
              </a:rPr>
              <a:t>The last message the parent receives should be about care.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2E9C4C"/>
                </a:solidFill>
                <a:latin typeface="Arial"/>
              </a:rPr>
              <a:t>3  Ask for the referral at the right time. </a:t>
            </a:r>
            <a:r>
              <a:rPr sz="850" b="0">
                <a:solidFill>
                  <a:srgbClr val="5C6B62"/>
                </a:solidFill>
                <a:latin typeface="Arial"/>
              </a:rPr>
              <a:t>After solving a problem, sending a courier delivery, or being thanked. If you do not ask, they will not refer.   </a:t>
            </a:r>
            <a:r>
              <a:rPr sz="850" b="1">
                <a:solidFill>
                  <a:srgbClr val="2E9C4C"/>
                </a:solidFill>
                <a:latin typeface="Arial"/>
              </a:rPr>
              <a:t>4  Update the Zalo tag date on collection day. </a:t>
            </a:r>
            <a:r>
              <a:rPr sz="850" b="0">
                <a:solidFill>
                  <a:srgbClr val="5C6B62"/>
                </a:solidFill>
                <a:latin typeface="Arial"/>
              </a:rPr>
              <a:t>The CRM counts all CD follow-ups from that date. Wrong date, wrong schedule.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100584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9264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E9C4C"/>
                </a:solidFill>
                <a:latin typeface="Arial"/>
              </a:rPr>
              <a:t>4. EXAMPLE TO FOLLOW   |   EXAMPLE TO FOLLOW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24712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1633D"/>
                </a:solidFill>
                <a:latin typeface="Arial"/>
              </a:rPr>
              <a:t>Example — D1 to collection day (OKY-260722)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548640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62"/>
                </a:solidFill>
                <a:latin typeface="Arial"/>
              </a:rPr>
              <a:t>Mắt Sài Gòn  |  Optometry DA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13232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C6B62"/>
                </a:solidFill>
                <a:latin typeface="Arial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321552" y="1261872"/>
            <a:ext cx="11548896" cy="292608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tlCol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2E9C4C"/>
                </a:solidFill>
                <a:latin typeface="Arial"/>
              </a:rPr>
              <a:t>OKY-260722  Chị Bình · Bé Khoa   ·   Ortho-K   ·   </a:t>
            </a:r>
            <a:r>
              <a:rPr sz="950" b="0">
                <a:solidFill>
                  <a:srgbClr val="5C6B62"/>
                </a:solidFill>
                <a:latin typeface="Arial"/>
              </a:rPr>
              <a:t>every follow-up was sent, in the right order, with the right content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1552" y="1645920"/>
            <a:ext cx="4653064" cy="310896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FFFFFF"/>
                </a:solidFill>
                <a:latin typeface="Arial"/>
              </a:rPr>
              <a:t>D1 · deposit day  and  D6-7 · production check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1552" y="1956816"/>
            <a:ext cx="4653064" cy="3968496"/>
          </a:xfrm>
          <a:prstGeom prst="rect">
            <a:avLst/>
          </a:prstGeom>
          <a:solidFill>
            <a:srgbClr val="F7F8F7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11" name="Picture 10" descr="crop1_D1_D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552" y="1956816"/>
            <a:ext cx="4653065" cy="4052922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205704" y="1645920"/>
            <a:ext cx="3657580" cy="310896"/>
          </a:xfrm>
          <a:prstGeom prst="rect">
            <a:avLst/>
          </a:prstGeom>
          <a:solidFill>
            <a:srgbClr val="5B2C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CD · collection day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205704" y="1956816"/>
            <a:ext cx="3657580" cy="3968496"/>
          </a:xfrm>
          <a:prstGeom prst="rect">
            <a:avLst/>
          </a:prstGeom>
          <a:solidFill>
            <a:srgbClr val="F7F8F7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14" name="Picture 13" descr="crop2_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5704" y="1956816"/>
            <a:ext cx="3657580" cy="4043556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9008376" y="1645920"/>
            <a:ext cx="2862072" cy="310896"/>
          </a:xfrm>
          <a:prstGeom prst="rect">
            <a:avLst/>
          </a:prstGeom>
          <a:solidFill>
            <a:srgbClr val="316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rial"/>
              </a:rPr>
              <a:t>What this DA did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08376" y="1956816"/>
            <a:ext cx="2862072" cy="4052922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36392" y="2048256"/>
            <a:ext cx="2606039" cy="2783967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dirty="0">
                <a:solidFill>
                  <a:srgbClr val="2E9C4C"/>
                </a:solidFill>
                <a:latin typeface="Arial"/>
              </a:rPr>
              <a:t>D1 · 7 Jul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500"/>
              </a:spcAft>
            </a:pPr>
            <a:r>
              <a:rPr sz="750" b="0" i="0" dirty="0">
                <a:solidFill>
                  <a:srgbClr val="5C6B62"/>
                </a:solidFill>
                <a:latin typeface="Arial"/>
              </a:rPr>
              <a:t>Gave her name, role and phone number, and said the glasses would take about 14 days.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dirty="0">
                <a:solidFill>
                  <a:srgbClr val="2E9C4C"/>
                </a:solidFill>
                <a:latin typeface="Arial"/>
              </a:rPr>
              <a:t>D6-7 · 14 Jul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500"/>
              </a:spcAft>
            </a:pPr>
            <a:r>
              <a:rPr sz="750" b="0" i="0" dirty="0">
                <a:solidFill>
                  <a:srgbClr val="5C6B62"/>
                </a:solidFill>
                <a:latin typeface="Arial"/>
              </a:rPr>
              <a:t>Glasses not ready, so she said so: still being made, will update when the date is confirmed.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dirty="0">
                <a:solidFill>
                  <a:srgbClr val="2E9C4C"/>
                </a:solidFill>
                <a:latin typeface="Arial"/>
              </a:rPr>
              <a:t>D6-7 · 18 Jul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500"/>
              </a:spcAft>
            </a:pPr>
            <a:r>
              <a:rPr sz="750" b="0" i="0" dirty="0">
                <a:solidFill>
                  <a:srgbClr val="5C6B62"/>
                </a:solidFill>
                <a:latin typeface="Arial"/>
              </a:rPr>
              <a:t>Glasses ready. She told the parent and asked when they could collect, then suggested bringing the child in to check the fit.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dirty="0">
                <a:solidFill>
                  <a:srgbClr val="2E9C4C"/>
                </a:solidFill>
                <a:latin typeface="Arial"/>
              </a:rPr>
              <a:t>Appointment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500"/>
              </a:spcAft>
            </a:pPr>
            <a:r>
              <a:rPr sz="750" b="0" i="0" dirty="0">
                <a:solidFill>
                  <a:srgbClr val="5C6B62"/>
                </a:solidFill>
                <a:latin typeface="Arial"/>
              </a:rPr>
              <a:t>Confirmed the time and offered to take a queue number so they would not have to wait.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dirty="0">
                <a:solidFill>
                  <a:srgbClr val="2E9C4C"/>
                </a:solidFill>
                <a:latin typeface="Arial"/>
              </a:rPr>
              <a:t>CD · 22 Jul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500"/>
              </a:spcAft>
            </a:pPr>
            <a:r>
              <a:rPr sz="750" b="0" i="0" dirty="0">
                <a:solidFill>
                  <a:srgbClr val="5C6B62"/>
                </a:solidFill>
                <a:latin typeface="Arial"/>
              </a:rPr>
              <a:t>Complete lens instructions: wash hands, wear at night, use cleaning solution, do not use tap water, and when to stop and call.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100"/>
              </a:spcAft>
            </a:pPr>
            <a:r>
              <a:rPr sz="850" b="1" dirty="0">
                <a:solidFill>
                  <a:srgbClr val="2E9C4C"/>
                </a:solidFill>
                <a:latin typeface="Arial"/>
              </a:rPr>
              <a:t>CD · benefits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500"/>
              </a:spcAft>
            </a:pPr>
            <a:r>
              <a:rPr sz="750" b="0" i="0" dirty="0">
                <a:solidFill>
                  <a:srgbClr val="5C6B62"/>
                </a:solidFill>
                <a:latin typeface="Arial"/>
              </a:rPr>
              <a:t>Membership benefits</a:t>
            </a:r>
            <a:r>
              <a:rPr lang="en-SG" sz="750" b="0" i="0" dirty="0">
                <a:solidFill>
                  <a:srgbClr val="5C6B62"/>
                </a:solidFill>
                <a:latin typeface="Arial"/>
              </a:rPr>
              <a:t> and referral ask </a:t>
            </a:r>
            <a:r>
              <a:rPr sz="750" b="0" i="0" dirty="0">
                <a:solidFill>
                  <a:srgbClr val="5C6B62"/>
                </a:solidFill>
                <a:latin typeface="Arial"/>
              </a:rPr>
              <a:t> sent only after the parent replied, with the voucher amounts and referral terms in full.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7D85059-3B98-259C-DBDD-CCE64AA1FD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5704" y="6022779"/>
            <a:ext cx="3657580" cy="6386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100584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9264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E9C4C"/>
                </a:solidFill>
                <a:latin typeface="Arial"/>
              </a:rPr>
              <a:t>4. EXAMPLE TO FOLLOW   |   EXAMPLE TO FOLLOW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24712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1633D"/>
                </a:solidFill>
                <a:latin typeface="Arial"/>
              </a:rPr>
              <a:t>Example — collection evening to CD+30 (OKY-260722)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33796"/>
            <a:ext cx="11186129" cy="18288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548640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62"/>
                </a:solidFill>
                <a:latin typeface="Arial"/>
              </a:rPr>
              <a:t>Mắt Sài Gòn  |  Optometry DA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13232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C6B62"/>
                </a:solidFill>
                <a:latin typeface="Arial"/>
              </a:rPr>
              <a:t>7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916092"/>
            <a:ext cx="11183112" cy="292608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tlCol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SG" sz="950" b="1" dirty="0">
                <a:solidFill>
                  <a:srgbClr val="2E9C4C"/>
                </a:solidFill>
                <a:latin typeface="Arial"/>
              </a:rPr>
              <a:t>Continued.   </a:t>
            </a:r>
            <a:r>
              <a:rPr lang="en-SG" sz="950" b="0" dirty="0">
                <a:solidFill>
                  <a:srgbClr val="5C6B62"/>
                </a:solidFill>
                <a:latin typeface="Arial"/>
              </a:rPr>
              <a:t>Six follow-ups after collection. The DA started every one; the parent never had to ask. The DA sent every follow-up first. She asked for a referral twice, both times after a reply. 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300140"/>
            <a:ext cx="3163824" cy="310896"/>
          </a:xfrm>
          <a:prstGeom prst="rect">
            <a:avLst/>
          </a:prstGeom>
          <a:solidFill>
            <a:srgbClr val="5B2C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 dirty="0">
                <a:solidFill>
                  <a:srgbClr val="FFFFFF"/>
                </a:solidFill>
                <a:latin typeface="Arial"/>
              </a:rPr>
              <a:t>CDN · CD+1 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11036"/>
            <a:ext cx="3163824" cy="2391377"/>
          </a:xfrm>
          <a:prstGeom prst="rect">
            <a:avLst/>
          </a:prstGeom>
          <a:solidFill>
            <a:srgbClr val="F7F8F7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11" name="Picture 10" descr="crop3_CDN_CD1_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29324"/>
            <a:ext cx="3163824" cy="241128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3922775" y="1300140"/>
            <a:ext cx="3092747" cy="310896"/>
          </a:xfrm>
          <a:prstGeom prst="rect">
            <a:avLst/>
          </a:prstGeom>
          <a:solidFill>
            <a:srgbClr val="0C9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>
              <a:lnSpc>
                <a:spcPct val="90000"/>
              </a:lnSpc>
            </a:pPr>
            <a:r>
              <a:rPr lang="en-US" sz="1000" b="1" dirty="0">
                <a:solidFill>
                  <a:srgbClr val="FFFFFF"/>
                </a:solidFill>
                <a:latin typeface="Arial"/>
              </a:rPr>
              <a:t>CD+3-5 </a:t>
            </a:r>
            <a:r>
              <a:rPr sz="1000" b="1" i="0" dirty="0">
                <a:solidFill>
                  <a:srgbClr val="FFFFFF"/>
                </a:solidFill>
                <a:latin typeface="Arial"/>
              </a:rPr>
              <a:t>CD+7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22775" y="1611036"/>
            <a:ext cx="3092747" cy="3183735"/>
          </a:xfrm>
          <a:prstGeom prst="rect">
            <a:avLst/>
          </a:prstGeom>
          <a:solidFill>
            <a:srgbClr val="F7F8F7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14" name="Picture 13" descr="crop4_CD7_CD30.png"/>
          <p:cNvPicPr>
            <a:picLocks noChangeAspect="1"/>
          </p:cNvPicPr>
          <p:nvPr/>
        </p:nvPicPr>
        <p:blipFill>
          <a:blip r:embed="rId3"/>
          <a:srcRect b="41918"/>
          <a:stretch>
            <a:fillRect/>
          </a:stretch>
        </p:blipFill>
        <p:spPr>
          <a:xfrm>
            <a:off x="3922776" y="1606356"/>
            <a:ext cx="3092747" cy="312142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150607" y="4909883"/>
            <a:ext cx="11247119" cy="1783525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C404E3F-92F7-FF26-A337-979654BB6999}"/>
              </a:ext>
            </a:extLst>
          </p:cNvPr>
          <p:cNvGrpSpPr/>
          <p:nvPr/>
        </p:nvGrpSpPr>
        <p:grpSpPr>
          <a:xfrm>
            <a:off x="150607" y="4827245"/>
            <a:ext cx="11247119" cy="1415685"/>
            <a:chOff x="6454" y="5056550"/>
            <a:chExt cx="11247119" cy="1415685"/>
          </a:xfrm>
        </p:grpSpPr>
        <p:sp>
          <p:nvSpPr>
            <p:cNvPr id="15" name="Rectangle 14"/>
            <p:cNvSpPr/>
            <p:nvPr/>
          </p:nvSpPr>
          <p:spPr>
            <a:xfrm>
              <a:off x="6454" y="5056550"/>
              <a:ext cx="11247119" cy="147786"/>
            </a:xfrm>
            <a:prstGeom prst="rect">
              <a:avLst/>
            </a:prstGeom>
            <a:solidFill>
              <a:srgbClr val="31633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09728" rIns="73152" rtlCol="0" anchor="ctr"/>
            <a:lstStyle/>
            <a:p>
              <a:pPr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 b="1" i="0" dirty="0">
                  <a:solidFill>
                    <a:srgbClr val="FFFFFF"/>
                  </a:solidFill>
                  <a:latin typeface="Arial"/>
                </a:rPr>
                <a:t>What this DA did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372988" y="5207510"/>
              <a:ext cx="10596291" cy="1264725"/>
            </a:xfrm>
            <a:prstGeom prst="rect">
              <a:avLst/>
            </a:prstGeom>
            <a:noFill/>
          </p:spPr>
          <p:txBody>
            <a:bodyPr wrap="square" lIns="36576" tIns="18288" rIns="36576" bIns="18288" anchor="t">
              <a:spAutoFit/>
            </a:bodyPr>
            <a:lstStyle/>
            <a:p>
              <a:pPr algn="l">
                <a:lnSpc>
                  <a:spcPct val="92000"/>
                </a:lnSpc>
                <a:spcBef>
                  <a:spcPts val="0"/>
                </a:spcBef>
                <a:spcAft>
                  <a:spcPts val="100"/>
                </a:spcAft>
              </a:pPr>
              <a:r>
                <a:rPr sz="850" b="1" dirty="0">
                  <a:solidFill>
                    <a:srgbClr val="2E9C4C"/>
                  </a:solidFill>
                  <a:latin typeface="Arial"/>
                </a:rPr>
                <a:t>CDN · 22 Jul, 9:30pm</a:t>
              </a:r>
            </a:p>
            <a:p>
              <a:pPr algn="l">
                <a:lnSpc>
                  <a:spcPct val="94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sz="750" b="0" i="0" dirty="0">
                  <a:solidFill>
                    <a:srgbClr val="5C6B62"/>
                  </a:solidFill>
                  <a:latin typeface="Arial"/>
                </a:rPr>
                <a:t>Same evening as collection: asked whether the lenses were comfortable. This follow-up applies to Ortho-K only, and she did it that night.</a:t>
              </a:r>
            </a:p>
            <a:p>
              <a:pPr algn="l">
                <a:lnSpc>
                  <a:spcPct val="92000"/>
                </a:lnSpc>
                <a:spcBef>
                  <a:spcPts val="0"/>
                </a:spcBef>
                <a:spcAft>
                  <a:spcPts val="100"/>
                </a:spcAft>
              </a:pPr>
              <a:r>
                <a:rPr sz="850" b="1" dirty="0">
                  <a:solidFill>
                    <a:srgbClr val="2E9C4C"/>
                  </a:solidFill>
                  <a:latin typeface="Arial"/>
                </a:rPr>
                <a:t>CD+1 · 23 Jul</a:t>
              </a:r>
            </a:p>
            <a:p>
              <a:pPr algn="l">
                <a:lnSpc>
                  <a:spcPct val="94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sz="750" b="0" i="0" dirty="0">
                  <a:solidFill>
                    <a:srgbClr val="5C6B62"/>
                  </a:solidFill>
                  <a:latin typeface="Arial"/>
                </a:rPr>
                <a:t>Next day, asked about the first night. The parent said the lenses felt strange but the child slept and could see better. The DA explained that a few nights of this is normal, and asked to be kept updated.</a:t>
              </a:r>
            </a:p>
            <a:p>
              <a:pPr algn="l">
                <a:lnSpc>
                  <a:spcPct val="92000"/>
                </a:lnSpc>
                <a:spcBef>
                  <a:spcPts val="0"/>
                </a:spcBef>
                <a:spcAft>
                  <a:spcPts val="100"/>
                </a:spcAft>
              </a:pPr>
              <a:r>
                <a:rPr sz="850" b="1" dirty="0">
                  <a:solidFill>
                    <a:srgbClr val="2E9C4C"/>
                  </a:solidFill>
                  <a:latin typeface="Arial"/>
                </a:rPr>
                <a:t>CD+3-5 · 27 Jul</a:t>
              </a:r>
            </a:p>
            <a:p>
              <a:pPr algn="l">
                <a:lnSpc>
                  <a:spcPct val="94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sz="750" b="0" i="0" dirty="0">
                  <a:solidFill>
                    <a:srgbClr val="5C6B62"/>
                  </a:solidFill>
                  <a:latin typeface="Arial"/>
                </a:rPr>
                <a:t>Day five: checked the child was adapting and could see well.</a:t>
              </a:r>
            </a:p>
            <a:p>
              <a:pPr algn="l">
                <a:lnSpc>
                  <a:spcPct val="92000"/>
                </a:lnSpc>
                <a:spcBef>
                  <a:spcPts val="0"/>
                </a:spcBef>
                <a:spcAft>
                  <a:spcPts val="100"/>
                </a:spcAft>
              </a:pPr>
              <a:r>
                <a:rPr sz="850" b="1" dirty="0">
                  <a:solidFill>
                    <a:srgbClr val="2E9C4C"/>
                  </a:solidFill>
                  <a:latin typeface="Arial"/>
                </a:rPr>
                <a:t>CD+7 · 29 Jul</a:t>
              </a:r>
            </a:p>
            <a:p>
              <a:pPr algn="l">
                <a:lnSpc>
                  <a:spcPct val="94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sz="750" b="0" i="0" dirty="0">
                  <a:solidFill>
                    <a:srgbClr val="5C6B62"/>
                  </a:solidFill>
                  <a:latin typeface="Arial"/>
                </a:rPr>
                <a:t>One week: invited them for a recheck, arranged the appointment, then asked for a referral — after the appointment was agreed, offered as a discount for family and friends.</a:t>
              </a:r>
            </a:p>
            <a:p>
              <a:pPr algn="l">
                <a:lnSpc>
                  <a:spcPct val="92000"/>
                </a:lnSpc>
                <a:spcBef>
                  <a:spcPts val="0"/>
                </a:spcBef>
                <a:spcAft>
                  <a:spcPts val="100"/>
                </a:spcAft>
              </a:pPr>
              <a:r>
                <a:rPr sz="850" b="1" dirty="0">
                  <a:solidFill>
                    <a:srgbClr val="2E9C4C"/>
                  </a:solidFill>
                  <a:latin typeface="Arial"/>
                </a:rPr>
                <a:t>CD+7 result · 1 Aug</a:t>
              </a:r>
            </a:p>
            <a:p>
              <a:pPr algn="l">
                <a:lnSpc>
                  <a:spcPct val="94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sz="750" b="0" i="0" dirty="0">
                  <a:solidFill>
                    <a:srgbClr val="5C6B62"/>
                  </a:solidFill>
                  <a:latin typeface="Arial"/>
                </a:rPr>
                <a:t>Told the parent what the doctor said, repeated the cleaning steps, and said when she would message next.</a:t>
              </a:r>
            </a:p>
            <a:p>
              <a:pPr algn="l">
                <a:lnSpc>
                  <a:spcPct val="92000"/>
                </a:lnSpc>
                <a:spcBef>
                  <a:spcPts val="0"/>
                </a:spcBef>
                <a:spcAft>
                  <a:spcPts val="100"/>
                </a:spcAft>
              </a:pPr>
              <a:r>
                <a:rPr sz="850" b="1" dirty="0">
                  <a:solidFill>
                    <a:srgbClr val="2E9C4C"/>
                  </a:solidFill>
                  <a:latin typeface="Arial"/>
                </a:rPr>
                <a:t>CD+30 · 22 Aug</a:t>
              </a:r>
            </a:p>
            <a:p>
              <a:pPr algn="l">
                <a:lnSpc>
                  <a:spcPct val="94000"/>
                </a:lnSpc>
                <a:spcBef>
                  <a:spcPts val="0"/>
                </a:spcBef>
                <a:spcAft>
                  <a:spcPts val="400"/>
                </a:spcAft>
              </a:pPr>
              <a:r>
                <a:rPr sz="750" b="0" i="0" dirty="0">
                  <a:solidFill>
                    <a:srgbClr val="5C6B62"/>
                  </a:solidFill>
                  <a:latin typeface="Arial"/>
                </a:rPr>
                <a:t>One month: arranged the recheck, reminded them to wear the lenses at least 6 nights a week, and asked for a referral again after the parent thanked her.</a:t>
              </a:r>
            </a:p>
          </p:txBody>
        </p:sp>
      </p:grpSp>
      <p:sp>
        <p:nvSpPr>
          <p:cNvPr id="18" name="Rectangle 17"/>
          <p:cNvSpPr/>
          <p:nvPr/>
        </p:nvSpPr>
        <p:spPr>
          <a:xfrm>
            <a:off x="2585293" y="-619065"/>
            <a:ext cx="68580" cy="475488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93FD971-2B81-94A6-0AB4-DAEBD32C9BD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7408"/>
          <a:stretch>
            <a:fillRect/>
          </a:stretch>
        </p:blipFill>
        <p:spPr>
          <a:xfrm>
            <a:off x="7161261" y="1591124"/>
            <a:ext cx="4168155" cy="3098452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4BE34C8D-A5AD-69F2-78BC-1A95D1200AC0}"/>
              </a:ext>
            </a:extLst>
          </p:cNvPr>
          <p:cNvSpPr/>
          <p:nvPr/>
        </p:nvSpPr>
        <p:spPr>
          <a:xfrm>
            <a:off x="7161260" y="1286203"/>
            <a:ext cx="4168156" cy="310896"/>
          </a:xfrm>
          <a:prstGeom prst="rect">
            <a:avLst/>
          </a:prstGeom>
          <a:solidFill>
            <a:srgbClr val="0C9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>
              <a:lnSpc>
                <a:spcPct val="90000"/>
              </a:lnSpc>
            </a:pPr>
            <a:r>
              <a:rPr sz="1000" b="1" i="0" dirty="0">
                <a:solidFill>
                  <a:srgbClr val="FFFFFF"/>
                </a:solidFill>
                <a:latin typeface="Arial"/>
              </a:rPr>
              <a:t>CD+30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100584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9264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E9C4C"/>
                </a:solidFill>
                <a:latin typeface="Arial"/>
              </a:rPr>
              <a:t>5. DATA TO FIX   |   FIX DATA FLAGS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24712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1633D"/>
                </a:solidFill>
                <a:latin typeface="Arial"/>
              </a:rPr>
              <a:t>Two data problems in the tracker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9576"/>
            <a:ext cx="11186129" cy="18288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548640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62"/>
                </a:solidFill>
                <a:latin typeface="Arial"/>
              </a:rPr>
              <a:t>Mắt Sài Gòn  |  Optometry DA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13232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C6B62"/>
                </a:solidFill>
                <a:latin typeface="Arial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16736"/>
            <a:ext cx="11183112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5C6B62"/>
                </a:solidFill>
                <a:latin typeface="Arial"/>
              </a:rPr>
              <a:t>These are not small errors. If the Zalo tag date is wrong, the CRM works out the wrong follow-up dates, and follow-up that was sent can be counted as missed.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645920"/>
            <a:ext cx="5577840" cy="2139696"/>
          </a:xfrm>
          <a:prstGeom prst="rect">
            <a:avLst/>
          </a:prstGeom>
          <a:solidFill>
            <a:srgbClr val="FDECEA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645920"/>
            <a:ext cx="5577840" cy="6400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7512" y="1792224"/>
            <a:ext cx="5248655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C0392B"/>
                </a:solidFill>
                <a:latin typeface="Arial"/>
              </a:rPr>
              <a:t>PROBLEM 1  ·  </a:t>
            </a:r>
            <a:r>
              <a:rPr sz="1200" b="1">
                <a:solidFill>
                  <a:srgbClr val="31633D"/>
                </a:solidFill>
                <a:latin typeface="Arial"/>
              </a:rPr>
              <a:t>Zalo tag date does not match the collection 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2103120"/>
            <a:ext cx="5248655" cy="1554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5C6B62"/>
                </a:solidFill>
                <a:latin typeface="Arial"/>
              </a:rPr>
              <a:t>The Zalo tag still shows the original date, not the date the customer collected the glasses.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C0392B"/>
                </a:solidFill>
                <a:latin typeface="Arial"/>
              </a:rPr>
              <a:t>Why it matters:  </a:t>
            </a:r>
            <a:r>
              <a:rPr sz="950" b="0">
                <a:solidFill>
                  <a:srgbClr val="5C6B62"/>
                </a:solidFill>
                <a:latin typeface="Arial"/>
              </a:rPr>
              <a:t>the CRM counts all follow-up dates from the tag date. If the tag date is wrong, every CD date is wrong, and follow-up you did send is counted on the wrong day or not counted at all.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1633D"/>
                </a:solidFill>
                <a:latin typeface="Arial"/>
              </a:rPr>
              <a:t>Recurring at:  </a:t>
            </a:r>
            <a:r>
              <a:rPr sz="950" b="0">
                <a:solidFill>
                  <a:srgbClr val="5C6B62"/>
                </a:solidFill>
                <a:latin typeface="Arial"/>
              </a:rPr>
              <a:t>NGT and CTE D7 — found in both in this week’s check.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91072" y="1645920"/>
            <a:ext cx="5394960" cy="2139696"/>
          </a:xfrm>
          <a:prstGeom prst="rect">
            <a:avLst/>
          </a:prstGeom>
          <a:solidFill>
            <a:srgbClr val="FDF6E3"/>
          </a:solidFill>
          <a:ln w="12700">
            <a:solidFill>
              <a:srgbClr val="B977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291072" y="1645920"/>
            <a:ext cx="5394960" cy="64008"/>
          </a:xfrm>
          <a:prstGeom prst="rect">
            <a:avLst/>
          </a:prstGeom>
          <a:solidFill>
            <a:srgbClr val="B97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55664" y="1792224"/>
            <a:ext cx="5065776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B9770B"/>
                </a:solidFill>
                <a:latin typeface="Arial"/>
              </a:rPr>
              <a:t>PROBLEM 2  ·  </a:t>
            </a:r>
            <a:r>
              <a:rPr sz="1200" b="1">
                <a:solidFill>
                  <a:srgbClr val="31633D"/>
                </a:solidFill>
                <a:latin typeface="Arial"/>
              </a:rPr>
              <a:t>Second child not recorded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2103120"/>
            <a:ext cx="5065776" cy="1554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5C6B62"/>
                </a:solidFill>
                <a:latin typeface="Arial"/>
              </a:rPr>
              <a:t>When one parent has two or more children, only the first child has a row. The second child has no name and no tag.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1">
                <a:solidFill>
                  <a:srgbClr val="B9770B"/>
                </a:solidFill>
                <a:latin typeface="Arial"/>
              </a:rPr>
              <a:t>Why it matters:  </a:t>
            </a:r>
            <a:r>
              <a:rPr sz="950" b="0">
                <a:solidFill>
                  <a:srgbClr val="5C6B62"/>
                </a:solidFill>
                <a:latin typeface="Arial"/>
              </a:rPr>
              <a:t>the second child is never added to the follow-up list, so no follow-up is ever created for them.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1633D"/>
                </a:solidFill>
                <a:latin typeface="Arial"/>
              </a:rPr>
              <a:t>Detected by:  </a:t>
            </a:r>
            <a:r>
              <a:rPr sz="950" b="0">
                <a:solidFill>
                  <a:srgbClr val="5C6B62"/>
                </a:solidFill>
                <a:latin typeface="Arial"/>
              </a:rPr>
              <a:t>matching phone numbers — two children sharing one contact number raises the flag.</a:t>
            </a:r>
          </a:p>
          <a:p>
            <a:pPr>
              <a:lnSpc>
                <a:spcPct val="96000"/>
              </a:lnSpc>
              <a:spcAft>
                <a:spcPts val="300"/>
              </a:spcAft>
            </a:pPr>
            <a:r>
              <a:rPr sz="850" b="1">
                <a:solidFill>
                  <a:srgbClr val="B9770B"/>
                </a:solidFill>
                <a:latin typeface="Arial"/>
              </a:rPr>
              <a:t>How big this is:  </a:t>
            </a:r>
            <a:r>
              <a:rPr sz="850" b="1">
                <a:solidFill>
                  <a:srgbClr val="C0392B"/>
                </a:solidFill>
                <a:latin typeface="Arial"/>
              </a:rPr>
              <a:t>NGT 33 of 39 data flags. CTE D5 26 of 31. </a:t>
            </a:r>
            <a:r>
              <a:rPr sz="850" b="0">
                <a:solidFill>
                  <a:srgbClr val="5C6B62"/>
                </a:solidFill>
                <a:latin typeface="Arial"/>
              </a:rPr>
              <a:t>This is the largest single cause of data flags at both clinics.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913632"/>
            <a:ext cx="11183112" cy="310896"/>
          </a:xfrm>
          <a:prstGeom prst="rect">
            <a:avLst/>
          </a:prstGeom>
          <a:solidFill>
            <a:srgbClr val="316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What this means for the numbers on slide 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224528"/>
            <a:ext cx="11183112" cy="1188720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91440" rtlCol="0" anchor="ctr"/>
          <a:lstStyle/>
          <a:p>
            <a:pPr algn="l">
              <a:lnSpc>
                <a:spcPct val="97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C6B62"/>
                </a:solidFill>
                <a:latin typeface="Arial"/>
              </a:rPr>
              <a:t>Some of the low CD3-5 and CD14 numbers may be a tagging problem, not a follow-up problem. If the tag date is wrong, the CRM never asked for those follow-ups on the right day.</a:t>
            </a:r>
          </a:p>
          <a:p>
            <a:pPr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1633D"/>
                </a:solidFill>
                <a:latin typeface="Arial"/>
              </a:rPr>
              <a:t>These must be fixed before the tracker can be trusted. </a:t>
            </a:r>
            <a:r>
              <a:rPr sz="1000" b="0">
                <a:solidFill>
                  <a:srgbClr val="5C6B62"/>
                </a:solidFill>
                <a:latin typeface="Arial"/>
              </a:rPr>
              <a:t>Until the dates are correct, we cannot tell the difference between a follow-up that was not sent and one that was sent but counted on the wrong date.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541264"/>
            <a:ext cx="68580" cy="475488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71500" y="5541264"/>
            <a:ext cx="11117549" cy="475488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09728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1633D"/>
                </a:solidFill>
                <a:latin typeface="Arial"/>
              </a:rPr>
              <a:t>Fix the tag date first. Until then, the tracker is measuring the wrong days.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100584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9264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E9C4C"/>
                </a:solidFill>
                <a:latin typeface="Arial"/>
              </a:rPr>
              <a:t>5. DATA TO FIX   |   CORRECTING DATA FLAGS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24712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1633D"/>
                </a:solidFill>
                <a:latin typeface="Arial"/>
              </a:rPr>
              <a:t>Fix 1 — update the Zalo tag date on collection 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9576"/>
            <a:ext cx="11186129" cy="18288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548640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62"/>
                </a:solidFill>
                <a:latin typeface="Arial"/>
              </a:rPr>
              <a:t>Mắt Sài Gòn  |  Optometry DA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13232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C6B62"/>
                </a:solidFill>
                <a:latin typeface="Arial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16736"/>
            <a:ext cx="11183112" cy="365760"/>
          </a:xfrm>
          <a:prstGeom prst="rect">
            <a:avLst/>
          </a:prstGeom>
          <a:solidFill>
            <a:srgbClr val="FDECEA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tlCol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0392B"/>
                </a:solidFill>
                <a:latin typeface="Arial"/>
              </a:rPr>
              <a:t>PROBLEM 1  ·  </a:t>
            </a:r>
            <a:r>
              <a:rPr sz="1050" b="0">
                <a:solidFill>
                  <a:srgbClr val="31633D"/>
                </a:solidFill>
                <a:latin typeface="Arial"/>
              </a:rPr>
              <a:t>Zalo tag date does not match the collection date  —  found at NGT and CTE D7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5468112" cy="1133856"/>
          </a:xfrm>
          <a:prstGeom prst="rect">
            <a:avLst/>
          </a:prstGeom>
          <a:solidFill>
            <a:srgbClr val="FDECEA"/>
          </a:solidFill>
          <a:ln w="9525">
            <a:solidFill>
              <a:srgbClr val="E8B4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58368" y="1938528"/>
            <a:ext cx="5157216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0392B"/>
                </a:solidFill>
                <a:latin typeface="Arial"/>
              </a:rPr>
              <a:t>✕  WRONG — tag still shows the original 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212848"/>
            <a:ext cx="5157216" cy="6583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62"/>
                </a:solidFill>
                <a:latin typeface="Arial"/>
              </a:rPr>
              <a:t>The tag shows the date the order was placed. The CRM counts CD1, CD3-5, CD7, CD14 and CD30 from that date, so all of them fall on the wrong 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5468112" cy="1133856"/>
          </a:xfrm>
          <a:prstGeom prst="rect">
            <a:avLst/>
          </a:prstGeom>
          <a:solidFill>
            <a:srgbClr val="EBF4EF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73368" y="1938528"/>
            <a:ext cx="5157216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9C4C"/>
                </a:solidFill>
                <a:latin typeface="Arial"/>
              </a:rPr>
              <a:t>✓  RIGHT — tag updated to the collection 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3368" y="2212848"/>
            <a:ext cx="5157216" cy="6583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62"/>
                </a:solidFill>
                <a:latin typeface="Arial"/>
              </a:rPr>
              <a:t>The tag shows the date the customer collected the glasses. The CRM then creates the correct CD dates, and your follow-up is counted on the right day.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090672"/>
            <a:ext cx="11183112" cy="310896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What to do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3438144"/>
            <a:ext cx="256032" cy="256032"/>
          </a:xfrm>
          <a:prstGeom prst="ellipse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392424"/>
            <a:ext cx="512064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1633D"/>
                </a:solidFill>
                <a:latin typeface="Arial"/>
              </a:rPr>
              <a:t>On the day the customer collects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3392424"/>
            <a:ext cx="555955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62"/>
                </a:solidFill>
                <a:latin typeface="Arial"/>
              </a:rPr>
              <a:t>Do it the same day — not later in the week.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" y="3904487"/>
            <a:ext cx="256032" cy="256032"/>
          </a:xfrm>
          <a:prstGeom prst="ellipse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3858768"/>
            <a:ext cx="512064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1633D"/>
                </a:solidFill>
                <a:latin typeface="Arial"/>
              </a:rPr>
              <a:t>Open the customer’s Zalo contact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3858768"/>
            <a:ext cx="555955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62"/>
                </a:solidFill>
                <a:latin typeface="Arial"/>
              </a:rPr>
              <a:t>Find the existing tag with the old date in it.</a:t>
            </a:r>
          </a:p>
        </p:txBody>
      </p:sp>
      <p:sp>
        <p:nvSpPr>
          <p:cNvPr id="22" name="Oval 21"/>
          <p:cNvSpPr/>
          <p:nvPr/>
        </p:nvSpPr>
        <p:spPr>
          <a:xfrm>
            <a:off x="502920" y="4370831"/>
            <a:ext cx="256032" cy="256032"/>
          </a:xfrm>
          <a:prstGeom prst="ellipse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325112"/>
            <a:ext cx="512064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1633D"/>
                </a:solidFill>
                <a:latin typeface="Arial"/>
              </a:rPr>
              <a:t>Change the date in the tag to the collection date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4325112"/>
            <a:ext cx="555955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62"/>
                </a:solidFill>
                <a:latin typeface="Arial"/>
              </a:rPr>
              <a:t>Keep the rest of the tag format exactly as it is.</a:t>
            </a:r>
          </a:p>
        </p:txBody>
      </p:sp>
      <p:sp>
        <p:nvSpPr>
          <p:cNvPr id="25" name="Oval 24"/>
          <p:cNvSpPr/>
          <p:nvPr/>
        </p:nvSpPr>
        <p:spPr>
          <a:xfrm>
            <a:off x="502920" y="4837175"/>
            <a:ext cx="256032" cy="256032"/>
          </a:xfrm>
          <a:prstGeom prst="ellipse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791455"/>
            <a:ext cx="512064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31633D"/>
                </a:solidFill>
                <a:latin typeface="Arial"/>
              </a:rPr>
              <a:t>Check the CRM shows the new follow-up dates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4791455"/>
            <a:ext cx="5559552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C6B62"/>
                </a:solidFill>
                <a:latin typeface="Arial"/>
              </a:rPr>
              <a:t>The CD dates should now count from collection day.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5376672"/>
            <a:ext cx="11183112" cy="420624"/>
          </a:xfrm>
          <a:prstGeom prst="rect">
            <a:avLst/>
          </a:prstGeom>
          <a:solidFill>
            <a:srgbClr val="FDF6E3"/>
          </a:solidFill>
          <a:ln w="9525">
            <a:solidFill>
              <a:srgbClr val="B977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tlCol="0" anchor="ctr"/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B9770B"/>
                </a:solidFill>
                <a:latin typeface="Arial"/>
              </a:rPr>
              <a:t>Note:  </a:t>
            </a:r>
            <a:r>
              <a:rPr sz="950" b="0">
                <a:solidFill>
                  <a:srgbClr val="5C6B62"/>
                </a:solidFill>
                <a:latin typeface="Arial"/>
              </a:rPr>
              <a:t>if the tag date is not updated, the CRM shows the wrong follow-up dates, and work you did can look like a miss.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870448"/>
            <a:ext cx="68580" cy="475488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71500" y="5870448"/>
            <a:ext cx="11117549" cy="475488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09728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31633D"/>
                </a:solidFill>
                <a:latin typeface="Arial"/>
              </a:rPr>
              <a:t>Update the tag on the same day the customer collects.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100584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9264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E9C4C"/>
                </a:solidFill>
                <a:latin typeface="Arial"/>
              </a:rPr>
              <a:t>5. DATA TO FIX   |   CORRECTING DATA FLAGS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24712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1633D"/>
                </a:solidFill>
                <a:latin typeface="Arial"/>
              </a:rPr>
              <a:t>Fix 2 — add a row for the second child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9576"/>
            <a:ext cx="11186129" cy="18288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548640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62"/>
                </a:solidFill>
                <a:latin typeface="Arial"/>
              </a:rPr>
              <a:t>Mắt Sài Gòn  |  Optometry DA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13232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5C6B62"/>
                </a:solidFill>
                <a:latin typeface="Arial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16736"/>
            <a:ext cx="11183112" cy="530352"/>
          </a:xfrm>
          <a:prstGeom prst="rect">
            <a:avLst/>
          </a:prstGeom>
          <a:solidFill>
            <a:srgbClr val="FDF6E3"/>
          </a:solidFill>
          <a:ln w="9525">
            <a:solidFill>
              <a:srgbClr val="B977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tlCol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B9770B"/>
                </a:solidFill>
                <a:latin typeface="Arial"/>
              </a:rPr>
              <a:t>PROBLEM 2  ·  </a:t>
            </a:r>
            <a:r>
              <a:rPr sz="1050" b="0">
                <a:solidFill>
                  <a:srgbClr val="31633D"/>
                </a:solidFill>
                <a:latin typeface="Arial"/>
              </a:rPr>
              <a:t>Two or more children under one parent  —  add one row per child, then link it to the Zalo contact</a:t>
            </a:r>
          </a:p>
          <a:p>
            <a:pPr>
              <a:lnSpc>
                <a:spcPct val="96000"/>
              </a:lnSpc>
              <a:spcAft>
                <a:spcPts val="0"/>
              </a:spcAft>
            </a:pPr>
            <a:r>
              <a:rPr sz="900" b="1">
                <a:solidFill>
                  <a:srgbClr val="C0392B"/>
                </a:solidFill>
                <a:latin typeface="Arial"/>
              </a:rPr>
              <a:t>NGT 33 of 39 data flags. CTE D5 26 of 31 — the largest single cause of data flags at both clinics.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10512"/>
            <a:ext cx="11183112" cy="310896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Step 1 — the same at every clinic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21408"/>
            <a:ext cx="11183112" cy="56692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tlCol="0" anchor="ctr"/>
          <a:lstStyle/>
          <a:p>
            <a:pPr algn="l">
              <a:lnSpc>
                <a:spcPct val="97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1633D"/>
                </a:solidFill>
                <a:latin typeface="Arial"/>
              </a:rPr>
              <a:t>Add another row and enter the second child’s name and tag. </a:t>
            </a:r>
            <a:r>
              <a:rPr sz="1000" b="0">
                <a:solidFill>
                  <a:srgbClr val="5C6B62"/>
                </a:solidFill>
                <a:latin typeface="Arial"/>
              </a:rPr>
              <a:t>Every child needs their own row. Without one, the second child is never added to the follow-up list and no follow-up is created for them.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98064"/>
            <a:ext cx="11183112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E9C4C"/>
                </a:solidFill>
                <a:latin typeface="Arial"/>
              </a:rPr>
              <a:t>STEP 2 — LINKING TO THE ZALO CONTACT WORKS DIFFERENTLY BY CLINIC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090672"/>
            <a:ext cx="5577840" cy="2212848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3090672"/>
            <a:ext cx="5577840" cy="64008"/>
          </a:xfrm>
          <a:prstGeom prst="rect">
            <a:avLst/>
          </a:prstGeom>
          <a:solidFill>
            <a:srgbClr val="0C9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67512" y="3236976"/>
            <a:ext cx="5248655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C989A"/>
                </a:solidFill>
                <a:latin typeface="Arial"/>
              </a:rPr>
              <a:t>CTE D5 and CTE D7  ·  </a:t>
            </a:r>
            <a:r>
              <a:rPr sz="1150" b="1">
                <a:solidFill>
                  <a:srgbClr val="31633D"/>
                </a:solidFill>
                <a:latin typeface="Arial"/>
              </a:rPr>
              <a:t>automatic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" y="3547872"/>
            <a:ext cx="5248655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5C6B62"/>
                </a:solidFill>
                <a:latin typeface="Arial"/>
              </a:rPr>
              <a:t>Phone numbers are recorded, so the system matches them for you.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C6B62"/>
                </a:solidFill>
                <a:latin typeface="Arial"/>
              </a:rPr>
              <a:t>▪  Column S will display automatically for the secondary child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C6B62"/>
                </a:solidFill>
                <a:latin typeface="Arial"/>
              </a:rPr>
              <a:t>▪  It shows which row to refer to for the Zalo contact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C6B62"/>
                </a:solidFill>
                <a:latin typeface="Arial"/>
              </a:rPr>
              <a:t>▪  The match is made on the contact number — if two children share a number, it flags</a:t>
            </a:r>
          </a:p>
          <a:p>
            <a:pPr algn="l">
              <a:lnSpc>
                <a:spcPct val="96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1">
                <a:solidFill>
                  <a:srgbClr val="0C989A"/>
                </a:solidFill>
                <a:latin typeface="Arial"/>
              </a:rPr>
              <a:t>Your job:  </a:t>
            </a:r>
            <a:r>
              <a:rPr sz="950" b="0">
                <a:solidFill>
                  <a:srgbClr val="5C6B62"/>
                </a:solidFill>
                <a:latin typeface="Arial"/>
              </a:rPr>
              <a:t>check Column S is populated and points to the right row.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91072" y="3090672"/>
            <a:ext cx="5394960" cy="2212848"/>
          </a:xfrm>
          <a:prstGeom prst="rect">
            <a:avLst/>
          </a:prstGeom>
          <a:solidFill>
            <a:srgbClr val="FDF6E3"/>
          </a:solidFill>
          <a:ln w="9525">
            <a:solidFill>
              <a:srgbClr val="B977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91072" y="3090672"/>
            <a:ext cx="5394960" cy="64008"/>
          </a:xfrm>
          <a:prstGeom prst="rect">
            <a:avLst/>
          </a:prstGeom>
          <a:solidFill>
            <a:srgbClr val="B977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55664" y="3236976"/>
            <a:ext cx="5065776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B9770B"/>
                </a:solidFill>
                <a:latin typeface="Arial"/>
              </a:rPr>
              <a:t>NGT  ·  </a:t>
            </a:r>
            <a:r>
              <a:rPr sz="1150" b="1">
                <a:solidFill>
                  <a:srgbClr val="31633D"/>
                </a:solidFill>
                <a:latin typeface="Arial"/>
              </a:rPr>
              <a:t>manual — you must do this yourself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5664" y="3547872"/>
            <a:ext cx="5065776" cy="1645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5C6B62"/>
                </a:solidFill>
                <a:latin typeface="Arial"/>
              </a:rPr>
              <a:t>Phone numbers are not recorded, so the system has nothing to match on.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C6B62"/>
                </a:solidFill>
                <a:latin typeface="Arial"/>
              </a:rPr>
              <a:t>▪  Column S will not populate on its own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C6B62"/>
                </a:solidFill>
                <a:latin typeface="Arial"/>
              </a:rPr>
              <a:t>▪  You must manually key into Column S which row to refer to,</a:t>
            </a:r>
          </a:p>
          <a:p>
            <a:pPr algn="l">
              <a:lnSpc>
                <a:spcPct val="96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5C6B62"/>
                </a:solidFill>
                <a:latin typeface="Arial"/>
              </a:rPr>
              <a:t>▪  or enter the Zalo tag of the contact directly</a:t>
            </a:r>
          </a:p>
          <a:p>
            <a:pPr algn="l">
              <a:lnSpc>
                <a:spcPct val="96000"/>
              </a:lnSpc>
              <a:spcBef>
                <a:spcPts val="200"/>
              </a:spcBef>
              <a:spcAft>
                <a:spcPts val="0"/>
              </a:spcAft>
            </a:pPr>
            <a:r>
              <a:rPr sz="950" b="1">
                <a:solidFill>
                  <a:srgbClr val="B9770B"/>
                </a:solidFill>
                <a:latin typeface="Arial"/>
              </a:rPr>
              <a:t>Root cause:  </a:t>
            </a:r>
            <a:r>
              <a:rPr sz="950" b="0">
                <a:solidFill>
                  <a:srgbClr val="5C6B62"/>
                </a:solidFill>
                <a:latin typeface="Arial"/>
              </a:rPr>
              <a:t>this is why phone numbers must go into the name remark — it removes the manual step.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449824"/>
            <a:ext cx="68580" cy="475488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71500" y="5449824"/>
            <a:ext cx="11117549" cy="475488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09728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1633D"/>
                </a:solidFill>
                <a:latin typeface="Arial"/>
              </a:rPr>
              <a:t>One row per child. CTE D5 and D7 match automatically by phone number. NGT must fill in Column S by hand.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100584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92640" cy="22860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1">
                <a:solidFill>
                  <a:srgbClr val="2E9C4C"/>
                </a:solidFill>
                <a:latin typeface="Arial"/>
              </a:rPr>
              <a:t>5. DATA TO FIX</a:t>
            </a:r>
            <a:r>
              <a:rPr sz="900" b="0">
                <a:solidFill>
                  <a:srgbClr val="CFE6D8"/>
                </a:solidFill>
                <a:latin typeface="Arial"/>
              </a:rPr>
              <a:t>   |   </a:t>
            </a:r>
            <a:r>
              <a:rPr sz="900" b="1">
                <a:solidFill>
                  <a:srgbClr val="5C6B62"/>
                </a:solidFill>
                <a:latin typeface="Arial"/>
              </a:rPr>
              <a:t>WHY THE TAG DATE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247120" cy="640080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>
              <a:lnSpc>
                <a:spcPct val="94000"/>
              </a:lnSpc>
              <a:spcAft>
                <a:spcPts val="0"/>
              </a:spcAft>
            </a:pPr>
            <a:r>
              <a:rPr sz="1900" b="1" i="0">
                <a:solidFill>
                  <a:srgbClr val="31633D"/>
                </a:solidFill>
                <a:latin typeface="Arial"/>
              </a:rPr>
              <a:t>MCY 260811 — a wrong tag date caused a message that should not have been sent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9576"/>
            <a:ext cx="11183112" cy="18288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5486400" cy="23774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00" b="0" i="0">
                <a:solidFill>
                  <a:srgbClr val="5C6B62"/>
                </a:solidFill>
                <a:latin typeface="Arial"/>
              </a:rPr>
              <a:t>Mắt Sài Gòn  |  Optometry DA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13232" cy="237744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800" b="1" i="0">
                <a:solidFill>
                  <a:srgbClr val="5C6B62"/>
                </a:solidFill>
                <a:latin typeface="Arial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11183112" cy="310896"/>
          </a:xfrm>
          <a:prstGeom prst="rect">
            <a:avLst/>
          </a:prstGeom>
          <a:solidFill>
            <a:srgbClr val="FDECEA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rIns="54864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C0392B"/>
                </a:solidFill>
                <a:latin typeface="Arial"/>
              </a:rPr>
              <a:t>MCY 260811  MẸ BÉ TẤN PHÁT   ·   </a:t>
            </a:r>
            <a:r>
              <a:rPr sz="950" b="0">
                <a:solidFill>
                  <a:srgbClr val="5C6B62"/>
                </a:solidFill>
                <a:latin typeface="Arial"/>
              </a:rPr>
              <a:t>marked as collected on 11 August. The customer had not collected the glasses, and still had not collected them on 25 August.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00784"/>
            <a:ext cx="5760720" cy="4059936"/>
          </a:xfrm>
          <a:prstGeom prst="rect">
            <a:avLst/>
          </a:prstGeom>
          <a:solidFill>
            <a:srgbClr val="F7F8F7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pic>
        <p:nvPicPr>
          <p:cNvPr id="10" name="Picture 9" descr="Screenshot 2026-09-01 1221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375" y="1700784"/>
            <a:ext cx="4907808" cy="405993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547104" y="1700784"/>
            <a:ext cx="5138928" cy="310896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54864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What happened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47104" y="2011680"/>
            <a:ext cx="5138928" cy="2212848"/>
          </a:xfrm>
          <a:prstGeom prst="rect">
            <a:avLst/>
          </a:prstGeom>
          <a:solidFill>
            <a:srgbClr val="FDECEA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93408" y="2093976"/>
            <a:ext cx="4846320" cy="2066543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>
              <a:lnSpc>
                <a:spcPct val="96000"/>
              </a:lnSpc>
              <a:spcAft>
                <a:spcPts val="500"/>
              </a:spcAft>
            </a:pPr>
            <a:r>
              <a:rPr sz="850" b="1">
                <a:solidFill>
                  <a:srgbClr val="C0392B"/>
                </a:solidFill>
                <a:latin typeface="Arial"/>
              </a:rPr>
              <a:t>11 Aug   </a:t>
            </a:r>
            <a:r>
              <a:rPr sz="850" b="0">
                <a:solidFill>
                  <a:srgbClr val="5C6B62"/>
                </a:solidFill>
                <a:latin typeface="Arial"/>
              </a:rPr>
              <a:t>The tracker was marked as collected. The customer had not collected the glasses.</a:t>
            </a:r>
          </a:p>
          <a:p>
            <a:pPr>
              <a:lnSpc>
                <a:spcPct val="96000"/>
              </a:lnSpc>
              <a:spcAft>
                <a:spcPts val="500"/>
              </a:spcAft>
            </a:pPr>
            <a:r>
              <a:rPr sz="850" b="1">
                <a:solidFill>
                  <a:srgbClr val="C0392B"/>
                </a:solidFill>
                <a:latin typeface="Arial"/>
              </a:rPr>
              <a:t>18 Aug   </a:t>
            </a:r>
            <a:r>
              <a:rPr sz="850" b="0">
                <a:solidFill>
                  <a:srgbClr val="5C6B62"/>
                </a:solidFill>
                <a:latin typeface="Arial"/>
              </a:rPr>
              <a:t>The DA told the parent the glasses were ready. The parent said they would come and collect them.</a:t>
            </a:r>
          </a:p>
          <a:p>
            <a:pPr>
              <a:lnSpc>
                <a:spcPct val="96000"/>
              </a:lnSpc>
              <a:spcAft>
                <a:spcPts val="500"/>
              </a:spcAft>
            </a:pPr>
            <a:r>
              <a:rPr sz="850" b="1">
                <a:solidFill>
                  <a:srgbClr val="C0392B"/>
                </a:solidFill>
                <a:latin typeface="Arial"/>
              </a:rPr>
              <a:t>20 Aug   </a:t>
            </a:r>
            <a:r>
              <a:rPr sz="850" b="0">
                <a:solidFill>
                  <a:srgbClr val="5C6B62"/>
                </a:solidFill>
                <a:latin typeface="Arial"/>
              </a:rPr>
              <a:t>Membership benefits were sent, before the glasses had been collected.</a:t>
            </a:r>
          </a:p>
          <a:p>
            <a:pPr>
              <a:lnSpc>
                <a:spcPct val="96000"/>
              </a:lnSpc>
              <a:spcAft>
                <a:spcPts val="500"/>
              </a:spcAft>
            </a:pPr>
            <a:r>
              <a:rPr sz="850" b="1">
                <a:solidFill>
                  <a:srgbClr val="C0392B"/>
                </a:solidFill>
                <a:latin typeface="Arial"/>
              </a:rPr>
              <a:t>25 Aug   </a:t>
            </a:r>
            <a:r>
              <a:rPr sz="850" b="0">
                <a:solidFill>
                  <a:srgbClr val="5C6B62"/>
                </a:solidFill>
                <a:latin typeface="Arial"/>
              </a:rPr>
              <a:t>The tag said 11 August, so the CRM counted this day as CD+14. The DA sent the CD+14 usage check: has the child got used to the glasses?</a:t>
            </a:r>
          </a:p>
          <a:p>
            <a:pPr>
              <a:lnSpc>
                <a:spcPct val="96000"/>
              </a:lnSpc>
              <a:spcAft>
                <a:spcPts val="500"/>
              </a:spcAft>
            </a:pPr>
            <a:r>
              <a:rPr sz="850" b="1">
                <a:solidFill>
                  <a:srgbClr val="C0392B"/>
                </a:solidFill>
                <a:latin typeface="Arial"/>
              </a:rPr>
              <a:t>25 Aug   </a:t>
            </a:r>
            <a:r>
              <a:rPr sz="850" b="0">
                <a:solidFill>
                  <a:srgbClr val="5C6B62"/>
                </a:solidFill>
                <a:latin typeface="Arial"/>
              </a:rPr>
              <a:t>The parent replied: I have not gone down to pick it up yet. The DA had to apologise and say the message was sent by mistake.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47104" y="4352544"/>
            <a:ext cx="5138928" cy="310896"/>
          </a:xfrm>
          <a:prstGeom prst="rect">
            <a:avLst/>
          </a:prstGeom>
          <a:solidFill>
            <a:srgbClr val="316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54864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What this shows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47104" y="4663440"/>
            <a:ext cx="5138928" cy="1097280"/>
          </a:xfrm>
          <a:prstGeom prst="rect">
            <a:avLst/>
          </a:prstGeom>
          <a:solidFill>
            <a:srgbClr val="F7F8F7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93408" y="4745736"/>
            <a:ext cx="4846320" cy="950976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pPr>
              <a:lnSpc>
                <a:spcPct val="96000"/>
              </a:lnSpc>
              <a:spcAft>
                <a:spcPts val="400"/>
              </a:spcAft>
            </a:pPr>
            <a:r>
              <a:rPr sz="850" b="1" dirty="0">
                <a:solidFill>
                  <a:srgbClr val="31633D"/>
                </a:solidFill>
                <a:latin typeface="Arial"/>
              </a:rPr>
              <a:t>A wrong tag date does more than count wrongly. </a:t>
            </a:r>
            <a:r>
              <a:rPr sz="850" b="0" dirty="0">
                <a:solidFill>
                  <a:srgbClr val="5C6B62"/>
                </a:solidFill>
                <a:latin typeface="Arial"/>
              </a:rPr>
              <a:t>It makes the CRM ask for follow-up that is not due, and the DA sends it.</a:t>
            </a:r>
          </a:p>
          <a:p>
            <a:pPr>
              <a:lnSpc>
                <a:spcPct val="96000"/>
              </a:lnSpc>
              <a:spcAft>
                <a:spcPts val="400"/>
              </a:spcAft>
            </a:pPr>
            <a:r>
              <a:rPr sz="850" b="1" dirty="0">
                <a:solidFill>
                  <a:srgbClr val="31633D"/>
                </a:solidFill>
                <a:latin typeface="Arial"/>
              </a:rPr>
              <a:t>The customer sees the mistake. </a:t>
            </a:r>
            <a:r>
              <a:rPr sz="850" b="0" dirty="0">
                <a:solidFill>
                  <a:srgbClr val="5C6B62"/>
                </a:solidFill>
                <a:latin typeface="Arial"/>
              </a:rPr>
              <a:t>The parent was asked about glasses they did not have.</a:t>
            </a:r>
          </a:p>
          <a:p>
            <a:pPr>
              <a:lnSpc>
                <a:spcPct val="96000"/>
              </a:lnSpc>
              <a:spcAft>
                <a:spcPts val="400"/>
              </a:spcAft>
            </a:pPr>
            <a:r>
              <a:rPr sz="850" b="1" dirty="0">
                <a:solidFill>
                  <a:srgbClr val="31633D"/>
                </a:solidFill>
                <a:latin typeface="Arial"/>
              </a:rPr>
              <a:t>Mark as collected only on the day the customer collects. </a:t>
            </a:r>
            <a:r>
              <a:rPr sz="850" b="0" dirty="0">
                <a:solidFill>
                  <a:srgbClr val="5C6B62"/>
                </a:solidFill>
                <a:latin typeface="Arial"/>
              </a:rPr>
              <a:t>Not when the glasses are ready, and not when the customer says they will come.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888736"/>
            <a:ext cx="64008" cy="475488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27432" rIns="54864" bIns="27432"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66928" y="5888736"/>
            <a:ext cx="11119104" cy="475488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27432" rIns="54864" bIns="27432" rtlCol="0" anchor="ctr"/>
          <a:lstStyle/>
          <a:p>
            <a:pPr algn="ctr">
              <a:lnSpc>
                <a:spcPct val="94000"/>
              </a:lnSpc>
              <a:spcAft>
                <a:spcPts val="0"/>
              </a:spcAft>
            </a:pPr>
            <a:r>
              <a:rPr sz="1150" b="1" i="0">
                <a:solidFill>
                  <a:srgbClr val="31633D"/>
                </a:solidFill>
                <a:latin typeface="Arial"/>
              </a:rPr>
              <a:t>Mark as collected only on the day the customer actually collects the glasses.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100584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9264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E9C4C"/>
                </a:solidFill>
                <a:latin typeface="Arial"/>
              </a:rPr>
              <a:t>6. WHAT TO DO NEXT   |   A REAL EXAMPLE FROM THIS WEEK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24712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 dirty="0">
                <a:solidFill>
                  <a:srgbClr val="31633D"/>
                </a:solidFill>
                <a:latin typeface="Arial"/>
              </a:rPr>
              <a:t>A real example from this week — good follow-up, wrong tag date (MCY 260814)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9576"/>
            <a:ext cx="11186129" cy="18288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548640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62"/>
                </a:solidFill>
                <a:latin typeface="Arial"/>
              </a:rPr>
              <a:t>Mắt Sài Gòn  |  Optometry DA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5817" y="6595872"/>
            <a:ext cx="713232" cy="1538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SG" sz="800" b="1" i="0" dirty="0">
                <a:solidFill>
                  <a:srgbClr val="5C6B62"/>
                </a:solidFill>
                <a:latin typeface="Arial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11183112" cy="310896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rtlCol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2E9C4C"/>
                </a:solidFill>
                <a:latin typeface="Arial"/>
              </a:rPr>
              <a:t>Customer:  </a:t>
            </a:r>
            <a:r>
              <a:rPr sz="1000" b="0">
                <a:solidFill>
                  <a:srgbClr val="5C6B62"/>
                </a:solidFill>
                <a:latin typeface="Arial"/>
              </a:rPr>
              <a:t>MCY 260814 MẸ BÉ BẢO NGHI   ·   MC · myopia-control glasses   ·   27–28 Aug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00784"/>
            <a:ext cx="5888736" cy="4261104"/>
          </a:xfrm>
          <a:prstGeom prst="rect">
            <a:avLst/>
          </a:prstGeom>
          <a:solidFill>
            <a:srgbClr val="F7F8F7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pic>
        <p:nvPicPr>
          <p:cNvPr id="10" name="Picture 9" descr="Screenshot 2026-09-01 1225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983" y="1700784"/>
            <a:ext cx="5112609" cy="4261104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620256" y="1700784"/>
            <a:ext cx="5065776" cy="310896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Arial"/>
              </a:rPr>
              <a:t>What this DA did well</a:t>
            </a:r>
          </a:p>
        </p:txBody>
      </p:sp>
      <p:sp>
        <p:nvSpPr>
          <p:cNvPr id="12" name="Oval 11"/>
          <p:cNvSpPr/>
          <p:nvPr/>
        </p:nvSpPr>
        <p:spPr>
          <a:xfrm>
            <a:off x="6620256" y="2048256"/>
            <a:ext cx="228600" cy="228600"/>
          </a:xfrm>
          <a:prstGeom prst="ellipse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31152" y="2007108"/>
            <a:ext cx="4736592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1633D"/>
                </a:solidFill>
                <a:latin typeface="Arial"/>
              </a:rPr>
              <a:t>She asked a real question, not a standard message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31152" y="2231136"/>
            <a:ext cx="4736592" cy="7498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dirty="0">
                <a:solidFill>
                  <a:srgbClr val="5C6B62"/>
                </a:solidFill>
                <a:latin typeface="Arial"/>
              </a:rPr>
              <a:t>She asked whether the child was seeing clearly and comfortably after a few days in the new glasses. The parent had not asked first.</a:t>
            </a:r>
          </a:p>
        </p:txBody>
      </p:sp>
      <p:sp>
        <p:nvSpPr>
          <p:cNvPr id="15" name="Oval 14"/>
          <p:cNvSpPr/>
          <p:nvPr/>
        </p:nvSpPr>
        <p:spPr>
          <a:xfrm>
            <a:off x="6620256" y="3044952"/>
            <a:ext cx="228600" cy="228600"/>
          </a:xfrm>
          <a:prstGeom prst="ellipse">
            <a:avLst/>
          </a:prstGeom>
          <a:solidFill>
            <a:srgbClr val="0C9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31152" y="3003804"/>
            <a:ext cx="4736592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1633D"/>
                </a:solidFill>
                <a:latin typeface="Arial"/>
              </a:rPr>
              <a:t>She answered the concern properly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31152" y="3227832"/>
            <a:ext cx="4736592" cy="7498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dirty="0">
                <a:solidFill>
                  <a:srgbClr val="5C6B62"/>
                </a:solidFill>
                <a:latin typeface="Arial"/>
              </a:rPr>
              <a:t>The parent said the child’s eyes hurt on the first day. The DA explained that about a week of adjustment is normal, then gave the wear rule: all day except bathing and sleeping, more than 12 hours for the best result.</a:t>
            </a:r>
          </a:p>
        </p:txBody>
      </p:sp>
      <p:sp>
        <p:nvSpPr>
          <p:cNvPr id="18" name="Oval 17"/>
          <p:cNvSpPr/>
          <p:nvPr/>
        </p:nvSpPr>
        <p:spPr>
          <a:xfrm>
            <a:off x="6620256" y="4041648"/>
            <a:ext cx="228600" cy="228600"/>
          </a:xfrm>
          <a:prstGeom prst="ellipse">
            <a:avLst/>
          </a:prstGeom>
          <a:solidFill>
            <a:srgbClr val="5B2C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31152" y="4000500"/>
            <a:ext cx="4736592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1633D"/>
                </a:solidFill>
                <a:latin typeface="Arial"/>
              </a:rPr>
              <a:t>She sent benefits, then asked for a referral after the reply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2" y="4224528"/>
            <a:ext cx="4736592" cy="7498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B62"/>
                </a:solidFill>
                <a:latin typeface="Arial"/>
              </a:rPr>
              <a:t>Membership benefits were sent with the voucher and referral terms in full. She asked for the referral only after the parent replied “Okay”, not before.</a:t>
            </a:r>
          </a:p>
        </p:txBody>
      </p:sp>
      <p:sp>
        <p:nvSpPr>
          <p:cNvPr id="21" name="Oval 20"/>
          <p:cNvSpPr/>
          <p:nvPr/>
        </p:nvSpPr>
        <p:spPr>
          <a:xfrm>
            <a:off x="6620256" y="5038344"/>
            <a:ext cx="228600" cy="228600"/>
          </a:xfrm>
          <a:prstGeom prst="ellipse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31152" y="4997196"/>
            <a:ext cx="4736592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31633D"/>
                </a:solidFill>
                <a:latin typeface="Arial"/>
              </a:rPr>
              <a:t>She ended with care, not an offer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1152" y="5221224"/>
            <a:ext cx="4736592" cy="7498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 dirty="0">
                <a:solidFill>
                  <a:srgbClr val="5C6B62"/>
                </a:solidFill>
                <a:latin typeface="Arial"/>
              </a:rPr>
              <a:t>The last message offered to arrange vouchers for family and friends, and thanked the parent for trusting the </a:t>
            </a:r>
            <a:r>
              <a:rPr sz="850" b="0" i="0" dirty="0" err="1">
                <a:solidFill>
                  <a:srgbClr val="5C6B62"/>
                </a:solidFill>
                <a:latin typeface="Arial"/>
              </a:rPr>
              <a:t>centre</a:t>
            </a:r>
            <a:r>
              <a:rPr sz="850" b="0" i="0" dirty="0">
                <a:solidFill>
                  <a:srgbClr val="5C6B62"/>
                </a:solidFill>
                <a:latin typeface="Arial"/>
              </a:rPr>
              <a:t>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20256" y="6035040"/>
            <a:ext cx="5065776" cy="512064"/>
          </a:xfrm>
          <a:prstGeom prst="rect">
            <a:avLst/>
          </a:prstGeom>
          <a:solidFill>
            <a:srgbClr val="FDECEA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18872" rtlCol="0" anchor="ctr"/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dirty="0">
                <a:solidFill>
                  <a:srgbClr val="C0392B"/>
                </a:solidFill>
                <a:latin typeface="Arial"/>
              </a:rPr>
              <a:t>The </a:t>
            </a:r>
            <a:r>
              <a:rPr lang="en-SG" sz="900" b="1" dirty="0">
                <a:solidFill>
                  <a:srgbClr val="C0392B"/>
                </a:solidFill>
                <a:latin typeface="Arial"/>
              </a:rPr>
              <a:t>only imperfection</a:t>
            </a:r>
            <a:r>
              <a:rPr sz="900" b="1" dirty="0">
                <a:solidFill>
                  <a:srgbClr val="C0392B"/>
                </a:solidFill>
                <a:latin typeface="Arial"/>
              </a:rPr>
              <a:t>:  </a:t>
            </a:r>
            <a:r>
              <a:rPr sz="900" b="1" dirty="0">
                <a:solidFill>
                  <a:srgbClr val="31633D"/>
                </a:solidFill>
                <a:latin typeface="Arial"/>
              </a:rPr>
              <a:t>the </a:t>
            </a:r>
            <a:r>
              <a:rPr sz="900" b="1" dirty="0" err="1">
                <a:solidFill>
                  <a:srgbClr val="31633D"/>
                </a:solidFill>
                <a:latin typeface="Arial"/>
              </a:rPr>
              <a:t>Zalo</a:t>
            </a:r>
            <a:r>
              <a:rPr sz="900" b="1" dirty="0">
                <a:solidFill>
                  <a:srgbClr val="31633D"/>
                </a:solidFill>
                <a:latin typeface="Arial"/>
              </a:rPr>
              <a:t> tag date is wrong.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 dirty="0">
                <a:solidFill>
                  <a:srgbClr val="5C6B62"/>
                </a:solidFill>
                <a:latin typeface="Arial"/>
              </a:rPr>
              <a:t>The conversation was correct, but the tag date does not match the collection date, so the CRM counts the follow-up dates from the wrong day. See slides 8 and 9.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035040"/>
            <a:ext cx="68580" cy="475488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71500" y="6035040"/>
            <a:ext cx="5820156" cy="475488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Ins="109728" rtlCol="0" anchor="ctr"/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dirty="0">
                <a:solidFill>
                  <a:srgbClr val="31633D"/>
                </a:solidFill>
                <a:latin typeface="Arial"/>
              </a:rPr>
              <a:t>Message first. Answer properly.
Ask for the referral after they reply.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969" cy="100584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969264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E9C4C"/>
                </a:solidFill>
                <a:latin typeface="Arial"/>
              </a:rPr>
              <a:t>6. WHAT TO DO NEXT   |   TRAINING PRIORITIES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93776"/>
            <a:ext cx="11247120" cy="6400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1633D"/>
                </a:solidFill>
                <a:latin typeface="Arial"/>
              </a:rPr>
              <a:t>This week’s three priorities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79576"/>
            <a:ext cx="11186129" cy="18288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5486400" cy="237744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C6B62"/>
                </a:solidFill>
                <a:latin typeface="Arial"/>
              </a:rPr>
              <a:t>Mắt Sài Gòn  |  Optometry DA 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55664"/>
            <a:ext cx="713232" cy="1538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lang="en-SG" sz="800" b="1" i="0" dirty="0">
                <a:solidFill>
                  <a:srgbClr val="5C6B62"/>
                </a:solidFill>
                <a:latin typeface="Arial"/>
              </a:rPr>
              <a:t>13</a:t>
            </a:r>
            <a:endParaRPr sz="800" b="1" i="0" dirty="0">
              <a:solidFill>
                <a:srgbClr val="5C6B62"/>
              </a:solidFill>
              <a:latin typeface="Arial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02920" y="1353312"/>
            <a:ext cx="3575304" cy="3931920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353312"/>
            <a:ext cx="3575304" cy="50292"/>
          </a:xfrm>
          <a:prstGeom prst="rect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49224" y="1536192"/>
            <a:ext cx="292608" cy="292608"/>
          </a:xfrm>
          <a:prstGeom prst="ellipse">
            <a:avLst/>
          </a:prstGeom>
          <a:solidFill>
            <a:srgbClr val="2E9C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" y="1499616"/>
            <a:ext cx="2916936" cy="4754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1633D"/>
                </a:solidFill>
                <a:latin typeface="Arial"/>
              </a:rPr>
              <a:t>Follow-up frequency</a:t>
            </a:r>
          </a:p>
          <a:p>
            <a:pPr>
              <a:lnSpc>
                <a:spcPct val="92000"/>
              </a:lnSpc>
              <a:spcAft>
                <a:spcPts val="0"/>
              </a:spcAft>
            </a:pPr>
            <a:r>
              <a:rPr sz="1150" b="1">
                <a:solidFill>
                  <a:srgbClr val="31633D"/>
                </a:solidFill>
                <a:latin typeface="Arial"/>
              </a:rPr>
              <a:t>and required content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" y="2066543"/>
            <a:ext cx="3282696" cy="13716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" y="2157984"/>
            <a:ext cx="3282696" cy="1920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5C6B62"/>
                </a:solidFill>
                <a:latin typeface="Arial"/>
              </a:rPr>
              <a:t>▪  Send follow-ups as often as required, for every customer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5C6B62"/>
                </a:solidFill>
                <a:latin typeface="Arial"/>
              </a:rPr>
              <a:t>▪  All customers, not only some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5C6B62"/>
                </a:solidFill>
                <a:latin typeface="Arial"/>
              </a:rPr>
              <a:t>▪  Send the right content for each CD follow-up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5C6B62"/>
                </a:solidFill>
                <a:latin typeface="Arial"/>
              </a:rPr>
              <a:t>▪  Each follow-up has its own purpose — check the product first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5C6B62"/>
                </a:solidFill>
                <a:latin typeface="Arial"/>
              </a:rPr>
              <a:t>▪  CD+3-5 is the weakest follow-up at the moment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" y="4224528"/>
            <a:ext cx="3282696" cy="914400"/>
          </a:xfrm>
          <a:prstGeom prst="rect">
            <a:avLst/>
          </a:prstGeom>
          <a:solidFill>
            <a:srgbClr val="EBF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1633D"/>
                </a:solidFill>
                <a:latin typeface="Arial"/>
              </a:rPr>
              <a:t>Every customer, on time, with the right content.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09863" y="1353312"/>
            <a:ext cx="3575304" cy="3931920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09863" y="1353312"/>
            <a:ext cx="3575304" cy="50292"/>
          </a:xfrm>
          <a:prstGeom prst="rect">
            <a:avLst/>
          </a:prstGeom>
          <a:solidFill>
            <a:srgbClr val="0C9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4456168" y="1536192"/>
            <a:ext cx="292608" cy="292608"/>
          </a:xfrm>
          <a:prstGeom prst="ellipse">
            <a:avLst/>
          </a:prstGeom>
          <a:solidFill>
            <a:srgbClr val="0C98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21928" y="1499616"/>
            <a:ext cx="2916936" cy="4754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1633D"/>
                </a:solidFill>
                <a:latin typeface="Arial"/>
              </a:rPr>
              <a:t>Ask for referrals</a:t>
            </a:r>
          </a:p>
          <a:p>
            <a:pPr>
              <a:lnSpc>
                <a:spcPct val="92000"/>
              </a:lnSpc>
              <a:spcAft>
                <a:spcPts val="0"/>
              </a:spcAft>
            </a:pPr>
            <a:r>
              <a:rPr sz="1150" b="1">
                <a:solidFill>
                  <a:srgbClr val="31633D"/>
                </a:solidFill>
                <a:latin typeface="Arial"/>
              </a:rPr>
              <a:t>whenever appropriate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56168" y="2066543"/>
            <a:ext cx="3282696" cy="13716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456168" y="2157984"/>
            <a:ext cx="3282696" cy="1920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5C6B62"/>
                </a:solidFill>
                <a:latin typeface="Arial"/>
              </a:rPr>
              <a:t>▪  Ask between payment and collection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5C6B62"/>
                </a:solidFill>
                <a:latin typeface="Arial"/>
              </a:rPr>
              <a:t>▪  Ask again after the customer replies well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5C6B62"/>
                </a:solidFill>
                <a:latin typeface="Arial"/>
              </a:rPr>
              <a:t>▪  For example after you confirm courier delivery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5C6B62"/>
                </a:solidFill>
                <a:latin typeface="Arial"/>
              </a:rPr>
              <a:t>▪  All clinics are asking too rarely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5C6B62"/>
                </a:solidFill>
                <a:latin typeface="Arial"/>
              </a:rPr>
              <a:t>▪  Ask consistently, not occasionally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56168" y="4224528"/>
            <a:ext cx="3282696" cy="914400"/>
          </a:xfrm>
          <a:prstGeom prst="rect">
            <a:avLst/>
          </a:prstGeom>
          <a:solidFill>
            <a:srgbClr val="E4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1633D"/>
                </a:solidFill>
                <a:latin typeface="Arial"/>
              </a:rPr>
              <a:t>If you do not ask, they will not refer.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07664" y="1353312"/>
            <a:ext cx="3575304" cy="3931920"/>
          </a:xfrm>
          <a:prstGeom prst="rect">
            <a:avLst/>
          </a:prstGeom>
          <a:solidFill>
            <a:srgbClr val="F7FAF8"/>
          </a:solidFill>
          <a:ln w="9525">
            <a:solidFill>
              <a:srgbClr val="CFE6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107664" y="1353312"/>
            <a:ext cx="3575304" cy="50292"/>
          </a:xfrm>
          <a:prstGeom prst="rect">
            <a:avLst/>
          </a:prstGeom>
          <a:solidFill>
            <a:srgbClr val="5B2C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253968" y="1536192"/>
            <a:ext cx="292608" cy="292608"/>
          </a:xfrm>
          <a:prstGeom prst="ellipse">
            <a:avLst/>
          </a:prstGeom>
          <a:solidFill>
            <a:srgbClr val="5B2C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9727" y="1499616"/>
            <a:ext cx="2916936" cy="47548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1633D"/>
                </a:solidFill>
                <a:latin typeface="Arial"/>
              </a:rPr>
              <a:t>More interaction</a:t>
            </a:r>
          </a:p>
          <a:p>
            <a:pPr>
              <a:lnSpc>
                <a:spcPct val="92000"/>
              </a:lnSpc>
              <a:spcAft>
                <a:spcPts val="0"/>
              </a:spcAft>
            </a:pPr>
            <a:r>
              <a:rPr sz="1150" b="1">
                <a:solidFill>
                  <a:srgbClr val="31633D"/>
                </a:solidFill>
                <a:latin typeface="Arial"/>
              </a:rPr>
              <a:t>with members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53968" y="2066543"/>
            <a:ext cx="3282696" cy="13716"/>
          </a:xfrm>
          <a:prstGeom prst="rect">
            <a:avLst/>
          </a:prstGeom>
          <a:solidFill>
            <a:srgbClr val="CFE6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53968" y="2157984"/>
            <a:ext cx="3282696" cy="19202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>
              <a:lnSpc>
                <a:spcPct val="9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5C6B62"/>
                </a:solidFill>
                <a:latin typeface="Arial"/>
              </a:rPr>
              <a:t>▪  Have more contact with members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5C6B62"/>
                </a:solidFill>
                <a:latin typeface="Arial"/>
              </a:rPr>
              <a:t>▪  Meet every customer in person at collection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5C6B62"/>
                </a:solidFill>
                <a:latin typeface="Arial"/>
              </a:rPr>
              <a:t>▪  Customers then know who their DA is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5C6B62"/>
                </a:solidFill>
                <a:latin typeface="Arial"/>
              </a:rPr>
              <a:t>▪  Customers who know you are more likely to reply</a:t>
            </a:r>
          </a:p>
          <a:p>
            <a:pPr algn="l">
              <a:lnSpc>
                <a:spcPct val="94000"/>
              </a:lnSpc>
              <a:spcBef>
                <a:spcPts val="0"/>
              </a:spcBef>
              <a:spcAft>
                <a:spcPts val="500"/>
              </a:spcAft>
            </a:pPr>
            <a:r>
              <a:rPr sz="900" b="0" i="0">
                <a:solidFill>
                  <a:srgbClr val="5C6B62"/>
                </a:solidFill>
                <a:latin typeface="Arial"/>
              </a:rPr>
              <a:t>▪  If a customer does not reply, keep communicating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53968" y="4224528"/>
            <a:ext cx="3282696" cy="914400"/>
          </a:xfrm>
          <a:prstGeom prst="rect">
            <a:avLst/>
          </a:prstGeom>
          <a:solidFill>
            <a:srgbClr val="EE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Ins="73152" rtlCol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31633D"/>
                </a:solidFill>
                <a:latin typeface="Arial"/>
              </a:rPr>
              <a:t>If they know you, they will reply.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5431536"/>
            <a:ext cx="11186129" cy="402336"/>
          </a:xfrm>
          <a:prstGeom prst="rect">
            <a:avLst/>
          </a:prstGeom>
          <a:solidFill>
            <a:srgbClr val="FDECEA"/>
          </a:solidFill>
          <a:ln w="9525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rtlCol="0" anchor="ctr"/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dirty="0">
                <a:solidFill>
                  <a:srgbClr val="C0392B"/>
                </a:solidFill>
                <a:latin typeface="Arial"/>
              </a:rPr>
              <a:t>Separate issue</a:t>
            </a:r>
            <a:r>
              <a:rPr lang="en-SG" sz="950" b="1" dirty="0">
                <a:solidFill>
                  <a:srgbClr val="C0392B"/>
                </a:solidFill>
                <a:latin typeface="Arial"/>
              </a:rPr>
              <a:t> for Song Han</a:t>
            </a:r>
            <a:r>
              <a:rPr sz="950" b="1" dirty="0">
                <a:solidFill>
                  <a:srgbClr val="C0392B"/>
                </a:solidFill>
                <a:latin typeface="Arial"/>
              </a:rPr>
              <a:t>:  </a:t>
            </a:r>
            <a:r>
              <a:rPr sz="950" b="0" dirty="0">
                <a:solidFill>
                  <a:srgbClr val="5C6B62"/>
                </a:solidFill>
                <a:latin typeface="Arial"/>
              </a:rPr>
              <a:t>SH (Song Han) </a:t>
            </a:r>
            <a:r>
              <a:rPr sz="950" b="0" dirty="0" err="1">
                <a:solidFill>
                  <a:srgbClr val="5C6B62"/>
                </a:solidFill>
                <a:latin typeface="Arial"/>
              </a:rPr>
              <a:t>Zalo</a:t>
            </a:r>
            <a:r>
              <a:rPr sz="950" b="0" dirty="0">
                <a:solidFill>
                  <a:srgbClr val="5C6B62"/>
                </a:solidFill>
                <a:latin typeface="Arial"/>
              </a:rPr>
              <a:t> access is disconnected. No follow-up can be </a:t>
            </a:r>
            <a:r>
              <a:rPr lang="en-SG" sz="950" dirty="0">
                <a:solidFill>
                  <a:srgbClr val="5C6B62"/>
                </a:solidFill>
                <a:latin typeface="Arial"/>
              </a:rPr>
              <a:t>tracked</a:t>
            </a:r>
            <a:r>
              <a:rPr sz="950" b="0" dirty="0">
                <a:solidFill>
                  <a:srgbClr val="5C6B62"/>
                </a:solidFill>
                <a:latin typeface="Arial"/>
              </a:rPr>
              <a:t> until it is restored.</a:t>
            </a:r>
            <a:r>
              <a:rPr lang="en-SG" sz="950" b="0" dirty="0">
                <a:solidFill>
                  <a:srgbClr val="5C6B62"/>
                </a:solidFill>
                <a:latin typeface="Arial"/>
              </a:rPr>
              <a:t> Please also update the CRM Form. </a:t>
            </a:r>
            <a:endParaRPr sz="950" b="0" dirty="0">
              <a:solidFill>
                <a:srgbClr val="5C6B62"/>
              </a:solidFill>
              <a:latin typeface="Arial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502920" y="5925312"/>
            <a:ext cx="11186129" cy="457200"/>
          </a:xfrm>
          <a:prstGeom prst="rect">
            <a:avLst/>
          </a:prstGeom>
          <a:solidFill>
            <a:srgbClr val="316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 dirty="0">
                <a:solidFill>
                  <a:srgbClr val="FFFFFF"/>
                </a:solidFill>
                <a:latin typeface="Arial"/>
              </a:rPr>
              <a:t>Every customer.    On time.    With the right content.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4056</Words>
  <Application>Microsoft Office PowerPoint</Application>
  <PresentationFormat>Widescreen</PresentationFormat>
  <Paragraphs>375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Sin Long Koh</cp:lastModifiedBy>
  <cp:revision>8</cp:revision>
  <dcterms:created xsi:type="dcterms:W3CDTF">2013-01-27T09:14:16Z</dcterms:created>
  <dcterms:modified xsi:type="dcterms:W3CDTF">2026-09-03T00:49:26Z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586a97b-dc47-4882-9241-a2ba35606524_Enabled">
    <vt:lpwstr>true</vt:lpwstr>
  </property>
  <property fmtid="{D5CDD505-2E9C-101B-9397-08002B2CF9AE}" pid="3" name="MSIP_Label_e586a97b-dc47-4882-9241-a2ba35606524_SetDate">
    <vt:lpwstr>2026-09-01T11:28:26Z</vt:lpwstr>
  </property>
  <property fmtid="{D5CDD505-2E9C-101B-9397-08002B2CF9AE}" pid="4" name="MSIP_Label_e586a97b-dc47-4882-9241-a2ba35606524_Method">
    <vt:lpwstr>Standard</vt:lpwstr>
  </property>
  <property fmtid="{D5CDD505-2E9C-101B-9397-08002B2CF9AE}" pid="5" name="MSIP_Label_e586a97b-dc47-4882-9241-a2ba35606524_Name">
    <vt:lpwstr>Limited</vt:lpwstr>
  </property>
  <property fmtid="{D5CDD505-2E9C-101B-9397-08002B2CF9AE}" pid="6" name="MSIP_Label_e586a97b-dc47-4882-9241-a2ba35606524_SiteId">
    <vt:lpwstr>a95f93a6-6a75-4e3b-831a-966f1930949e</vt:lpwstr>
  </property>
  <property fmtid="{D5CDD505-2E9C-101B-9397-08002B2CF9AE}" pid="7" name="MSIP_Label_e586a97b-dc47-4882-9241-a2ba35606524_ActionId">
    <vt:lpwstr>a58066ec-4ad1-4371-bd42-b119b59591d2</vt:lpwstr>
  </property>
  <property fmtid="{D5CDD505-2E9C-101B-9397-08002B2CF9AE}" pid="8" name="MSIP_Label_e586a97b-dc47-4882-9241-a2ba35606524_ContentBits">
    <vt:lpwstr>2</vt:lpwstr>
  </property>
  <property fmtid="{D5CDD505-2E9C-101B-9397-08002B2CF9AE}" pid="9" name="MSIP_Label_e586a97b-dc47-4882-9241-a2ba35606524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Classification: Limited</vt:lpwstr>
  </property>
</Properties>
</file>