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7218" autoAdjust="0"/>
  </p:normalViewPr>
  <p:slideViewPr>
    <p:cSldViewPr snapToGrid="0" snapToObjects="1">
      <p:cViewPr>
        <p:scale>
          <a:sx n="100" d="100"/>
          <a:sy n="100" d="100"/>
        </p:scale>
        <p:origin x="485" y="-1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29DCD4-E5E1-4931-B635-68873E32E1A8}" type="datetimeFigureOut">
              <a:rPr lang="en-US" smtClean="0"/>
              <a:t>9/3/2026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CB61F9-EEAC-4562-B0FE-8177FD5D875F}" type="slidenum">
              <a:rPr lang="en-US" smtClean="0"/>
              <a:t>‹#›</a:t>
            </a:fld>
            <a:endParaRPr lang="en-US"/>
          </a:p>
        </p:txBody>
      </p:sp>
    </p:spTree>
    <p:extLst>
      <p:ext uri="{BB962C8B-B14F-4D97-AF65-F5344CB8AC3E}">
        <p14:creationId xmlns:p14="http://schemas.microsoft.com/office/powerpoint/2010/main" val="906898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CB61F9-EEAC-4562-B0FE-8177FD5D875F}" type="slidenum">
              <a:rPr lang="en-US" smtClean="0"/>
              <a:t>1</a:t>
            </a:fld>
            <a:endParaRPr lang="en-US"/>
          </a:p>
        </p:txBody>
      </p:sp>
    </p:spTree>
    <p:extLst>
      <p:ext uri="{BB962C8B-B14F-4D97-AF65-F5344CB8AC3E}">
        <p14:creationId xmlns:p14="http://schemas.microsoft.com/office/powerpoint/2010/main" val="85482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FDD1DF3C-9737-A116-EE99-8303E0FC9756}"/>
              </a:ext>
            </a:extLst>
          </p:cNvPr>
          <p:cNvSpPr txBox="1"/>
          <p:nvPr userDrawn="1">
            <p:extLst>
              <p:ext uri="{1162E1C5-73C7-4A58-AE30-91384D911F3F}">
                <p184:classification xmlns:p184="http://schemas.microsoft.com/office/powerpoint/2018/4/main" val="ftr"/>
              </p:ext>
            </p:extLst>
          </p:nvPr>
        </p:nvSpPr>
        <p:spPr>
          <a:xfrm>
            <a:off x="63500" y="6642100"/>
            <a:ext cx="125571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Classification: Limited</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969" cy="14630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5989320"/>
            <a:ext cx="12191969" cy="868680"/>
          </a:xfrm>
          <a:prstGeom prst="rect">
            <a:avLst/>
          </a:prstGeom>
          <a:solidFill>
            <a:srgbClr val="27513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2048256"/>
            <a:ext cx="10424160" cy="212366"/>
          </a:xfrm>
          <a:prstGeom prst="rect">
            <a:avLst/>
          </a:prstGeom>
          <a:noFill/>
        </p:spPr>
        <p:txBody>
          <a:bodyPr wrap="square" lIns="36576" tIns="18288" rIns="36576" bIns="18288" anchor="t">
            <a:spAutoFit/>
          </a:bodyPr>
          <a:lstStyle/>
          <a:p>
            <a:pPr algn="l">
              <a:lnSpc>
                <a:spcPct val="95000"/>
              </a:lnSpc>
              <a:spcBef>
                <a:spcPts val="0"/>
              </a:spcBef>
              <a:spcAft>
                <a:spcPts val="0"/>
              </a:spcAft>
            </a:pPr>
            <a:r>
              <a:rPr lang="vi-VN" sz="1200" b="1" i="0" dirty="0">
                <a:solidFill>
                  <a:srgbClr val="CFE6D8"/>
                </a:solidFill>
                <a:latin typeface="Arial"/>
              </a:rPr>
              <a:t>3 tháng 9 năm 2026</a:t>
            </a:r>
            <a:endParaRPr sz="1200" b="1" i="0" dirty="0">
              <a:solidFill>
                <a:srgbClr val="CFE6D8"/>
              </a:solidFill>
              <a:latin typeface="Arial"/>
            </a:endParaRPr>
          </a:p>
        </p:txBody>
      </p:sp>
      <p:sp>
        <p:nvSpPr>
          <p:cNvPr id="7" name="TextBox 6"/>
          <p:cNvSpPr txBox="1"/>
          <p:nvPr/>
        </p:nvSpPr>
        <p:spPr>
          <a:xfrm>
            <a:off x="566928" y="2414016"/>
            <a:ext cx="10607040" cy="624595"/>
          </a:xfrm>
          <a:prstGeom prst="rect">
            <a:avLst/>
          </a:prstGeom>
          <a:noFill/>
        </p:spPr>
        <p:txBody>
          <a:bodyPr wrap="square" lIns="36576" tIns="18288" rIns="36576" bIns="18288" anchor="t">
            <a:spAutoFit/>
          </a:bodyPr>
          <a:lstStyle/>
          <a:p>
            <a:pPr>
              <a:lnSpc>
                <a:spcPct val="102000"/>
              </a:lnSpc>
            </a:pPr>
            <a:r>
              <a:rPr lang="vi-VN" sz="4000" b="1" dirty="0">
                <a:solidFill>
                  <a:srgbClr val="CFE6D8"/>
                </a:solidFill>
                <a:latin typeface="Arial"/>
              </a:rPr>
              <a:t>Đào tạo Trợ lý Bác sĩ Khúc xạ</a:t>
            </a:r>
            <a:endParaRPr sz="4000" b="1" i="0" dirty="0">
              <a:solidFill>
                <a:srgbClr val="FFFFFF"/>
              </a:solidFill>
              <a:latin typeface="Arial"/>
            </a:endParaRPr>
          </a:p>
        </p:txBody>
      </p:sp>
      <p:sp>
        <p:nvSpPr>
          <p:cNvPr id="8" name="Rectangle 7"/>
          <p:cNvSpPr/>
          <p:nvPr/>
        </p:nvSpPr>
        <p:spPr>
          <a:xfrm>
            <a:off x="566928" y="4078224"/>
            <a:ext cx="1920240" cy="45720"/>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66928" y="4297680"/>
            <a:ext cx="8412480" cy="212366"/>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200" b="1" i="0" dirty="0" lang="vi-VN">
                <a:solidFill>
                  <a:srgbClr val="CFE6D8"/>
                </a:solidFill>
                <a:latin typeface="Arial"/>
              </a:rPr>
              <a:t>NGT   ·   CTE D5   ·   CTE D7   ·   LA   ·   SH (Sông Hàn)</a:t>
            </a:r>
          </a:p>
        </p:txBody>
      </p:sp>
      <p:sp>
        <p:nvSpPr>
          <p:cNvPr id="10" name="TextBox 9"/>
          <p:cNvSpPr txBox="1"/>
          <p:nvPr/>
        </p:nvSpPr>
        <p:spPr>
          <a:xfrm>
            <a:off x="566928" y="6217920"/>
            <a:ext cx="7315200" cy="27432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0" i="0" lang="vi-VN">
                <a:solidFill>
                  <a:srgbClr val="CFE6D8"/>
                </a:solidFill>
                <a:latin typeface="Arial"/>
              </a:rPr>
              <a:t>Tài liệu phục vụ đào tạo và đánh giá DA  ·  Chỉ dùng nội bộ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175817"/>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dirty="0" lang="vi-VN">
                <a:solidFill>
                  <a:srgbClr val="2E9C4C"/>
                </a:solidFill>
                <a:latin typeface="Arial"/>
              </a:rPr>
              <a:t>1. PHẢN HỒI ZALO   |   THEO TỪNG CHI NHÁNH</a:t>
            </a:r>
            <a:r>
              <a:rPr lang="vi-VN" sz="950" b="1" i="0" dirty="0">
                <a:solidFill>
                  <a:srgbClr val="2E9C4C"/>
                </a:solidFill>
                <a:latin typeface="Arial"/>
              </a:rPr>
              <a:t/>
            </a:r>
            <a:r>
              <a:rPr sz="950" b="1" i="0" dirty="0" lang="vi-VN">
                <a:solidFill>
                  <a:srgbClr val="2E9C4C"/>
                </a:solidFill>
                <a:latin typeface="Arial"/>
              </a:rPr>
              <a:t/>
            </a:r>
            <a:r>
              <a:rPr lang="vi-VN" sz="950" b="1" i="0" dirty="0">
                <a:solidFill>
                  <a:srgbClr val="2E9C4C"/>
                </a:solidFill>
                <a:latin typeface="Arial"/>
              </a:rPr>
              <a:t/>
            </a:r>
            <a:r>
              <a:rPr sz="950" b="1" i="0" dirty="0" lang="vi-VN">
                <a:solidFill>
                  <a:srgbClr val="2E9C4C"/>
                </a:solidFill>
                <a:latin typeface="Arial"/>
              </a:rPr>
              <a:t/>
            </a:r>
            <a:r>
              <a:rPr lang="vi-VN" sz="950" b="1" i="0" dirty="0">
                <a:solidFill>
                  <a:srgbClr val="2E9C4C"/>
                </a:solidFill>
                <a:latin typeface="Arial"/>
              </a:rPr>
              <a:t/>
            </a:r>
            <a:endParaRPr sz="950" b="1" i="0" dirty="0">
              <a:solidFill>
                <a:srgbClr val="2E9C4C"/>
              </a:solidFill>
              <a:latin typeface="Arial"/>
            </a:endParaRPr>
          </a:p>
        </p:txBody>
      </p:sp>
      <p:sp>
        <p:nvSpPr>
          <p:cNvPr id="4" name="TextBox 3"/>
          <p:cNvSpPr txBox="1"/>
          <p:nvPr/>
        </p:nvSpPr>
        <p:spPr>
          <a:xfrm>
            <a:off x="502920" y="493776"/>
            <a:ext cx="11247120" cy="348429"/>
          </a:xfrm>
          <a:prstGeom prst="rect">
            <a:avLst/>
          </a:prstGeom>
          <a:noFill/>
        </p:spPr>
        <p:txBody>
          <a:bodyPr wrap="square" lIns="36576" tIns="18288" rIns="36576" bIns="18288" anchor="t">
            <a:spAutoFit/>
          </a:bodyPr>
          <a:lstStyle/>
          <a:p>
            <a:pPr algn="l">
              <a:lnSpc>
                <a:spcPct val="92000"/>
              </a:lnSpc>
              <a:spcBef>
                <a:spcPts val="0"/>
              </a:spcBef>
              <a:spcAft>
                <a:spcPts val="0"/>
              </a:spcAft>
            </a:pPr>
            <a:r>
              <a:rPr lang="vi-VN" sz="2200" b="1" i="0" dirty="0" err="1">
                <a:solidFill>
                  <a:srgbClr val="31633D"/>
                </a:solidFill>
                <a:latin typeface="Arial"/>
              </a:rPr>
              <a:t>Hiệu quả và phản hồi Zalo theo từng chi nhánh</a:t>
            </a:r>
            <a:r>
              <a:rPr lang="vi-VN" sz="2200" b="1" i="0" dirty="0">
                <a:solidFill>
                  <a:srgbClr val="31633D"/>
                </a:solidFill>
                <a:latin typeface="Arial"/>
              </a:rPr>
              <a:t/>
            </a:r>
            <a:endParaRPr sz="2200" b="1" i="0" dirty="0">
              <a:solidFill>
                <a:srgbClr val="31633D"/>
              </a:solidFill>
              <a:latin typeface="Arial"/>
            </a:endParaRP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2</a:t>
            </a:r>
          </a:p>
        </p:txBody>
      </p:sp>
      <p:sp>
        <p:nvSpPr>
          <p:cNvPr id="8" name="TextBox 7"/>
          <p:cNvSpPr txBox="1"/>
          <p:nvPr/>
        </p:nvSpPr>
        <p:spPr>
          <a:xfrm>
            <a:off x="502920" y="1060704"/>
            <a:ext cx="11183112" cy="20116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00" b="0" i="1" lang="vi-VN">
                <a:solidFill>
                  <a:srgbClr val="C0392B"/>
                </a:solidFill>
                <a:latin typeface="Arial"/>
              </a:rPr>
              <a:t>Hãy đọc các số liệu này cùng với trang 8: một số ngày trên thẻ Zalo bị sai, nên tin chăm sóc đã gửi vẫn có thể bị tính là chưa gửi.</a:t>
            </a:r>
          </a:p>
        </p:txBody>
      </p:sp>
      <p:sp>
        <p:nvSpPr>
          <p:cNvPr id="9" name="Rectangle 8"/>
          <p:cNvSpPr/>
          <p:nvPr/>
        </p:nvSpPr>
        <p:spPr>
          <a:xfrm>
            <a:off x="502920" y="1316736"/>
            <a:ext cx="3712463" cy="39319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502920" y="1316736"/>
            <a:ext cx="3712463" cy="5943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49224" y="1444752"/>
            <a:ext cx="1463040"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350" b="1" i="0" lang="vi-VN">
                <a:solidFill>
                  <a:srgbClr val="31633D"/>
                </a:solidFill>
                <a:latin typeface="Arial"/>
              </a:rPr>
              <a:t>NGT</a:t>
            </a:r>
          </a:p>
        </p:txBody>
      </p:sp>
      <p:sp>
        <p:nvSpPr>
          <p:cNvPr id="12" name="TextBox 11"/>
          <p:cNvSpPr txBox="1"/>
          <p:nvPr/>
        </p:nvSpPr>
        <p:spPr>
          <a:xfrm>
            <a:off x="2148840" y="1481328"/>
            <a:ext cx="1920239" cy="219456"/>
          </a:xfrm>
          <a:prstGeom prst="rect">
            <a:avLst/>
          </a:prstGeom>
          <a:noFill/>
        </p:spPr>
        <p:txBody>
          <a:bodyPr wrap="square" lIns="36576" tIns="18288" rIns="36576" bIns="18288" anchor="t">
            <a:spAutoFit/>
          </a:bodyPr>
          <a:lstStyle/>
          <a:p>
            <a:pPr algn="r">
              <a:lnSpc>
                <a:spcPct val="95000"/>
              </a:lnSpc>
              <a:spcBef>
                <a:spcPts val="0"/>
              </a:spcBef>
              <a:spcAft>
                <a:spcPts val="0"/>
              </a:spcAft>
            </a:pPr>
            <a:r>
              <a:rPr sz="1000" b="0" lang="vi-VN">
                <a:solidFill>
                  <a:srgbClr val="5C6B62"/>
                </a:solidFill>
                <a:latin typeface="Arial"/>
              </a:rPr>
              <a:t>Tổng  </a:t>
            </a:r>
            <a:r>
              <a:rPr sz="1000" b="1" lang="vi-VN">
                <a:solidFill>
                  <a:srgbClr val="2E9C4C"/>
                </a:solidFill>
                <a:latin typeface="Arial"/>
              </a:rPr>
              <a:t>11/26</a:t>
            </a:r>
          </a:p>
        </p:txBody>
      </p:sp>
      <p:sp>
        <p:nvSpPr>
          <p:cNvPr id="13" name="Rectangle 12"/>
          <p:cNvSpPr/>
          <p:nvPr/>
        </p:nvSpPr>
        <p:spPr>
          <a:xfrm>
            <a:off x="649224" y="1755648"/>
            <a:ext cx="656539" cy="420624"/>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8368"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D6-7</a:t>
            </a:r>
          </a:p>
        </p:txBody>
      </p:sp>
      <p:sp>
        <p:nvSpPr>
          <p:cNvPr id="15" name="TextBox 14"/>
          <p:cNvSpPr txBox="1"/>
          <p:nvPr/>
        </p:nvSpPr>
        <p:spPr>
          <a:xfrm>
            <a:off x="658368"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2/3</a:t>
            </a:r>
          </a:p>
        </p:txBody>
      </p:sp>
      <p:sp>
        <p:nvSpPr>
          <p:cNvPr id="16" name="Rectangle 15"/>
          <p:cNvSpPr/>
          <p:nvPr/>
        </p:nvSpPr>
        <p:spPr>
          <a:xfrm>
            <a:off x="1333195" y="1755648"/>
            <a:ext cx="656539" cy="420624"/>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342339"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a:t>
            </a:r>
          </a:p>
        </p:txBody>
      </p:sp>
      <p:sp>
        <p:nvSpPr>
          <p:cNvPr id="18" name="TextBox 17"/>
          <p:cNvSpPr txBox="1"/>
          <p:nvPr/>
        </p:nvSpPr>
        <p:spPr>
          <a:xfrm>
            <a:off x="1342339"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2/3</a:t>
            </a:r>
          </a:p>
        </p:txBody>
      </p:sp>
      <p:sp>
        <p:nvSpPr>
          <p:cNvPr id="19" name="Rectangle 18"/>
          <p:cNvSpPr/>
          <p:nvPr/>
        </p:nvSpPr>
        <p:spPr>
          <a:xfrm>
            <a:off x="2017166" y="1755648"/>
            <a:ext cx="656539" cy="420624"/>
          </a:xfrm>
          <a:prstGeom prst="rect">
            <a:avLst/>
          </a:prstGeom>
          <a:solidFill>
            <a:srgbClr val="FDECEA"/>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2026310"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CD+3-5</a:t>
            </a:r>
          </a:p>
        </p:txBody>
      </p:sp>
      <p:sp>
        <p:nvSpPr>
          <p:cNvPr id="21" name="TextBox 20"/>
          <p:cNvSpPr txBox="1"/>
          <p:nvPr/>
        </p:nvSpPr>
        <p:spPr>
          <a:xfrm>
            <a:off x="2026310"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C0392B"/>
                </a:solidFill>
                <a:latin typeface="Arial"/>
              </a:rPr>
              <a:t>0/4</a:t>
            </a:r>
          </a:p>
        </p:txBody>
      </p:sp>
      <p:sp>
        <p:nvSpPr>
          <p:cNvPr id="22" name="Rectangle 21"/>
          <p:cNvSpPr/>
          <p:nvPr/>
        </p:nvSpPr>
        <p:spPr>
          <a:xfrm>
            <a:off x="2701137" y="1755648"/>
            <a:ext cx="656539" cy="420624"/>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2710281"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CD+14</a:t>
            </a:r>
          </a:p>
        </p:txBody>
      </p:sp>
      <p:sp>
        <p:nvSpPr>
          <p:cNvPr id="24" name="TextBox 23"/>
          <p:cNvSpPr txBox="1"/>
          <p:nvPr/>
        </p:nvSpPr>
        <p:spPr>
          <a:xfrm>
            <a:off x="2710281"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2/3</a:t>
            </a:r>
          </a:p>
        </p:txBody>
      </p:sp>
      <p:sp>
        <p:nvSpPr>
          <p:cNvPr id="25" name="Rectangle 24"/>
          <p:cNvSpPr/>
          <p:nvPr/>
        </p:nvSpPr>
        <p:spPr>
          <a:xfrm>
            <a:off x="3385108" y="1755648"/>
            <a:ext cx="656539" cy="420624"/>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3394252"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CD+30</a:t>
            </a:r>
          </a:p>
        </p:txBody>
      </p:sp>
      <p:sp>
        <p:nvSpPr>
          <p:cNvPr id="27" name="TextBox 26"/>
          <p:cNvSpPr txBox="1"/>
          <p:nvPr/>
        </p:nvSpPr>
        <p:spPr>
          <a:xfrm>
            <a:off x="3394252"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5/13</a:t>
            </a:r>
          </a:p>
        </p:txBody>
      </p:sp>
      <p:sp>
        <p:nvSpPr>
          <p:cNvPr id="28" name="TextBox 27"/>
          <p:cNvSpPr txBox="1"/>
          <p:nvPr/>
        </p:nvSpPr>
        <p:spPr>
          <a:xfrm>
            <a:off x="649224" y="2267712"/>
            <a:ext cx="3419856" cy="16459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1" i="0" lang="vi-VN">
                <a:solidFill>
                  <a:srgbClr val="2E9C4C"/>
                </a:solidFill>
                <a:latin typeface="Arial"/>
              </a:rPr>
              <a:t>Điểm làm tốt</a:t>
            </a:r>
          </a:p>
        </p:txBody>
      </p:sp>
      <p:sp>
        <p:nvSpPr>
          <p:cNvPr id="29" name="TextBox 28"/>
          <p:cNvSpPr txBox="1"/>
          <p:nvPr/>
        </p:nvSpPr>
        <p:spPr>
          <a:xfrm>
            <a:off x="649224" y="2423160"/>
            <a:ext cx="3419856" cy="320040"/>
          </a:xfrm>
          <a:prstGeom prst="rect">
            <a:avLst/>
          </a:prstGeom>
          <a:noFill/>
        </p:spPr>
        <p:txBody>
          <a:bodyPr wrap="square" lIns="36576" tIns="18288" rIns="36576" bIns="18288" anchor="t">
            <a:spAutoFit/>
          </a:bodyPr>
          <a:lstStyle/>
          <a:p>
            <a:pPr algn="l">
              <a:lnSpc>
                <a:spcPct val="92000"/>
              </a:lnSpc>
              <a:spcBef>
                <a:spcPts val="0"/>
              </a:spcBef>
              <a:spcAft>
                <a:spcPts val="300"/>
              </a:spcAft>
            </a:pPr>
            <a:r>
              <a:rPr sz="800" b="0" i="0" lang="vi-VN">
                <a:solidFill>
                  <a:srgbClr val="5C6B62"/>
                </a:solidFill>
                <a:latin typeface="Arial"/>
              </a:rPr>
              <a:t>✓  Một số khách đã nhận tin chăm sóc CD30, nhưng chưa phải tất cả</a:t>
            </a:r>
          </a:p>
          <a:p>
            <a:pPr algn="l">
              <a:lnSpc>
                <a:spcPct val="92000"/>
              </a:lnSpc>
              <a:spcBef>
                <a:spcPts val="0"/>
              </a:spcBef>
              <a:spcAft>
                <a:spcPts val="300"/>
              </a:spcAft>
            </a:pPr>
            <a:r>
              <a:rPr sz="800" b="0" i="0" lang="vi-VN">
                <a:solidFill>
                  <a:srgbClr val="5C6B62"/>
                </a:solidFill>
                <a:latin typeface="Arial"/>
              </a:rPr>
              <a:t>✓  Đã có đề nghị giới thiệu, nhưng chưa đủ thường xuyên</a:t>
            </a:r>
          </a:p>
        </p:txBody>
      </p:sp>
      <p:sp>
        <p:nvSpPr>
          <p:cNvPr id="30" name="TextBox 29"/>
          <p:cNvSpPr txBox="1"/>
          <p:nvPr/>
        </p:nvSpPr>
        <p:spPr>
          <a:xfrm>
            <a:off x="649224" y="2761488"/>
            <a:ext cx="3419856" cy="16459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1" i="0" lang="vi-VN">
                <a:solidFill>
                  <a:srgbClr val="B9770B"/>
                </a:solidFill>
                <a:latin typeface="Arial"/>
              </a:rPr>
              <a:t>Điểm cần cải thiện</a:t>
            </a:r>
          </a:p>
        </p:txBody>
      </p:sp>
      <p:sp>
        <p:nvSpPr>
          <p:cNvPr id="31" name="TextBox 30"/>
          <p:cNvSpPr txBox="1"/>
          <p:nvPr/>
        </p:nvSpPr>
        <p:spPr>
          <a:xfrm>
            <a:off x="649224" y="2916936"/>
            <a:ext cx="3419856" cy="945002"/>
          </a:xfrm>
          <a:prstGeom prst="rect">
            <a:avLst/>
          </a:prstGeom>
          <a:noFill/>
        </p:spPr>
        <p:txBody>
          <a:bodyPr wrap="square" lIns="36576" tIns="18288" rIns="36576" bIns="18288" anchor="t">
            <a:spAutoFit/>
          </a:bodyPr>
          <a:lstStyle/>
          <a:p>
            <a:pPr algn="l">
              <a:lnSpc>
                <a:spcPct val="92000"/>
              </a:lnSpc>
              <a:spcBef>
                <a:spcPts val="0"/>
              </a:spcBef>
              <a:spcAft>
                <a:spcPts val="300"/>
              </a:spcAft>
            </a:pPr>
            <a:r>
              <a:rPr sz="800" b="0" i="0" dirty="0" lang="vi-VN">
                <a:solidFill>
                  <a:srgbClr val="5C6B62"/>
                </a:solidFill>
                <a:latin typeface="Arial"/>
              </a:rPr>
              <a:t>▪  Gửi tin chăm sóc đúng hạn nhiều hơn — hướng dẫn sử dụng (CD1), kiểm tra việc đeo kính của bé (CD3–CD</a:t>
            </a:r>
            <a:r>
              <a:rPr lang="vi-VN" sz="800" b="0" i="0" dirty="0">
                <a:solidFill>
                  <a:srgbClr val="5C6B62"/>
                </a:solidFill>
                <a:latin typeface="Arial"/>
              </a:rPr>
              <a:t>5</a:t>
            </a:r>
            <a:r>
              <a:rPr sz="800" b="0" i="0" dirty="0" lang="vi-VN">
                <a:solidFill>
                  <a:srgbClr val="5C6B62"/>
                </a:solidFill>
                <a:latin typeface="Arial"/>
              </a:rPr>
              <a:t>), thông tin kiểm soát cận thị (CD14), kiểm tra sử dụng (CD30)</a:t>
            </a:r>
          </a:p>
          <a:p>
            <a:pPr algn="l">
              <a:lnSpc>
                <a:spcPct val="92000"/>
              </a:lnSpc>
              <a:spcBef>
                <a:spcPts val="0"/>
              </a:spcBef>
              <a:spcAft>
                <a:spcPts val="300"/>
              </a:spcAft>
            </a:pPr>
            <a:r>
              <a:rPr sz="800" b="0" i="0" dirty="0" lang="vi-VN">
                <a:solidFill>
                  <a:srgbClr val="5C6B62"/>
                </a:solidFill>
                <a:latin typeface="Arial"/>
              </a:rPr>
              <a:t>▪  Phải chăm sóc mọi khách hàng, không chỉ một số khách</a:t>
            </a:r>
          </a:p>
          <a:p>
            <a:pPr algn="l">
              <a:lnSpc>
                <a:spcPct val="92000"/>
              </a:lnSpc>
              <a:spcBef>
                <a:spcPts val="0"/>
              </a:spcBef>
              <a:spcAft>
                <a:spcPts val="300"/>
              </a:spcAft>
            </a:pPr>
            <a:r>
              <a:rPr sz="800" b="0" i="0" dirty="0" lang="vi-VN">
                <a:solidFill>
                  <a:srgbClr val="5C6B62"/>
                </a:solidFill>
                <a:latin typeface="Arial"/>
              </a:rPr>
              <a:t>▪  Gặp trực tiếp mọi khách khi khách đến nhận kính, để khi bạn nhắn tin khách biết bạn là ai</a:t>
            </a:r>
          </a:p>
          <a:p>
            <a:pPr algn="l">
              <a:lnSpc>
                <a:spcPct val="92000"/>
              </a:lnSpc>
              <a:spcBef>
                <a:spcPts val="0"/>
              </a:spcBef>
              <a:spcAft>
                <a:spcPts val="300"/>
              </a:spcAft>
            </a:pPr>
            <a:r>
              <a:rPr sz="800" b="0" i="0" dirty="0" lang="vi-VN">
                <a:solidFill>
                  <a:srgbClr val="5C6B62"/>
                </a:solidFill>
                <a:latin typeface="Arial"/>
              </a:rPr>
              <a:t>▪  Đề nghị mọi khách giới thiệu. Bạn không đề nghị thì khách sẽ không giới thiệu</a:t>
            </a:r>
          </a:p>
        </p:txBody>
      </p:sp>
      <p:sp>
        <p:nvSpPr>
          <p:cNvPr id="32" name="Rectangle 31"/>
          <p:cNvSpPr/>
          <p:nvPr/>
        </p:nvSpPr>
        <p:spPr>
          <a:xfrm>
            <a:off x="4471416" y="1316736"/>
            <a:ext cx="3712463" cy="39319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ectangle 32"/>
          <p:cNvSpPr/>
          <p:nvPr/>
        </p:nvSpPr>
        <p:spPr>
          <a:xfrm>
            <a:off x="4471416" y="1316736"/>
            <a:ext cx="3712463" cy="59436"/>
          </a:xfrm>
          <a:prstGeom prst="rect">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4617720" y="1444752"/>
            <a:ext cx="1463040"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350" b="1" i="0" lang="vi-VN">
                <a:solidFill>
                  <a:srgbClr val="31633D"/>
                </a:solidFill>
                <a:latin typeface="Arial"/>
              </a:rPr>
              <a:t>CTE D5</a:t>
            </a:r>
          </a:p>
        </p:txBody>
      </p:sp>
      <p:sp>
        <p:nvSpPr>
          <p:cNvPr id="35" name="TextBox 34"/>
          <p:cNvSpPr txBox="1"/>
          <p:nvPr/>
        </p:nvSpPr>
        <p:spPr>
          <a:xfrm>
            <a:off x="6117336" y="1481328"/>
            <a:ext cx="1920239" cy="219456"/>
          </a:xfrm>
          <a:prstGeom prst="rect">
            <a:avLst/>
          </a:prstGeom>
          <a:noFill/>
        </p:spPr>
        <p:txBody>
          <a:bodyPr wrap="square" lIns="36576" tIns="18288" rIns="36576" bIns="18288" anchor="t">
            <a:spAutoFit/>
          </a:bodyPr>
          <a:lstStyle/>
          <a:p>
            <a:pPr algn="r">
              <a:lnSpc>
                <a:spcPct val="95000"/>
              </a:lnSpc>
              <a:spcBef>
                <a:spcPts val="0"/>
              </a:spcBef>
              <a:spcAft>
                <a:spcPts val="0"/>
              </a:spcAft>
            </a:pPr>
            <a:r>
              <a:rPr sz="1000" b="0" lang="vi-VN">
                <a:solidFill>
                  <a:srgbClr val="5C6B62"/>
                </a:solidFill>
                <a:latin typeface="Arial"/>
              </a:rPr>
              <a:t>Tổng  </a:t>
            </a:r>
            <a:r>
              <a:rPr sz="1000" b="1" lang="vi-VN">
                <a:solidFill>
                  <a:srgbClr val="B9770B"/>
                </a:solidFill>
                <a:latin typeface="Arial"/>
              </a:rPr>
              <a:t>5/14</a:t>
            </a:r>
          </a:p>
        </p:txBody>
      </p:sp>
      <p:sp>
        <p:nvSpPr>
          <p:cNvPr id="36" name="Rectangle 35"/>
          <p:cNvSpPr/>
          <p:nvPr/>
        </p:nvSpPr>
        <p:spPr>
          <a:xfrm>
            <a:off x="4617720" y="1755648"/>
            <a:ext cx="542543" cy="420624"/>
          </a:xfrm>
          <a:prstGeom prst="rect">
            <a:avLst/>
          </a:prstGeom>
          <a:solidFill>
            <a:srgbClr val="F2F2F2"/>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4626864" y="1783080"/>
            <a:ext cx="524255"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D6-7</a:t>
            </a:r>
          </a:p>
        </p:txBody>
      </p:sp>
      <p:sp>
        <p:nvSpPr>
          <p:cNvPr id="38" name="TextBox 37"/>
          <p:cNvSpPr txBox="1"/>
          <p:nvPr/>
        </p:nvSpPr>
        <p:spPr>
          <a:xfrm>
            <a:off x="4626864" y="1938528"/>
            <a:ext cx="524255"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a:t>
            </a:r>
          </a:p>
        </p:txBody>
      </p:sp>
      <p:sp>
        <p:nvSpPr>
          <p:cNvPr id="39" name="Rectangle 38"/>
          <p:cNvSpPr/>
          <p:nvPr/>
        </p:nvSpPr>
        <p:spPr>
          <a:xfrm>
            <a:off x="5187696" y="1755648"/>
            <a:ext cx="542543" cy="420624"/>
          </a:xfrm>
          <a:prstGeom prst="rect">
            <a:avLst/>
          </a:prstGeom>
          <a:solidFill>
            <a:srgbClr val="F2F2F2"/>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5196839" y="1783080"/>
            <a:ext cx="524255"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a:t>
            </a:r>
          </a:p>
        </p:txBody>
      </p:sp>
      <p:sp>
        <p:nvSpPr>
          <p:cNvPr id="41" name="TextBox 40"/>
          <p:cNvSpPr txBox="1"/>
          <p:nvPr/>
        </p:nvSpPr>
        <p:spPr>
          <a:xfrm>
            <a:off x="5196839" y="1938528"/>
            <a:ext cx="524255"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a:t>
            </a:r>
          </a:p>
        </p:txBody>
      </p:sp>
      <p:sp>
        <p:nvSpPr>
          <p:cNvPr id="42" name="Rectangle 41"/>
          <p:cNvSpPr/>
          <p:nvPr/>
        </p:nvSpPr>
        <p:spPr>
          <a:xfrm>
            <a:off x="5757671" y="1755648"/>
            <a:ext cx="542543" cy="420624"/>
          </a:xfrm>
          <a:prstGeom prst="rect">
            <a:avLst/>
          </a:prstGeom>
          <a:solidFill>
            <a:srgbClr val="FDECEA"/>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5766815" y="1783080"/>
            <a:ext cx="524255"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CD+3-5</a:t>
            </a:r>
          </a:p>
        </p:txBody>
      </p:sp>
      <p:sp>
        <p:nvSpPr>
          <p:cNvPr id="44" name="TextBox 43"/>
          <p:cNvSpPr txBox="1"/>
          <p:nvPr/>
        </p:nvSpPr>
        <p:spPr>
          <a:xfrm>
            <a:off x="5766815" y="1938528"/>
            <a:ext cx="524255"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C0392B"/>
                </a:solidFill>
                <a:latin typeface="Arial"/>
              </a:rPr>
              <a:t>0/2</a:t>
            </a:r>
          </a:p>
        </p:txBody>
      </p:sp>
      <p:sp>
        <p:nvSpPr>
          <p:cNvPr id="45" name="Rectangle 44"/>
          <p:cNvSpPr/>
          <p:nvPr/>
        </p:nvSpPr>
        <p:spPr>
          <a:xfrm>
            <a:off x="6327647" y="1755648"/>
            <a:ext cx="542543" cy="420624"/>
          </a:xfrm>
          <a:prstGeom prst="rect">
            <a:avLst/>
          </a:prstGeom>
          <a:solidFill>
            <a:srgbClr val="FDECEA"/>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6336791" y="1783080"/>
            <a:ext cx="524255"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CD+7</a:t>
            </a:r>
          </a:p>
        </p:txBody>
      </p:sp>
      <p:sp>
        <p:nvSpPr>
          <p:cNvPr id="47" name="TextBox 46"/>
          <p:cNvSpPr txBox="1"/>
          <p:nvPr/>
        </p:nvSpPr>
        <p:spPr>
          <a:xfrm>
            <a:off x="6336791" y="1938528"/>
            <a:ext cx="524255"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C0392B"/>
                </a:solidFill>
                <a:latin typeface="Arial"/>
              </a:rPr>
              <a:t>0/2</a:t>
            </a:r>
          </a:p>
        </p:txBody>
      </p:sp>
      <p:sp>
        <p:nvSpPr>
          <p:cNvPr id="48" name="Rectangle 47"/>
          <p:cNvSpPr/>
          <p:nvPr/>
        </p:nvSpPr>
        <p:spPr>
          <a:xfrm>
            <a:off x="6897623" y="1755648"/>
            <a:ext cx="542543" cy="420624"/>
          </a:xfrm>
          <a:prstGeom prst="rect">
            <a:avLst/>
          </a:prstGeom>
          <a:solidFill>
            <a:srgbClr val="FDECEA"/>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6906767" y="1783080"/>
            <a:ext cx="524255"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CD+14</a:t>
            </a:r>
          </a:p>
        </p:txBody>
      </p:sp>
      <p:sp>
        <p:nvSpPr>
          <p:cNvPr id="50" name="TextBox 49"/>
          <p:cNvSpPr txBox="1"/>
          <p:nvPr/>
        </p:nvSpPr>
        <p:spPr>
          <a:xfrm>
            <a:off x="6906767" y="1938528"/>
            <a:ext cx="524255"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C0392B"/>
                </a:solidFill>
                <a:latin typeface="Arial"/>
              </a:rPr>
              <a:t>0/4</a:t>
            </a:r>
          </a:p>
        </p:txBody>
      </p:sp>
      <p:sp>
        <p:nvSpPr>
          <p:cNvPr id="51" name="Rectangle 50"/>
          <p:cNvSpPr/>
          <p:nvPr/>
        </p:nvSpPr>
        <p:spPr>
          <a:xfrm>
            <a:off x="7467599" y="1755648"/>
            <a:ext cx="542543" cy="420624"/>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7476743" y="1783080"/>
            <a:ext cx="524255"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CD+30</a:t>
            </a:r>
          </a:p>
        </p:txBody>
      </p:sp>
      <p:sp>
        <p:nvSpPr>
          <p:cNvPr id="53" name="TextBox 52"/>
          <p:cNvSpPr txBox="1"/>
          <p:nvPr/>
        </p:nvSpPr>
        <p:spPr>
          <a:xfrm>
            <a:off x="7476743" y="1938528"/>
            <a:ext cx="524255"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5/6</a:t>
            </a:r>
          </a:p>
        </p:txBody>
      </p:sp>
      <p:sp>
        <p:nvSpPr>
          <p:cNvPr id="54" name="TextBox 53"/>
          <p:cNvSpPr txBox="1"/>
          <p:nvPr/>
        </p:nvSpPr>
        <p:spPr>
          <a:xfrm>
            <a:off x="4617720" y="2267712"/>
            <a:ext cx="3419856" cy="16459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1" i="0" lang="vi-VN">
                <a:solidFill>
                  <a:srgbClr val="2E9C4C"/>
                </a:solidFill>
                <a:latin typeface="Arial"/>
              </a:rPr>
              <a:t>Điểm làm tốt</a:t>
            </a:r>
          </a:p>
        </p:txBody>
      </p:sp>
      <p:sp>
        <p:nvSpPr>
          <p:cNvPr id="55" name="TextBox 54"/>
          <p:cNvSpPr txBox="1"/>
          <p:nvPr/>
        </p:nvSpPr>
        <p:spPr>
          <a:xfrm>
            <a:off x="4617720" y="2423160"/>
            <a:ext cx="3419856" cy="690372"/>
          </a:xfrm>
          <a:prstGeom prst="rect">
            <a:avLst/>
          </a:prstGeom>
          <a:noFill/>
        </p:spPr>
        <p:txBody>
          <a:bodyPr wrap="square" lIns="36576" tIns="18288" rIns="36576" bIns="18288" anchor="t">
            <a:spAutoFit/>
          </a:bodyPr>
          <a:lstStyle/>
          <a:p>
            <a:pPr algn="l">
              <a:lnSpc>
                <a:spcPct val="92000"/>
              </a:lnSpc>
              <a:spcBef>
                <a:spcPts val="0"/>
              </a:spcBef>
              <a:spcAft>
                <a:spcPts val="300"/>
              </a:spcAft>
            </a:pPr>
            <a:r>
              <a:rPr sz="800" b="0" i="0" lang="vi-VN">
                <a:solidFill>
                  <a:srgbClr val="5C6B62"/>
                </a:solidFill>
                <a:latin typeface="Arial"/>
              </a:rPr>
              <a:t>✓  Đã thực hiện chăm sóc CD30</a:t>
            </a:r>
          </a:p>
          <a:p>
            <a:pPr algn="l">
              <a:lnSpc>
                <a:spcPct val="92000"/>
              </a:lnSpc>
              <a:spcBef>
                <a:spcPts val="0"/>
              </a:spcBef>
              <a:spcAft>
                <a:spcPts val="300"/>
              </a:spcAft>
            </a:pPr>
            <a:r>
              <a:rPr sz="800" b="0" i="0" lang="vi-VN">
                <a:solidFill>
                  <a:srgbClr val="5C6B62"/>
                </a:solidFill>
                <a:latin typeface="Arial"/>
              </a:rPr>
              <a:t>✓  Đã gửi thông báo nhận kính, và một số khách được hỗ trợ giao kính tận nơi</a:t>
            </a:r>
          </a:p>
          <a:p>
            <a:pPr algn="l">
              <a:lnSpc>
                <a:spcPct val="92000"/>
              </a:lnSpc>
              <a:spcBef>
                <a:spcPts val="0"/>
              </a:spcBef>
              <a:spcAft>
                <a:spcPts val="300"/>
              </a:spcAft>
            </a:pPr>
            <a:r>
              <a:rPr sz="800" b="0" i="0" lang="vi-VN">
                <a:solidFill>
                  <a:srgbClr val="5C6B62"/>
                </a:solidFill>
                <a:latin typeface="Arial"/>
              </a:rPr>
              <a:t>✓  Mã QR trên thẻ đặt tại quầy đã giúp tăng số khách được thêm vào Zalo</a:t>
            </a:r>
          </a:p>
        </p:txBody>
      </p:sp>
      <p:sp>
        <p:nvSpPr>
          <p:cNvPr id="56" name="TextBox 55"/>
          <p:cNvSpPr txBox="1"/>
          <p:nvPr/>
        </p:nvSpPr>
        <p:spPr>
          <a:xfrm>
            <a:off x="4617720" y="3131820"/>
            <a:ext cx="3419856" cy="16459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1" i="0" lang="vi-VN">
                <a:solidFill>
                  <a:srgbClr val="B9770B"/>
                </a:solidFill>
                <a:latin typeface="Arial"/>
              </a:rPr>
              <a:t>Điểm cần cải thiện</a:t>
            </a:r>
          </a:p>
        </p:txBody>
      </p:sp>
      <p:sp>
        <p:nvSpPr>
          <p:cNvPr id="57" name="TextBox 56"/>
          <p:cNvSpPr txBox="1"/>
          <p:nvPr/>
        </p:nvSpPr>
        <p:spPr>
          <a:xfrm>
            <a:off x="4617720" y="3287268"/>
            <a:ext cx="3419856" cy="955548"/>
          </a:xfrm>
          <a:prstGeom prst="rect">
            <a:avLst/>
          </a:prstGeom>
          <a:noFill/>
        </p:spPr>
        <p:txBody>
          <a:bodyPr wrap="square" lIns="36576" tIns="18288" rIns="36576" bIns="18288" anchor="t">
            <a:spAutoFit/>
          </a:bodyPr>
          <a:lstStyle/>
          <a:p>
            <a:pPr algn="l">
              <a:lnSpc>
                <a:spcPct val="92000"/>
              </a:lnSpc>
              <a:spcBef>
                <a:spcPts val="0"/>
              </a:spcBef>
              <a:spcAft>
                <a:spcPts val="300"/>
              </a:spcAft>
            </a:pPr>
            <a:r>
              <a:rPr sz="800" b="0" i="0" dirty="0" lang="vi-VN">
                <a:solidFill>
                  <a:srgbClr val="5C6B62"/>
                </a:solidFill>
                <a:latin typeface="Arial"/>
              </a:rPr>
              <a:t>▪  Sau khi khách thanh toán, thêm khách trên Zalo và cho khách biết kính cần bao lâu</a:t>
            </a:r>
            <a:r>
              <a:rPr sz="800" b="0" i="0" dirty="0" err="1" lang="vi-VN">
                <a:solidFill>
                  <a:srgbClr val="5C6B62"/>
                </a:solidFill>
                <a:latin typeface="Arial"/>
              </a:rPr>
              <a:t/>
            </a:r>
            <a:r>
              <a:rPr sz="800" b="0" i="0" dirty="0" lang="vi-VN">
                <a:solidFill>
                  <a:srgbClr val="5C6B62"/>
                </a:solidFill>
                <a:latin typeface="Arial"/>
              </a:rPr>
              <a:t/>
            </a:r>
          </a:p>
          <a:p>
            <a:pPr algn="l">
              <a:lnSpc>
                <a:spcPct val="92000"/>
              </a:lnSpc>
              <a:spcBef>
                <a:spcPts val="0"/>
              </a:spcBef>
              <a:spcAft>
                <a:spcPts val="300"/>
              </a:spcAft>
            </a:pPr>
            <a:r>
              <a:rPr sz="800" b="0" i="0" dirty="0" lang="vi-VN">
                <a:solidFill>
                  <a:srgbClr val="5C6B62"/>
                </a:solidFill>
                <a:latin typeface="Arial"/>
              </a:rPr>
              <a:t>▪  Sau khi khách nhận kính, gửi tin chăm sóc CD+3-5 để hỏi bé đeo kính thế nào</a:t>
            </a:r>
            <a:r>
              <a:rPr lang="vi-VN" sz="800" dirty="0">
                <a:solidFill>
                  <a:srgbClr val="5C6B62"/>
                </a:solidFill>
                <a:latin typeface="Arial"/>
              </a:rPr>
              <a:t/>
            </a:r>
            <a:r>
              <a:rPr sz="800" b="0" i="0" dirty="0" lang="vi-VN">
                <a:solidFill>
                  <a:srgbClr val="5C6B62"/>
                </a:solidFill>
                <a:latin typeface="Arial"/>
              </a:rPr>
              <a:t/>
            </a:r>
          </a:p>
          <a:p>
            <a:pPr algn="l">
              <a:lnSpc>
                <a:spcPct val="92000"/>
              </a:lnSpc>
              <a:spcBef>
                <a:spcPts val="0"/>
              </a:spcBef>
              <a:spcAft>
                <a:spcPts val="300"/>
              </a:spcAft>
            </a:pPr>
            <a:r>
              <a:rPr sz="800" b="0" i="0" dirty="0" lang="vi-VN">
                <a:solidFill>
                  <a:srgbClr val="5C6B62"/>
                </a:solidFill>
                <a:latin typeface="Arial"/>
              </a:rPr>
              <a:t>▪  Đề nghị giới thiệu ngay sau khi khách đã phản hồi tích cực</a:t>
            </a:r>
          </a:p>
          <a:p>
            <a:pPr algn="l">
              <a:lnSpc>
                <a:spcPct val="92000"/>
              </a:lnSpc>
              <a:spcBef>
                <a:spcPts val="0"/>
              </a:spcBef>
              <a:spcAft>
                <a:spcPts val="300"/>
              </a:spcAft>
            </a:pPr>
            <a:r>
              <a:rPr sz="800" b="0" i="0" dirty="0" lang="vi-VN">
                <a:solidFill>
                  <a:srgbClr val="5C6B62"/>
                </a:solidFill>
                <a:latin typeface="Arial"/>
              </a:rPr>
              <a:t>▪  Dùng tin chăm sóc CD14 để gửi nội dung kiến thức hoặc trao đổi về cách sử dụng kính</a:t>
            </a:r>
          </a:p>
        </p:txBody>
      </p:sp>
      <p:sp>
        <p:nvSpPr>
          <p:cNvPr id="58" name="Rectangle 57"/>
          <p:cNvSpPr/>
          <p:nvPr/>
        </p:nvSpPr>
        <p:spPr>
          <a:xfrm>
            <a:off x="8439912" y="1316736"/>
            <a:ext cx="3712463" cy="39319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Rectangle 58"/>
          <p:cNvSpPr/>
          <p:nvPr/>
        </p:nvSpPr>
        <p:spPr>
          <a:xfrm>
            <a:off x="8439912" y="1316736"/>
            <a:ext cx="3712463" cy="59436"/>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TextBox 59"/>
          <p:cNvSpPr txBox="1"/>
          <p:nvPr/>
        </p:nvSpPr>
        <p:spPr>
          <a:xfrm>
            <a:off x="8586216" y="1444752"/>
            <a:ext cx="1463040"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350" b="1" i="0" lang="vi-VN">
                <a:solidFill>
                  <a:srgbClr val="31633D"/>
                </a:solidFill>
                <a:latin typeface="Arial"/>
              </a:rPr>
              <a:t>CTE D7</a:t>
            </a:r>
          </a:p>
        </p:txBody>
      </p:sp>
      <p:sp>
        <p:nvSpPr>
          <p:cNvPr id="61" name="TextBox 60"/>
          <p:cNvSpPr txBox="1"/>
          <p:nvPr/>
        </p:nvSpPr>
        <p:spPr>
          <a:xfrm>
            <a:off x="10085832" y="1481328"/>
            <a:ext cx="1920239" cy="219456"/>
          </a:xfrm>
          <a:prstGeom prst="rect">
            <a:avLst/>
          </a:prstGeom>
          <a:noFill/>
        </p:spPr>
        <p:txBody>
          <a:bodyPr wrap="square" lIns="36576" tIns="18288" rIns="36576" bIns="18288" anchor="t">
            <a:spAutoFit/>
          </a:bodyPr>
          <a:lstStyle/>
          <a:p>
            <a:pPr algn="r">
              <a:lnSpc>
                <a:spcPct val="95000"/>
              </a:lnSpc>
              <a:spcBef>
                <a:spcPts val="0"/>
              </a:spcBef>
              <a:spcAft>
                <a:spcPts val="0"/>
              </a:spcAft>
            </a:pPr>
            <a:r>
              <a:rPr sz="1000" b="0" lang="vi-VN">
                <a:solidFill>
                  <a:srgbClr val="5C6B62"/>
                </a:solidFill>
                <a:latin typeface="Arial"/>
              </a:rPr>
              <a:t>Tổng  </a:t>
            </a:r>
            <a:r>
              <a:rPr sz="1000" b="1" lang="vi-VN">
                <a:solidFill>
                  <a:srgbClr val="0C989A"/>
                </a:solidFill>
                <a:latin typeface="Arial"/>
              </a:rPr>
              <a:t>3/6</a:t>
            </a:r>
          </a:p>
        </p:txBody>
      </p:sp>
      <p:sp>
        <p:nvSpPr>
          <p:cNvPr id="62" name="Rectangle 61"/>
          <p:cNvSpPr/>
          <p:nvPr/>
        </p:nvSpPr>
        <p:spPr>
          <a:xfrm>
            <a:off x="8586216" y="1755648"/>
            <a:ext cx="656539" cy="420624"/>
          </a:xfrm>
          <a:prstGeom prst="rect">
            <a:avLst/>
          </a:prstGeom>
          <a:solidFill>
            <a:srgbClr val="F2F2F2"/>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TextBox 62"/>
          <p:cNvSpPr txBox="1"/>
          <p:nvPr/>
        </p:nvSpPr>
        <p:spPr>
          <a:xfrm>
            <a:off x="8595360"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D6-7</a:t>
            </a:r>
          </a:p>
        </p:txBody>
      </p:sp>
      <p:sp>
        <p:nvSpPr>
          <p:cNvPr id="64" name="TextBox 63"/>
          <p:cNvSpPr txBox="1"/>
          <p:nvPr/>
        </p:nvSpPr>
        <p:spPr>
          <a:xfrm>
            <a:off x="8595360"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a:t>
            </a:r>
          </a:p>
        </p:txBody>
      </p:sp>
      <p:sp>
        <p:nvSpPr>
          <p:cNvPr id="65" name="Rectangle 64"/>
          <p:cNvSpPr/>
          <p:nvPr/>
        </p:nvSpPr>
        <p:spPr>
          <a:xfrm>
            <a:off x="9270187" y="1755648"/>
            <a:ext cx="656539" cy="420624"/>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TextBox 65"/>
          <p:cNvSpPr txBox="1"/>
          <p:nvPr/>
        </p:nvSpPr>
        <p:spPr>
          <a:xfrm>
            <a:off x="9279331"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a:t>
            </a:r>
          </a:p>
        </p:txBody>
      </p:sp>
      <p:sp>
        <p:nvSpPr>
          <p:cNvPr id="67" name="TextBox 66"/>
          <p:cNvSpPr txBox="1"/>
          <p:nvPr/>
        </p:nvSpPr>
        <p:spPr>
          <a:xfrm>
            <a:off x="9279331"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2/2</a:t>
            </a:r>
          </a:p>
        </p:txBody>
      </p:sp>
      <p:sp>
        <p:nvSpPr>
          <p:cNvPr id="68" name="Rectangle 67"/>
          <p:cNvSpPr/>
          <p:nvPr/>
        </p:nvSpPr>
        <p:spPr>
          <a:xfrm>
            <a:off x="9954158" y="1755648"/>
            <a:ext cx="656539" cy="420624"/>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9" name="TextBox 68"/>
          <p:cNvSpPr txBox="1"/>
          <p:nvPr/>
        </p:nvSpPr>
        <p:spPr>
          <a:xfrm>
            <a:off x="9963302"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CD+3-5</a:t>
            </a:r>
          </a:p>
        </p:txBody>
      </p:sp>
      <p:sp>
        <p:nvSpPr>
          <p:cNvPr id="70" name="TextBox 69"/>
          <p:cNvSpPr txBox="1"/>
          <p:nvPr/>
        </p:nvSpPr>
        <p:spPr>
          <a:xfrm>
            <a:off x="9963302"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31633D"/>
                </a:solidFill>
                <a:latin typeface="Arial"/>
              </a:rPr>
              <a:t>1/2</a:t>
            </a:r>
          </a:p>
        </p:txBody>
      </p:sp>
      <p:sp>
        <p:nvSpPr>
          <p:cNvPr id="71" name="Rectangle 70"/>
          <p:cNvSpPr/>
          <p:nvPr/>
        </p:nvSpPr>
        <p:spPr>
          <a:xfrm>
            <a:off x="10638129" y="1755648"/>
            <a:ext cx="656539" cy="420624"/>
          </a:xfrm>
          <a:prstGeom prst="rect">
            <a:avLst/>
          </a:prstGeom>
          <a:solidFill>
            <a:srgbClr val="FDECEA"/>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TextBox 71"/>
          <p:cNvSpPr txBox="1"/>
          <p:nvPr/>
        </p:nvSpPr>
        <p:spPr>
          <a:xfrm>
            <a:off x="10647273"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CD+14</a:t>
            </a:r>
          </a:p>
        </p:txBody>
      </p:sp>
      <p:sp>
        <p:nvSpPr>
          <p:cNvPr id="73" name="TextBox 72"/>
          <p:cNvSpPr txBox="1"/>
          <p:nvPr/>
        </p:nvSpPr>
        <p:spPr>
          <a:xfrm>
            <a:off x="10647273"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C0392B"/>
                </a:solidFill>
                <a:latin typeface="Arial"/>
              </a:rPr>
              <a:t>0/1</a:t>
            </a:r>
          </a:p>
        </p:txBody>
      </p:sp>
      <p:sp>
        <p:nvSpPr>
          <p:cNvPr id="74" name="Rectangle 73"/>
          <p:cNvSpPr/>
          <p:nvPr/>
        </p:nvSpPr>
        <p:spPr>
          <a:xfrm>
            <a:off x="11322100" y="1755648"/>
            <a:ext cx="656539" cy="420624"/>
          </a:xfrm>
          <a:prstGeom prst="rect">
            <a:avLst/>
          </a:prstGeom>
          <a:solidFill>
            <a:srgbClr val="FDECEA"/>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5" name="TextBox 74"/>
          <p:cNvSpPr txBox="1"/>
          <p:nvPr/>
        </p:nvSpPr>
        <p:spPr>
          <a:xfrm>
            <a:off x="11331244" y="1783080"/>
            <a:ext cx="638251" cy="164592"/>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650" b="1" i="0" lang="vi-VN">
                <a:solidFill>
                  <a:srgbClr val="5C6B62"/>
                </a:solidFill>
                <a:latin typeface="Arial"/>
              </a:rPr>
              <a:t>CD+30</a:t>
            </a:r>
          </a:p>
        </p:txBody>
      </p:sp>
      <p:sp>
        <p:nvSpPr>
          <p:cNvPr id="76" name="TextBox 75"/>
          <p:cNvSpPr txBox="1"/>
          <p:nvPr/>
        </p:nvSpPr>
        <p:spPr>
          <a:xfrm>
            <a:off x="11331244" y="1938528"/>
            <a:ext cx="638251" cy="20116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000" b="1" i="0" lang="vi-VN">
                <a:solidFill>
                  <a:srgbClr val="C0392B"/>
                </a:solidFill>
                <a:latin typeface="Arial"/>
              </a:rPr>
              <a:t>0/1</a:t>
            </a:r>
          </a:p>
        </p:txBody>
      </p:sp>
      <p:sp>
        <p:nvSpPr>
          <p:cNvPr id="77" name="TextBox 76"/>
          <p:cNvSpPr txBox="1"/>
          <p:nvPr/>
        </p:nvSpPr>
        <p:spPr>
          <a:xfrm>
            <a:off x="8586216" y="2267712"/>
            <a:ext cx="3419856" cy="16459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1" i="0" lang="vi-VN">
                <a:solidFill>
                  <a:srgbClr val="2E9C4C"/>
                </a:solidFill>
                <a:latin typeface="Arial"/>
              </a:rPr>
              <a:t>Điểm làm tốt</a:t>
            </a:r>
          </a:p>
        </p:txBody>
      </p:sp>
      <p:sp>
        <p:nvSpPr>
          <p:cNvPr id="78" name="TextBox 77"/>
          <p:cNvSpPr txBox="1"/>
          <p:nvPr/>
        </p:nvSpPr>
        <p:spPr>
          <a:xfrm>
            <a:off x="8586216" y="2423160"/>
            <a:ext cx="3419856" cy="320040"/>
          </a:xfrm>
          <a:prstGeom prst="rect">
            <a:avLst/>
          </a:prstGeom>
          <a:noFill/>
        </p:spPr>
        <p:txBody>
          <a:bodyPr wrap="square" lIns="36576" tIns="18288" rIns="36576" bIns="18288" anchor="t">
            <a:spAutoFit/>
          </a:bodyPr>
          <a:lstStyle/>
          <a:p>
            <a:pPr algn="l">
              <a:lnSpc>
                <a:spcPct val="92000"/>
              </a:lnSpc>
              <a:spcBef>
                <a:spcPts val="0"/>
              </a:spcBef>
              <a:spcAft>
                <a:spcPts val="300"/>
              </a:spcAft>
            </a:pPr>
            <a:r>
              <a:rPr sz="800" b="0" i="0" dirty="0" lang="vi-VN">
                <a:solidFill>
                  <a:srgbClr val="5C6B62"/>
                </a:solidFill>
                <a:latin typeface="Arial"/>
              </a:rPr>
              <a:t>✓  Một số khách đã được cho biết kính cần bao lâu</a:t>
            </a:r>
          </a:p>
          <a:p>
            <a:pPr algn="l">
              <a:lnSpc>
                <a:spcPct val="92000"/>
              </a:lnSpc>
              <a:spcBef>
                <a:spcPts val="0"/>
              </a:spcBef>
              <a:spcAft>
                <a:spcPts val="300"/>
              </a:spcAft>
            </a:pPr>
            <a:r>
              <a:rPr sz="800" b="0" i="0" dirty="0" lang="vi-VN">
                <a:solidFill>
                  <a:srgbClr val="5C6B62"/>
                </a:solidFill>
                <a:latin typeface="Arial"/>
              </a:rPr>
              <a:t>✓  Các thắc mắc của khách được phản hồi kịp thời</a:t>
            </a:r>
          </a:p>
        </p:txBody>
      </p:sp>
      <p:sp>
        <p:nvSpPr>
          <p:cNvPr id="79" name="TextBox 78"/>
          <p:cNvSpPr txBox="1"/>
          <p:nvPr/>
        </p:nvSpPr>
        <p:spPr>
          <a:xfrm>
            <a:off x="8586216" y="2761488"/>
            <a:ext cx="3419856" cy="16459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1" i="0" lang="vi-VN">
                <a:solidFill>
                  <a:srgbClr val="B9770B"/>
                </a:solidFill>
                <a:latin typeface="Arial"/>
              </a:rPr>
              <a:t>Điểm cần cải thiện</a:t>
            </a:r>
          </a:p>
        </p:txBody>
      </p:sp>
      <p:sp>
        <p:nvSpPr>
          <p:cNvPr id="80" name="TextBox 79"/>
          <p:cNvSpPr txBox="1"/>
          <p:nvPr/>
        </p:nvSpPr>
        <p:spPr>
          <a:xfrm>
            <a:off x="8586216" y="2916936"/>
            <a:ext cx="3419856" cy="955548"/>
          </a:xfrm>
          <a:prstGeom prst="rect">
            <a:avLst/>
          </a:prstGeom>
          <a:noFill/>
        </p:spPr>
        <p:txBody>
          <a:bodyPr wrap="square" lIns="36576" tIns="18288" rIns="36576" bIns="18288" anchor="t">
            <a:spAutoFit/>
          </a:bodyPr>
          <a:lstStyle/>
          <a:p>
            <a:pPr algn="l">
              <a:lnSpc>
                <a:spcPct val="92000"/>
              </a:lnSpc>
              <a:spcBef>
                <a:spcPts val="0"/>
              </a:spcBef>
              <a:spcAft>
                <a:spcPts val="300"/>
              </a:spcAft>
            </a:pPr>
            <a:r>
              <a:rPr sz="800" b="0" i="0" dirty="0" lang="vi-VN">
                <a:solidFill>
                  <a:srgbClr val="5C6B62"/>
                </a:solidFill>
                <a:latin typeface="Arial"/>
              </a:rPr>
              <a:t>▪  Lượng khách còn ít, nên có đủ thời gian để chủ động nhắn trước và gửi đúng hạn mọi tin chăm sóc CD</a:t>
            </a:r>
          </a:p>
          <a:p>
            <a:pPr algn="l">
              <a:lnSpc>
                <a:spcPct val="92000"/>
              </a:lnSpc>
              <a:spcBef>
                <a:spcPts val="0"/>
              </a:spcBef>
              <a:spcAft>
                <a:spcPts val="300"/>
              </a:spcAft>
            </a:pPr>
            <a:r>
              <a:rPr sz="800" b="0" i="0" dirty="0" lang="vi-VN">
                <a:solidFill>
                  <a:srgbClr val="5C6B62"/>
                </a:solidFill>
                <a:latin typeface="Arial"/>
              </a:rPr>
              <a:t>▪  Gửi hướng dẫn sử dụng (CD1), kiểm tra việc đeo kính của bé (CD3–CD7), thông tin kiểm soát cận thị (CD14) và kiểm tra sử dụng (CD30)</a:t>
            </a:r>
          </a:p>
          <a:p>
            <a:pPr algn="l">
              <a:lnSpc>
                <a:spcPct val="92000"/>
              </a:lnSpc>
              <a:spcBef>
                <a:spcPts val="0"/>
              </a:spcBef>
              <a:spcAft>
                <a:spcPts val="300"/>
              </a:spcAft>
            </a:pPr>
            <a:r>
              <a:rPr sz="800" b="0" i="0" dirty="0" lang="vi-VN">
                <a:solidFill>
                  <a:srgbClr val="5C6B62"/>
                </a:solidFill>
                <a:latin typeface="Arial"/>
              </a:rPr>
              <a:t>▪  Khi khách phản hồi tốt — ví dụ sau khi bạn xác nhận giao kính tận nơi — hãy đề nghị khách giới thiệu</a:t>
            </a:r>
          </a:p>
        </p:txBody>
      </p:sp>
      <p:sp>
        <p:nvSpPr>
          <p:cNvPr id="81" name="Rectangle 80"/>
          <p:cNvSpPr/>
          <p:nvPr/>
        </p:nvSpPr>
        <p:spPr>
          <a:xfrm>
            <a:off x="502920" y="5376672"/>
            <a:ext cx="11186129" cy="256032"/>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950" b="1" i="0" lang="vi-VN">
                <a:solidFill>
                  <a:srgbClr val="FFFFFF"/>
                </a:solidFill>
                <a:latin typeface="Arial"/>
              </a:rPr>
              <a:t>Chưa nằm trong số liệu theo dõi</a:t>
            </a:r>
          </a:p>
        </p:txBody>
      </p:sp>
      <p:sp>
        <p:nvSpPr>
          <p:cNvPr id="82" name="Rectangle 81"/>
          <p:cNvSpPr/>
          <p:nvPr/>
        </p:nvSpPr>
        <p:spPr>
          <a:xfrm>
            <a:off x="502920" y="5650992"/>
            <a:ext cx="5705856" cy="566928"/>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73152" rtlCol="0" anchor="ctr"/>
          <a:lstStyle/>
          <a:p>
            <a:pPr algn="l">
              <a:lnSpc>
                <a:spcPct val="95000"/>
              </a:lnSpc>
              <a:spcBef>
                <a:spcPts val="0"/>
              </a:spcBef>
              <a:spcAft>
                <a:spcPts val="300"/>
              </a:spcAft>
            </a:pPr>
            <a:r>
              <a:rPr sz="1000" b="1" dirty="0" lang="vi-VN">
                <a:solidFill>
                  <a:srgbClr val="C0392B"/>
                </a:solidFill>
                <a:latin typeface="Arial"/>
              </a:rPr>
              <a:t>SH (Sông Hàn)  ·  </a:t>
            </a:r>
            <a:r>
              <a:rPr sz="1000" b="1" dirty="0" lang="vi-VN">
                <a:solidFill>
                  <a:srgbClr val="31633D"/>
                </a:solidFill>
                <a:latin typeface="Arial"/>
              </a:rPr>
              <a:t>Mất kết nối Zalo &amp; chưa cập nhật Biểu mẫu CRM – tính đến 2/9/26</a:t>
            </a:r>
            <a:r>
              <a:rPr sz="1000" b="1" dirty="0" err="1" lang="vi-VN">
                <a:solidFill>
                  <a:srgbClr val="31633D"/>
                </a:solidFill>
                <a:latin typeface="Arial"/>
              </a:rPr>
              <a:t/>
            </a:r>
            <a:r>
              <a:rPr sz="1000" b="1" dirty="0" lang="vi-VN">
                <a:solidFill>
                  <a:srgbClr val="31633D"/>
                </a:solidFill>
                <a:latin typeface="Arial"/>
              </a:rPr>
              <a:t/>
            </a:r>
            <a:r>
              <a:rPr lang="vi-VN" sz="1000" b="1" dirty="0">
                <a:solidFill>
                  <a:srgbClr val="31633D"/>
                </a:solidFill>
                <a:latin typeface="Arial"/>
              </a:rPr>
              <a:t/>
            </a:r>
            <a:endParaRPr sz="1000" b="1" dirty="0">
              <a:solidFill>
                <a:srgbClr val="31633D"/>
              </a:solidFill>
              <a:latin typeface="Arial"/>
            </a:endParaRPr>
          </a:p>
          <a:p>
            <a:pPr algn="l">
              <a:lnSpc>
                <a:spcPct val="95000"/>
              </a:lnSpc>
              <a:spcBef>
                <a:spcPts val="0"/>
              </a:spcBef>
              <a:spcAft>
                <a:spcPts val="0"/>
              </a:spcAft>
            </a:pPr>
            <a:r>
              <a:rPr sz="850" b="0" i="0" dirty="0" lang="vi-VN">
                <a:solidFill>
                  <a:srgbClr val="5C6B62"/>
                </a:solidFill>
                <a:latin typeface="Arial"/>
              </a:rPr>
              <a:t>Đang chờ cập nhật biểu mẫu CRM. Không có kênh để gửi tin chăm sóc, nên không thể gửi và cũng không thể đo lường. Việc này cần bộ phận IT xử lý, không phải DA.</a:t>
            </a:r>
          </a:p>
        </p:txBody>
      </p:sp>
      <p:sp>
        <p:nvSpPr>
          <p:cNvPr id="83" name="Rectangle 82"/>
          <p:cNvSpPr/>
          <p:nvPr/>
        </p:nvSpPr>
        <p:spPr>
          <a:xfrm>
            <a:off x="6345936" y="5650992"/>
            <a:ext cx="5340096" cy="566928"/>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lIns="128016" tIns="73152" rtlCol="0" anchor="ctr"/>
          <a:lstStyle/>
          <a:p>
            <a:pPr algn="l">
              <a:lnSpc>
                <a:spcPct val="95000"/>
              </a:lnSpc>
              <a:spcBef>
                <a:spcPts val="0"/>
              </a:spcBef>
              <a:spcAft>
                <a:spcPts val="300"/>
              </a:spcAft>
            </a:pPr>
            <a:r>
              <a:rPr sz="1000" b="1" lang="vi-VN">
                <a:solidFill>
                  <a:srgbClr val="B9770B"/>
                </a:solidFill>
                <a:latin typeface="Arial"/>
              </a:rPr>
              <a:t>LA  ·  </a:t>
            </a:r>
            <a:r>
              <a:rPr sz="1000" b="1" lang="vi-VN">
                <a:solidFill>
                  <a:srgbClr val="31633D"/>
                </a:solidFill>
                <a:latin typeface="Arial"/>
              </a:rPr>
              <a:t>Chờ bảng theo dõi vận hành</a:t>
            </a:r>
          </a:p>
          <a:p>
            <a:pPr algn="l">
              <a:lnSpc>
                <a:spcPct val="95000"/>
              </a:lnSpc>
              <a:spcBef>
                <a:spcPts val="0"/>
              </a:spcBef>
              <a:spcAft>
                <a:spcPts val="0"/>
              </a:spcAft>
            </a:pPr>
            <a:r>
              <a:rPr sz="850" b="0" i="0" lang="vi-VN">
                <a:solidFill>
                  <a:srgbClr val="5C6B62"/>
                </a:solidFill>
                <a:latin typeface="Arial"/>
              </a:rPr>
              <a:t>Tuần này chưa đo lường. Được đánh giá bằng cách đọc lại các đoạn hội thoại. Xem trang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175817"/>
          </a:xfrm>
          <a:prstGeom prst="rect">
            <a:avLst/>
          </a:prstGeom>
          <a:noFill/>
        </p:spPr>
        <p:txBody>
          <a:bodyPr wrap="square" lIns="36576" tIns="18288" rIns="36576" bIns="18288" anchor="t">
            <a:spAutoFit/>
          </a:bodyPr>
          <a:lstStyle/>
          <a:p>
            <a:pPr>
              <a:lnSpc>
                <a:spcPct val="95000"/>
              </a:lnSpc>
            </a:pPr>
            <a:r>
              <a:rPr lang="vi-VN" sz="950" b="1" dirty="0">
                <a:solidFill>
                  <a:srgbClr val="2E9C4C"/>
                </a:solidFill>
                <a:latin typeface="Arial"/>
              </a:rPr>
              <a:t>1. PHẢN HỒI ZALO   |   THEO TỪNG CHI NHÁNH</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LA — điểm đã làm tốt và điểm cần cải thiện</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3</a:t>
            </a:r>
          </a:p>
        </p:txBody>
      </p:sp>
      <p:sp>
        <p:nvSpPr>
          <p:cNvPr id="8" name="Rectangle 7"/>
          <p:cNvSpPr/>
          <p:nvPr/>
        </p:nvSpPr>
        <p:spPr>
          <a:xfrm>
            <a:off x="502920" y="1316736"/>
            <a:ext cx="11183112" cy="347472"/>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lnSpc>
                <a:spcPct val="95000"/>
              </a:lnSpc>
              <a:spcBef>
                <a:spcPts val="0"/>
              </a:spcBef>
              <a:spcAft>
                <a:spcPts val="0"/>
              </a:spcAft>
            </a:pPr>
            <a:r>
              <a:rPr sz="1000" b="1" lang="vi-VN">
                <a:solidFill>
                  <a:srgbClr val="B9770B"/>
                </a:solidFill>
                <a:latin typeface="Arial"/>
              </a:rPr>
              <a:t>LA  ·  Chờ bảng theo dõi vận hành.  </a:t>
            </a:r>
            <a:r>
              <a:rPr sz="1000" b="0" lang="vi-VN">
                <a:solidFill>
                  <a:srgbClr val="5C6B62"/>
                </a:solidFill>
                <a:latin typeface="Arial"/>
              </a:rPr>
              <a:t>Tuần này chưa đo lường. Được đánh giá bằng cách đọc lại các đoạn hội thoại.</a:t>
            </a:r>
          </a:p>
        </p:txBody>
      </p:sp>
      <p:sp>
        <p:nvSpPr>
          <p:cNvPr id="9" name="Rectangle 8"/>
          <p:cNvSpPr/>
          <p:nvPr/>
        </p:nvSpPr>
        <p:spPr>
          <a:xfrm>
            <a:off x="502920" y="1792224"/>
            <a:ext cx="5577840"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50" b="1" i="0" lang="vi-VN">
                <a:solidFill>
                  <a:srgbClr val="FFFFFF"/>
                </a:solidFill>
                <a:latin typeface="Arial"/>
              </a:rPr>
              <a:t>Điểm làm tốt — các chi nhánh khác nên làm tương tự</a:t>
            </a:r>
          </a:p>
        </p:txBody>
      </p:sp>
      <p:sp>
        <p:nvSpPr>
          <p:cNvPr id="10" name="Rectangle 9"/>
          <p:cNvSpPr/>
          <p:nvPr/>
        </p:nvSpPr>
        <p:spPr>
          <a:xfrm>
            <a:off x="502920" y="2157984"/>
            <a:ext cx="5577840" cy="1133856"/>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502920" y="2157984"/>
            <a:ext cx="50292" cy="113385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5800" y="2249424"/>
            <a:ext cx="523036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50" b="1" lang="vi-VN">
                <a:solidFill>
                  <a:srgbClr val="2E9C4C"/>
                </a:solidFill>
                <a:latin typeface="Arial"/>
              </a:rPr>
              <a:t>✓  </a:t>
            </a:r>
            <a:r>
              <a:rPr sz="1050" b="1" lang="vi-VN">
                <a:solidFill>
                  <a:srgbClr val="31633D"/>
                </a:solidFill>
                <a:latin typeface="Arial"/>
              </a:rPr>
              <a:t>Chăm sóc ngày đầu tiên với Ortho-K</a:t>
            </a:r>
          </a:p>
        </p:txBody>
      </p:sp>
      <p:sp>
        <p:nvSpPr>
          <p:cNvPr id="13" name="TextBox 12"/>
          <p:cNvSpPr txBox="1"/>
          <p:nvPr/>
        </p:nvSpPr>
        <p:spPr>
          <a:xfrm>
            <a:off x="685800" y="2505456"/>
            <a:ext cx="5230368" cy="713232"/>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00" b="0" i="0" lang="vi-VN">
                <a:solidFill>
                  <a:srgbClr val="5C6B62"/>
                </a:solidFill>
                <a:latin typeface="Arial"/>
              </a:rPr>
              <a:t>Một số khách Ortho-K đã được gọi điện vào ngày đầu bé đeo kính. Đây là điểm tốt. Hãy làm như vậy với mọi khách Ortho-K, không chỉ một số khách.</a:t>
            </a:r>
          </a:p>
        </p:txBody>
      </p:sp>
      <p:sp>
        <p:nvSpPr>
          <p:cNvPr id="14" name="Rectangle 13"/>
          <p:cNvSpPr/>
          <p:nvPr/>
        </p:nvSpPr>
        <p:spPr>
          <a:xfrm>
            <a:off x="502920" y="3364991"/>
            <a:ext cx="5577840" cy="1133856"/>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502920" y="3364991"/>
            <a:ext cx="50292" cy="113385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85800" y="3456432"/>
            <a:ext cx="523036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50" b="1" lang="vi-VN">
                <a:solidFill>
                  <a:srgbClr val="2E9C4C"/>
                </a:solidFill>
                <a:latin typeface="Arial"/>
              </a:rPr>
              <a:t>✓  </a:t>
            </a:r>
            <a:r>
              <a:rPr sz="1050" b="1" lang="vi-VN">
                <a:solidFill>
                  <a:srgbClr val="31633D"/>
                </a:solidFill>
                <a:latin typeface="Arial"/>
              </a:rPr>
              <a:t>Chăm sóc tái khám miễn phí cho khách MC</a:t>
            </a:r>
          </a:p>
        </p:txBody>
      </p:sp>
      <p:sp>
        <p:nvSpPr>
          <p:cNvPr id="17" name="TextBox 16"/>
          <p:cNvSpPr txBox="1"/>
          <p:nvPr/>
        </p:nvSpPr>
        <p:spPr>
          <a:xfrm>
            <a:off x="685800" y="3712463"/>
            <a:ext cx="5230368" cy="713232"/>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00" b="0" i="0" lang="vi-VN">
                <a:solidFill>
                  <a:srgbClr val="5C6B62"/>
                </a:solidFill>
                <a:latin typeface="Arial"/>
              </a:rPr>
              <a:t>Khách MC đã được liên hệ về lịch tái khám miễn phí. Đây là điểm tốt. Trong cùng đoạn hội thoại đó, hãy đề nghị khách giới thiệu người quen.</a:t>
            </a:r>
          </a:p>
        </p:txBody>
      </p:sp>
      <p:sp>
        <p:nvSpPr>
          <p:cNvPr id="18" name="Rectangle 17"/>
          <p:cNvSpPr/>
          <p:nvPr/>
        </p:nvSpPr>
        <p:spPr>
          <a:xfrm>
            <a:off x="502920" y="4572000"/>
            <a:ext cx="5577840" cy="1133856"/>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502920" y="4572000"/>
            <a:ext cx="50292" cy="113385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85800" y="4663440"/>
            <a:ext cx="5230368"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50" b="1" lang="vi-VN">
                <a:solidFill>
                  <a:srgbClr val="2E9C4C"/>
                </a:solidFill>
                <a:latin typeface="Arial"/>
              </a:rPr>
              <a:t>✓  </a:t>
            </a:r>
            <a:r>
              <a:rPr sz="1050" b="1" lang="vi-VN">
                <a:solidFill>
                  <a:srgbClr val="31633D"/>
                </a:solidFill>
                <a:latin typeface="Arial"/>
              </a:rPr>
              <a:t>Thắc mắc của khách được giải đáp</a:t>
            </a:r>
          </a:p>
        </p:txBody>
      </p:sp>
      <p:sp>
        <p:nvSpPr>
          <p:cNvPr id="21" name="TextBox 20"/>
          <p:cNvSpPr txBox="1"/>
          <p:nvPr/>
        </p:nvSpPr>
        <p:spPr>
          <a:xfrm>
            <a:off x="685800" y="4919472"/>
            <a:ext cx="5230368" cy="713232"/>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00" b="0" i="0" lang="vi-VN">
                <a:solidFill>
                  <a:srgbClr val="5C6B62"/>
                </a:solidFill>
                <a:latin typeface="Arial"/>
              </a:rPr>
              <a:t>Gần như toàn bộ câu hỏi của khách đều được trả lời. Đây là điểm tốt. Hãy tiếp tục học kiến thức sản phẩm, vì giải quyết được càng nhiều vấn đề thì càng tạo được niềm tin.</a:t>
            </a:r>
          </a:p>
        </p:txBody>
      </p:sp>
      <p:sp>
        <p:nvSpPr>
          <p:cNvPr id="22" name="Rectangle 21"/>
          <p:cNvSpPr/>
          <p:nvPr/>
        </p:nvSpPr>
        <p:spPr>
          <a:xfrm>
            <a:off x="6291072" y="1792224"/>
            <a:ext cx="5394960" cy="310896"/>
          </a:xfrm>
          <a:prstGeom prst="rect">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50" b="1" i="0" lang="vi-VN">
                <a:solidFill>
                  <a:srgbClr val="FFFFFF"/>
                </a:solidFill>
                <a:latin typeface="Arial"/>
              </a:rPr>
              <a:t>Điểm cần cải thiện</a:t>
            </a:r>
          </a:p>
        </p:txBody>
      </p:sp>
      <p:sp>
        <p:nvSpPr>
          <p:cNvPr id="23" name="Rectangle 22"/>
          <p:cNvSpPr/>
          <p:nvPr/>
        </p:nvSpPr>
        <p:spPr>
          <a:xfrm>
            <a:off x="6291072" y="2157984"/>
            <a:ext cx="5394960" cy="1133856"/>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6437376" y="2276856"/>
            <a:ext cx="237744" cy="237744"/>
          </a:xfrm>
          <a:prstGeom prst="ellipse">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1</a:t>
            </a:r>
          </a:p>
        </p:txBody>
      </p:sp>
      <p:sp>
        <p:nvSpPr>
          <p:cNvPr id="25" name="TextBox 24"/>
          <p:cNvSpPr txBox="1"/>
          <p:nvPr/>
        </p:nvSpPr>
        <p:spPr>
          <a:xfrm>
            <a:off x="6748272" y="2258568"/>
            <a:ext cx="4773168" cy="256032"/>
          </a:xfrm>
          <a:prstGeom prst="rect">
            <a:avLst/>
          </a:prstGeom>
          <a:noFill/>
        </p:spPr>
        <p:txBody>
          <a:bodyPr wrap="square" lIns="36576" tIns="18288" rIns="36576" bIns="18288" anchor="t">
            <a:spAutoFit/>
          </a:bodyPr>
          <a:lstStyle/>
          <a:p>
            <a:pPr algn="l">
              <a:lnSpc>
                <a:spcPct val="92000"/>
              </a:lnSpc>
              <a:spcBef>
                <a:spcPts val="0"/>
              </a:spcBef>
              <a:spcAft>
                <a:spcPts val="0"/>
              </a:spcAft>
            </a:pPr>
            <a:r>
              <a:rPr sz="1050" b="1" i="0" lang="vi-VN">
                <a:solidFill>
                  <a:srgbClr val="31633D"/>
                </a:solidFill>
                <a:latin typeface="Arial"/>
              </a:rPr>
              <a:t>Bổ sung ghi chú cho khách hàng cũ</a:t>
            </a:r>
          </a:p>
        </p:txBody>
      </p:sp>
      <p:sp>
        <p:nvSpPr>
          <p:cNvPr id="26" name="TextBox 25"/>
          <p:cNvSpPr txBox="1"/>
          <p:nvPr/>
        </p:nvSpPr>
        <p:spPr>
          <a:xfrm>
            <a:off x="6748272" y="2523744"/>
            <a:ext cx="4773168" cy="694944"/>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00" b="0" i="0" lang="vi-VN">
                <a:solidFill>
                  <a:srgbClr val="5C6B62"/>
                </a:solidFill>
                <a:latin typeface="Arial"/>
              </a:rPr>
              <a:t>Với khách đã mua trước khi bảng theo dõi bắt đầu, hãy thêm ghi chú về ngày nhận kính gần đúng.</a:t>
            </a:r>
          </a:p>
        </p:txBody>
      </p:sp>
      <p:sp>
        <p:nvSpPr>
          <p:cNvPr id="27" name="Rectangle 26"/>
          <p:cNvSpPr/>
          <p:nvPr/>
        </p:nvSpPr>
        <p:spPr>
          <a:xfrm>
            <a:off x="6291072" y="3364991"/>
            <a:ext cx="5394960" cy="1133856"/>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Oval 27"/>
          <p:cNvSpPr/>
          <p:nvPr/>
        </p:nvSpPr>
        <p:spPr>
          <a:xfrm>
            <a:off x="6437376" y="3483863"/>
            <a:ext cx="237744" cy="237744"/>
          </a:xfrm>
          <a:prstGeom prst="ellipse">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2</a:t>
            </a:r>
          </a:p>
        </p:txBody>
      </p:sp>
      <p:sp>
        <p:nvSpPr>
          <p:cNvPr id="29" name="TextBox 28"/>
          <p:cNvSpPr txBox="1"/>
          <p:nvPr/>
        </p:nvSpPr>
        <p:spPr>
          <a:xfrm>
            <a:off x="6748272" y="3465575"/>
            <a:ext cx="4773168" cy="256032"/>
          </a:xfrm>
          <a:prstGeom prst="rect">
            <a:avLst/>
          </a:prstGeom>
          <a:noFill/>
        </p:spPr>
        <p:txBody>
          <a:bodyPr wrap="square" lIns="36576" tIns="18288" rIns="36576" bIns="18288" anchor="t">
            <a:spAutoFit/>
          </a:bodyPr>
          <a:lstStyle/>
          <a:p>
            <a:pPr algn="l">
              <a:lnSpc>
                <a:spcPct val="92000"/>
              </a:lnSpc>
              <a:spcBef>
                <a:spcPts val="0"/>
              </a:spcBef>
              <a:spcAft>
                <a:spcPts val="0"/>
              </a:spcAft>
            </a:pPr>
            <a:r>
              <a:rPr sz="1050" b="1" i="0" lang="vi-VN">
                <a:solidFill>
                  <a:srgbClr val="31633D"/>
                </a:solidFill>
                <a:latin typeface="Arial"/>
              </a:rPr>
              <a:t>Gộp thông báo tái khám và bảo hành vào tin chăm sóc CD</a:t>
            </a:r>
          </a:p>
        </p:txBody>
      </p:sp>
      <p:sp>
        <p:nvSpPr>
          <p:cNvPr id="30" name="TextBox 29"/>
          <p:cNvSpPr txBox="1"/>
          <p:nvPr/>
        </p:nvSpPr>
        <p:spPr>
          <a:xfrm>
            <a:off x="6748272" y="3730752"/>
            <a:ext cx="4773168" cy="694944"/>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00" b="0" i="0" lang="vi-VN">
                <a:solidFill>
                  <a:srgbClr val="5C6B62"/>
                </a:solidFill>
                <a:latin typeface="Arial"/>
              </a:rPr>
              <a:t>Dùng luôn tin nhắn về tái khám miễn phí và bảo hành để hoàn thành các tin chăm sóc CD — hướng dẫn sử dụng (CD1), kiểm tra việc đeo kính của bé (CD3–CD7), thông tin kiểm soát cận thị (CD14) và kiểm tra sử dụng (CD30).</a:t>
            </a:r>
          </a:p>
        </p:txBody>
      </p:sp>
      <p:sp>
        <p:nvSpPr>
          <p:cNvPr id="31" name="Rectangle 30"/>
          <p:cNvSpPr/>
          <p:nvPr/>
        </p:nvSpPr>
        <p:spPr>
          <a:xfrm>
            <a:off x="6291072" y="4572000"/>
            <a:ext cx="5394960" cy="1133856"/>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Oval 31"/>
          <p:cNvSpPr/>
          <p:nvPr/>
        </p:nvSpPr>
        <p:spPr>
          <a:xfrm>
            <a:off x="6437376" y="4690872"/>
            <a:ext cx="237744" cy="237744"/>
          </a:xfrm>
          <a:prstGeom prst="ellipse">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3</a:t>
            </a:r>
          </a:p>
        </p:txBody>
      </p:sp>
      <p:sp>
        <p:nvSpPr>
          <p:cNvPr id="33" name="TextBox 32"/>
          <p:cNvSpPr txBox="1"/>
          <p:nvPr/>
        </p:nvSpPr>
        <p:spPr>
          <a:xfrm>
            <a:off x="6748272" y="4672584"/>
            <a:ext cx="4773168" cy="256032"/>
          </a:xfrm>
          <a:prstGeom prst="rect">
            <a:avLst/>
          </a:prstGeom>
          <a:noFill/>
        </p:spPr>
        <p:txBody>
          <a:bodyPr wrap="square" lIns="36576" tIns="18288" rIns="36576" bIns="18288" anchor="t">
            <a:spAutoFit/>
          </a:bodyPr>
          <a:lstStyle/>
          <a:p>
            <a:pPr algn="l">
              <a:lnSpc>
                <a:spcPct val="92000"/>
              </a:lnSpc>
              <a:spcBef>
                <a:spcPts val="0"/>
              </a:spcBef>
              <a:spcAft>
                <a:spcPts val="0"/>
              </a:spcAft>
            </a:pPr>
            <a:r>
              <a:rPr sz="1050" b="1" i="0" lang="vi-VN">
                <a:solidFill>
                  <a:srgbClr val="31633D"/>
                </a:solidFill>
                <a:latin typeface="Arial"/>
              </a:rPr>
              <a:t>Đề nghị giới thiệu thường xuyên hơn nhiều</a:t>
            </a:r>
          </a:p>
        </p:txBody>
      </p:sp>
      <p:sp>
        <p:nvSpPr>
          <p:cNvPr id="34" name="TextBox 33"/>
          <p:cNvSpPr txBox="1"/>
          <p:nvPr/>
        </p:nvSpPr>
        <p:spPr>
          <a:xfrm>
            <a:off x="6748272" y="4937760"/>
            <a:ext cx="4773168" cy="694944"/>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00" b="0" i="0" lang="vi-VN">
                <a:solidFill>
                  <a:srgbClr val="5C6B62"/>
                </a:solidFill>
                <a:latin typeface="Arial"/>
              </a:rPr>
              <a:t>Hãy đề nghị sau khi bạn đã giải quyết một vấn đề, đã giao kính tận nơi, hoặc sau khi khách cảm ơn bạn. Bạn không đề nghị thì khách sẽ không giới thiệu.</a:t>
            </a:r>
          </a:p>
        </p:txBody>
      </p:sp>
      <p:sp>
        <p:nvSpPr>
          <p:cNvPr id="35" name="Rectangle 34"/>
          <p:cNvSpPr/>
          <p:nvPr/>
        </p:nvSpPr>
        <p:spPr>
          <a:xfrm>
            <a:off x="502920" y="5779008"/>
            <a:ext cx="11183112" cy="420624"/>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lnSpc>
                <a:spcPct val="95000"/>
              </a:lnSpc>
              <a:spcBef>
                <a:spcPts val="0"/>
              </a:spcBef>
              <a:spcAft>
                <a:spcPts val="0"/>
              </a:spcAft>
            </a:pPr>
            <a:r>
              <a:rPr sz="950" b="1" lang="vi-VN">
                <a:solidFill>
                  <a:srgbClr val="2E9C4C"/>
                </a:solidFill>
                <a:latin typeface="Arial"/>
              </a:rPr>
              <a:t>Liên quan:  </a:t>
            </a:r>
            <a:r>
              <a:rPr sz="950" b="0" lang="vi-VN">
                <a:solidFill>
                  <a:srgbClr val="5C6B62"/>
                </a:solidFill>
                <a:latin typeface="Arial"/>
              </a:rPr>
              <a:t>Vấn đề ghi chú ngày nhận kính ở LA cũng chính là vấn đề ngày trên thẻ Zalo ở trang 8. Nếu không ghi lại ngày nhận kính, CRM không thể tính được thời điểm đến hạn chăm sóc.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2. KHUYẾN NGHỊ   |   KHUYẾN NGHỊ CHUNG</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Năm khuyến nghị cho tất cả chi nhánh</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4</a:t>
            </a:r>
          </a:p>
        </p:txBody>
      </p:sp>
      <p:sp>
        <p:nvSpPr>
          <p:cNvPr id="8" name="TextBox 7"/>
          <p:cNvSpPr txBox="1"/>
          <p:nvPr/>
        </p:nvSpPr>
        <p:spPr>
          <a:xfrm>
            <a:off x="502920" y="1261872"/>
            <a:ext cx="11183112" cy="219456"/>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00" b="0" i="1" lang="vi-VN">
                <a:solidFill>
                  <a:srgbClr val="5C6B62"/>
                </a:solidFill>
                <a:latin typeface="Arial"/>
              </a:rPr>
              <a:t>Năm điều này nói về trình tự và sự nhất quán: cùng một công việc, làm đúng thứ tự, với mọi khách hàng.</a:t>
            </a:r>
          </a:p>
        </p:txBody>
      </p:sp>
      <p:sp>
        <p:nvSpPr>
          <p:cNvPr id="9" name="Rectangle 8"/>
          <p:cNvSpPr/>
          <p:nvPr/>
        </p:nvSpPr>
        <p:spPr>
          <a:xfrm>
            <a:off x="502920" y="1591056"/>
            <a:ext cx="11183112" cy="78638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502920" y="1591056"/>
            <a:ext cx="50292" cy="7863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Oval 10"/>
          <p:cNvSpPr/>
          <p:nvPr/>
        </p:nvSpPr>
        <p:spPr>
          <a:xfrm>
            <a:off x="676656" y="1709928"/>
            <a:ext cx="274320" cy="274320"/>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1</a:t>
            </a:r>
          </a:p>
        </p:txBody>
      </p:sp>
      <p:sp>
        <p:nvSpPr>
          <p:cNvPr id="12" name="TextBox 11"/>
          <p:cNvSpPr txBox="1"/>
          <p:nvPr/>
        </p:nvSpPr>
        <p:spPr>
          <a:xfrm>
            <a:off x="1060704" y="1673352"/>
            <a:ext cx="4041648" cy="65836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50" b="1" i="0" lang="vi-VN">
                <a:solidFill>
                  <a:srgbClr val="31633D"/>
                </a:solidFill>
                <a:latin typeface="Arial"/>
              </a:rPr>
              <a:t>Thêm khách trên Zalo ngay tại D1, ngay sau khi khách đặt cọc</a:t>
            </a:r>
          </a:p>
        </p:txBody>
      </p:sp>
      <p:sp>
        <p:nvSpPr>
          <p:cNvPr id="13" name="TextBox 12"/>
          <p:cNvSpPr txBox="1"/>
          <p:nvPr/>
        </p:nvSpPr>
        <p:spPr>
          <a:xfrm>
            <a:off x="5175504" y="1673352"/>
            <a:ext cx="6437376" cy="676656"/>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lang="vi-VN">
                <a:solidFill>
                  <a:srgbClr val="5C6B62"/>
                </a:solidFill>
                <a:latin typeface="Arial"/>
              </a:rPr>
              <a:t>Đừng chờ đến ngày nhận kính. Khi khách vừa đặt cọc, hãy thêm khách trên Zalo, nói rõ tên và vị trí của bạn, và cho khách biết kính cần bao lâu.</a:t>
            </a:r>
          </a:p>
        </p:txBody>
      </p:sp>
      <p:sp>
        <p:nvSpPr>
          <p:cNvPr id="15" name="Rectangle 14"/>
          <p:cNvSpPr/>
          <p:nvPr/>
        </p:nvSpPr>
        <p:spPr>
          <a:xfrm>
            <a:off x="502920" y="2450591"/>
            <a:ext cx="11183112" cy="78638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502920" y="2450591"/>
            <a:ext cx="50292" cy="786384"/>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676656" y="2569463"/>
            <a:ext cx="274320" cy="274320"/>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2</a:t>
            </a:r>
          </a:p>
        </p:txBody>
      </p:sp>
      <p:sp>
        <p:nvSpPr>
          <p:cNvPr id="18" name="TextBox 17"/>
          <p:cNvSpPr txBox="1"/>
          <p:nvPr/>
        </p:nvSpPr>
        <p:spPr>
          <a:xfrm>
            <a:off x="1060704" y="2532887"/>
            <a:ext cx="4041648" cy="65836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50" b="1" i="0" lang="vi-VN">
                <a:solidFill>
                  <a:srgbClr val="31633D"/>
                </a:solidFill>
                <a:latin typeface="Arial"/>
              </a:rPr>
              <a:t>Gửi hướng dẫn sử dụng khi khách nhận kính. Gửi quyền lợi sau khi khách phản hồi</a:t>
            </a:r>
          </a:p>
        </p:txBody>
      </p:sp>
      <p:sp>
        <p:nvSpPr>
          <p:cNvPr id="19" name="TextBox 18"/>
          <p:cNvSpPr txBox="1"/>
          <p:nvPr/>
        </p:nvSpPr>
        <p:spPr>
          <a:xfrm>
            <a:off x="5175504" y="2532887"/>
            <a:ext cx="6437376" cy="664669"/>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dirty="0" lang="vi-VN">
                <a:solidFill>
                  <a:srgbClr val="5C6B62"/>
                </a:solidFill>
                <a:latin typeface="Arial"/>
              </a:rPr>
              <a:t>Gửi hướng dẫn sử dụng ngay trong ngày khách nhận kính. Chỉ gửi quyền lợi thành viên sau khi khách đã phản hồi. Đừng để tin quyền lợi là tin nhắn cuối cùng.</a:t>
            </a:r>
          </a:p>
          <a:p>
            <a:pPr>
              <a:lnSpc>
                <a:spcPct val="96000"/>
              </a:lnSpc>
              <a:spcAft>
                <a:spcPts val="0"/>
              </a:spcAft>
            </a:pPr>
            <a:endParaRPr lang="en-SG" sz="850" dirty="0">
              <a:solidFill>
                <a:srgbClr val="5C6B62"/>
              </a:solidFill>
              <a:latin typeface="Arial"/>
            </a:endParaRPr>
          </a:p>
          <a:p>
            <a:pPr>
              <a:lnSpc>
                <a:spcPct val="96000"/>
              </a:lnSpc>
              <a:spcAft>
                <a:spcPts val="0"/>
              </a:spcAft>
            </a:pPr>
            <a:r>
              <a:rPr sz="850" dirty="0" lang="vi-VN">
                <a:solidFill>
                  <a:srgbClr val="5C6B62"/>
                </a:solidFill>
                <a:latin typeface="Arial"/>
              </a:rPr>
              <a:t>Tin quyền lợi gửi khi khách chưa phản hồi trông giống quảng cáo. Tin quyền lợi gửi sau khi khách đã phản hồi sẽ tự nhiên hơn, và khách thành viên cũng dễ đọc và cân nhắc hơn. </a:t>
            </a:r>
            <a:r>
              <a:rPr lang="vi-VN" sz="850" dirty="0">
                <a:solidFill>
                  <a:srgbClr val="5C6B62"/>
                </a:solidFill>
                <a:latin typeface="Arial"/>
              </a:rPr>
              <a:t/>
            </a:r>
            <a:r>
              <a:rPr sz="850" dirty="0" lang="vi-VN">
                <a:solidFill>
                  <a:srgbClr val="5C6B62"/>
                </a:solidFill>
                <a:latin typeface="Arial"/>
              </a:rPr>
              <a:t/>
            </a:r>
            <a:r>
              <a:rPr lang="vi-VN" sz="850" dirty="0">
                <a:solidFill>
                  <a:srgbClr val="5C6B62"/>
                </a:solidFill>
                <a:latin typeface="Arial"/>
              </a:rPr>
              <a:t/>
            </a:r>
            <a:endParaRPr sz="850" dirty="0">
              <a:solidFill>
                <a:srgbClr val="5C6B62"/>
              </a:solidFill>
              <a:latin typeface="Arial"/>
            </a:endParaRPr>
          </a:p>
        </p:txBody>
      </p:sp>
      <p:sp>
        <p:nvSpPr>
          <p:cNvPr id="21" name="Rectangle 20"/>
          <p:cNvSpPr/>
          <p:nvPr/>
        </p:nvSpPr>
        <p:spPr>
          <a:xfrm>
            <a:off x="502920" y="3310127"/>
            <a:ext cx="11183112" cy="78638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502920" y="3310127"/>
            <a:ext cx="50292" cy="786384"/>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Oval 22"/>
          <p:cNvSpPr/>
          <p:nvPr/>
        </p:nvSpPr>
        <p:spPr>
          <a:xfrm>
            <a:off x="676656" y="3428999"/>
            <a:ext cx="274320" cy="274320"/>
          </a:xfrm>
          <a:prstGeom prst="ellipse">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3</a:t>
            </a:r>
          </a:p>
        </p:txBody>
      </p:sp>
      <p:sp>
        <p:nvSpPr>
          <p:cNvPr id="24" name="TextBox 23"/>
          <p:cNvSpPr txBox="1"/>
          <p:nvPr/>
        </p:nvSpPr>
        <p:spPr>
          <a:xfrm>
            <a:off x="1060704" y="3392423"/>
            <a:ext cx="4041648" cy="65836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50" b="1" i="0" lang="vi-VN">
                <a:solidFill>
                  <a:srgbClr val="31633D"/>
                </a:solidFill>
                <a:latin typeface="Arial"/>
              </a:rPr>
              <a:t>Trao đổi trực tiếp với khách khi khách đến nhận kính</a:t>
            </a:r>
          </a:p>
        </p:txBody>
      </p:sp>
      <p:sp>
        <p:nvSpPr>
          <p:cNvPr id="25" name="TextBox 24"/>
          <p:cNvSpPr txBox="1"/>
          <p:nvPr/>
        </p:nvSpPr>
        <p:spPr>
          <a:xfrm>
            <a:off x="5175504" y="3392423"/>
            <a:ext cx="6437376" cy="288028"/>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dirty="0" lang="vi-VN">
                <a:solidFill>
                  <a:srgbClr val="5C6B62"/>
                </a:solidFill>
                <a:latin typeface="Arial"/>
              </a:rPr>
              <a:t>Hãy tự giới thiệu tại quầy và giải thích quyền lợi thành viên trực tiếp, không chỉ qua tin nhắn. Đây là cơ hội để bạn xây dựng niềm tin và sự gắn kết với phụ huynh. </a:t>
            </a:r>
            <a:r>
              <a:rPr lang="vi-VN" sz="850" b="0" i="0" dirty="0">
                <a:solidFill>
                  <a:srgbClr val="5C6B62"/>
                </a:solidFill>
                <a:latin typeface="Arial"/>
              </a:rPr>
              <a:t/>
            </a:r>
            <a:endParaRPr sz="850" b="0" i="0" dirty="0">
              <a:solidFill>
                <a:srgbClr val="5C6B62"/>
              </a:solidFill>
              <a:latin typeface="Arial"/>
            </a:endParaRPr>
          </a:p>
        </p:txBody>
      </p:sp>
      <p:sp>
        <p:nvSpPr>
          <p:cNvPr id="27" name="Rectangle 26"/>
          <p:cNvSpPr/>
          <p:nvPr/>
        </p:nvSpPr>
        <p:spPr>
          <a:xfrm>
            <a:off x="502920" y="4169663"/>
            <a:ext cx="11183112" cy="78638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502920" y="4169663"/>
            <a:ext cx="50292" cy="786384"/>
          </a:xfrm>
          <a:prstGeom prst="rect">
            <a:avLst/>
          </a:prstGeom>
          <a:solidFill>
            <a:srgbClr val="D960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676656" y="4288536"/>
            <a:ext cx="274320" cy="274320"/>
          </a:xfrm>
          <a:prstGeom prst="ellipse">
            <a:avLst/>
          </a:prstGeom>
          <a:solidFill>
            <a:srgbClr val="D9601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4</a:t>
            </a:r>
          </a:p>
        </p:txBody>
      </p:sp>
      <p:sp>
        <p:nvSpPr>
          <p:cNvPr id="30" name="TextBox 29"/>
          <p:cNvSpPr txBox="1"/>
          <p:nvPr/>
        </p:nvSpPr>
        <p:spPr>
          <a:xfrm>
            <a:off x="1060704" y="4251959"/>
            <a:ext cx="4041648" cy="340734"/>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50" b="1" i="0" dirty="0" lang="vi-VN">
                <a:solidFill>
                  <a:srgbClr val="31633D"/>
                </a:solidFill>
                <a:latin typeface="Arial"/>
              </a:rPr>
              <a:t>Nếu khách không phản hồi, chúng ta vẫn nên nhắn tin một cách chu đáo</a:t>
            </a:r>
            <a:r>
              <a:rPr lang="vi-VN" sz="1050" b="1" dirty="0">
                <a:solidFill>
                  <a:srgbClr val="31633D"/>
                </a:solidFill>
                <a:latin typeface="Arial"/>
              </a:rPr>
              <a:t/>
            </a:r>
            <a:r>
              <a:rPr sz="1050" b="1" i="0" dirty="0" lang="vi-VN">
                <a:solidFill>
                  <a:srgbClr val="31633D"/>
                </a:solidFill>
                <a:latin typeface="Arial"/>
              </a:rPr>
              <a:t/>
            </a:r>
            <a:r>
              <a:rPr lang="vi-VN" sz="1050" b="1" i="0" dirty="0">
                <a:solidFill>
                  <a:srgbClr val="31633D"/>
                </a:solidFill>
                <a:latin typeface="Arial"/>
              </a:rPr>
              <a:t/>
            </a:r>
            <a:endParaRPr sz="1050" b="1" i="0" dirty="0">
              <a:solidFill>
                <a:srgbClr val="31633D"/>
              </a:solidFill>
              <a:latin typeface="Arial"/>
            </a:endParaRPr>
          </a:p>
        </p:txBody>
      </p:sp>
      <p:sp>
        <p:nvSpPr>
          <p:cNvPr id="31" name="TextBox 30"/>
          <p:cNvSpPr txBox="1"/>
          <p:nvPr/>
        </p:nvSpPr>
        <p:spPr>
          <a:xfrm>
            <a:off x="5175504" y="4251959"/>
            <a:ext cx="6437376" cy="288028"/>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dirty="0" lang="vi-VN">
                <a:solidFill>
                  <a:srgbClr val="5C6B62"/>
                </a:solidFill>
                <a:latin typeface="Arial"/>
              </a:rPr>
              <a:t>Khách không trả lời không có nghĩa là dừng lại. Chúng ta có thể hỏi kính có vừa vặn không, và gửi cho khách kiến thức cơ bản về sử dụng kính cùng thông tin kiểm soát cận thị.</a:t>
            </a:r>
            <a:r>
              <a:rPr lang="vi-VN" sz="850" b="0" i="0" dirty="0">
                <a:solidFill>
                  <a:srgbClr val="5C6B62"/>
                </a:solidFill>
                <a:latin typeface="Arial"/>
              </a:rPr>
              <a:t/>
            </a:r>
            <a:r>
              <a:rPr sz="850" b="0" i="0" dirty="0" lang="vi-VN">
                <a:solidFill>
                  <a:srgbClr val="5C6B62"/>
                </a:solidFill>
                <a:latin typeface="Arial"/>
              </a:rPr>
              <a:t/>
            </a:r>
          </a:p>
        </p:txBody>
      </p:sp>
      <p:sp>
        <p:nvSpPr>
          <p:cNvPr id="33" name="Rectangle 32"/>
          <p:cNvSpPr/>
          <p:nvPr/>
        </p:nvSpPr>
        <p:spPr>
          <a:xfrm>
            <a:off x="502920" y="5029200"/>
            <a:ext cx="11183112" cy="78638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Rectangle 33"/>
          <p:cNvSpPr/>
          <p:nvPr/>
        </p:nvSpPr>
        <p:spPr>
          <a:xfrm>
            <a:off x="502920" y="5029200"/>
            <a:ext cx="50292" cy="786384"/>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Oval 34"/>
          <p:cNvSpPr/>
          <p:nvPr/>
        </p:nvSpPr>
        <p:spPr>
          <a:xfrm>
            <a:off x="676656" y="5148072"/>
            <a:ext cx="274320" cy="274320"/>
          </a:xfrm>
          <a:prstGeom prst="ellipse">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5</a:t>
            </a:r>
          </a:p>
        </p:txBody>
      </p:sp>
      <p:sp>
        <p:nvSpPr>
          <p:cNvPr id="36" name="TextBox 35"/>
          <p:cNvSpPr txBox="1"/>
          <p:nvPr/>
        </p:nvSpPr>
        <p:spPr>
          <a:xfrm>
            <a:off x="1060704" y="5111496"/>
            <a:ext cx="4041648" cy="65836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50" b="1" i="0" lang="vi-VN">
                <a:solidFill>
                  <a:srgbClr val="31633D"/>
                </a:solidFill>
                <a:latin typeface="Arial"/>
              </a:rPr>
              <a:t>Gửi tin chăm sóc theo đúng tần suất mà sản phẩm yêu cầu</a:t>
            </a:r>
          </a:p>
        </p:txBody>
      </p:sp>
      <p:sp>
        <p:nvSpPr>
          <p:cNvPr id="37" name="TextBox 36"/>
          <p:cNvSpPr txBox="1"/>
          <p:nvPr/>
        </p:nvSpPr>
        <p:spPr>
          <a:xfrm>
            <a:off x="5175504" y="5111496"/>
            <a:ext cx="6437376" cy="676656"/>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lang="vi-VN">
                <a:solidFill>
                  <a:srgbClr val="5C6B62"/>
                </a:solidFill>
                <a:latin typeface="Arial"/>
              </a:rPr>
              <a:t>Mọi khách hàng, tại mọi mốc mà sản phẩm yêu cầu — không chỉ một số khách, và không chỉ những mốc dễ làm.</a:t>
            </a:r>
          </a:p>
        </p:txBody>
      </p:sp>
      <p:sp>
        <p:nvSpPr>
          <p:cNvPr id="39" name="Rectangle 38"/>
          <p:cNvSpPr/>
          <p:nvPr/>
        </p:nvSpPr>
        <p:spPr>
          <a:xfrm>
            <a:off x="502920" y="5961888"/>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571500" y="5961888"/>
            <a:ext cx="11117549"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100" b="1" i="0" dirty="0" lang="vi-VN">
                <a:solidFill>
                  <a:srgbClr val="31633D"/>
                </a:solidFill>
                <a:latin typeface="Arial"/>
              </a:rPr>
              <a:t>Khuyến nghị số 5 phụ thuộc vào sản phẩm. Trang 5 nêu rõ những yêu cầu cụ thể.</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3. CHĂM SÓC BẮT BUỘC   |   CHĂM SÓC BẮT BUỘC</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Chăm sóc bắt buộc theo từng sản phẩm</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5</a:t>
            </a:r>
          </a:p>
        </p:txBody>
      </p:sp>
      <p:sp>
        <p:nvSpPr>
          <p:cNvPr id="8" name="TextBox 7"/>
          <p:cNvSpPr txBox="1"/>
          <p:nvPr/>
        </p:nvSpPr>
        <p:spPr>
          <a:xfrm>
            <a:off x="502920" y="1261872"/>
            <a:ext cx="11183112" cy="201168"/>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00" b="0" i="1" lang="vi-VN">
                <a:solidFill>
                  <a:srgbClr val="5C6B62"/>
                </a:solidFill>
                <a:latin typeface="Arial"/>
              </a:rPr>
              <a:t>Tìm cột sản phẩm và đọc xuống. Dấu gạch ngang nghĩa là mốc chăm sóc đó không áp dụng cho sản phẩm này, nên chưa bao giờ đến hạn.</a:t>
            </a:r>
          </a:p>
        </p:txBody>
      </p:sp>
      <p:sp>
        <p:nvSpPr>
          <p:cNvPr id="9" name="Rectangle 8"/>
          <p:cNvSpPr/>
          <p:nvPr/>
        </p:nvSpPr>
        <p:spPr>
          <a:xfrm>
            <a:off x="502920" y="1481328"/>
            <a:ext cx="1335024" cy="347472"/>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576072" y="1554480"/>
            <a:ext cx="1188720" cy="219456"/>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1" i="0" lang="vi-VN">
                <a:solidFill>
                  <a:srgbClr val="FFFFFF"/>
                </a:solidFill>
                <a:latin typeface="Arial"/>
              </a:rPr>
              <a:t>MỐC CHĂM SÓC</a:t>
            </a:r>
          </a:p>
        </p:txBody>
      </p:sp>
      <p:sp>
        <p:nvSpPr>
          <p:cNvPr id="11" name="Rectangle 10"/>
          <p:cNvSpPr/>
          <p:nvPr/>
        </p:nvSpPr>
        <p:spPr>
          <a:xfrm>
            <a:off x="1837943" y="1481328"/>
            <a:ext cx="3282696" cy="347472"/>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874519" y="1545336"/>
            <a:ext cx="3209544" cy="237744"/>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150" b="1" i="0" lang="vi-VN">
                <a:solidFill>
                  <a:srgbClr val="FFFFFF"/>
                </a:solidFill>
                <a:latin typeface="Arial"/>
              </a:rPr>
              <a:t>MC</a:t>
            </a:r>
          </a:p>
        </p:txBody>
      </p:sp>
      <p:sp>
        <p:nvSpPr>
          <p:cNvPr id="13" name="Rectangle 12"/>
          <p:cNvSpPr/>
          <p:nvPr/>
        </p:nvSpPr>
        <p:spPr>
          <a:xfrm>
            <a:off x="5120640" y="1481328"/>
            <a:ext cx="3282696" cy="347472"/>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5157216" y="1545336"/>
            <a:ext cx="3209544" cy="237744"/>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150" b="1" i="0" lang="vi-VN">
                <a:solidFill>
                  <a:srgbClr val="FFFFFF"/>
                </a:solidFill>
                <a:latin typeface="Arial"/>
              </a:rPr>
              <a:t>Kính</a:t>
            </a:r>
          </a:p>
        </p:txBody>
      </p:sp>
      <p:sp>
        <p:nvSpPr>
          <p:cNvPr id="15" name="Rectangle 14"/>
          <p:cNvSpPr/>
          <p:nvPr/>
        </p:nvSpPr>
        <p:spPr>
          <a:xfrm>
            <a:off x="8403336" y="1481328"/>
            <a:ext cx="3282696" cy="347472"/>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439911" y="1545336"/>
            <a:ext cx="3209544" cy="237744"/>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1150" b="1" i="0" lang="vi-VN">
                <a:solidFill>
                  <a:srgbClr val="FFFFFF"/>
                </a:solidFill>
                <a:latin typeface="Arial"/>
              </a:rPr>
              <a:t>Ortho-K</a:t>
            </a:r>
          </a:p>
        </p:txBody>
      </p:sp>
      <p:sp>
        <p:nvSpPr>
          <p:cNvPr id="17" name="Rectangle 16"/>
          <p:cNvSpPr/>
          <p:nvPr/>
        </p:nvSpPr>
        <p:spPr>
          <a:xfrm>
            <a:off x="502920" y="1828800"/>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576072" y="1851660"/>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D1</a:t>
            </a:r>
          </a:p>
        </p:txBody>
      </p:sp>
      <p:sp>
        <p:nvSpPr>
          <p:cNvPr id="19" name="TextBox 18"/>
          <p:cNvSpPr txBox="1"/>
          <p:nvPr/>
        </p:nvSpPr>
        <p:spPr>
          <a:xfrm>
            <a:off x="576072" y="1979676"/>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ngày đặt cọc</a:t>
            </a:r>
          </a:p>
        </p:txBody>
      </p:sp>
      <p:sp>
        <p:nvSpPr>
          <p:cNvPr id="20" name="Rectangle 19"/>
          <p:cNvSpPr/>
          <p:nvPr/>
        </p:nvSpPr>
        <p:spPr>
          <a:xfrm>
            <a:off x="1837943" y="1828800"/>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1837943" y="1828800"/>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1929384" y="185440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Gửi tin giới thiệu bản thân; cho khách biết kính cần bao lâu</a:t>
            </a:r>
          </a:p>
        </p:txBody>
      </p:sp>
      <p:sp>
        <p:nvSpPr>
          <p:cNvPr id="23" name="Rectangle 22"/>
          <p:cNvSpPr/>
          <p:nvPr/>
        </p:nvSpPr>
        <p:spPr>
          <a:xfrm>
            <a:off x="5120640" y="1828800"/>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5120640" y="1828800"/>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5212079" y="185440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Gửi tin giới thiệu bản thân; cho khách biết kính cần bao lâu</a:t>
            </a:r>
          </a:p>
        </p:txBody>
      </p:sp>
      <p:sp>
        <p:nvSpPr>
          <p:cNvPr id="26" name="Rectangle 25"/>
          <p:cNvSpPr/>
          <p:nvPr/>
        </p:nvSpPr>
        <p:spPr>
          <a:xfrm>
            <a:off x="8403336" y="1828800"/>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p:cNvSpPr/>
          <p:nvPr/>
        </p:nvSpPr>
        <p:spPr>
          <a:xfrm>
            <a:off x="8403336" y="1828800"/>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8494776" y="185440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Gửi tin giới thiệu bản thân; cho khách biết kính áp tròng cần bao lâu</a:t>
            </a:r>
          </a:p>
        </p:txBody>
      </p:sp>
      <p:sp>
        <p:nvSpPr>
          <p:cNvPr id="29" name="Rectangle 28"/>
          <p:cNvSpPr/>
          <p:nvPr/>
        </p:nvSpPr>
        <p:spPr>
          <a:xfrm>
            <a:off x="502920" y="2098548"/>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576072" y="2121408"/>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D6-7</a:t>
            </a:r>
          </a:p>
        </p:txBody>
      </p:sp>
      <p:sp>
        <p:nvSpPr>
          <p:cNvPr id="31" name="TextBox 30"/>
          <p:cNvSpPr txBox="1"/>
          <p:nvPr/>
        </p:nvSpPr>
        <p:spPr>
          <a:xfrm>
            <a:off x="576072" y="2249424"/>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kiểm tra tiến độ</a:t>
            </a:r>
          </a:p>
        </p:txBody>
      </p:sp>
      <p:sp>
        <p:nvSpPr>
          <p:cNvPr id="32" name="Rectangle 31"/>
          <p:cNvSpPr/>
          <p:nvPr/>
        </p:nvSpPr>
        <p:spPr>
          <a:xfrm>
            <a:off x="1837943" y="2098548"/>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ectangle 32"/>
          <p:cNvSpPr/>
          <p:nvPr/>
        </p:nvSpPr>
        <p:spPr>
          <a:xfrm>
            <a:off x="1837943" y="2098548"/>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1929384" y="212415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Nếu đã xong: báo khách trong 4 giờ và hẹn ngày nhận kính. Nếu chưa xong: nói rõ kính đang được làm, sẽ cập nhật sau</a:t>
            </a:r>
          </a:p>
        </p:txBody>
      </p:sp>
      <p:sp>
        <p:nvSpPr>
          <p:cNvPr id="35" name="Rectangle 34"/>
          <p:cNvSpPr/>
          <p:nvPr/>
        </p:nvSpPr>
        <p:spPr>
          <a:xfrm>
            <a:off x="5120640" y="2098548"/>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5120640" y="2098548"/>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5212079" y="212415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Nếu đã xong: báo khách trong 4 giờ và hẹn ngày nhận kính. Nếu chưa xong: nói rõ kính đang được làm, sẽ cập nhật sau</a:t>
            </a:r>
          </a:p>
        </p:txBody>
      </p:sp>
      <p:sp>
        <p:nvSpPr>
          <p:cNvPr id="38" name="Rectangle 37"/>
          <p:cNvSpPr/>
          <p:nvPr/>
        </p:nvSpPr>
        <p:spPr>
          <a:xfrm>
            <a:off x="8403336" y="2098548"/>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ectangle 38"/>
          <p:cNvSpPr/>
          <p:nvPr/>
        </p:nvSpPr>
        <p:spPr>
          <a:xfrm>
            <a:off x="8403336" y="2098548"/>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8494776" y="212415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Nếu đã xong: báo khách trong 4 giờ và hẹn ngày nhận kính. Nếu chưa xong: nói rõ kính đang được làm, sẽ cập nhật sau</a:t>
            </a:r>
          </a:p>
        </p:txBody>
      </p:sp>
      <p:sp>
        <p:nvSpPr>
          <p:cNvPr id="41" name="Rectangle 40"/>
          <p:cNvSpPr/>
          <p:nvPr/>
        </p:nvSpPr>
        <p:spPr>
          <a:xfrm>
            <a:off x="502920" y="2368296"/>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576072" y="2391156"/>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a:t>
            </a:r>
          </a:p>
        </p:txBody>
      </p:sp>
      <p:sp>
        <p:nvSpPr>
          <p:cNvPr id="43" name="TextBox 42"/>
          <p:cNvSpPr txBox="1"/>
          <p:nvPr/>
        </p:nvSpPr>
        <p:spPr>
          <a:xfrm>
            <a:off x="576072" y="2519172"/>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ngày nhận kính</a:t>
            </a:r>
          </a:p>
        </p:txBody>
      </p:sp>
      <p:sp>
        <p:nvSpPr>
          <p:cNvPr id="44" name="Rectangle 43"/>
          <p:cNvSpPr/>
          <p:nvPr/>
        </p:nvSpPr>
        <p:spPr>
          <a:xfrm>
            <a:off x="1837943" y="2368296"/>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Rectangle 44"/>
          <p:cNvSpPr/>
          <p:nvPr/>
        </p:nvSpPr>
        <p:spPr>
          <a:xfrm>
            <a:off x="1837943" y="2368296"/>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1929384" y="2393899"/>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Gửi hướng dẫn sử dụng; gửi quyền lợi sau khi khách phản hồi; đề nghị giới thiệu</a:t>
            </a:r>
          </a:p>
        </p:txBody>
      </p:sp>
      <p:sp>
        <p:nvSpPr>
          <p:cNvPr id="47" name="Rectangle 46"/>
          <p:cNvSpPr/>
          <p:nvPr/>
        </p:nvSpPr>
        <p:spPr>
          <a:xfrm>
            <a:off x="5120640" y="2368296"/>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Rectangle 47"/>
          <p:cNvSpPr/>
          <p:nvPr/>
        </p:nvSpPr>
        <p:spPr>
          <a:xfrm>
            <a:off x="5120640" y="2368296"/>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5212079" y="2393899"/>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Gửi hướng dẫn sử dụng; gửi quyền lợi sau khi khách phản hồi; đề nghị giới thiệu</a:t>
            </a:r>
          </a:p>
        </p:txBody>
      </p:sp>
      <p:sp>
        <p:nvSpPr>
          <p:cNvPr id="50" name="Rectangle 49"/>
          <p:cNvSpPr/>
          <p:nvPr/>
        </p:nvSpPr>
        <p:spPr>
          <a:xfrm>
            <a:off x="8403336" y="2368296"/>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Rectangle 50"/>
          <p:cNvSpPr/>
          <p:nvPr/>
        </p:nvSpPr>
        <p:spPr>
          <a:xfrm>
            <a:off x="8403336" y="2368296"/>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8494776" y="2393899"/>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Gửi hướng dẫn sử dụng; gửi quyền lợi sau khi khách phản hồi; đề nghị giới thiệu</a:t>
            </a:r>
          </a:p>
        </p:txBody>
      </p:sp>
      <p:sp>
        <p:nvSpPr>
          <p:cNvPr id="53" name="Rectangle 52"/>
          <p:cNvSpPr/>
          <p:nvPr/>
        </p:nvSpPr>
        <p:spPr>
          <a:xfrm>
            <a:off x="502920" y="2638044"/>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TextBox 53"/>
          <p:cNvSpPr txBox="1"/>
          <p:nvPr/>
        </p:nvSpPr>
        <p:spPr>
          <a:xfrm>
            <a:off x="576072" y="2660903"/>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CDN</a:t>
            </a:r>
          </a:p>
        </p:txBody>
      </p:sp>
      <p:sp>
        <p:nvSpPr>
          <p:cNvPr id="55" name="TextBox 54"/>
          <p:cNvSpPr txBox="1"/>
          <p:nvPr/>
        </p:nvSpPr>
        <p:spPr>
          <a:xfrm>
            <a:off x="576072" y="2788920"/>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tối ngày nhận kính</a:t>
            </a:r>
          </a:p>
        </p:txBody>
      </p:sp>
      <p:sp>
        <p:nvSpPr>
          <p:cNvPr id="56" name="Rectangle 55"/>
          <p:cNvSpPr/>
          <p:nvPr/>
        </p:nvSpPr>
        <p:spPr>
          <a:xfrm>
            <a:off x="1837943" y="2638044"/>
            <a:ext cx="3282696" cy="269748"/>
          </a:xfrm>
          <a:prstGeom prst="rect">
            <a:avLst/>
          </a:prstGeom>
          <a:solidFill>
            <a:srgbClr val="F1F2F1"/>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TextBox 56"/>
          <p:cNvSpPr txBox="1"/>
          <p:nvPr/>
        </p:nvSpPr>
        <p:spPr>
          <a:xfrm>
            <a:off x="1874519" y="2711196"/>
            <a:ext cx="3209544" cy="15544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700" b="0" i="1" lang="vi-VN">
                <a:solidFill>
                  <a:srgbClr val="AEB8B2"/>
                </a:solidFill>
                <a:latin typeface="Arial"/>
              </a:rPr>
              <a:t>—  không áp dụng</a:t>
            </a:r>
          </a:p>
        </p:txBody>
      </p:sp>
      <p:sp>
        <p:nvSpPr>
          <p:cNvPr id="58" name="Rectangle 57"/>
          <p:cNvSpPr/>
          <p:nvPr/>
        </p:nvSpPr>
        <p:spPr>
          <a:xfrm>
            <a:off x="5120640" y="2638044"/>
            <a:ext cx="3282696" cy="269748"/>
          </a:xfrm>
          <a:prstGeom prst="rect">
            <a:avLst/>
          </a:prstGeom>
          <a:solidFill>
            <a:srgbClr val="F1F2F1"/>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TextBox 58"/>
          <p:cNvSpPr txBox="1"/>
          <p:nvPr/>
        </p:nvSpPr>
        <p:spPr>
          <a:xfrm>
            <a:off x="5157216" y="2711196"/>
            <a:ext cx="3209544" cy="15544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700" b="0" i="1" lang="vi-VN">
                <a:solidFill>
                  <a:srgbClr val="AEB8B2"/>
                </a:solidFill>
                <a:latin typeface="Arial"/>
              </a:rPr>
              <a:t>—  không áp dụng</a:t>
            </a:r>
          </a:p>
        </p:txBody>
      </p:sp>
      <p:sp>
        <p:nvSpPr>
          <p:cNvPr id="60" name="Rectangle 59"/>
          <p:cNvSpPr/>
          <p:nvPr/>
        </p:nvSpPr>
        <p:spPr>
          <a:xfrm>
            <a:off x="8403336" y="2638044"/>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1" name="Rectangle 60"/>
          <p:cNvSpPr/>
          <p:nvPr/>
        </p:nvSpPr>
        <p:spPr>
          <a:xfrm>
            <a:off x="8403336" y="2638044"/>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8494776" y="2663647"/>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Hỏi về lần đeo Ortho-K đầu tiên; hỗ trợ điều chỉnh nếu chưa vừa</a:t>
            </a:r>
          </a:p>
        </p:txBody>
      </p:sp>
      <p:sp>
        <p:nvSpPr>
          <p:cNvPr id="63" name="Rectangle 62"/>
          <p:cNvSpPr/>
          <p:nvPr/>
        </p:nvSpPr>
        <p:spPr>
          <a:xfrm>
            <a:off x="502920" y="2907791"/>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TextBox 63"/>
          <p:cNvSpPr txBox="1"/>
          <p:nvPr/>
        </p:nvSpPr>
        <p:spPr>
          <a:xfrm>
            <a:off x="576072" y="2930651"/>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CD+1</a:t>
            </a:r>
          </a:p>
        </p:txBody>
      </p:sp>
      <p:sp>
        <p:nvSpPr>
          <p:cNvPr id="65" name="TextBox 64"/>
          <p:cNvSpPr txBox="1"/>
          <p:nvPr/>
        </p:nvSpPr>
        <p:spPr>
          <a:xfrm>
            <a:off x="576072" y="3058668"/>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ngày kế tiếp</a:t>
            </a:r>
          </a:p>
        </p:txBody>
      </p:sp>
      <p:sp>
        <p:nvSpPr>
          <p:cNvPr id="66" name="Rectangle 65"/>
          <p:cNvSpPr/>
          <p:nvPr/>
        </p:nvSpPr>
        <p:spPr>
          <a:xfrm>
            <a:off x="1837943" y="2907791"/>
            <a:ext cx="3282696" cy="269748"/>
          </a:xfrm>
          <a:prstGeom prst="rect">
            <a:avLst/>
          </a:prstGeom>
          <a:solidFill>
            <a:srgbClr val="F1F2F1"/>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7" name="TextBox 66"/>
          <p:cNvSpPr txBox="1"/>
          <p:nvPr/>
        </p:nvSpPr>
        <p:spPr>
          <a:xfrm>
            <a:off x="1874519" y="2980944"/>
            <a:ext cx="3209544" cy="15544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700" b="0" i="1" lang="vi-VN">
                <a:solidFill>
                  <a:srgbClr val="AEB8B2"/>
                </a:solidFill>
                <a:latin typeface="Arial"/>
              </a:rPr>
              <a:t>—  không áp dụng</a:t>
            </a:r>
          </a:p>
        </p:txBody>
      </p:sp>
      <p:sp>
        <p:nvSpPr>
          <p:cNvPr id="68" name="Rectangle 67"/>
          <p:cNvSpPr/>
          <p:nvPr/>
        </p:nvSpPr>
        <p:spPr>
          <a:xfrm>
            <a:off x="5120640" y="2907791"/>
            <a:ext cx="3282696" cy="269748"/>
          </a:xfrm>
          <a:prstGeom prst="rect">
            <a:avLst/>
          </a:prstGeom>
          <a:solidFill>
            <a:srgbClr val="F1F2F1"/>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9" name="TextBox 68"/>
          <p:cNvSpPr txBox="1"/>
          <p:nvPr/>
        </p:nvSpPr>
        <p:spPr>
          <a:xfrm>
            <a:off x="5157216" y="2980944"/>
            <a:ext cx="3209544" cy="15544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700" b="0" i="1" lang="vi-VN">
                <a:solidFill>
                  <a:srgbClr val="AEB8B2"/>
                </a:solidFill>
                <a:latin typeface="Arial"/>
              </a:rPr>
              <a:t>—  không áp dụng</a:t>
            </a:r>
          </a:p>
        </p:txBody>
      </p:sp>
      <p:sp>
        <p:nvSpPr>
          <p:cNvPr id="70" name="Rectangle 69"/>
          <p:cNvSpPr/>
          <p:nvPr/>
        </p:nvSpPr>
        <p:spPr>
          <a:xfrm>
            <a:off x="8403336" y="2907791"/>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1" name="Rectangle 70"/>
          <p:cNvSpPr/>
          <p:nvPr/>
        </p:nvSpPr>
        <p:spPr>
          <a:xfrm>
            <a:off x="8403336" y="2907791"/>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TextBox 71"/>
          <p:cNvSpPr txBox="1"/>
          <p:nvPr/>
        </p:nvSpPr>
        <p:spPr>
          <a:xfrm>
            <a:off x="8494776" y="2933395"/>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đêm đầu tiên diễn ra thế nào; đề nghị giới thiệu</a:t>
            </a:r>
          </a:p>
        </p:txBody>
      </p:sp>
      <p:sp>
        <p:nvSpPr>
          <p:cNvPr id="73" name="Rectangle 72"/>
          <p:cNvSpPr/>
          <p:nvPr/>
        </p:nvSpPr>
        <p:spPr>
          <a:xfrm>
            <a:off x="502920" y="3177539"/>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4" name="TextBox 73"/>
          <p:cNvSpPr txBox="1"/>
          <p:nvPr/>
        </p:nvSpPr>
        <p:spPr>
          <a:xfrm>
            <a:off x="576072" y="3200399"/>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CD+3-5</a:t>
            </a:r>
          </a:p>
        </p:txBody>
      </p:sp>
      <p:sp>
        <p:nvSpPr>
          <p:cNvPr id="75" name="TextBox 74"/>
          <p:cNvSpPr txBox="1"/>
          <p:nvPr/>
        </p:nvSpPr>
        <p:spPr>
          <a:xfrm>
            <a:off x="576072" y="3328415"/>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hỏi thăm</a:t>
            </a:r>
          </a:p>
        </p:txBody>
      </p:sp>
      <p:sp>
        <p:nvSpPr>
          <p:cNvPr id="76" name="Rectangle 75"/>
          <p:cNvSpPr/>
          <p:nvPr/>
        </p:nvSpPr>
        <p:spPr>
          <a:xfrm>
            <a:off x="1837943" y="3177539"/>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7" name="Rectangle 76"/>
          <p:cNvSpPr/>
          <p:nvPr/>
        </p:nvSpPr>
        <p:spPr>
          <a:xfrm>
            <a:off x="1837943" y="3177539"/>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8" name="TextBox 77"/>
          <p:cNvSpPr txBox="1"/>
          <p:nvPr/>
        </p:nvSpPr>
        <p:spPr>
          <a:xfrm>
            <a:off x="1929384" y="320314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Hỏi xem bé thích nghi thế nào; đề nghị giới thiệu sau khi khách phản hồi</a:t>
            </a:r>
          </a:p>
        </p:txBody>
      </p:sp>
      <p:sp>
        <p:nvSpPr>
          <p:cNvPr id="79" name="Rectangle 78"/>
          <p:cNvSpPr/>
          <p:nvPr/>
        </p:nvSpPr>
        <p:spPr>
          <a:xfrm>
            <a:off x="5120640" y="3177539"/>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0" name="Rectangle 79"/>
          <p:cNvSpPr/>
          <p:nvPr/>
        </p:nvSpPr>
        <p:spPr>
          <a:xfrm>
            <a:off x="5120640" y="3177539"/>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p:cNvSpPr txBox="1"/>
          <p:nvPr/>
        </p:nvSpPr>
        <p:spPr>
          <a:xfrm>
            <a:off x="5212079" y="320314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Hỏi xem bé thích nghi thế nào; đề nghị giới thiệu sau khi khách phản hồi</a:t>
            </a:r>
          </a:p>
        </p:txBody>
      </p:sp>
      <p:sp>
        <p:nvSpPr>
          <p:cNvPr id="82" name="Rectangle 81"/>
          <p:cNvSpPr/>
          <p:nvPr/>
        </p:nvSpPr>
        <p:spPr>
          <a:xfrm>
            <a:off x="8403336" y="3177539"/>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3" name="Rectangle 82"/>
          <p:cNvSpPr/>
          <p:nvPr/>
        </p:nvSpPr>
        <p:spPr>
          <a:xfrm>
            <a:off x="8403336" y="3177539"/>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4" name="TextBox 83"/>
          <p:cNvSpPr txBox="1"/>
          <p:nvPr/>
        </p:nvSpPr>
        <p:spPr>
          <a:xfrm>
            <a:off x="8494776" y="320314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Hỏi xem bé thích nghi thế nào; đề nghị giới thiệu sau khi khách phản hồi</a:t>
            </a:r>
          </a:p>
        </p:txBody>
      </p:sp>
      <p:sp>
        <p:nvSpPr>
          <p:cNvPr id="85" name="Rectangle 84"/>
          <p:cNvSpPr/>
          <p:nvPr/>
        </p:nvSpPr>
        <p:spPr>
          <a:xfrm>
            <a:off x="502920" y="3447287"/>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6" name="TextBox 85"/>
          <p:cNvSpPr txBox="1"/>
          <p:nvPr/>
        </p:nvSpPr>
        <p:spPr>
          <a:xfrm>
            <a:off x="576072" y="3470147"/>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CD+7</a:t>
            </a:r>
          </a:p>
        </p:txBody>
      </p:sp>
      <p:sp>
        <p:nvSpPr>
          <p:cNvPr id="87" name="TextBox 86"/>
          <p:cNvSpPr txBox="1"/>
          <p:nvPr/>
        </p:nvSpPr>
        <p:spPr>
          <a:xfrm>
            <a:off x="576072" y="3598163"/>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kiểm tra sử dụng</a:t>
            </a:r>
          </a:p>
        </p:txBody>
      </p:sp>
      <p:sp>
        <p:nvSpPr>
          <p:cNvPr id="88" name="Rectangle 87"/>
          <p:cNvSpPr/>
          <p:nvPr/>
        </p:nvSpPr>
        <p:spPr>
          <a:xfrm>
            <a:off x="1837943" y="3447287"/>
            <a:ext cx="3282696" cy="269748"/>
          </a:xfrm>
          <a:prstGeom prst="rect">
            <a:avLst/>
          </a:prstGeom>
          <a:solidFill>
            <a:srgbClr val="F1F2F1"/>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9" name="TextBox 88"/>
          <p:cNvSpPr txBox="1"/>
          <p:nvPr/>
        </p:nvSpPr>
        <p:spPr>
          <a:xfrm>
            <a:off x="1874519" y="3520439"/>
            <a:ext cx="3209544" cy="15544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700" b="0" i="1" lang="vi-VN">
                <a:solidFill>
                  <a:srgbClr val="AEB8B2"/>
                </a:solidFill>
                <a:latin typeface="Arial"/>
              </a:rPr>
              <a:t>—  không áp dụng</a:t>
            </a:r>
          </a:p>
        </p:txBody>
      </p:sp>
      <p:sp>
        <p:nvSpPr>
          <p:cNvPr id="90" name="Rectangle 89"/>
          <p:cNvSpPr/>
          <p:nvPr/>
        </p:nvSpPr>
        <p:spPr>
          <a:xfrm>
            <a:off x="5120640" y="3447287"/>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 name="Rectangle 90"/>
          <p:cNvSpPr/>
          <p:nvPr/>
        </p:nvSpPr>
        <p:spPr>
          <a:xfrm>
            <a:off x="5120640" y="3447287"/>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 name="TextBox 91"/>
          <p:cNvSpPr txBox="1"/>
          <p:nvPr/>
        </p:nvSpPr>
        <p:spPr>
          <a:xfrm>
            <a:off x="5212079" y="347289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chỉnh gọng miễn phí; gửi quyền lợi; đề nghị giới thiệu</a:t>
            </a:r>
          </a:p>
        </p:txBody>
      </p:sp>
      <p:sp>
        <p:nvSpPr>
          <p:cNvPr id="93" name="Rectangle 92"/>
          <p:cNvSpPr/>
          <p:nvPr/>
        </p:nvSpPr>
        <p:spPr>
          <a:xfrm>
            <a:off x="8403336" y="3447287"/>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 name="Rectangle 93"/>
          <p:cNvSpPr/>
          <p:nvPr/>
        </p:nvSpPr>
        <p:spPr>
          <a:xfrm>
            <a:off x="8403336" y="3447287"/>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 name="TextBox 94"/>
          <p:cNvSpPr txBox="1"/>
          <p:nvPr/>
        </p:nvSpPr>
        <p:spPr>
          <a:xfrm>
            <a:off x="8494776" y="347289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Hẹn lịch tái khám; gửi quyền lợi; đề nghị giới thiệu</a:t>
            </a:r>
          </a:p>
        </p:txBody>
      </p:sp>
      <p:sp>
        <p:nvSpPr>
          <p:cNvPr id="96" name="Rectangle 95"/>
          <p:cNvSpPr/>
          <p:nvPr/>
        </p:nvSpPr>
        <p:spPr>
          <a:xfrm>
            <a:off x="502920" y="3717035"/>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 name="TextBox 96"/>
          <p:cNvSpPr txBox="1"/>
          <p:nvPr/>
        </p:nvSpPr>
        <p:spPr>
          <a:xfrm>
            <a:off x="576072" y="3739896"/>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CD+14</a:t>
            </a:r>
          </a:p>
        </p:txBody>
      </p:sp>
      <p:sp>
        <p:nvSpPr>
          <p:cNvPr id="98" name="TextBox 97"/>
          <p:cNvSpPr txBox="1"/>
          <p:nvPr/>
        </p:nvSpPr>
        <p:spPr>
          <a:xfrm>
            <a:off x="576072" y="3867911"/>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kiến thức cận thị</a:t>
            </a:r>
          </a:p>
        </p:txBody>
      </p:sp>
      <p:sp>
        <p:nvSpPr>
          <p:cNvPr id="99" name="Rectangle 98"/>
          <p:cNvSpPr/>
          <p:nvPr/>
        </p:nvSpPr>
        <p:spPr>
          <a:xfrm>
            <a:off x="1837943" y="3717035"/>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 name="Rectangle 99"/>
          <p:cNvSpPr/>
          <p:nvPr/>
        </p:nvSpPr>
        <p:spPr>
          <a:xfrm>
            <a:off x="1837943" y="3717035"/>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 name="TextBox 100"/>
          <p:cNvSpPr txBox="1"/>
          <p:nvPr/>
        </p:nvSpPr>
        <p:spPr>
          <a:xfrm>
            <a:off x="1929384" y="3742639"/>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nhắc đeo ≥ 12 giờ mỗi ngày; gửi quyền lợi; đề nghị giới thiệu</a:t>
            </a:r>
          </a:p>
        </p:txBody>
      </p:sp>
      <p:sp>
        <p:nvSpPr>
          <p:cNvPr id="102" name="Rectangle 101"/>
          <p:cNvSpPr/>
          <p:nvPr/>
        </p:nvSpPr>
        <p:spPr>
          <a:xfrm>
            <a:off x="5120640" y="3717035"/>
            <a:ext cx="3282696" cy="269748"/>
          </a:xfrm>
          <a:prstGeom prst="rect">
            <a:avLst/>
          </a:prstGeom>
          <a:solidFill>
            <a:srgbClr val="F1F2F1"/>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3" name="TextBox 102"/>
          <p:cNvSpPr txBox="1"/>
          <p:nvPr/>
        </p:nvSpPr>
        <p:spPr>
          <a:xfrm>
            <a:off x="5157216" y="3790187"/>
            <a:ext cx="3209544" cy="15544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700" b="0" i="1" lang="vi-VN">
                <a:solidFill>
                  <a:srgbClr val="AEB8B2"/>
                </a:solidFill>
                <a:latin typeface="Arial"/>
              </a:rPr>
              <a:t>—  không áp dụng</a:t>
            </a:r>
          </a:p>
        </p:txBody>
      </p:sp>
      <p:sp>
        <p:nvSpPr>
          <p:cNvPr id="104" name="Rectangle 103"/>
          <p:cNvSpPr/>
          <p:nvPr/>
        </p:nvSpPr>
        <p:spPr>
          <a:xfrm>
            <a:off x="8403336" y="3717035"/>
            <a:ext cx="3282696" cy="269748"/>
          </a:xfrm>
          <a:prstGeom prst="rect">
            <a:avLst/>
          </a:prstGeom>
          <a:solidFill>
            <a:srgbClr val="F1F2F1"/>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 name="TextBox 104"/>
          <p:cNvSpPr txBox="1"/>
          <p:nvPr/>
        </p:nvSpPr>
        <p:spPr>
          <a:xfrm>
            <a:off x="8439911" y="3790187"/>
            <a:ext cx="3209544" cy="155448"/>
          </a:xfrm>
          <a:prstGeom prst="rect">
            <a:avLst/>
          </a:prstGeom>
          <a:noFill/>
        </p:spPr>
        <p:txBody>
          <a:bodyPr wrap="square" lIns="36576" tIns="18288" rIns="36576" bIns="18288" anchor="t">
            <a:spAutoFit/>
          </a:bodyPr>
          <a:lstStyle/>
          <a:p>
            <a:pPr algn="ctr">
              <a:lnSpc>
                <a:spcPct val="95000"/>
              </a:lnSpc>
              <a:spcBef>
                <a:spcPts val="0"/>
              </a:spcBef>
              <a:spcAft>
                <a:spcPts val="0"/>
              </a:spcAft>
            </a:pPr>
            <a:r>
              <a:rPr sz="700" b="0" i="1" lang="vi-VN">
                <a:solidFill>
                  <a:srgbClr val="AEB8B2"/>
                </a:solidFill>
                <a:latin typeface="Arial"/>
              </a:rPr>
              <a:t>—  không áp dụng</a:t>
            </a:r>
          </a:p>
        </p:txBody>
      </p:sp>
      <p:sp>
        <p:nvSpPr>
          <p:cNvPr id="106" name="Rectangle 105"/>
          <p:cNvSpPr/>
          <p:nvPr/>
        </p:nvSpPr>
        <p:spPr>
          <a:xfrm>
            <a:off x="502920" y="3986783"/>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 name="TextBox 106"/>
          <p:cNvSpPr txBox="1"/>
          <p:nvPr/>
        </p:nvSpPr>
        <p:spPr>
          <a:xfrm>
            <a:off x="576072" y="4009644"/>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CD+30</a:t>
            </a:r>
          </a:p>
        </p:txBody>
      </p:sp>
      <p:sp>
        <p:nvSpPr>
          <p:cNvPr id="108" name="TextBox 107"/>
          <p:cNvSpPr txBox="1"/>
          <p:nvPr/>
        </p:nvSpPr>
        <p:spPr>
          <a:xfrm>
            <a:off x="576072" y="4137659"/>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đánh giá sử dụng</a:t>
            </a:r>
          </a:p>
        </p:txBody>
      </p:sp>
      <p:sp>
        <p:nvSpPr>
          <p:cNvPr id="109" name="Rectangle 108"/>
          <p:cNvSpPr/>
          <p:nvPr/>
        </p:nvSpPr>
        <p:spPr>
          <a:xfrm>
            <a:off x="1837943" y="3986783"/>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0" name="Rectangle 109"/>
          <p:cNvSpPr/>
          <p:nvPr/>
        </p:nvSpPr>
        <p:spPr>
          <a:xfrm>
            <a:off x="1837943" y="3986783"/>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1" name="TextBox 110"/>
          <p:cNvSpPr txBox="1"/>
          <p:nvPr/>
        </p:nvSpPr>
        <p:spPr>
          <a:xfrm>
            <a:off x="1929384" y="4012387"/>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gửi nội dung kiến thức; gửi quyền lợi; đề nghị giới thiệu</a:t>
            </a:r>
          </a:p>
        </p:txBody>
      </p:sp>
      <p:sp>
        <p:nvSpPr>
          <p:cNvPr id="112" name="Rectangle 111"/>
          <p:cNvSpPr/>
          <p:nvPr/>
        </p:nvSpPr>
        <p:spPr>
          <a:xfrm>
            <a:off x="5120640" y="3986783"/>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3" name="Rectangle 112"/>
          <p:cNvSpPr/>
          <p:nvPr/>
        </p:nvSpPr>
        <p:spPr>
          <a:xfrm>
            <a:off x="5120640" y="3986783"/>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 name="TextBox 113"/>
          <p:cNvSpPr txBox="1"/>
          <p:nvPr/>
        </p:nvSpPr>
        <p:spPr>
          <a:xfrm>
            <a:off x="5212079" y="4012387"/>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gửi quyền lợi; đề nghị giới thiệu</a:t>
            </a:r>
          </a:p>
        </p:txBody>
      </p:sp>
      <p:sp>
        <p:nvSpPr>
          <p:cNvPr id="115" name="Rectangle 114"/>
          <p:cNvSpPr/>
          <p:nvPr/>
        </p:nvSpPr>
        <p:spPr>
          <a:xfrm>
            <a:off x="8403336" y="3986783"/>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6" name="Rectangle 115"/>
          <p:cNvSpPr/>
          <p:nvPr/>
        </p:nvSpPr>
        <p:spPr>
          <a:xfrm>
            <a:off x="8403336" y="3986783"/>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7" name="TextBox 116"/>
          <p:cNvSpPr txBox="1"/>
          <p:nvPr/>
        </p:nvSpPr>
        <p:spPr>
          <a:xfrm>
            <a:off x="8494776" y="4012387"/>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Hẹn lịch tái khám; nhắc đeo ít nhất 6 đêm mỗi tuần; gửi quyền lợi; đề nghị giới thiệu</a:t>
            </a:r>
          </a:p>
        </p:txBody>
      </p:sp>
      <p:sp>
        <p:nvSpPr>
          <p:cNvPr id="118" name="Rectangle 117"/>
          <p:cNvSpPr/>
          <p:nvPr/>
        </p:nvSpPr>
        <p:spPr>
          <a:xfrm>
            <a:off x="502920" y="4256531"/>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9" name="TextBox 118"/>
          <p:cNvSpPr txBox="1"/>
          <p:nvPr/>
        </p:nvSpPr>
        <p:spPr>
          <a:xfrm>
            <a:off x="576072" y="4279392"/>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CD+90</a:t>
            </a:r>
          </a:p>
        </p:txBody>
      </p:sp>
      <p:sp>
        <p:nvSpPr>
          <p:cNvPr id="120" name="TextBox 119"/>
          <p:cNvSpPr txBox="1"/>
          <p:nvPr/>
        </p:nvSpPr>
        <p:spPr>
          <a:xfrm>
            <a:off x="576072" y="4407407"/>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tái khám 3 tháng</a:t>
            </a:r>
          </a:p>
        </p:txBody>
      </p:sp>
      <p:sp>
        <p:nvSpPr>
          <p:cNvPr id="121" name="Rectangle 120"/>
          <p:cNvSpPr/>
          <p:nvPr/>
        </p:nvSpPr>
        <p:spPr>
          <a:xfrm>
            <a:off x="1837943" y="4256531"/>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2" name="Rectangle 121"/>
          <p:cNvSpPr/>
          <p:nvPr/>
        </p:nvSpPr>
        <p:spPr>
          <a:xfrm>
            <a:off x="1837943" y="4256531"/>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3" name="TextBox 122"/>
          <p:cNvSpPr txBox="1"/>
          <p:nvPr/>
        </p:nvSpPr>
        <p:spPr>
          <a:xfrm>
            <a:off x="1929384" y="4282135"/>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gửi nội dung kiến thức; gửi quyền lợi; đề nghị giới thiệu</a:t>
            </a:r>
          </a:p>
        </p:txBody>
      </p:sp>
      <p:sp>
        <p:nvSpPr>
          <p:cNvPr id="124" name="Rectangle 123"/>
          <p:cNvSpPr/>
          <p:nvPr/>
        </p:nvSpPr>
        <p:spPr>
          <a:xfrm>
            <a:off x="5120640" y="4256531"/>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5" name="Rectangle 124"/>
          <p:cNvSpPr/>
          <p:nvPr/>
        </p:nvSpPr>
        <p:spPr>
          <a:xfrm>
            <a:off x="5120640" y="4256531"/>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6" name="TextBox 125"/>
          <p:cNvSpPr txBox="1"/>
          <p:nvPr/>
        </p:nvSpPr>
        <p:spPr>
          <a:xfrm>
            <a:off x="5212079" y="4282135"/>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gửi nội dung kiến thức; gửi quyền lợi; đề nghị giới thiệu</a:t>
            </a:r>
          </a:p>
        </p:txBody>
      </p:sp>
      <p:sp>
        <p:nvSpPr>
          <p:cNvPr id="127" name="Rectangle 126"/>
          <p:cNvSpPr/>
          <p:nvPr/>
        </p:nvSpPr>
        <p:spPr>
          <a:xfrm>
            <a:off x="8403336" y="4256531"/>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8" name="Rectangle 127"/>
          <p:cNvSpPr/>
          <p:nvPr/>
        </p:nvSpPr>
        <p:spPr>
          <a:xfrm>
            <a:off x="8403336" y="4256531"/>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9" name="TextBox 128"/>
          <p:cNvSpPr txBox="1"/>
          <p:nvPr/>
        </p:nvSpPr>
        <p:spPr>
          <a:xfrm>
            <a:off x="8494776" y="4282135"/>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Hẹn lịch tái khám; nhắc đeo ít nhất 6 đêm mỗi tuần; gửi quyền lợi; đề nghị giới thiệu</a:t>
            </a:r>
          </a:p>
        </p:txBody>
      </p:sp>
      <p:sp>
        <p:nvSpPr>
          <p:cNvPr id="130" name="Rectangle 129"/>
          <p:cNvSpPr/>
          <p:nvPr/>
        </p:nvSpPr>
        <p:spPr>
          <a:xfrm>
            <a:off x="502920" y="4526279"/>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1" name="TextBox 130"/>
          <p:cNvSpPr txBox="1"/>
          <p:nvPr/>
        </p:nvSpPr>
        <p:spPr>
          <a:xfrm>
            <a:off x="576072" y="4549140"/>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CD+180</a:t>
            </a:r>
          </a:p>
        </p:txBody>
      </p:sp>
      <p:sp>
        <p:nvSpPr>
          <p:cNvPr id="132" name="TextBox 131"/>
          <p:cNvSpPr txBox="1"/>
          <p:nvPr/>
        </p:nvSpPr>
        <p:spPr>
          <a:xfrm>
            <a:off x="576072" y="4677155"/>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6 tháng</a:t>
            </a:r>
          </a:p>
        </p:txBody>
      </p:sp>
      <p:sp>
        <p:nvSpPr>
          <p:cNvPr id="133" name="Rectangle 132"/>
          <p:cNvSpPr/>
          <p:nvPr/>
        </p:nvSpPr>
        <p:spPr>
          <a:xfrm>
            <a:off x="1837943" y="4526279"/>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4" name="Rectangle 133"/>
          <p:cNvSpPr/>
          <p:nvPr/>
        </p:nvSpPr>
        <p:spPr>
          <a:xfrm>
            <a:off x="1837943" y="4526279"/>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5" name="TextBox 134"/>
          <p:cNvSpPr txBox="1"/>
          <p:nvPr/>
        </p:nvSpPr>
        <p:spPr>
          <a:xfrm>
            <a:off x="1929384" y="455188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Mời tái khám; gửi quyền lợi; đề nghị giới thiệu</a:t>
            </a:r>
          </a:p>
        </p:txBody>
      </p:sp>
      <p:sp>
        <p:nvSpPr>
          <p:cNvPr id="136" name="Rectangle 135"/>
          <p:cNvSpPr/>
          <p:nvPr/>
        </p:nvSpPr>
        <p:spPr>
          <a:xfrm>
            <a:off x="5120640" y="4526279"/>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7" name="Rectangle 136"/>
          <p:cNvSpPr/>
          <p:nvPr/>
        </p:nvSpPr>
        <p:spPr>
          <a:xfrm>
            <a:off x="5120640" y="4526279"/>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8" name="TextBox 137"/>
          <p:cNvSpPr txBox="1"/>
          <p:nvPr/>
        </p:nvSpPr>
        <p:spPr>
          <a:xfrm>
            <a:off x="5212079" y="455188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Mời khách hẹn lịch tái khám; gửi quyền lợi; đề nghị giới thiệu</a:t>
            </a:r>
          </a:p>
        </p:txBody>
      </p:sp>
      <p:sp>
        <p:nvSpPr>
          <p:cNvPr id="139" name="Rectangle 138"/>
          <p:cNvSpPr/>
          <p:nvPr/>
        </p:nvSpPr>
        <p:spPr>
          <a:xfrm>
            <a:off x="8403336" y="4526279"/>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0" name="Rectangle 139"/>
          <p:cNvSpPr/>
          <p:nvPr/>
        </p:nvSpPr>
        <p:spPr>
          <a:xfrm>
            <a:off x="8403336" y="4526279"/>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1" name="TextBox 140"/>
          <p:cNvSpPr txBox="1"/>
          <p:nvPr/>
        </p:nvSpPr>
        <p:spPr>
          <a:xfrm>
            <a:off x="8494776" y="4551883"/>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Hẹn lịch tái khám; nhắc đeo ít nhất 6 đêm mỗi tuần; gửi quyền lợi; đề nghị giới thiệu</a:t>
            </a:r>
          </a:p>
        </p:txBody>
      </p:sp>
      <p:sp>
        <p:nvSpPr>
          <p:cNvPr id="142" name="Rectangle 141"/>
          <p:cNvSpPr/>
          <p:nvPr/>
        </p:nvSpPr>
        <p:spPr>
          <a:xfrm>
            <a:off x="502920" y="4796027"/>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3" name="TextBox 142"/>
          <p:cNvSpPr txBox="1"/>
          <p:nvPr/>
        </p:nvSpPr>
        <p:spPr>
          <a:xfrm>
            <a:off x="576072" y="4818888"/>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CD+270</a:t>
            </a:r>
          </a:p>
        </p:txBody>
      </p:sp>
      <p:sp>
        <p:nvSpPr>
          <p:cNvPr id="144" name="TextBox 143"/>
          <p:cNvSpPr txBox="1"/>
          <p:nvPr/>
        </p:nvSpPr>
        <p:spPr>
          <a:xfrm>
            <a:off x="576072" y="4946903"/>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9 tháng</a:t>
            </a:r>
          </a:p>
        </p:txBody>
      </p:sp>
      <p:sp>
        <p:nvSpPr>
          <p:cNvPr id="145" name="Rectangle 144"/>
          <p:cNvSpPr/>
          <p:nvPr/>
        </p:nvSpPr>
        <p:spPr>
          <a:xfrm>
            <a:off x="1837943" y="4796027"/>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6" name="Rectangle 145"/>
          <p:cNvSpPr/>
          <p:nvPr/>
        </p:nvSpPr>
        <p:spPr>
          <a:xfrm>
            <a:off x="1837943" y="4796027"/>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7" name="TextBox 146"/>
          <p:cNvSpPr txBox="1"/>
          <p:nvPr/>
        </p:nvSpPr>
        <p:spPr>
          <a:xfrm>
            <a:off x="1929384" y="482163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gửi nội dung kiến thức; gửi quyền lợi; đề nghị giới thiệu</a:t>
            </a:r>
          </a:p>
        </p:txBody>
      </p:sp>
      <p:sp>
        <p:nvSpPr>
          <p:cNvPr id="148" name="Rectangle 147"/>
          <p:cNvSpPr/>
          <p:nvPr/>
        </p:nvSpPr>
        <p:spPr>
          <a:xfrm>
            <a:off x="5120640" y="4796027"/>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9" name="Rectangle 148"/>
          <p:cNvSpPr/>
          <p:nvPr/>
        </p:nvSpPr>
        <p:spPr>
          <a:xfrm>
            <a:off x="5120640" y="4796027"/>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0" name="TextBox 149"/>
          <p:cNvSpPr txBox="1"/>
          <p:nvPr/>
        </p:nvSpPr>
        <p:spPr>
          <a:xfrm>
            <a:off x="5212079" y="482163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Kiểm tra việc sử dụng; gửi quyền lợi; đề nghị giới thiệu</a:t>
            </a:r>
          </a:p>
        </p:txBody>
      </p:sp>
      <p:sp>
        <p:nvSpPr>
          <p:cNvPr id="151" name="Rectangle 150"/>
          <p:cNvSpPr/>
          <p:nvPr/>
        </p:nvSpPr>
        <p:spPr>
          <a:xfrm>
            <a:off x="8403336" y="4796027"/>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2" name="Rectangle 151"/>
          <p:cNvSpPr/>
          <p:nvPr/>
        </p:nvSpPr>
        <p:spPr>
          <a:xfrm>
            <a:off x="8403336" y="4796027"/>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3" name="TextBox 152"/>
          <p:cNvSpPr txBox="1"/>
          <p:nvPr/>
        </p:nvSpPr>
        <p:spPr>
          <a:xfrm>
            <a:off x="8494776" y="4821631"/>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Hẹn lịch tái khám; nhắc đeo ít nhất 6 đêm mỗi tuần; gửi quyền lợi; đề nghị giới thiệu</a:t>
            </a:r>
          </a:p>
        </p:txBody>
      </p:sp>
      <p:sp>
        <p:nvSpPr>
          <p:cNvPr id="154" name="Rectangle 153"/>
          <p:cNvSpPr/>
          <p:nvPr/>
        </p:nvSpPr>
        <p:spPr>
          <a:xfrm>
            <a:off x="502920" y="5065775"/>
            <a:ext cx="1335024" cy="269748"/>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5" name="TextBox 154"/>
          <p:cNvSpPr txBox="1"/>
          <p:nvPr/>
        </p:nvSpPr>
        <p:spPr>
          <a:xfrm>
            <a:off x="576072" y="5088636"/>
            <a:ext cx="1188720" cy="1417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50" b="1" i="0" lang="vi-VN">
                <a:solidFill>
                  <a:srgbClr val="31633D"/>
                </a:solidFill>
                <a:latin typeface="Arial"/>
              </a:rPr>
              <a:t>CD+365</a:t>
            </a:r>
          </a:p>
        </p:txBody>
      </p:sp>
      <p:sp>
        <p:nvSpPr>
          <p:cNvPr id="156" name="TextBox 155"/>
          <p:cNvSpPr txBox="1"/>
          <p:nvPr/>
        </p:nvSpPr>
        <p:spPr>
          <a:xfrm>
            <a:off x="576072" y="5216651"/>
            <a:ext cx="1188720" cy="1234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650" b="0" i="1" lang="vi-VN">
                <a:solidFill>
                  <a:srgbClr val="5C6B62"/>
                </a:solidFill>
                <a:latin typeface="Arial"/>
              </a:rPr>
              <a:t>12 tháng + gia hạn</a:t>
            </a:r>
          </a:p>
        </p:txBody>
      </p:sp>
      <p:sp>
        <p:nvSpPr>
          <p:cNvPr id="157" name="Rectangle 156"/>
          <p:cNvSpPr/>
          <p:nvPr/>
        </p:nvSpPr>
        <p:spPr>
          <a:xfrm>
            <a:off x="1837943" y="5065775"/>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8" name="Rectangle 157"/>
          <p:cNvSpPr/>
          <p:nvPr/>
        </p:nvSpPr>
        <p:spPr>
          <a:xfrm>
            <a:off x="1837943" y="5065775"/>
            <a:ext cx="32004" cy="26974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9" name="TextBox 158"/>
          <p:cNvSpPr txBox="1"/>
          <p:nvPr/>
        </p:nvSpPr>
        <p:spPr>
          <a:xfrm>
            <a:off x="1929384" y="5091379"/>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Mời tái khám; gửi quyền lợi; đề nghị giới thiệu</a:t>
            </a:r>
          </a:p>
        </p:txBody>
      </p:sp>
      <p:sp>
        <p:nvSpPr>
          <p:cNvPr id="160" name="Rectangle 159"/>
          <p:cNvSpPr/>
          <p:nvPr/>
        </p:nvSpPr>
        <p:spPr>
          <a:xfrm>
            <a:off x="5120640" y="5065775"/>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1" name="Rectangle 160"/>
          <p:cNvSpPr/>
          <p:nvPr/>
        </p:nvSpPr>
        <p:spPr>
          <a:xfrm>
            <a:off x="5120640" y="5065775"/>
            <a:ext cx="32004" cy="26974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2" name="TextBox 161"/>
          <p:cNvSpPr txBox="1"/>
          <p:nvPr/>
        </p:nvSpPr>
        <p:spPr>
          <a:xfrm>
            <a:off x="5212079" y="5091379"/>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Mời tái khám; gia hạn thành viên; chỉnh gọng miễn phí trọn đời</a:t>
            </a:r>
          </a:p>
        </p:txBody>
      </p:sp>
      <p:sp>
        <p:nvSpPr>
          <p:cNvPr id="163" name="Rectangle 162"/>
          <p:cNvSpPr/>
          <p:nvPr/>
        </p:nvSpPr>
        <p:spPr>
          <a:xfrm>
            <a:off x="8403336" y="5065775"/>
            <a:ext cx="3282696" cy="2697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4" name="Rectangle 163"/>
          <p:cNvSpPr/>
          <p:nvPr/>
        </p:nvSpPr>
        <p:spPr>
          <a:xfrm>
            <a:off x="8403336" y="5065775"/>
            <a:ext cx="32004" cy="269748"/>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5" name="TextBox 164"/>
          <p:cNvSpPr txBox="1"/>
          <p:nvPr/>
        </p:nvSpPr>
        <p:spPr>
          <a:xfrm>
            <a:off x="8494776" y="5091379"/>
            <a:ext cx="3118103" cy="246888"/>
          </a:xfrm>
          <a:prstGeom prst="rect">
            <a:avLst/>
          </a:prstGeom>
          <a:noFill/>
        </p:spPr>
        <p:txBody>
          <a:bodyPr wrap="square" lIns="36576" tIns="18288" rIns="36576" bIns="18288" anchor="t">
            <a:spAutoFit/>
          </a:bodyPr>
          <a:lstStyle/>
          <a:p>
            <a:pPr algn="l">
              <a:lnSpc>
                <a:spcPct val="90000"/>
              </a:lnSpc>
              <a:spcBef>
                <a:spcPts val="0"/>
              </a:spcBef>
              <a:spcAft>
                <a:spcPts val="0"/>
              </a:spcAft>
            </a:pPr>
            <a:r>
              <a:rPr sz="750" b="0" i="0" lang="vi-VN">
                <a:solidFill>
                  <a:srgbClr val="5C6B62"/>
                </a:solidFill>
                <a:latin typeface="Arial"/>
              </a:rPr>
              <a:t>Mời tái khám; gửi quyền lợi; đề nghị giới thiệu</a:t>
            </a:r>
          </a:p>
        </p:txBody>
      </p:sp>
      <p:sp>
        <p:nvSpPr>
          <p:cNvPr id="166" name="Rectangle 165"/>
          <p:cNvSpPr/>
          <p:nvPr/>
        </p:nvSpPr>
        <p:spPr>
          <a:xfrm>
            <a:off x="502920" y="5394960"/>
            <a:ext cx="11183112" cy="256032"/>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950" b="1" i="0" lang="vi-VN">
                <a:solidFill>
                  <a:srgbClr val="FFFFFF"/>
                </a:solidFill>
                <a:latin typeface="Arial"/>
              </a:rPr>
              <a:t>Bốn quy tắc áp dụng cho mọi lượt chăm sóc, với mọi sản phẩm</a:t>
            </a:r>
          </a:p>
        </p:txBody>
      </p:sp>
      <p:sp>
        <p:nvSpPr>
          <p:cNvPr id="167" name="Rectangle 166"/>
          <p:cNvSpPr/>
          <p:nvPr/>
        </p:nvSpPr>
        <p:spPr>
          <a:xfrm>
            <a:off x="502920" y="5669280"/>
            <a:ext cx="11183112" cy="512064"/>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28016" tIns="54864" rtlCol="0" anchor="ctr"/>
          <a:lstStyle/>
          <a:p>
            <a:pPr algn="l">
              <a:lnSpc>
                <a:spcPct val="95000"/>
              </a:lnSpc>
              <a:spcBef>
                <a:spcPts val="0"/>
              </a:spcBef>
              <a:spcAft>
                <a:spcPts val="200"/>
              </a:spcAft>
            </a:pPr>
            <a:r>
              <a:rPr sz="850" b="1" lang="vi-VN">
                <a:solidFill>
                  <a:srgbClr val="2E9C4C"/>
                </a:solidFill>
                <a:latin typeface="Arial"/>
              </a:rPr>
              <a:t>1  Chỉ gửi quyền lợi sau khi khách phản hồi. </a:t>
            </a:r>
            <a:r>
              <a:rPr sz="850" b="0" lang="vi-VN">
                <a:solidFill>
                  <a:srgbClr val="5C6B62"/>
                </a:solidFill>
                <a:latin typeface="Arial"/>
              </a:rPr>
              <a:t>Nếu khách không phản hồi, hôm sau hãy gửi một tin hỏi thăm thay thế.   </a:t>
            </a:r>
            <a:r>
              <a:rPr sz="850" b="1" lang="vi-VN">
                <a:solidFill>
                  <a:srgbClr val="2E9C4C"/>
                </a:solidFill>
                <a:latin typeface="Arial"/>
              </a:rPr>
              <a:t>2  Đừng kết thúc bằng tin quyền lợi. </a:t>
            </a:r>
            <a:r>
              <a:rPr sz="850" b="0" lang="vi-VN">
                <a:solidFill>
                  <a:srgbClr val="5C6B62"/>
                </a:solidFill>
                <a:latin typeface="Arial"/>
              </a:rPr>
              <a:t>Tin nhắn cuối cùng phụ huynh nhận được nên là tin hỏi thăm.</a:t>
            </a:r>
          </a:p>
          <a:p>
            <a:pPr algn="l">
              <a:lnSpc>
                <a:spcPct val="95000"/>
              </a:lnSpc>
              <a:spcBef>
                <a:spcPts val="0"/>
              </a:spcBef>
              <a:spcAft>
                <a:spcPts val="0"/>
              </a:spcAft>
            </a:pPr>
            <a:r>
              <a:rPr sz="850" b="1" lang="vi-VN">
                <a:solidFill>
                  <a:srgbClr val="2E9C4C"/>
                </a:solidFill>
                <a:latin typeface="Arial"/>
              </a:rPr>
              <a:t>3  Đề nghị giới thiệu vào đúng thời điểm. </a:t>
            </a:r>
            <a:r>
              <a:rPr sz="850" b="0" lang="vi-VN">
                <a:solidFill>
                  <a:srgbClr val="5C6B62"/>
                </a:solidFill>
                <a:latin typeface="Arial"/>
              </a:rPr>
              <a:t>Sau khi giải quyết một vấn đề, sau khi giao kính tận nơi, hoặc sau khi khách cảm ơn. Bạn không đề nghị thì khách sẽ không giới thiệu.   </a:t>
            </a:r>
            <a:r>
              <a:rPr sz="850" b="1" lang="vi-VN">
                <a:solidFill>
                  <a:srgbClr val="2E9C4C"/>
                </a:solidFill>
                <a:latin typeface="Arial"/>
              </a:rPr>
              <a:t>4  Cập nhật ngày trên thẻ Zalo trong ngày khách nhận kính. </a:t>
            </a:r>
            <a:r>
              <a:rPr sz="850" b="0" lang="vi-VN">
                <a:solidFill>
                  <a:srgbClr val="5C6B62"/>
                </a:solidFill>
                <a:latin typeface="Arial"/>
              </a:rPr>
              <a:t>CRM tính toàn bộ mốc chăm sóc CD từ ngày đó. Sai ngày là sai cả lịch chăm sóc.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4. VÍ DỤ NÊN HỌC THEO   |   VÍ DỤ NÊN HỌC THEO</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Ví dụ — từ D1 đến ngày nhận kính (OKY-260722)</a:t>
            </a: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6</a:t>
            </a:r>
          </a:p>
        </p:txBody>
      </p:sp>
      <p:sp>
        <p:nvSpPr>
          <p:cNvPr id="8" name="Rectangle 7"/>
          <p:cNvSpPr/>
          <p:nvPr/>
        </p:nvSpPr>
        <p:spPr>
          <a:xfrm>
            <a:off x="321552" y="1261872"/>
            <a:ext cx="11548896" cy="29260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lnSpc>
                <a:spcPct val="95000"/>
              </a:lnSpc>
              <a:spcBef>
                <a:spcPts val="0"/>
              </a:spcBef>
              <a:spcAft>
                <a:spcPts val="0"/>
              </a:spcAft>
            </a:pPr>
            <a:r>
              <a:rPr sz="950" b="1" lang="vi-VN">
                <a:solidFill>
                  <a:srgbClr val="2E9C4C"/>
                </a:solidFill>
                <a:latin typeface="Arial"/>
              </a:rPr>
              <a:t>OKY-260722  Chị Bình · Bé Khoa   ·   Ortho-K   ·   </a:t>
            </a:r>
            <a:r>
              <a:rPr sz="950" b="0" lang="vi-VN">
                <a:solidFill>
                  <a:srgbClr val="5C6B62"/>
                </a:solidFill>
                <a:latin typeface="Arial"/>
              </a:rPr>
              <a:t>mọi lượt chăm sóc đều được gửi, đúng thứ tự, đúng nội dung</a:t>
            </a:r>
          </a:p>
        </p:txBody>
      </p:sp>
      <p:sp>
        <p:nvSpPr>
          <p:cNvPr id="9" name="Rectangle 8"/>
          <p:cNvSpPr/>
          <p:nvPr/>
        </p:nvSpPr>
        <p:spPr>
          <a:xfrm>
            <a:off x="321552" y="1645920"/>
            <a:ext cx="4653064"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00" b="1" i="0" dirty="0" lang="vi-VN">
                <a:solidFill>
                  <a:srgbClr val="FFFFFF"/>
                </a:solidFill>
                <a:latin typeface="Arial"/>
              </a:rPr>
              <a:t>D1 · ngày đặt cọc  và  D6-7 · kiểm tra tiến độ</a:t>
            </a:r>
          </a:p>
        </p:txBody>
      </p:sp>
      <p:sp>
        <p:nvSpPr>
          <p:cNvPr id="10" name="Rectangle 9"/>
          <p:cNvSpPr/>
          <p:nvPr/>
        </p:nvSpPr>
        <p:spPr>
          <a:xfrm>
            <a:off x="321552" y="1956816"/>
            <a:ext cx="4653064" cy="3968496"/>
          </a:xfrm>
          <a:prstGeom prst="rect">
            <a:avLst/>
          </a:prstGeom>
          <a:solidFill>
            <a:srgbClr val="F7F8F7"/>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0" name="Picture 10" descr="1788320731304-ModelPicture1_vietnamese.png"/>
          <p:cNvPicPr>
            <a:picLocks noChangeAspect="1"/>
          </p:cNvPicPr>
          <p:nvPr/>
        </p:nvPicPr>
        <p:blipFill>
          <a:blip r:embed="rId5"/>
          <a:stretch>
            <a:fillRect/>
          </a:stretch>
        </p:blipFill>
        <p:spPr>
          <a:xfrm>
            <a:off x="604522" y="1956816"/>
            <a:ext cx="4087124" cy="4052922"/>
          </a:xfrm>
          <a:prstGeom prst="rect">
            <a:avLst/>
          </a:prstGeom>
        </p:spPr>
      </p:pic>
      <p:sp>
        <p:nvSpPr>
          <p:cNvPr id="12" name="Rectangle 11"/>
          <p:cNvSpPr/>
          <p:nvPr/>
        </p:nvSpPr>
        <p:spPr>
          <a:xfrm>
            <a:off x="5205704" y="1645920"/>
            <a:ext cx="3657580" cy="310896"/>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00" b="1" i="0" lang="vi-VN">
                <a:solidFill>
                  <a:srgbClr val="FFFFFF"/>
                </a:solidFill>
                <a:latin typeface="Arial"/>
              </a:rPr>
              <a:t>CD · ngày nhận kính</a:t>
            </a:r>
          </a:p>
        </p:txBody>
      </p:sp>
      <p:sp>
        <p:nvSpPr>
          <p:cNvPr id="13" name="Rectangle 12"/>
          <p:cNvSpPr/>
          <p:nvPr/>
        </p:nvSpPr>
        <p:spPr>
          <a:xfrm>
            <a:off x="5205704" y="1956816"/>
            <a:ext cx="3657580" cy="3968496"/>
          </a:xfrm>
          <a:prstGeom prst="rect">
            <a:avLst/>
          </a:prstGeom>
          <a:solidFill>
            <a:srgbClr val="F7F8F7"/>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1" name="Picture 13" descr="1788320731307-ModelPicture2_vietnamese.png"/>
          <p:cNvPicPr>
            <a:picLocks noChangeAspect="1"/>
          </p:cNvPicPr>
          <p:nvPr/>
        </p:nvPicPr>
        <p:blipFill>
          <a:blip r:embed="rId6"/>
          <a:stretch>
            <a:fillRect/>
          </a:stretch>
        </p:blipFill>
        <p:spPr>
          <a:xfrm>
            <a:off x="5279035" y="1956816"/>
            <a:ext cx="3510917" cy="4043556"/>
          </a:xfrm>
          <a:prstGeom prst="rect">
            <a:avLst/>
          </a:prstGeom>
        </p:spPr>
      </p:pic>
      <p:sp>
        <p:nvSpPr>
          <p:cNvPr id="15" name="Rectangle 14"/>
          <p:cNvSpPr/>
          <p:nvPr/>
        </p:nvSpPr>
        <p:spPr>
          <a:xfrm>
            <a:off x="9008376" y="1645920"/>
            <a:ext cx="2862072" cy="310896"/>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00" b="1" i="0" lang="vi-VN">
                <a:solidFill>
                  <a:srgbClr val="FFFFFF"/>
                </a:solidFill>
                <a:latin typeface="Arial"/>
              </a:rPr>
              <a:t>DA này đã làm gì</a:t>
            </a:r>
          </a:p>
        </p:txBody>
      </p:sp>
      <p:sp>
        <p:nvSpPr>
          <p:cNvPr id="16" name="Rectangle 15"/>
          <p:cNvSpPr/>
          <p:nvPr/>
        </p:nvSpPr>
        <p:spPr>
          <a:xfrm>
            <a:off x="9008376" y="1956816"/>
            <a:ext cx="2862072" cy="4052922"/>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136392" y="2048256"/>
            <a:ext cx="2606039" cy="2783967"/>
          </a:xfrm>
          <a:prstGeom prst="rect">
            <a:avLst/>
          </a:prstGeom>
          <a:noFill/>
        </p:spPr>
        <p:txBody>
          <a:bodyPr wrap="square" lIns="36576" tIns="18288" rIns="36576" bIns="18288" anchor="t">
            <a:spAutoFit/>
          </a:bodyPr>
          <a:lstStyle/>
          <a:p>
            <a:pPr algn="l">
              <a:lnSpc>
                <a:spcPct val="92000"/>
              </a:lnSpc>
              <a:spcBef>
                <a:spcPts val="0"/>
              </a:spcBef>
              <a:spcAft>
                <a:spcPts val="100"/>
              </a:spcAft>
            </a:pPr>
            <a:r>
              <a:rPr sz="850" b="1" dirty="0" lang="vi-VN">
                <a:solidFill>
                  <a:srgbClr val="2E9C4C"/>
                </a:solidFill>
                <a:latin typeface="Arial"/>
              </a:rPr>
              <a:t>D1 · 7/7</a:t>
            </a:r>
          </a:p>
          <a:p>
            <a:pPr algn="l">
              <a:lnSpc>
                <a:spcPct val="94000"/>
              </a:lnSpc>
              <a:spcBef>
                <a:spcPts val="0"/>
              </a:spcBef>
              <a:spcAft>
                <a:spcPts val="500"/>
              </a:spcAft>
            </a:pPr>
            <a:r>
              <a:rPr sz="750" b="0" i="0" dirty="0" lang="vi-VN">
                <a:solidFill>
                  <a:srgbClr val="5C6B62"/>
                </a:solidFill>
                <a:latin typeface="Arial"/>
              </a:rPr>
              <a:t>Nói rõ tên, vị trí và số điện thoại của mình, và cho biết kính cần khoảng 14 ngày.</a:t>
            </a:r>
          </a:p>
          <a:p>
            <a:pPr algn="l">
              <a:lnSpc>
                <a:spcPct val="92000"/>
              </a:lnSpc>
              <a:spcBef>
                <a:spcPts val="0"/>
              </a:spcBef>
              <a:spcAft>
                <a:spcPts val="100"/>
              </a:spcAft>
            </a:pPr>
            <a:r>
              <a:rPr sz="850" b="1" dirty="0" lang="vi-VN">
                <a:solidFill>
                  <a:srgbClr val="2E9C4C"/>
                </a:solidFill>
                <a:latin typeface="Arial"/>
              </a:rPr>
              <a:t>D6-7 · 14/7</a:t>
            </a:r>
          </a:p>
          <a:p>
            <a:pPr algn="l">
              <a:lnSpc>
                <a:spcPct val="94000"/>
              </a:lnSpc>
              <a:spcBef>
                <a:spcPts val="0"/>
              </a:spcBef>
              <a:spcAft>
                <a:spcPts val="500"/>
              </a:spcAft>
            </a:pPr>
            <a:r>
              <a:rPr sz="750" b="0" i="0" dirty="0" lang="vi-VN">
                <a:solidFill>
                  <a:srgbClr val="5C6B62"/>
                </a:solidFill>
                <a:latin typeface="Arial"/>
              </a:rPr>
              <a:t>Kính chưa xong, nên bạn ấy nói thật: kính vẫn đang được làm, sẽ cập nhật ngay khi có ngày cụ thể.</a:t>
            </a:r>
          </a:p>
          <a:p>
            <a:pPr algn="l">
              <a:lnSpc>
                <a:spcPct val="92000"/>
              </a:lnSpc>
              <a:spcBef>
                <a:spcPts val="0"/>
              </a:spcBef>
              <a:spcAft>
                <a:spcPts val="100"/>
              </a:spcAft>
            </a:pPr>
            <a:r>
              <a:rPr sz="850" b="1" dirty="0" lang="vi-VN">
                <a:solidFill>
                  <a:srgbClr val="2E9C4C"/>
                </a:solidFill>
                <a:latin typeface="Arial"/>
              </a:rPr>
              <a:t>D6-7 · 18/7</a:t>
            </a:r>
          </a:p>
          <a:p>
            <a:pPr algn="l">
              <a:lnSpc>
                <a:spcPct val="94000"/>
              </a:lnSpc>
              <a:spcBef>
                <a:spcPts val="0"/>
              </a:spcBef>
              <a:spcAft>
                <a:spcPts val="500"/>
              </a:spcAft>
            </a:pPr>
            <a:r>
              <a:rPr sz="750" b="0" i="0" dirty="0" lang="vi-VN">
                <a:solidFill>
                  <a:srgbClr val="5C6B62"/>
                </a:solidFill>
                <a:latin typeface="Arial"/>
              </a:rPr>
              <a:t>Kính đã xong. Bạn ấy thông báo cho phụ huynh và hỏi khi nào tiện đến nhận, rồi đề nghị đưa bé cùng đến để kiểm tra độ vừa vặn.</a:t>
            </a:r>
          </a:p>
          <a:p>
            <a:pPr algn="l">
              <a:lnSpc>
                <a:spcPct val="92000"/>
              </a:lnSpc>
              <a:spcBef>
                <a:spcPts val="0"/>
              </a:spcBef>
              <a:spcAft>
                <a:spcPts val="100"/>
              </a:spcAft>
            </a:pPr>
            <a:r>
              <a:rPr sz="850" b="1" dirty="0" lang="vi-VN">
                <a:solidFill>
                  <a:srgbClr val="2E9C4C"/>
                </a:solidFill>
                <a:latin typeface="Arial"/>
              </a:rPr>
              <a:t>Hẹn lịch</a:t>
            </a:r>
          </a:p>
          <a:p>
            <a:pPr algn="l">
              <a:lnSpc>
                <a:spcPct val="94000"/>
              </a:lnSpc>
              <a:spcBef>
                <a:spcPts val="0"/>
              </a:spcBef>
              <a:spcAft>
                <a:spcPts val="500"/>
              </a:spcAft>
            </a:pPr>
            <a:r>
              <a:rPr sz="750" b="0" i="0" dirty="0" lang="vi-VN">
                <a:solidFill>
                  <a:srgbClr val="5C6B62"/>
                </a:solidFill>
                <a:latin typeface="Arial"/>
              </a:rPr>
              <a:t>Xác nhận thời gian và chủ động đề nghị lấy số thứ tự trước để phụ huynh không phải chờ.</a:t>
            </a:r>
          </a:p>
          <a:p>
            <a:pPr algn="l">
              <a:lnSpc>
                <a:spcPct val="92000"/>
              </a:lnSpc>
              <a:spcBef>
                <a:spcPts val="0"/>
              </a:spcBef>
              <a:spcAft>
                <a:spcPts val="100"/>
              </a:spcAft>
            </a:pPr>
            <a:r>
              <a:rPr sz="850" b="1" dirty="0" lang="vi-VN">
                <a:solidFill>
                  <a:srgbClr val="2E9C4C"/>
                </a:solidFill>
                <a:latin typeface="Arial"/>
              </a:rPr>
              <a:t>CD · 22/7</a:t>
            </a:r>
          </a:p>
          <a:p>
            <a:pPr algn="l">
              <a:lnSpc>
                <a:spcPct val="94000"/>
              </a:lnSpc>
              <a:spcBef>
                <a:spcPts val="0"/>
              </a:spcBef>
              <a:spcAft>
                <a:spcPts val="500"/>
              </a:spcAft>
            </a:pPr>
            <a:r>
              <a:rPr sz="750" b="0" i="0" dirty="0" lang="vi-VN">
                <a:solidFill>
                  <a:srgbClr val="5C6B62"/>
                </a:solidFill>
                <a:latin typeface="Arial"/>
              </a:rPr>
              <a:t>Hướng dẫn sử dụng kính áp tròng đầy đủ: rửa tay, đeo vào ban đêm, dùng dung dịch ngâm rửa, không dùng nước máy, và khi nào cần ngưng đeo để gọi cho trung tâm.</a:t>
            </a:r>
          </a:p>
          <a:p>
            <a:pPr algn="l">
              <a:lnSpc>
                <a:spcPct val="92000"/>
              </a:lnSpc>
              <a:spcBef>
                <a:spcPts val="0"/>
              </a:spcBef>
              <a:spcAft>
                <a:spcPts val="100"/>
              </a:spcAft>
            </a:pPr>
            <a:r>
              <a:rPr sz="850" b="1" dirty="0" lang="vi-VN">
                <a:solidFill>
                  <a:srgbClr val="2E9C4C"/>
                </a:solidFill>
                <a:latin typeface="Arial"/>
              </a:rPr>
              <a:t>CD · quyền lợi</a:t>
            </a:r>
          </a:p>
          <a:p>
            <a:pPr algn="l">
              <a:lnSpc>
                <a:spcPct val="94000"/>
              </a:lnSpc>
              <a:spcBef>
                <a:spcPts val="0"/>
              </a:spcBef>
              <a:spcAft>
                <a:spcPts val="500"/>
              </a:spcAft>
            </a:pPr>
            <a:r>
              <a:rPr sz="750" b="0" i="0" dirty="0" lang="vi-VN">
                <a:solidFill>
                  <a:srgbClr val="5C6B62"/>
                </a:solidFill>
                <a:latin typeface="Arial"/>
              </a:rPr>
              <a:t>Quyền lợi thành viên</a:t>
            </a:r>
            <a:r>
              <a:rPr lang="vi-VN" sz="750" b="0" i="0" dirty="0">
                <a:solidFill>
                  <a:srgbClr val="5C6B62"/>
                </a:solidFill>
                <a:latin typeface="Arial"/>
              </a:rPr>
              <a:t> và lời đề nghị giới thiệu</a:t>
            </a:r>
            <a:r>
              <a:rPr sz="750" b="0" i="0" dirty="0" lang="vi-VN">
                <a:solidFill>
                  <a:srgbClr val="5C6B62"/>
                </a:solidFill>
                <a:latin typeface="Arial"/>
              </a:rPr>
              <a:t> chỉ được gửi sau khi phụ huynh phản hồi, kèm đầy đủ giá trị voucher và điều kiện giới thiệu.</a:t>
            </a:r>
          </a:p>
        </p:txBody>
      </p:sp>
      <p:pic>
        <p:nvPicPr>
          <p:cNvPr id="22" name="Picture 18" descr="referral_strip_vn.png"/>
          <p:cNvPicPr>
            <a:picLocks noChangeAspect="1"/>
          </p:cNvPicPr>
          <p:nvPr/>
        </p:nvPicPr>
        <p:blipFill>
          <a:blip r:embed="rId7"/>
          <a:stretch>
            <a:fillRect/>
          </a:stretch>
        </p:blipFill>
        <p:spPr>
          <a:xfrm>
            <a:off x="5212076" y="6022779"/>
            <a:ext cx="3644835" cy="638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4. VÍ DỤ NÊN HỌC THEO   |   VÍ DỤ NÊN HỌC THEO</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Ví dụ — từ tối ngày nhận kính đến CD+30 (OKY-260722)</a:t>
            </a:r>
          </a:p>
        </p:txBody>
      </p:sp>
      <p:sp>
        <p:nvSpPr>
          <p:cNvPr id="5" name="Rectangle 4"/>
          <p:cNvSpPr/>
          <p:nvPr/>
        </p:nvSpPr>
        <p:spPr>
          <a:xfrm>
            <a:off x="502920" y="83379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7</a:t>
            </a:r>
          </a:p>
        </p:txBody>
      </p:sp>
      <p:sp>
        <p:nvSpPr>
          <p:cNvPr id="8" name="Rectangle 7"/>
          <p:cNvSpPr/>
          <p:nvPr/>
        </p:nvSpPr>
        <p:spPr>
          <a:xfrm>
            <a:off x="502920" y="916092"/>
            <a:ext cx="11183112" cy="29260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lnSpc>
                <a:spcPct val="95000"/>
              </a:lnSpc>
              <a:spcBef>
                <a:spcPts val="0"/>
              </a:spcBef>
              <a:spcAft>
                <a:spcPts val="0"/>
              </a:spcAft>
            </a:pPr>
            <a:r>
              <a:rPr lang="vi-VN" sz="950" b="1" dirty="0">
                <a:solidFill>
                  <a:srgbClr val="2E9C4C"/>
                </a:solidFill>
                <a:latin typeface="Arial"/>
              </a:rPr>
              <a:t>Tiếp theo trang trước.   </a:t>
            </a:r>
            <a:r>
              <a:rPr lang="vi-VN" sz="950" b="0" dirty="0">
                <a:solidFill>
                  <a:srgbClr val="5C6B62"/>
                </a:solidFill>
                <a:latin typeface="Arial"/>
              </a:rPr>
              <a:t>Sáu lượt chăm sóc sau khi nhận kính, và DA luôn là người chủ động gửi trước; phụ huynh chưa bao giờ phải hỏi. Bạn ấy đề nghị giới thiệu hai lần, cả hai lần đều sau khi khách phản hồi. </a:t>
            </a:r>
          </a:p>
        </p:txBody>
      </p:sp>
      <p:sp>
        <p:nvSpPr>
          <p:cNvPr id="9" name="Rectangle 8"/>
          <p:cNvSpPr/>
          <p:nvPr/>
        </p:nvSpPr>
        <p:spPr>
          <a:xfrm>
            <a:off x="502920" y="1300140"/>
            <a:ext cx="3163824" cy="310896"/>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00" b="1" i="0" dirty="0" lang="vi-VN">
                <a:solidFill>
                  <a:srgbClr val="FFFFFF"/>
                </a:solidFill>
                <a:latin typeface="Arial"/>
              </a:rPr>
              <a:t>CDN · CD+1 </a:t>
            </a:r>
          </a:p>
        </p:txBody>
      </p:sp>
      <p:sp>
        <p:nvSpPr>
          <p:cNvPr id="10" name="Rectangle 9"/>
          <p:cNvSpPr/>
          <p:nvPr/>
        </p:nvSpPr>
        <p:spPr>
          <a:xfrm>
            <a:off x="502920" y="1611036"/>
            <a:ext cx="3163824" cy="2391377"/>
          </a:xfrm>
          <a:prstGeom prst="rect">
            <a:avLst/>
          </a:prstGeom>
          <a:solidFill>
            <a:srgbClr val="F7F8F7"/>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30" name="Picture 10" descr="1788320731307-Picture3_vietnamese.png"/>
          <p:cNvPicPr>
            <a:picLocks noChangeAspect="1"/>
          </p:cNvPicPr>
          <p:nvPr/>
        </p:nvPicPr>
        <p:blipFill>
          <a:blip r:embed="rId5"/>
          <a:stretch>
            <a:fillRect/>
          </a:stretch>
        </p:blipFill>
        <p:spPr>
          <a:xfrm>
            <a:off x="607806" y="1629324"/>
            <a:ext cx="2954051" cy="2411289"/>
          </a:xfrm>
          <a:prstGeom prst="rect">
            <a:avLst/>
          </a:prstGeom>
        </p:spPr>
      </p:pic>
      <p:sp>
        <p:nvSpPr>
          <p:cNvPr id="12" name="Rectangle 11"/>
          <p:cNvSpPr/>
          <p:nvPr/>
        </p:nvSpPr>
        <p:spPr>
          <a:xfrm>
            <a:off x="3922775" y="1300140"/>
            <a:ext cx="3092747" cy="310896"/>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nSpc>
                <a:spcPct val="90000"/>
              </a:lnSpc>
            </a:pPr>
            <a:r>
              <a:rPr lang="vi-VN" sz="1000" b="1" dirty="0">
                <a:solidFill>
                  <a:srgbClr val="FFFFFF"/>
                </a:solidFill>
                <a:latin typeface="Arial"/>
              </a:rPr>
              <a:t>CD+3-5 · </a:t>
            </a:r>
            <a:r>
              <a:rPr sz="1000" b="1" i="0" dirty="0" lang="vi-VN">
                <a:solidFill>
                  <a:srgbClr val="FFFFFF"/>
                </a:solidFill>
                <a:latin typeface="Arial"/>
              </a:rPr>
              <a:t>CD+7</a:t>
            </a:r>
          </a:p>
        </p:txBody>
      </p:sp>
      <p:sp>
        <p:nvSpPr>
          <p:cNvPr id="13" name="Rectangle 12"/>
          <p:cNvSpPr/>
          <p:nvPr/>
        </p:nvSpPr>
        <p:spPr>
          <a:xfrm>
            <a:off x="3922775" y="1611036"/>
            <a:ext cx="3092747" cy="3183735"/>
          </a:xfrm>
          <a:prstGeom prst="rect">
            <a:avLst/>
          </a:prstGeom>
          <a:solidFill>
            <a:srgbClr val="F7F8F7"/>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31" name="Picture 13" descr="1788320731306-ModelPicture4_vietnamese.png"/>
          <p:cNvPicPr>
            <a:picLocks noChangeAspect="1"/>
          </p:cNvPicPr>
          <p:nvPr/>
        </p:nvPicPr>
        <p:blipFill>
          <a:blip r:embed="rId6"/>
          <a:srcRect b="41918"/>
          <a:stretch>
            <a:fillRect/>
          </a:stretch>
        </p:blipFill>
        <p:spPr>
          <a:xfrm>
            <a:off x="3922776" y="1697170"/>
            <a:ext cx="3092747" cy="2939791"/>
          </a:xfrm>
          <a:prstGeom prst="rect">
            <a:avLst/>
          </a:prstGeom>
        </p:spPr>
      </p:pic>
      <p:sp>
        <p:nvSpPr>
          <p:cNvPr id="16" name="Rectangle 15"/>
          <p:cNvSpPr/>
          <p:nvPr/>
        </p:nvSpPr>
        <p:spPr>
          <a:xfrm>
            <a:off x="150607" y="4909883"/>
            <a:ext cx="11247119" cy="1783525"/>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grpSp>
        <p:nvGrpSpPr>
          <p:cNvPr id="29" name="Group 28">
            <a:extLst>
              <a:ext uri="{FF2B5EF4-FFF2-40B4-BE49-F238E27FC236}">
                <a16:creationId xmlns:a16="http://schemas.microsoft.com/office/drawing/2014/main" id="{BC404E3F-92F7-FF26-A337-979654BB6999}"/>
              </a:ext>
            </a:extLst>
          </p:cNvPr>
          <p:cNvGrpSpPr/>
          <p:nvPr/>
        </p:nvGrpSpPr>
        <p:grpSpPr>
          <a:xfrm>
            <a:off x="150607" y="4827245"/>
            <a:ext cx="11247119" cy="1415685"/>
            <a:chOff x="6454" y="5056550"/>
            <a:chExt cx="11247119" cy="1415685"/>
          </a:xfrm>
        </p:grpSpPr>
        <p:sp>
          <p:nvSpPr>
            <p:cNvPr id="15" name="Rectangle 14"/>
            <p:cNvSpPr/>
            <p:nvPr/>
          </p:nvSpPr>
          <p:spPr>
            <a:xfrm>
              <a:off x="6454" y="5056550"/>
              <a:ext cx="11247119" cy="147786"/>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00" b="1" i="0" dirty="0" lang="vi-VN">
                  <a:solidFill>
                    <a:srgbClr val="FFFFFF"/>
                  </a:solidFill>
                  <a:latin typeface="Arial"/>
                </a:rPr>
                <a:t>DA này đã làm gì</a:t>
              </a:r>
            </a:p>
          </p:txBody>
        </p:sp>
        <p:sp>
          <p:nvSpPr>
            <p:cNvPr id="17" name="TextBox 16"/>
            <p:cNvSpPr txBox="1"/>
            <p:nvPr/>
          </p:nvSpPr>
          <p:spPr>
            <a:xfrm>
              <a:off x="372988" y="5207510"/>
              <a:ext cx="10596291" cy="1264725"/>
            </a:xfrm>
            <a:prstGeom prst="rect">
              <a:avLst/>
            </a:prstGeom>
            <a:noFill/>
          </p:spPr>
          <p:txBody>
            <a:bodyPr wrap="square" lIns="36576" tIns="18288" rIns="36576" bIns="18288" anchor="t">
              <a:spAutoFit/>
            </a:bodyPr>
            <a:lstStyle/>
            <a:p>
              <a:pPr algn="l">
                <a:lnSpc>
                  <a:spcPct val="92000"/>
                </a:lnSpc>
                <a:spcBef>
                  <a:spcPts val="0"/>
                </a:spcBef>
                <a:spcAft>
                  <a:spcPts val="100"/>
                </a:spcAft>
              </a:pPr>
              <a:r>
                <a:rPr sz="850" b="1" dirty="0" lang="vi-VN">
                  <a:solidFill>
                    <a:srgbClr val="2E9C4C"/>
                  </a:solidFill>
                  <a:latin typeface="Arial"/>
                </a:rPr>
                <a:t>CDN · 22/7, 21:30</a:t>
              </a:r>
            </a:p>
            <a:p>
              <a:pPr algn="l">
                <a:lnSpc>
                  <a:spcPct val="94000"/>
                </a:lnSpc>
                <a:spcBef>
                  <a:spcPts val="0"/>
                </a:spcBef>
                <a:spcAft>
                  <a:spcPts val="400"/>
                </a:spcAft>
              </a:pPr>
              <a:r>
                <a:rPr sz="750" b="0" i="0" dirty="0" lang="vi-VN">
                  <a:solidFill>
                    <a:srgbClr val="5C6B62"/>
                  </a:solidFill>
                  <a:latin typeface="Arial"/>
                </a:rPr>
                <a:t>Ngay tối ngày nhận kính: hỏi xem kính áp tròng có thoải mái không. Lượt chăm sóc này chỉ áp dụng cho Ortho-K, và bạn ấy đã làm ngay tối đó.</a:t>
              </a:r>
            </a:p>
            <a:p>
              <a:pPr algn="l">
                <a:lnSpc>
                  <a:spcPct val="92000"/>
                </a:lnSpc>
                <a:spcBef>
                  <a:spcPts val="0"/>
                </a:spcBef>
                <a:spcAft>
                  <a:spcPts val="100"/>
                </a:spcAft>
              </a:pPr>
              <a:r>
                <a:rPr sz="850" b="1" dirty="0" lang="vi-VN">
                  <a:solidFill>
                    <a:srgbClr val="2E9C4C"/>
                  </a:solidFill>
                  <a:latin typeface="Arial"/>
                </a:rPr>
                <a:t>CD+1 · 23/7</a:t>
              </a:r>
            </a:p>
            <a:p>
              <a:pPr algn="l">
                <a:lnSpc>
                  <a:spcPct val="94000"/>
                </a:lnSpc>
                <a:spcBef>
                  <a:spcPts val="0"/>
                </a:spcBef>
                <a:spcAft>
                  <a:spcPts val="400"/>
                </a:spcAft>
              </a:pPr>
              <a:r>
                <a:rPr sz="750" b="0" i="0" dirty="0" lang="vi-VN">
                  <a:solidFill>
                    <a:srgbClr val="5C6B62"/>
                  </a:solidFill>
                  <a:latin typeface="Arial"/>
                </a:rPr>
                <a:t>Hôm sau, hỏi về đêm đầu tiên. Phụ huynh nói kính hơi lạ nhưng bé vẫn ngủ được và nhìn rõ hơn. DA giải thích cảm giác này trong vài đêm đầu là bình thường, và mong phụ huynh tiếp tục cập nhật.</a:t>
              </a:r>
            </a:p>
            <a:p>
              <a:pPr algn="l">
                <a:lnSpc>
                  <a:spcPct val="92000"/>
                </a:lnSpc>
                <a:spcBef>
                  <a:spcPts val="0"/>
                </a:spcBef>
                <a:spcAft>
                  <a:spcPts val="100"/>
                </a:spcAft>
              </a:pPr>
              <a:r>
                <a:rPr sz="850" b="1" dirty="0" lang="vi-VN">
                  <a:solidFill>
                    <a:srgbClr val="2E9C4C"/>
                  </a:solidFill>
                  <a:latin typeface="Arial"/>
                </a:rPr>
                <a:t>CD+3-5 · 27/7</a:t>
              </a:r>
            </a:p>
            <a:p>
              <a:pPr algn="l">
                <a:lnSpc>
                  <a:spcPct val="94000"/>
                </a:lnSpc>
                <a:spcBef>
                  <a:spcPts val="0"/>
                </a:spcBef>
                <a:spcAft>
                  <a:spcPts val="400"/>
                </a:spcAft>
              </a:pPr>
              <a:r>
                <a:rPr sz="750" b="0" i="0" dirty="0" lang="vi-VN">
                  <a:solidFill>
                    <a:srgbClr val="5C6B62"/>
                  </a:solidFill>
                  <a:latin typeface="Arial"/>
                </a:rPr>
                <a:t>Ngày thứ năm: xác nhận bé đang thích nghi tốt và nhìn rõ.</a:t>
              </a:r>
            </a:p>
            <a:p>
              <a:pPr algn="l">
                <a:lnSpc>
                  <a:spcPct val="92000"/>
                </a:lnSpc>
                <a:spcBef>
                  <a:spcPts val="0"/>
                </a:spcBef>
                <a:spcAft>
                  <a:spcPts val="100"/>
                </a:spcAft>
              </a:pPr>
              <a:r>
                <a:rPr sz="850" b="1" dirty="0" lang="vi-VN">
                  <a:solidFill>
                    <a:srgbClr val="2E9C4C"/>
                  </a:solidFill>
                  <a:latin typeface="Arial"/>
                </a:rPr>
                <a:t>CD+7 · 29/7</a:t>
              </a:r>
            </a:p>
            <a:p>
              <a:pPr algn="l">
                <a:lnSpc>
                  <a:spcPct val="94000"/>
                </a:lnSpc>
                <a:spcBef>
                  <a:spcPts val="0"/>
                </a:spcBef>
                <a:spcAft>
                  <a:spcPts val="400"/>
                </a:spcAft>
              </a:pPr>
              <a:r>
                <a:rPr sz="750" b="0" i="0" dirty="0" lang="vi-VN">
                  <a:solidFill>
                    <a:srgbClr val="5C6B62"/>
                  </a:solidFill>
                  <a:latin typeface="Arial"/>
                </a:rPr>
                <a:t>Tròn một tuần: mời tái khám, sắp xếp lịch hẹn, rồi mới đề nghị giới thiệu — sau khi lịch hẹn đã được đồng ý, và đưa ra dưới hình thức ưu đãi cho người thân và bạn bè.</a:t>
              </a:r>
            </a:p>
            <a:p>
              <a:pPr algn="l">
                <a:lnSpc>
                  <a:spcPct val="92000"/>
                </a:lnSpc>
                <a:spcBef>
                  <a:spcPts val="0"/>
                </a:spcBef>
                <a:spcAft>
                  <a:spcPts val="100"/>
                </a:spcAft>
              </a:pPr>
              <a:r>
                <a:rPr sz="850" b="1" dirty="0" lang="vi-VN">
                  <a:solidFill>
                    <a:srgbClr val="2E9C4C"/>
                  </a:solidFill>
                  <a:latin typeface="Arial"/>
                </a:rPr>
                <a:t>Kết quả CD+7 · 1/8</a:t>
              </a:r>
            </a:p>
            <a:p>
              <a:pPr algn="l">
                <a:lnSpc>
                  <a:spcPct val="94000"/>
                </a:lnSpc>
                <a:spcBef>
                  <a:spcPts val="0"/>
                </a:spcBef>
                <a:spcAft>
                  <a:spcPts val="400"/>
                </a:spcAft>
              </a:pPr>
              <a:r>
                <a:rPr sz="750" b="0" i="0" dirty="0" lang="vi-VN">
                  <a:solidFill>
                    <a:srgbClr val="5C6B62"/>
                  </a:solidFill>
                  <a:latin typeface="Arial"/>
                </a:rPr>
                <a:t>Báo lại cho phụ huynh kết luận của bác sĩ, nhắc lại các bước vệ sinh, và cho biết lần liên hệ tiếp theo là khi nào.</a:t>
              </a:r>
            </a:p>
            <a:p>
              <a:pPr algn="l">
                <a:lnSpc>
                  <a:spcPct val="92000"/>
                </a:lnSpc>
                <a:spcBef>
                  <a:spcPts val="0"/>
                </a:spcBef>
                <a:spcAft>
                  <a:spcPts val="100"/>
                </a:spcAft>
              </a:pPr>
              <a:r>
                <a:rPr sz="850" b="1" dirty="0" lang="vi-VN">
                  <a:solidFill>
                    <a:srgbClr val="2E9C4C"/>
                  </a:solidFill>
                  <a:latin typeface="Arial"/>
                </a:rPr>
                <a:t>CD+30 · 22/8</a:t>
              </a:r>
            </a:p>
            <a:p>
              <a:pPr algn="l">
                <a:lnSpc>
                  <a:spcPct val="94000"/>
                </a:lnSpc>
                <a:spcBef>
                  <a:spcPts val="0"/>
                </a:spcBef>
                <a:spcAft>
                  <a:spcPts val="400"/>
                </a:spcAft>
              </a:pPr>
              <a:r>
                <a:rPr sz="750" b="0" i="0" dirty="0" lang="vi-VN">
                  <a:solidFill>
                    <a:srgbClr val="5C6B62"/>
                  </a:solidFill>
                  <a:latin typeface="Arial"/>
                </a:rPr>
                <a:t>Tròn một tháng: sắp xếp lịch tái khám, nhắc đeo kính ít nhất 6 đêm mỗi tuần, và đề nghị giới thiệu lần nữa sau khi phụ huynh cảm ơn.</a:t>
              </a:r>
            </a:p>
          </p:txBody>
        </p:sp>
      </p:grpSp>
      <p:sp>
        <p:nvSpPr>
          <p:cNvPr id="18" name="Rectangle 17"/>
          <p:cNvSpPr/>
          <p:nvPr/>
        </p:nvSpPr>
        <p:spPr>
          <a:xfrm>
            <a:off x="2585293" y="-619065"/>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32" name="Picture 20" descr="1788320731306-ModelPicture4_vietnamese.png"/>
          <p:cNvPicPr>
            <a:picLocks noChangeAspect="1"/>
          </p:cNvPicPr>
          <p:nvPr/>
        </p:nvPicPr>
        <p:blipFill>
          <a:blip r:embed="rId6"/>
          <a:srcRect t="57408"/>
          <a:stretch>
            <a:fillRect/>
          </a:stretch>
        </p:blipFill>
        <p:spPr>
          <a:xfrm>
            <a:off x="7161261" y="1687662"/>
            <a:ext cx="4168155" cy="2905376"/>
          </a:xfrm>
          <a:prstGeom prst="rect">
            <a:avLst/>
          </a:prstGeom>
        </p:spPr>
      </p:pic>
      <p:sp>
        <p:nvSpPr>
          <p:cNvPr id="27" name="Rectangle 26">
            <a:extLst>
              <a:ext uri="{FF2B5EF4-FFF2-40B4-BE49-F238E27FC236}">
                <a16:creationId xmlns:a16="http://schemas.microsoft.com/office/drawing/2014/main" id="{4BE34C8D-A5AD-69F2-78BC-1A95D1200AC0}"/>
              </a:ext>
            </a:extLst>
          </p:cNvPr>
          <p:cNvSpPr/>
          <p:nvPr/>
        </p:nvSpPr>
        <p:spPr>
          <a:xfrm>
            <a:off x="7161260" y="1286203"/>
            <a:ext cx="4168156" cy="310896"/>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nSpc>
                <a:spcPct val="90000"/>
              </a:lnSpc>
            </a:pPr>
            <a:r>
              <a:rPr sz="1000" b="1" i="0" dirty="0" lang="vi-VN">
                <a:solidFill>
                  <a:srgbClr val="FFFFFF"/>
                </a:solidFill>
                <a:latin typeface="Arial"/>
              </a:rPr>
              <a:t>CD+30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5. DỮ LIỆU CẦN SỬA   |   XỬ LÝ CẢNH BÁO DỮ LIỆU</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Hai vấn đề dữ liệu trong bảng theo dõi</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8</a:t>
            </a:r>
          </a:p>
        </p:txBody>
      </p:sp>
      <p:sp>
        <p:nvSpPr>
          <p:cNvPr id="8" name="TextBox 7"/>
          <p:cNvSpPr txBox="1"/>
          <p:nvPr/>
        </p:nvSpPr>
        <p:spPr>
          <a:xfrm>
            <a:off x="502920" y="1316736"/>
            <a:ext cx="11183112"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00" b="0" i="1" lang="vi-VN">
                <a:solidFill>
                  <a:srgbClr val="5C6B62"/>
                </a:solidFill>
                <a:latin typeface="Arial"/>
              </a:rPr>
              <a:t>Đây không phải lỗi nhỏ. Nếu ngày trên thẻ Zalo sai, CRM sẽ tính ra ngày chăm sóc sai, và tin chăm sóc đã gửi có thể bị tính là chưa gửi.</a:t>
            </a:r>
          </a:p>
        </p:txBody>
      </p:sp>
      <p:sp>
        <p:nvSpPr>
          <p:cNvPr id="9" name="Rectangle 8"/>
          <p:cNvSpPr/>
          <p:nvPr/>
        </p:nvSpPr>
        <p:spPr>
          <a:xfrm>
            <a:off x="502920" y="1645920"/>
            <a:ext cx="5577840" cy="2139696"/>
          </a:xfrm>
          <a:prstGeom prst="rect">
            <a:avLst/>
          </a:prstGeom>
          <a:solidFill>
            <a:srgbClr val="FDECE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502920" y="1645920"/>
            <a:ext cx="5577840"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67512" y="1792224"/>
            <a:ext cx="5248655"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200" b="1" lang="vi-VN">
                <a:solidFill>
                  <a:srgbClr val="C0392B"/>
                </a:solidFill>
                <a:latin typeface="Arial"/>
              </a:rPr>
              <a:t>VẤN ĐỀ 1  ·  </a:t>
            </a:r>
            <a:r>
              <a:rPr sz="1200" b="1" lang="vi-VN">
                <a:solidFill>
                  <a:srgbClr val="31633D"/>
                </a:solidFill>
                <a:latin typeface="Arial"/>
              </a:rPr>
              <a:t>Ngày trên thẻ Zalo không khớp ngày nhận kính</a:t>
            </a:r>
          </a:p>
        </p:txBody>
      </p:sp>
      <p:sp>
        <p:nvSpPr>
          <p:cNvPr id="12" name="TextBox 11"/>
          <p:cNvSpPr txBox="1"/>
          <p:nvPr/>
        </p:nvSpPr>
        <p:spPr>
          <a:xfrm>
            <a:off x="667512" y="2103120"/>
            <a:ext cx="5248655" cy="1554480"/>
          </a:xfrm>
          <a:prstGeom prst="rect">
            <a:avLst/>
          </a:prstGeom>
          <a:noFill/>
        </p:spPr>
        <p:txBody>
          <a:bodyPr wrap="square" lIns="36576" tIns="18288" rIns="36576" bIns="18288" anchor="t">
            <a:spAutoFit/>
          </a:bodyPr>
          <a:lstStyle/>
          <a:p>
            <a:pPr algn="l">
              <a:lnSpc>
                <a:spcPct val="96000"/>
              </a:lnSpc>
              <a:spcBef>
                <a:spcPts val="0"/>
              </a:spcBef>
              <a:spcAft>
                <a:spcPts val="600"/>
              </a:spcAft>
            </a:pPr>
            <a:r>
              <a:rPr sz="950" b="0" i="0" lang="vi-VN">
                <a:solidFill>
                  <a:srgbClr val="5C6B62"/>
                </a:solidFill>
                <a:latin typeface="Arial"/>
              </a:rPr>
              <a:t>Thẻ Zalo vẫn hiển thị ngày ban đầu, không phải ngày khách thực sự đến nhận kính.</a:t>
            </a:r>
          </a:p>
          <a:p>
            <a:pPr algn="l">
              <a:lnSpc>
                <a:spcPct val="96000"/>
              </a:lnSpc>
              <a:spcBef>
                <a:spcPts val="0"/>
              </a:spcBef>
              <a:spcAft>
                <a:spcPts val="600"/>
              </a:spcAft>
            </a:pPr>
            <a:r>
              <a:rPr sz="950" b="1" lang="vi-VN">
                <a:solidFill>
                  <a:srgbClr val="C0392B"/>
                </a:solidFill>
                <a:latin typeface="Arial"/>
              </a:rPr>
              <a:t>Vì sao quan trọng:  </a:t>
            </a:r>
            <a:r>
              <a:rPr sz="950" b="0" lang="vi-VN">
                <a:solidFill>
                  <a:srgbClr val="5C6B62"/>
                </a:solidFill>
                <a:latin typeface="Arial"/>
              </a:rPr>
              <a:t>CRM tính toàn bộ ngày chăm sóc từ ngày trên thẻ. Nếu ngày trên thẻ sai thì mọi ngày CD đều sai, và tin chăm sóc bạn đã gửi sẽ bị tính vào ngày khác hoặc không được tính.</a:t>
            </a:r>
          </a:p>
          <a:p>
            <a:pPr algn="l">
              <a:lnSpc>
                <a:spcPct val="96000"/>
              </a:lnSpc>
              <a:spcBef>
                <a:spcPts val="0"/>
              </a:spcBef>
              <a:spcAft>
                <a:spcPts val="0"/>
              </a:spcAft>
            </a:pPr>
            <a:r>
              <a:rPr sz="950" b="1" lang="vi-VN">
                <a:solidFill>
                  <a:srgbClr val="31633D"/>
                </a:solidFill>
                <a:latin typeface="Arial"/>
              </a:rPr>
              <a:t>Lặp lại tại:  </a:t>
            </a:r>
            <a:r>
              <a:rPr sz="950" b="0" lang="vi-VN">
                <a:solidFill>
                  <a:srgbClr val="5C6B62"/>
                </a:solidFill>
                <a:latin typeface="Arial"/>
              </a:rPr>
              <a:t>NGT và CTE D7 — đợt kiểm tra tuần này ghi nhận ở cả hai chi nhánh.</a:t>
            </a:r>
          </a:p>
        </p:txBody>
      </p:sp>
      <p:sp>
        <p:nvSpPr>
          <p:cNvPr id="13" name="Rectangle 12"/>
          <p:cNvSpPr/>
          <p:nvPr/>
        </p:nvSpPr>
        <p:spPr>
          <a:xfrm>
            <a:off x="6291072" y="1645920"/>
            <a:ext cx="5394960" cy="2139696"/>
          </a:xfrm>
          <a:prstGeom prst="rect">
            <a:avLst/>
          </a:prstGeom>
          <a:solidFill>
            <a:srgbClr val="FDF6E3"/>
          </a:solidFill>
          <a:ln w="12700">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6291072" y="1645920"/>
            <a:ext cx="5394960" cy="64008"/>
          </a:xfrm>
          <a:prstGeom prst="rect">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455664" y="1792224"/>
            <a:ext cx="5065776"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200" b="1" lang="vi-VN">
                <a:solidFill>
                  <a:srgbClr val="B9770B"/>
                </a:solidFill>
                <a:latin typeface="Arial"/>
              </a:rPr>
              <a:t>VẤN ĐỀ 2  ·  </a:t>
            </a:r>
            <a:r>
              <a:rPr sz="1200" b="1" lang="vi-VN">
                <a:solidFill>
                  <a:srgbClr val="31633D"/>
                </a:solidFill>
                <a:latin typeface="Arial"/>
              </a:rPr>
              <a:t>Bé thứ hai chưa được ghi nhận</a:t>
            </a:r>
          </a:p>
        </p:txBody>
      </p:sp>
      <p:sp>
        <p:nvSpPr>
          <p:cNvPr id="16" name="TextBox 15"/>
          <p:cNvSpPr txBox="1"/>
          <p:nvPr/>
        </p:nvSpPr>
        <p:spPr>
          <a:xfrm>
            <a:off x="6455664" y="2103120"/>
            <a:ext cx="5065776" cy="1554480"/>
          </a:xfrm>
          <a:prstGeom prst="rect">
            <a:avLst/>
          </a:prstGeom>
          <a:noFill/>
        </p:spPr>
        <p:txBody>
          <a:bodyPr wrap="square" lIns="36576" tIns="18288" rIns="36576" bIns="18288" anchor="t">
            <a:spAutoFit/>
          </a:bodyPr>
          <a:lstStyle/>
          <a:p>
            <a:pPr algn="l">
              <a:lnSpc>
                <a:spcPct val="96000"/>
              </a:lnSpc>
              <a:spcBef>
                <a:spcPts val="0"/>
              </a:spcBef>
              <a:spcAft>
                <a:spcPts val="600"/>
              </a:spcAft>
            </a:pPr>
            <a:r>
              <a:rPr sz="950" b="0" i="0" lang="vi-VN">
                <a:solidFill>
                  <a:srgbClr val="5C6B62"/>
                </a:solidFill>
                <a:latin typeface="Arial"/>
              </a:rPr>
              <a:t>Khi một phụ huynh có hai bé hoặc nhiều hơn, chỉ bé đầu tiên có một dòng riêng. Bé thứ hai không có tên và cũng không có thẻ.</a:t>
            </a:r>
          </a:p>
          <a:p>
            <a:pPr algn="l">
              <a:lnSpc>
                <a:spcPct val="96000"/>
              </a:lnSpc>
              <a:spcBef>
                <a:spcPts val="0"/>
              </a:spcBef>
              <a:spcAft>
                <a:spcPts val="600"/>
              </a:spcAft>
            </a:pPr>
            <a:r>
              <a:rPr sz="950" b="1" lang="vi-VN">
                <a:solidFill>
                  <a:srgbClr val="B9770B"/>
                </a:solidFill>
                <a:latin typeface="Arial"/>
              </a:rPr>
              <a:t>Vì sao quan trọng:  </a:t>
            </a:r>
            <a:r>
              <a:rPr sz="950" b="0" lang="vi-VN">
                <a:solidFill>
                  <a:srgbClr val="5C6B62"/>
                </a:solidFill>
                <a:latin typeface="Arial"/>
              </a:rPr>
              <a:t>bé thứ hai chưa bao giờ được thêm vào danh sách chăm sóc, nên hệ thống không tạo lượt chăm sóc nào cho bé.</a:t>
            </a:r>
          </a:p>
          <a:p>
            <a:pPr algn="l">
              <a:lnSpc>
                <a:spcPct val="96000"/>
              </a:lnSpc>
              <a:spcBef>
                <a:spcPts val="0"/>
              </a:spcBef>
              <a:spcAft>
                <a:spcPts val="0"/>
              </a:spcAft>
            </a:pPr>
            <a:r>
              <a:rPr sz="950" b="1" lang="vi-VN">
                <a:solidFill>
                  <a:srgbClr val="31633D"/>
                </a:solidFill>
                <a:latin typeface="Arial"/>
              </a:rPr>
              <a:t>Cách phát hiện:  </a:t>
            </a:r>
            <a:r>
              <a:rPr sz="950" b="0" lang="vi-VN">
                <a:solidFill>
                  <a:srgbClr val="5C6B62"/>
                </a:solidFill>
                <a:latin typeface="Arial"/>
              </a:rPr>
              <a:t>đối chiếu số điện thoại — hai bé dùng chung một số liên hệ sẽ bị đánh dấu.</a:t>
            </a:r>
          </a:p>
          <a:p>
            <a:pPr>
              <a:lnSpc>
                <a:spcPct val="96000"/>
              </a:lnSpc>
              <a:spcAft>
                <a:spcPts val="300"/>
              </a:spcAft>
            </a:pPr>
            <a:r>
              <a:rPr sz="850" b="1" lang="vi-VN">
                <a:solidFill>
                  <a:srgbClr val="B9770B"/>
                </a:solidFill>
                <a:latin typeface="Arial"/>
              </a:rPr>
              <a:t>Mức độ phổ biến:  </a:t>
            </a:r>
            <a:r>
              <a:rPr sz="850" b="1" lang="vi-VN">
                <a:solidFill>
                  <a:srgbClr val="C0392B"/>
                </a:solidFill>
                <a:latin typeface="Arial"/>
              </a:rPr>
              <a:t>NGT 33 trong 39 cảnh báo dữ liệu. CTE D5 26 trong 31. </a:t>
            </a:r>
            <a:r>
              <a:rPr sz="850" b="0" lang="vi-VN">
                <a:solidFill>
                  <a:srgbClr val="5C6B62"/>
                </a:solidFill>
                <a:latin typeface="Arial"/>
              </a:rPr>
              <a:t>Đây là nguyên nhân đơn lẻ lớn nhất gây cảnh báo dữ liệu ở cả hai chi nhánh.</a:t>
            </a:r>
          </a:p>
        </p:txBody>
      </p:sp>
      <p:sp>
        <p:nvSpPr>
          <p:cNvPr id="17" name="Rectangle 16"/>
          <p:cNvSpPr/>
          <p:nvPr/>
        </p:nvSpPr>
        <p:spPr>
          <a:xfrm>
            <a:off x="502920" y="3913632"/>
            <a:ext cx="11183112" cy="310896"/>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lang="vi-VN">
                <a:solidFill>
                  <a:srgbClr val="FFFFFF"/>
                </a:solidFill>
                <a:latin typeface="Arial"/>
              </a:rPr>
              <a:t>Điều này ảnh hưởng thế nào đến các số liệu ở trang 2</a:t>
            </a:r>
          </a:p>
        </p:txBody>
      </p:sp>
      <p:sp>
        <p:nvSpPr>
          <p:cNvPr id="18" name="Rectangle 17"/>
          <p:cNvSpPr/>
          <p:nvPr/>
        </p:nvSpPr>
        <p:spPr>
          <a:xfrm>
            <a:off x="502920" y="4224528"/>
            <a:ext cx="11183112" cy="11887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46304" tIns="91440" rtlCol="0" anchor="ctr"/>
          <a:lstStyle/>
          <a:p>
            <a:pPr algn="l">
              <a:lnSpc>
                <a:spcPct val="97000"/>
              </a:lnSpc>
              <a:spcBef>
                <a:spcPts val="0"/>
              </a:spcBef>
              <a:spcAft>
                <a:spcPts val="600"/>
              </a:spcAft>
            </a:pPr>
            <a:r>
              <a:rPr sz="1000" b="0" i="0" lang="vi-VN">
                <a:solidFill>
                  <a:srgbClr val="5C6B62"/>
                </a:solidFill>
                <a:latin typeface="Arial"/>
              </a:rPr>
              <a:t>Một phần các con số CD3-5 và CD14 thấp có thể là do lỗi gắn thẻ, không phải do không chăm sóc. Nếu ngày trên thẻ sai, CRM chưa bao giờ yêu cầu những lượt chăm sóc đó vào đúng ngày.</a:t>
            </a:r>
          </a:p>
          <a:p>
            <a:pPr algn="l">
              <a:lnSpc>
                <a:spcPct val="97000"/>
              </a:lnSpc>
              <a:spcBef>
                <a:spcPts val="0"/>
              </a:spcBef>
              <a:spcAft>
                <a:spcPts val="0"/>
              </a:spcAft>
            </a:pPr>
            <a:r>
              <a:rPr sz="1000" b="1" lang="vi-VN">
                <a:solidFill>
                  <a:srgbClr val="31633D"/>
                </a:solidFill>
                <a:latin typeface="Arial"/>
              </a:rPr>
              <a:t>Phải sửa những lỗi này trước, bảng theo dõi mới đáng tin cậy. </a:t>
            </a:r>
            <a:r>
              <a:rPr sz="1000" b="0" lang="vi-VN">
                <a:solidFill>
                  <a:srgbClr val="5C6B62"/>
                </a:solidFill>
                <a:latin typeface="Arial"/>
              </a:rPr>
              <a:t>Cho đến khi ngày tháng chính xác, chúng ta không thể phân biệt giữa lượt chăm sóc chưa gửi và lượt đã gửi nhưng bị tính sai ngày.</a:t>
            </a:r>
          </a:p>
        </p:txBody>
      </p:sp>
      <p:sp>
        <p:nvSpPr>
          <p:cNvPr id="19" name="Rectangle 18"/>
          <p:cNvSpPr/>
          <p:nvPr/>
        </p:nvSpPr>
        <p:spPr>
          <a:xfrm>
            <a:off x="502920" y="5541264"/>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571500" y="5541264"/>
            <a:ext cx="11117549"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150" b="1" i="0" lang="vi-VN">
                <a:solidFill>
                  <a:srgbClr val="31633D"/>
                </a:solidFill>
                <a:latin typeface="Arial"/>
              </a:rPr>
              <a:t>Sửa ngày trên thẻ trước. Trước khi sửa, bảng theo dõi đang đo sai ngày.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5. DỮ LIỆU CẦN SỬA   |   KHẮC PHỤC CẢNH BÁO DỮ LIỆU</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Cách sửa 1 — cập nhật ngày trên thẻ Zalo trong ngày khách nhận kính</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9</a:t>
            </a:r>
          </a:p>
        </p:txBody>
      </p:sp>
      <p:sp>
        <p:nvSpPr>
          <p:cNvPr id="8" name="Rectangle 7"/>
          <p:cNvSpPr/>
          <p:nvPr/>
        </p:nvSpPr>
        <p:spPr>
          <a:xfrm>
            <a:off x="502920" y="1316736"/>
            <a:ext cx="11183112" cy="365760"/>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lnSpc>
                <a:spcPct val="95000"/>
              </a:lnSpc>
              <a:spcBef>
                <a:spcPts val="0"/>
              </a:spcBef>
              <a:spcAft>
                <a:spcPts val="0"/>
              </a:spcAft>
            </a:pPr>
            <a:r>
              <a:rPr sz="1050" b="1" lang="vi-VN">
                <a:solidFill>
                  <a:srgbClr val="C0392B"/>
                </a:solidFill>
                <a:latin typeface="Arial"/>
              </a:rPr>
              <a:t>VẤN ĐỀ 1  ·  </a:t>
            </a:r>
            <a:r>
              <a:rPr sz="1050" b="0" lang="vi-VN">
                <a:solidFill>
                  <a:srgbClr val="31633D"/>
                </a:solidFill>
                <a:latin typeface="Arial"/>
              </a:rPr>
              <a:t>Ngày trên thẻ Zalo không khớp ngày nhận kính  —  ghi nhận tại NGT và CTE D7</a:t>
            </a:r>
          </a:p>
        </p:txBody>
      </p:sp>
      <p:sp>
        <p:nvSpPr>
          <p:cNvPr id="9" name="Rectangle 8"/>
          <p:cNvSpPr/>
          <p:nvPr/>
        </p:nvSpPr>
        <p:spPr>
          <a:xfrm>
            <a:off x="502920" y="1828800"/>
            <a:ext cx="5468112" cy="1133856"/>
          </a:xfrm>
          <a:prstGeom prst="rect">
            <a:avLst/>
          </a:prstGeom>
          <a:solidFill>
            <a:srgbClr val="FDECEA"/>
          </a:solidFill>
          <a:ln w="9525">
            <a:solidFill>
              <a:srgbClr val="E8B4A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58368" y="1938528"/>
            <a:ext cx="5157216"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00" b="1" lang="vi-VN">
                <a:solidFill>
                  <a:srgbClr val="C0392B"/>
                </a:solidFill>
                <a:latin typeface="Arial"/>
              </a:rPr>
              <a:t>✕  SAI — thẻ vẫn hiển thị ngày ban đầu</a:t>
            </a:r>
          </a:p>
        </p:txBody>
      </p:sp>
      <p:sp>
        <p:nvSpPr>
          <p:cNvPr id="11" name="TextBox 10"/>
          <p:cNvSpPr txBox="1"/>
          <p:nvPr/>
        </p:nvSpPr>
        <p:spPr>
          <a:xfrm>
            <a:off x="658368" y="2212848"/>
            <a:ext cx="5157216" cy="658368"/>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50" b="0" i="0" lang="vi-VN">
                <a:solidFill>
                  <a:srgbClr val="5C6B62"/>
                </a:solidFill>
                <a:latin typeface="Arial"/>
              </a:rPr>
              <a:t>Thẻ hiển thị ngày khách đặt hàng. CRM tính CD1, CD3-5, CD7, CD14 và CD30 từ ngày đó, nên tất cả đều lệch sang ngày khác.</a:t>
            </a:r>
          </a:p>
        </p:txBody>
      </p:sp>
      <p:sp>
        <p:nvSpPr>
          <p:cNvPr id="12" name="Rectangle 11"/>
          <p:cNvSpPr/>
          <p:nvPr/>
        </p:nvSpPr>
        <p:spPr>
          <a:xfrm>
            <a:off x="6217920" y="1828800"/>
            <a:ext cx="5468112" cy="1133856"/>
          </a:xfrm>
          <a:prstGeom prst="rect">
            <a:avLst/>
          </a:prstGeom>
          <a:solidFill>
            <a:srgbClr val="EBF4EF"/>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373368" y="1938528"/>
            <a:ext cx="5157216"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000" b="1" lang="vi-VN">
                <a:solidFill>
                  <a:srgbClr val="2E9C4C"/>
                </a:solidFill>
                <a:latin typeface="Arial"/>
              </a:rPr>
              <a:t>✓  ĐÚNG — thẻ đã cập nhật thành ngày nhận kính</a:t>
            </a:r>
          </a:p>
        </p:txBody>
      </p:sp>
      <p:sp>
        <p:nvSpPr>
          <p:cNvPr id="14" name="TextBox 13"/>
          <p:cNvSpPr txBox="1"/>
          <p:nvPr/>
        </p:nvSpPr>
        <p:spPr>
          <a:xfrm>
            <a:off x="6373368" y="2212848"/>
            <a:ext cx="5157216" cy="658368"/>
          </a:xfrm>
          <a:prstGeom prst="rect">
            <a:avLst/>
          </a:prstGeom>
          <a:noFill/>
        </p:spPr>
        <p:txBody>
          <a:bodyPr wrap="square" lIns="36576" tIns="18288" rIns="36576" bIns="18288" anchor="t">
            <a:spAutoFit/>
          </a:bodyPr>
          <a:lstStyle/>
          <a:p>
            <a:pPr algn="l">
              <a:lnSpc>
                <a:spcPct val="98000"/>
              </a:lnSpc>
              <a:spcBef>
                <a:spcPts val="0"/>
              </a:spcBef>
              <a:spcAft>
                <a:spcPts val="0"/>
              </a:spcAft>
            </a:pPr>
            <a:r>
              <a:rPr sz="950" b="0" i="0" lang="vi-VN">
                <a:solidFill>
                  <a:srgbClr val="5C6B62"/>
                </a:solidFill>
                <a:latin typeface="Arial"/>
              </a:rPr>
              <a:t>Thẻ hiển thị đúng ngày khách đến nhận kính. Khi đó CRM tạo ra các ngày CD chính xác, và tin chăm sóc của bạn được tính vào đúng ngày.</a:t>
            </a:r>
          </a:p>
        </p:txBody>
      </p:sp>
      <p:sp>
        <p:nvSpPr>
          <p:cNvPr id="15" name="Rectangle 14"/>
          <p:cNvSpPr/>
          <p:nvPr/>
        </p:nvSpPr>
        <p:spPr>
          <a:xfrm>
            <a:off x="502920" y="3090672"/>
            <a:ext cx="11183112"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lang="vi-VN">
                <a:solidFill>
                  <a:srgbClr val="FFFFFF"/>
                </a:solidFill>
                <a:latin typeface="Arial"/>
              </a:rPr>
              <a:t>Cần làm gì</a:t>
            </a:r>
          </a:p>
        </p:txBody>
      </p:sp>
      <p:sp>
        <p:nvSpPr>
          <p:cNvPr id="16" name="Oval 15"/>
          <p:cNvSpPr/>
          <p:nvPr/>
        </p:nvSpPr>
        <p:spPr>
          <a:xfrm>
            <a:off x="502920" y="3438144"/>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1</a:t>
            </a:r>
          </a:p>
        </p:txBody>
      </p:sp>
      <p:sp>
        <p:nvSpPr>
          <p:cNvPr id="17" name="TextBox 16"/>
          <p:cNvSpPr txBox="1"/>
          <p:nvPr/>
        </p:nvSpPr>
        <p:spPr>
          <a:xfrm>
            <a:off x="868680" y="3392424"/>
            <a:ext cx="5120640"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00" b="1" i="0" lang="vi-VN">
                <a:solidFill>
                  <a:srgbClr val="31633D"/>
                </a:solidFill>
                <a:latin typeface="Arial"/>
              </a:rPr>
              <a:t>Ngay trong ngày khách đến nhận kính</a:t>
            </a:r>
          </a:p>
        </p:txBody>
      </p:sp>
      <p:sp>
        <p:nvSpPr>
          <p:cNvPr id="18" name="TextBox 17"/>
          <p:cNvSpPr txBox="1"/>
          <p:nvPr/>
        </p:nvSpPr>
        <p:spPr>
          <a:xfrm>
            <a:off x="6126480" y="3392424"/>
            <a:ext cx="5559552"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950" b="0" i="0" lang="vi-VN">
                <a:solidFill>
                  <a:srgbClr val="5C6B62"/>
                </a:solidFill>
                <a:latin typeface="Arial"/>
              </a:rPr>
              <a:t>Làm ngay trong ngày — đừng để đến cuối tuần.</a:t>
            </a:r>
          </a:p>
        </p:txBody>
      </p:sp>
      <p:sp>
        <p:nvSpPr>
          <p:cNvPr id="19" name="Oval 18"/>
          <p:cNvSpPr/>
          <p:nvPr/>
        </p:nvSpPr>
        <p:spPr>
          <a:xfrm>
            <a:off x="502920" y="3904487"/>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2</a:t>
            </a:r>
          </a:p>
        </p:txBody>
      </p:sp>
      <p:sp>
        <p:nvSpPr>
          <p:cNvPr id="20" name="TextBox 19"/>
          <p:cNvSpPr txBox="1"/>
          <p:nvPr/>
        </p:nvSpPr>
        <p:spPr>
          <a:xfrm>
            <a:off x="868680" y="3858768"/>
            <a:ext cx="5120640"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00" b="1" i="0" lang="vi-VN">
                <a:solidFill>
                  <a:srgbClr val="31633D"/>
                </a:solidFill>
                <a:latin typeface="Arial"/>
              </a:rPr>
              <a:t>Mở danh bạ Zalo của khách</a:t>
            </a:r>
          </a:p>
        </p:txBody>
      </p:sp>
      <p:sp>
        <p:nvSpPr>
          <p:cNvPr id="21" name="TextBox 20"/>
          <p:cNvSpPr txBox="1"/>
          <p:nvPr/>
        </p:nvSpPr>
        <p:spPr>
          <a:xfrm>
            <a:off x="6126480" y="3858768"/>
            <a:ext cx="5559552"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950" b="0" i="0" lang="vi-VN">
                <a:solidFill>
                  <a:srgbClr val="5C6B62"/>
                </a:solidFill>
                <a:latin typeface="Arial"/>
              </a:rPr>
              <a:t>Tìm thẻ hiện có đang chứa ngày cũ.</a:t>
            </a:r>
          </a:p>
        </p:txBody>
      </p:sp>
      <p:sp>
        <p:nvSpPr>
          <p:cNvPr id="22" name="Oval 21"/>
          <p:cNvSpPr/>
          <p:nvPr/>
        </p:nvSpPr>
        <p:spPr>
          <a:xfrm>
            <a:off x="502920" y="4370831"/>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3</a:t>
            </a:r>
          </a:p>
        </p:txBody>
      </p:sp>
      <p:sp>
        <p:nvSpPr>
          <p:cNvPr id="23" name="TextBox 22"/>
          <p:cNvSpPr txBox="1"/>
          <p:nvPr/>
        </p:nvSpPr>
        <p:spPr>
          <a:xfrm>
            <a:off x="868680" y="4325112"/>
            <a:ext cx="5120640"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00" b="1" i="0" lang="vi-VN">
                <a:solidFill>
                  <a:srgbClr val="31633D"/>
                </a:solidFill>
                <a:latin typeface="Arial"/>
              </a:rPr>
              <a:t>Đổi ngày trong thẻ thành ngày nhận kính</a:t>
            </a:r>
          </a:p>
        </p:txBody>
      </p:sp>
      <p:sp>
        <p:nvSpPr>
          <p:cNvPr id="24" name="TextBox 23"/>
          <p:cNvSpPr txBox="1"/>
          <p:nvPr/>
        </p:nvSpPr>
        <p:spPr>
          <a:xfrm>
            <a:off x="6126480" y="4325112"/>
            <a:ext cx="5559552"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950" b="0" i="0" lang="vi-VN">
                <a:solidFill>
                  <a:srgbClr val="5C6B62"/>
                </a:solidFill>
                <a:latin typeface="Arial"/>
              </a:rPr>
              <a:t>Giữ nguyên hoàn toàn phần định dạng còn lại của thẻ.</a:t>
            </a:r>
          </a:p>
        </p:txBody>
      </p:sp>
      <p:sp>
        <p:nvSpPr>
          <p:cNvPr id="25" name="Oval 24"/>
          <p:cNvSpPr/>
          <p:nvPr/>
        </p:nvSpPr>
        <p:spPr>
          <a:xfrm>
            <a:off x="502920" y="4837175"/>
            <a:ext cx="256032" cy="256032"/>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4</a:t>
            </a:r>
          </a:p>
        </p:txBody>
      </p:sp>
      <p:sp>
        <p:nvSpPr>
          <p:cNvPr id="26" name="TextBox 25"/>
          <p:cNvSpPr txBox="1"/>
          <p:nvPr/>
        </p:nvSpPr>
        <p:spPr>
          <a:xfrm>
            <a:off x="868680" y="4791455"/>
            <a:ext cx="5120640"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1000" b="1" i="0" lang="vi-VN">
                <a:solidFill>
                  <a:srgbClr val="31633D"/>
                </a:solidFill>
                <a:latin typeface="Arial"/>
              </a:rPr>
              <a:t>Kiểm tra CRM đã hiện các ngày chăm sóc mới</a:t>
            </a:r>
          </a:p>
        </p:txBody>
      </p:sp>
      <p:sp>
        <p:nvSpPr>
          <p:cNvPr id="27" name="TextBox 26"/>
          <p:cNvSpPr txBox="1"/>
          <p:nvPr/>
        </p:nvSpPr>
        <p:spPr>
          <a:xfrm>
            <a:off x="6126480" y="4791455"/>
            <a:ext cx="5559552" cy="384048"/>
          </a:xfrm>
          <a:prstGeom prst="rect">
            <a:avLst/>
          </a:prstGeom>
          <a:noFill/>
        </p:spPr>
        <p:txBody>
          <a:bodyPr wrap="square" lIns="36576" tIns="18288" rIns="36576" bIns="18288" anchor="t">
            <a:spAutoFit/>
          </a:bodyPr>
          <a:lstStyle/>
          <a:p>
            <a:pPr algn="l">
              <a:lnSpc>
                <a:spcPct val="94000"/>
              </a:lnSpc>
              <a:spcBef>
                <a:spcPts val="0"/>
              </a:spcBef>
              <a:spcAft>
                <a:spcPts val="0"/>
              </a:spcAft>
            </a:pPr>
            <a:r>
              <a:rPr sz="950" b="0" i="0" lang="vi-VN">
                <a:solidFill>
                  <a:srgbClr val="5C6B62"/>
                </a:solidFill>
                <a:latin typeface="Arial"/>
              </a:rPr>
              <a:t>Các ngày CD giờ phải được tính từ ngày nhận kính.</a:t>
            </a:r>
          </a:p>
        </p:txBody>
      </p:sp>
      <p:sp>
        <p:nvSpPr>
          <p:cNvPr id="28" name="Rectangle 27"/>
          <p:cNvSpPr/>
          <p:nvPr/>
        </p:nvSpPr>
        <p:spPr>
          <a:xfrm>
            <a:off x="502920" y="5376672"/>
            <a:ext cx="11183112" cy="420624"/>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lnSpc>
                <a:spcPct val="96000"/>
              </a:lnSpc>
              <a:spcBef>
                <a:spcPts val="0"/>
              </a:spcBef>
              <a:spcAft>
                <a:spcPts val="0"/>
              </a:spcAft>
            </a:pPr>
            <a:r>
              <a:rPr sz="950" b="1" lang="vi-VN">
                <a:solidFill>
                  <a:srgbClr val="B9770B"/>
                </a:solidFill>
                <a:latin typeface="Arial"/>
              </a:rPr>
              <a:t>Lưu ý:  </a:t>
            </a:r>
            <a:r>
              <a:rPr sz="950" b="0" lang="vi-VN">
                <a:solidFill>
                  <a:srgbClr val="5C6B62"/>
                </a:solidFill>
                <a:latin typeface="Arial"/>
              </a:rPr>
              <a:t>nếu không cập nhật ngày trên thẻ, CRM sẽ hiện sai ngày chăm sóc, và công việc bạn đã làm có thể bị xem như bỏ sót.</a:t>
            </a:r>
          </a:p>
        </p:txBody>
      </p:sp>
      <p:sp>
        <p:nvSpPr>
          <p:cNvPr id="29" name="Rectangle 28"/>
          <p:cNvSpPr/>
          <p:nvPr/>
        </p:nvSpPr>
        <p:spPr>
          <a:xfrm>
            <a:off x="502920" y="5870448"/>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571500" y="5870448"/>
            <a:ext cx="11117549"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150" b="1" i="0" lang="vi-VN">
                <a:solidFill>
                  <a:srgbClr val="31633D"/>
                </a:solidFill>
                <a:latin typeface="Arial"/>
              </a:rPr>
              <a:t>Cập nhật thẻ ngay trong ngày khách đến nhận kính.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5. DỮ LIỆU CẦN SỬA   |   KHẮC PHỤC CẢNH BÁO DỮ LIỆU</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Cách sửa 2 — thêm một dòng cho bé thứ hai</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36576" tIns="18288" rIns="36576" bIns="18288" anchor="t">
            <a:spAutoFit/>
          </a:bodyPr>
          <a:lstStyle/>
          <a:p>
            <a:pPr algn="r">
              <a:lnSpc>
                <a:spcPct val="95000"/>
              </a:lnSpc>
              <a:spcBef>
                <a:spcPts val="0"/>
              </a:spcBef>
              <a:spcAft>
                <a:spcPts val="0"/>
              </a:spcAft>
            </a:pPr>
            <a:r>
              <a:rPr sz="800" b="1" i="0" lang="vi-VN">
                <a:solidFill>
                  <a:srgbClr val="5C6B62"/>
                </a:solidFill>
                <a:latin typeface="Arial"/>
              </a:rPr>
              <a:t>10</a:t>
            </a:r>
          </a:p>
        </p:txBody>
      </p:sp>
      <p:sp>
        <p:nvSpPr>
          <p:cNvPr id="8" name="Rectangle 7"/>
          <p:cNvSpPr/>
          <p:nvPr/>
        </p:nvSpPr>
        <p:spPr>
          <a:xfrm>
            <a:off x="502920" y="1316736"/>
            <a:ext cx="11183112" cy="530352"/>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lnSpc>
                <a:spcPct val="95000"/>
              </a:lnSpc>
              <a:spcBef>
                <a:spcPts val="0"/>
              </a:spcBef>
              <a:spcAft>
                <a:spcPts val="0"/>
              </a:spcAft>
            </a:pPr>
            <a:r>
              <a:rPr sz="1050" b="1" lang="vi-VN">
                <a:solidFill>
                  <a:srgbClr val="B9770B"/>
                </a:solidFill>
                <a:latin typeface="Arial"/>
              </a:rPr>
              <a:t>VẤN ĐỀ 2  ·  </a:t>
            </a:r>
            <a:r>
              <a:rPr sz="1050" b="0" lang="vi-VN">
                <a:solidFill>
                  <a:srgbClr val="31633D"/>
                </a:solidFill>
                <a:latin typeface="Arial"/>
              </a:rPr>
              <a:t>Một phụ huynh có hai bé hoặc nhiều hơn  —  thêm một dòng cho mỗi bé, rồi liên kết với danh bạ Zalo</a:t>
            </a:r>
          </a:p>
          <a:p>
            <a:pPr>
              <a:lnSpc>
                <a:spcPct val="96000"/>
              </a:lnSpc>
              <a:spcAft>
                <a:spcPts val="0"/>
              </a:spcAft>
            </a:pPr>
            <a:r>
              <a:rPr sz="900" b="1" lang="vi-VN">
                <a:solidFill>
                  <a:srgbClr val="C0392B"/>
                </a:solidFill>
                <a:latin typeface="Arial"/>
              </a:rPr>
              <a:t>NGT 33 trong 39 cảnh báo dữ liệu. CTE D5 26 trong 31 — nguyên nhân đơn lẻ lớn nhất gây cảnh báo dữ liệu ở cả hai chi nhánh.</a:t>
            </a:r>
          </a:p>
        </p:txBody>
      </p:sp>
      <p:sp>
        <p:nvSpPr>
          <p:cNvPr id="9" name="Rectangle 8"/>
          <p:cNvSpPr/>
          <p:nvPr/>
        </p:nvSpPr>
        <p:spPr>
          <a:xfrm>
            <a:off x="502920" y="1810512"/>
            <a:ext cx="11183112"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100" b="1" i="0" lang="vi-VN">
                <a:solidFill>
                  <a:srgbClr val="FFFFFF"/>
                </a:solidFill>
                <a:latin typeface="Arial"/>
              </a:rPr>
              <a:t>Bước 1 — giống nhau ở mọi chi nhánh</a:t>
            </a:r>
          </a:p>
        </p:txBody>
      </p:sp>
      <p:sp>
        <p:nvSpPr>
          <p:cNvPr id="10" name="Rectangle 9"/>
          <p:cNvSpPr/>
          <p:nvPr/>
        </p:nvSpPr>
        <p:spPr>
          <a:xfrm>
            <a:off x="502920" y="2121408"/>
            <a:ext cx="11183112" cy="56692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lnSpc>
                <a:spcPct val="97000"/>
              </a:lnSpc>
              <a:spcBef>
                <a:spcPts val="0"/>
              </a:spcBef>
              <a:spcAft>
                <a:spcPts val="0"/>
              </a:spcAft>
            </a:pPr>
            <a:r>
              <a:rPr sz="1000" b="1" lang="vi-VN">
                <a:solidFill>
                  <a:srgbClr val="31633D"/>
                </a:solidFill>
                <a:latin typeface="Arial"/>
              </a:rPr>
              <a:t>Thêm một dòng mới và nhập tên cùng thẻ của bé thứ hai. </a:t>
            </a:r>
            <a:r>
              <a:rPr sz="1000" b="0" lang="vi-VN">
                <a:solidFill>
                  <a:srgbClr val="5C6B62"/>
                </a:solidFill>
                <a:latin typeface="Arial"/>
              </a:rPr>
              <a:t>Mỗi bé cần có một dòng riêng. Nếu không, bé thứ hai sẽ không bao giờ được thêm vào danh sách chăm sóc và hệ thống không tạo lượt chăm sóc nào cho bé.</a:t>
            </a:r>
          </a:p>
        </p:txBody>
      </p:sp>
      <p:sp>
        <p:nvSpPr>
          <p:cNvPr id="11" name="TextBox 10"/>
          <p:cNvSpPr txBox="1"/>
          <p:nvPr/>
        </p:nvSpPr>
        <p:spPr>
          <a:xfrm>
            <a:off x="502920" y="2798064"/>
            <a:ext cx="11183112"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00" b="1" i="0" lang="vi-VN">
                <a:solidFill>
                  <a:srgbClr val="2E9C4C"/>
                </a:solidFill>
                <a:latin typeface="Arial"/>
              </a:rPr>
              <a:t>BƯỚC 2 — CÁCH LIÊN KẾT VỚI DANH BẠ ZALO KHÁC NHAU TÙY CHI NHÁNH</a:t>
            </a:r>
          </a:p>
        </p:txBody>
      </p:sp>
      <p:sp>
        <p:nvSpPr>
          <p:cNvPr id="12" name="Rectangle 11"/>
          <p:cNvSpPr/>
          <p:nvPr/>
        </p:nvSpPr>
        <p:spPr>
          <a:xfrm>
            <a:off x="502920" y="3090672"/>
            <a:ext cx="5577840" cy="2212848"/>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502920" y="3090672"/>
            <a:ext cx="5577840" cy="64008"/>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67512" y="3236976"/>
            <a:ext cx="5248655"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150" b="1" lang="vi-VN">
                <a:solidFill>
                  <a:srgbClr val="0C989A"/>
                </a:solidFill>
                <a:latin typeface="Arial"/>
              </a:rPr>
              <a:t>CTE D5 và CTE D7  ·  </a:t>
            </a:r>
            <a:r>
              <a:rPr sz="1150" b="1" lang="vi-VN">
                <a:solidFill>
                  <a:srgbClr val="31633D"/>
                </a:solidFill>
                <a:latin typeface="Arial"/>
              </a:rPr>
              <a:t>tự động</a:t>
            </a:r>
          </a:p>
        </p:txBody>
      </p:sp>
      <p:sp>
        <p:nvSpPr>
          <p:cNvPr id="15" name="TextBox 14"/>
          <p:cNvSpPr txBox="1"/>
          <p:nvPr/>
        </p:nvSpPr>
        <p:spPr>
          <a:xfrm>
            <a:off x="667512" y="3547872"/>
            <a:ext cx="5248655" cy="1645920"/>
          </a:xfrm>
          <a:prstGeom prst="rect">
            <a:avLst/>
          </a:prstGeom>
          <a:noFill/>
        </p:spPr>
        <p:txBody>
          <a:bodyPr wrap="square" lIns="36576" tIns="18288" rIns="36576" bIns="18288" anchor="t">
            <a:spAutoFit/>
          </a:bodyPr>
          <a:lstStyle/>
          <a:p>
            <a:pPr algn="l">
              <a:lnSpc>
                <a:spcPct val="96000"/>
              </a:lnSpc>
              <a:spcBef>
                <a:spcPts val="0"/>
              </a:spcBef>
              <a:spcAft>
                <a:spcPts val="600"/>
              </a:spcAft>
            </a:pPr>
            <a:r>
              <a:rPr sz="950" b="0" i="0" lang="vi-VN">
                <a:solidFill>
                  <a:srgbClr val="5C6B62"/>
                </a:solidFill>
                <a:latin typeface="Arial"/>
              </a:rPr>
              <a:t>Số điện thoại đã được ghi nhận, nên hệ thống tự đối chiếu giúp bạn.</a:t>
            </a:r>
          </a:p>
          <a:p>
            <a:pPr algn="l">
              <a:lnSpc>
                <a:spcPct val="96000"/>
              </a:lnSpc>
              <a:spcBef>
                <a:spcPts val="0"/>
              </a:spcBef>
              <a:spcAft>
                <a:spcPts val="400"/>
              </a:spcAft>
            </a:pPr>
            <a:r>
              <a:rPr sz="950" b="0" i="0" lang="vi-VN">
                <a:solidFill>
                  <a:srgbClr val="5C6B62"/>
                </a:solidFill>
                <a:latin typeface="Arial"/>
              </a:rPr>
              <a:t>▪  Cột S sẽ tự hiển thị cho bé thứ hai</a:t>
            </a:r>
          </a:p>
          <a:p>
            <a:pPr algn="l">
              <a:lnSpc>
                <a:spcPct val="96000"/>
              </a:lnSpc>
              <a:spcBef>
                <a:spcPts val="0"/>
              </a:spcBef>
              <a:spcAft>
                <a:spcPts val="400"/>
              </a:spcAft>
            </a:pPr>
            <a:r>
              <a:rPr sz="950" b="0" i="0" lang="vi-VN">
                <a:solidFill>
                  <a:srgbClr val="5C6B62"/>
                </a:solidFill>
                <a:latin typeface="Arial"/>
              </a:rPr>
              <a:t>▪  Cột S cho biết cần tham chiếu tới dòng nào để lấy danh bạ Zalo</a:t>
            </a:r>
          </a:p>
          <a:p>
            <a:pPr algn="l">
              <a:lnSpc>
                <a:spcPct val="96000"/>
              </a:lnSpc>
              <a:spcBef>
                <a:spcPts val="0"/>
              </a:spcBef>
              <a:spcAft>
                <a:spcPts val="400"/>
              </a:spcAft>
            </a:pPr>
            <a:r>
              <a:rPr sz="950" b="0" i="0" lang="vi-VN">
                <a:solidFill>
                  <a:srgbClr val="5C6B62"/>
                </a:solidFill>
                <a:latin typeface="Arial"/>
              </a:rPr>
              <a:t>▪  Việc đối chiếu dựa trên số liên hệ — nếu hai bé dùng chung một số, hệ thống sẽ đánh dấu</a:t>
            </a:r>
          </a:p>
          <a:p>
            <a:pPr algn="l">
              <a:lnSpc>
                <a:spcPct val="96000"/>
              </a:lnSpc>
              <a:spcBef>
                <a:spcPts val="200"/>
              </a:spcBef>
              <a:spcAft>
                <a:spcPts val="0"/>
              </a:spcAft>
            </a:pPr>
            <a:r>
              <a:rPr sz="950" b="1" lang="vi-VN">
                <a:solidFill>
                  <a:srgbClr val="0C989A"/>
                </a:solidFill>
                <a:latin typeface="Arial"/>
              </a:rPr>
              <a:t>Việc của bạn:  </a:t>
            </a:r>
            <a:r>
              <a:rPr sz="950" b="0" lang="vi-VN">
                <a:solidFill>
                  <a:srgbClr val="5C6B62"/>
                </a:solidFill>
                <a:latin typeface="Arial"/>
              </a:rPr>
              <a:t>kiểm tra Cột S đã có dữ liệu và trỏ đúng dòng.</a:t>
            </a:r>
          </a:p>
        </p:txBody>
      </p:sp>
      <p:sp>
        <p:nvSpPr>
          <p:cNvPr id="16" name="Rectangle 15"/>
          <p:cNvSpPr/>
          <p:nvPr/>
        </p:nvSpPr>
        <p:spPr>
          <a:xfrm>
            <a:off x="6291072" y="3090672"/>
            <a:ext cx="5394960" cy="2212848"/>
          </a:xfrm>
          <a:prstGeom prst="rect">
            <a:avLst/>
          </a:prstGeom>
          <a:solidFill>
            <a:srgbClr val="FDF6E3"/>
          </a:solidFill>
          <a:ln w="9525">
            <a:solidFill>
              <a:srgbClr val="B9770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6291072" y="3090672"/>
            <a:ext cx="5394960" cy="64008"/>
          </a:xfrm>
          <a:prstGeom prst="rect">
            <a:avLst/>
          </a:prstGeom>
          <a:solidFill>
            <a:srgbClr val="B977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455664" y="3236976"/>
            <a:ext cx="5065776" cy="256032"/>
          </a:xfrm>
          <a:prstGeom prst="rect">
            <a:avLst/>
          </a:prstGeom>
          <a:noFill/>
        </p:spPr>
        <p:txBody>
          <a:bodyPr wrap="square" lIns="36576" tIns="18288" rIns="36576" bIns="18288" anchor="t">
            <a:spAutoFit/>
          </a:bodyPr>
          <a:lstStyle/>
          <a:p>
            <a:pPr algn="l">
              <a:lnSpc>
                <a:spcPct val="95000"/>
              </a:lnSpc>
              <a:spcBef>
                <a:spcPts val="0"/>
              </a:spcBef>
              <a:spcAft>
                <a:spcPts val="0"/>
              </a:spcAft>
            </a:pPr>
            <a:r>
              <a:rPr sz="1150" b="1" lang="vi-VN">
                <a:solidFill>
                  <a:srgbClr val="B9770B"/>
                </a:solidFill>
                <a:latin typeface="Arial"/>
              </a:rPr>
              <a:t>NGT  ·  </a:t>
            </a:r>
            <a:r>
              <a:rPr sz="1150" b="1" lang="vi-VN">
                <a:solidFill>
                  <a:srgbClr val="31633D"/>
                </a:solidFill>
                <a:latin typeface="Arial"/>
              </a:rPr>
              <a:t>thủ công — bạn phải tự làm</a:t>
            </a:r>
          </a:p>
        </p:txBody>
      </p:sp>
      <p:sp>
        <p:nvSpPr>
          <p:cNvPr id="19" name="TextBox 18"/>
          <p:cNvSpPr txBox="1"/>
          <p:nvPr/>
        </p:nvSpPr>
        <p:spPr>
          <a:xfrm>
            <a:off x="6455664" y="3547872"/>
            <a:ext cx="5065776" cy="1645920"/>
          </a:xfrm>
          <a:prstGeom prst="rect">
            <a:avLst/>
          </a:prstGeom>
          <a:noFill/>
        </p:spPr>
        <p:txBody>
          <a:bodyPr wrap="square" lIns="36576" tIns="18288" rIns="36576" bIns="18288" anchor="t">
            <a:spAutoFit/>
          </a:bodyPr>
          <a:lstStyle/>
          <a:p>
            <a:pPr algn="l">
              <a:lnSpc>
                <a:spcPct val="96000"/>
              </a:lnSpc>
              <a:spcBef>
                <a:spcPts val="0"/>
              </a:spcBef>
              <a:spcAft>
                <a:spcPts val="600"/>
              </a:spcAft>
            </a:pPr>
            <a:r>
              <a:rPr sz="950" b="0" i="0" lang="vi-VN">
                <a:solidFill>
                  <a:srgbClr val="5C6B62"/>
                </a:solidFill>
                <a:latin typeface="Arial"/>
              </a:rPr>
              <a:t>Số điện thoại chưa được ghi nhận, nên hệ thống không có căn cứ để đối chiếu.</a:t>
            </a:r>
          </a:p>
          <a:p>
            <a:pPr algn="l">
              <a:lnSpc>
                <a:spcPct val="96000"/>
              </a:lnSpc>
              <a:spcBef>
                <a:spcPts val="0"/>
              </a:spcBef>
              <a:spcAft>
                <a:spcPts val="400"/>
              </a:spcAft>
            </a:pPr>
            <a:r>
              <a:rPr sz="950" b="0" i="0" lang="vi-VN">
                <a:solidFill>
                  <a:srgbClr val="5C6B62"/>
                </a:solidFill>
                <a:latin typeface="Arial"/>
              </a:rPr>
              <a:t>▪  Cột S sẽ không tự điền</a:t>
            </a:r>
          </a:p>
          <a:p>
            <a:pPr algn="l">
              <a:lnSpc>
                <a:spcPct val="96000"/>
              </a:lnSpc>
              <a:spcBef>
                <a:spcPts val="0"/>
              </a:spcBef>
              <a:spcAft>
                <a:spcPts val="400"/>
              </a:spcAft>
            </a:pPr>
            <a:r>
              <a:rPr sz="950" b="0" i="0" lang="vi-VN">
                <a:solidFill>
                  <a:srgbClr val="5C6B62"/>
                </a:solidFill>
                <a:latin typeface="Arial"/>
              </a:rPr>
              <a:t>▪  Bạn phải tự nhập vào Cột S số dòng cần tham chiếu,</a:t>
            </a:r>
          </a:p>
          <a:p>
            <a:pPr algn="l">
              <a:lnSpc>
                <a:spcPct val="96000"/>
              </a:lnSpc>
              <a:spcBef>
                <a:spcPts val="0"/>
              </a:spcBef>
              <a:spcAft>
                <a:spcPts val="400"/>
              </a:spcAft>
            </a:pPr>
            <a:r>
              <a:rPr sz="950" b="0" i="0" lang="vi-VN">
                <a:solidFill>
                  <a:srgbClr val="5C6B62"/>
                </a:solidFill>
                <a:latin typeface="Arial"/>
              </a:rPr>
              <a:t>▪  hoặc nhập trực tiếp thẻ Zalo của khách đó</a:t>
            </a:r>
          </a:p>
          <a:p>
            <a:pPr algn="l">
              <a:lnSpc>
                <a:spcPct val="96000"/>
              </a:lnSpc>
              <a:spcBef>
                <a:spcPts val="200"/>
              </a:spcBef>
              <a:spcAft>
                <a:spcPts val="0"/>
              </a:spcAft>
            </a:pPr>
            <a:r>
              <a:rPr sz="950" b="1" lang="vi-VN">
                <a:solidFill>
                  <a:srgbClr val="B9770B"/>
                </a:solidFill>
                <a:latin typeface="Arial"/>
              </a:rPr>
              <a:t>Nguyên nhân gốc:  </a:t>
            </a:r>
            <a:r>
              <a:rPr sz="950" b="0" lang="vi-VN">
                <a:solidFill>
                  <a:srgbClr val="5C6B62"/>
                </a:solidFill>
                <a:latin typeface="Arial"/>
              </a:rPr>
              <a:t>đây chính là lý do số điện thoại phải được ghi vào phần ghi chú tên — làm vậy sẽ bỏ được bước thủ công này.</a:t>
            </a:r>
          </a:p>
        </p:txBody>
      </p:sp>
      <p:sp>
        <p:nvSpPr>
          <p:cNvPr id="20" name="Rectangle 19"/>
          <p:cNvSpPr/>
          <p:nvPr/>
        </p:nvSpPr>
        <p:spPr>
          <a:xfrm>
            <a:off x="502920" y="5449824"/>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571500" y="5449824"/>
            <a:ext cx="11117549"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100" b="1" i="0" lang="vi-VN">
                <a:solidFill>
                  <a:srgbClr val="31633D"/>
                </a:solidFill>
                <a:latin typeface="Arial"/>
              </a:rPr>
              <a:t>Mỗi bé một dòng. CTE D5 và D7 tự đối chiếu theo số điện thoại. NGT phải tự điền Cột S bằng tay.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27432" tIns="9144" rIns="27432" bIns="9144" anchor="t">
            <a:spAutoFit/>
          </a:bodyPr>
          <a:lstStyle/>
          <a:p>
            <a:pPr>
              <a:lnSpc>
                <a:spcPct val="100000"/>
              </a:lnSpc>
              <a:spcAft>
                <a:spcPts val="0"/>
              </a:spcAft>
            </a:pPr>
            <a:r>
              <a:rPr sz="900" b="1" lang="vi-VN">
                <a:solidFill>
                  <a:srgbClr val="2E9C4C"/>
                </a:solidFill>
                <a:latin typeface="Arial"/>
              </a:rPr>
              <a:t>5. DỮ LIỆU CẦN SỬA</a:t>
            </a:r>
            <a:r>
              <a:rPr sz="900" b="0" lang="vi-VN">
                <a:solidFill>
                  <a:srgbClr val="CFE6D8"/>
                </a:solidFill>
                <a:latin typeface="Arial"/>
              </a:rPr>
              <a:t>   |   </a:t>
            </a:r>
            <a:r>
              <a:rPr sz="900" b="1" lang="vi-VN">
                <a:solidFill>
                  <a:srgbClr val="5C6B62"/>
                </a:solidFill>
                <a:latin typeface="Arial"/>
              </a:rPr>
              <a:t>VÌ SAO NGÀY TRÊN THẺ LẠI QUAN TRỌNG</a:t>
            </a:r>
          </a:p>
        </p:txBody>
      </p:sp>
      <p:sp>
        <p:nvSpPr>
          <p:cNvPr id="4" name="TextBox 3"/>
          <p:cNvSpPr txBox="1"/>
          <p:nvPr/>
        </p:nvSpPr>
        <p:spPr>
          <a:xfrm>
            <a:off x="502920" y="493776"/>
            <a:ext cx="11247120" cy="640080"/>
          </a:xfrm>
          <a:prstGeom prst="rect">
            <a:avLst/>
          </a:prstGeom>
          <a:noFill/>
        </p:spPr>
        <p:txBody>
          <a:bodyPr wrap="square" lIns="27432" tIns="9144" rIns="27432" bIns="9144" anchor="t">
            <a:spAutoFit/>
          </a:bodyPr>
          <a:lstStyle/>
          <a:p>
            <a:pPr>
              <a:lnSpc>
                <a:spcPct val="94000"/>
              </a:lnSpc>
              <a:spcAft>
                <a:spcPts val="0"/>
              </a:spcAft>
            </a:pPr>
            <a:r>
              <a:rPr sz="1900" b="1" i="0" lang="vi-VN">
                <a:solidFill>
                  <a:srgbClr val="31633D"/>
                </a:solidFill>
                <a:latin typeface="Arial"/>
              </a:rPr>
              <a:t>MCY 260811 — ngày trên thẻ sai đã khiến một tin nhắn không đáng gửi bị gửi đi</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27432" tIns="9144" rIns="27432" bIns="9144" anchor="t">
            <a:spAutoFit/>
          </a:bodyPr>
          <a:lstStyle/>
          <a:p>
            <a:pPr>
              <a:lnSpc>
                <a:spcPct val="100000"/>
              </a:lnSpc>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27432" tIns="9144" rIns="27432" bIns="9144" anchor="t">
            <a:spAutoFit/>
          </a:bodyPr>
          <a:lstStyle/>
          <a:p>
            <a:pPr algn="r">
              <a:lnSpc>
                <a:spcPct val="100000"/>
              </a:lnSpc>
              <a:spcAft>
                <a:spcPts val="0"/>
              </a:spcAft>
            </a:pPr>
            <a:r>
              <a:rPr sz="800" b="1" i="0" lang="vi-VN">
                <a:solidFill>
                  <a:srgbClr val="5C6B62"/>
                </a:solidFill>
                <a:latin typeface="Arial"/>
              </a:rPr>
              <a:t>11</a:t>
            </a:r>
          </a:p>
        </p:txBody>
      </p:sp>
      <p:sp>
        <p:nvSpPr>
          <p:cNvPr id="8" name="Rectangle 7"/>
          <p:cNvSpPr/>
          <p:nvPr/>
        </p:nvSpPr>
        <p:spPr>
          <a:xfrm>
            <a:off x="502920" y="1280160"/>
            <a:ext cx="11183112" cy="310896"/>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27432" rIns="54864" bIns="27432" rtlCol="0" anchor="ctr"/>
          <a:lstStyle/>
          <a:p>
            <a:pPr algn="ctr">
              <a:lnSpc>
                <a:spcPct val="100000"/>
              </a:lnSpc>
              <a:spcAft>
                <a:spcPts val="0"/>
              </a:spcAft>
            </a:pPr>
            <a:r>
              <a:rPr sz="950" b="1" lang="vi-VN">
                <a:solidFill>
                  <a:srgbClr val="C0392B"/>
                </a:solidFill>
                <a:latin typeface="Arial"/>
              </a:rPr>
              <a:t>MCY 260811  MẸ BÉ TẤN PHÁT   ·   </a:t>
            </a:r>
            <a:r>
              <a:rPr sz="950" b="0" lang="vi-VN">
                <a:solidFill>
                  <a:srgbClr val="5C6B62"/>
                </a:solidFill>
                <a:latin typeface="Arial"/>
              </a:rPr>
              <a:t>được đánh dấu là đã nhận kính vào ngày 11 tháng 8. Thực tế khách chưa nhận kính, và đến ngày 25 tháng 8 vẫn chưa nhận.</a:t>
            </a:r>
          </a:p>
        </p:txBody>
      </p:sp>
      <p:sp>
        <p:nvSpPr>
          <p:cNvPr id="9" name="Rectangle 8"/>
          <p:cNvSpPr/>
          <p:nvPr/>
        </p:nvSpPr>
        <p:spPr>
          <a:xfrm>
            <a:off x="502920" y="1700784"/>
            <a:ext cx="5760720" cy="4059936"/>
          </a:xfrm>
          <a:prstGeom prst="rect">
            <a:avLst/>
          </a:prstGeom>
          <a:solidFill>
            <a:srgbClr val="F7F8F7"/>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9" name="Picture 9" descr="1788320737157-Model-Picture-5-VN.png"/>
          <p:cNvPicPr>
            <a:picLocks noChangeAspect="1"/>
          </p:cNvPicPr>
          <p:nvPr/>
        </p:nvPicPr>
        <p:blipFill>
          <a:blip r:embed="rId3"/>
          <a:stretch>
            <a:fillRect/>
          </a:stretch>
        </p:blipFill>
        <p:spPr>
          <a:xfrm>
            <a:off x="943905" y="1700784"/>
            <a:ext cx="4878747" cy="4059936"/>
          </a:xfrm>
          <a:prstGeom prst="rect">
            <a:avLst/>
          </a:prstGeom>
        </p:spPr>
      </p:pic>
      <p:sp>
        <p:nvSpPr>
          <p:cNvPr id="11" name="Rectangle 10"/>
          <p:cNvSpPr/>
          <p:nvPr/>
        </p:nvSpPr>
        <p:spPr>
          <a:xfrm>
            <a:off x="6547104" y="1700784"/>
            <a:ext cx="5138928" cy="3108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54864" bIns="27432" rtlCol="0" anchor="ctr"/>
          <a:lstStyle/>
          <a:p>
            <a:pPr algn="ctr">
              <a:lnSpc>
                <a:spcPct val="100000"/>
              </a:lnSpc>
              <a:spcAft>
                <a:spcPts val="0"/>
              </a:spcAft>
            </a:pPr>
            <a:r>
              <a:rPr sz="1050" b="1" i="0" lang="vi-VN">
                <a:solidFill>
                  <a:srgbClr val="FFFFFF"/>
                </a:solidFill>
                <a:latin typeface="Arial"/>
              </a:rPr>
              <a:t>Diễn biến sự việc</a:t>
            </a:r>
          </a:p>
        </p:txBody>
      </p:sp>
      <p:sp>
        <p:nvSpPr>
          <p:cNvPr id="12" name="Rectangle 11"/>
          <p:cNvSpPr/>
          <p:nvPr/>
        </p:nvSpPr>
        <p:spPr>
          <a:xfrm>
            <a:off x="6547104" y="2011680"/>
            <a:ext cx="5138928" cy="2212848"/>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3" name="TextBox 12"/>
          <p:cNvSpPr txBox="1"/>
          <p:nvPr/>
        </p:nvSpPr>
        <p:spPr>
          <a:xfrm>
            <a:off x="6693408" y="2093976"/>
            <a:ext cx="4846320" cy="2066543"/>
          </a:xfrm>
          <a:prstGeom prst="rect">
            <a:avLst/>
          </a:prstGeom>
          <a:noFill/>
        </p:spPr>
        <p:txBody>
          <a:bodyPr wrap="square" lIns="27432" tIns="9144" rIns="27432" bIns="9144" anchor="t">
            <a:spAutoFit/>
          </a:bodyPr>
          <a:lstStyle/>
          <a:p>
            <a:pPr>
              <a:lnSpc>
                <a:spcPct val="96000"/>
              </a:lnSpc>
              <a:spcAft>
                <a:spcPts val="500"/>
              </a:spcAft>
            </a:pPr>
            <a:r>
              <a:rPr sz="850" b="1" lang="vi-VN">
                <a:solidFill>
                  <a:srgbClr val="C0392B"/>
                </a:solidFill>
                <a:latin typeface="Arial"/>
              </a:rPr>
              <a:t>11/8   </a:t>
            </a:r>
            <a:r>
              <a:rPr sz="850" b="0" lang="vi-VN">
                <a:solidFill>
                  <a:srgbClr val="5C6B62"/>
                </a:solidFill>
                <a:latin typeface="Arial"/>
              </a:rPr>
              <a:t>Bảng theo dõi được đánh dấu là đã nhận kính. Thực tế khách chưa nhận kính.</a:t>
            </a:r>
          </a:p>
          <a:p>
            <a:pPr>
              <a:lnSpc>
                <a:spcPct val="96000"/>
              </a:lnSpc>
              <a:spcAft>
                <a:spcPts val="500"/>
              </a:spcAft>
            </a:pPr>
            <a:r>
              <a:rPr sz="850" b="1" lang="vi-VN">
                <a:solidFill>
                  <a:srgbClr val="C0392B"/>
                </a:solidFill>
                <a:latin typeface="Arial"/>
              </a:rPr>
              <a:t>18/8   </a:t>
            </a:r>
            <a:r>
              <a:rPr sz="850" b="0" lang="vi-VN">
                <a:solidFill>
                  <a:srgbClr val="5C6B62"/>
                </a:solidFill>
                <a:latin typeface="Arial"/>
              </a:rPr>
              <a:t>DA thông báo với phụ huynh rằng kính đã xong. Phụ huynh nói sẽ đến nhận.</a:t>
            </a:r>
          </a:p>
          <a:p>
            <a:pPr>
              <a:lnSpc>
                <a:spcPct val="96000"/>
              </a:lnSpc>
              <a:spcAft>
                <a:spcPts val="500"/>
              </a:spcAft>
            </a:pPr>
            <a:r>
              <a:rPr sz="850" b="1" lang="vi-VN">
                <a:solidFill>
                  <a:srgbClr val="C0392B"/>
                </a:solidFill>
                <a:latin typeface="Arial"/>
              </a:rPr>
              <a:t>20/8   </a:t>
            </a:r>
            <a:r>
              <a:rPr sz="850" b="0" lang="vi-VN">
                <a:solidFill>
                  <a:srgbClr val="5C6B62"/>
                </a:solidFill>
                <a:latin typeface="Arial"/>
              </a:rPr>
              <a:t>Quyền lợi thành viên được gửi đi, khi kính vẫn chưa được nhận.</a:t>
            </a:r>
          </a:p>
          <a:p>
            <a:pPr>
              <a:lnSpc>
                <a:spcPct val="96000"/>
              </a:lnSpc>
              <a:spcAft>
                <a:spcPts val="500"/>
              </a:spcAft>
            </a:pPr>
            <a:r>
              <a:rPr sz="850" b="1" lang="vi-VN">
                <a:solidFill>
                  <a:srgbClr val="C0392B"/>
                </a:solidFill>
                <a:latin typeface="Arial"/>
              </a:rPr>
              <a:t>25/8   </a:t>
            </a:r>
            <a:r>
              <a:rPr sz="850" b="0" lang="vi-VN">
                <a:solidFill>
                  <a:srgbClr val="5C6B62"/>
                </a:solidFill>
                <a:latin typeface="Arial"/>
              </a:rPr>
              <a:t>Thẻ ghi ngày 11 tháng 8, nên CRM tính ngày này là CD+14. DA gửi tin kiểm tra sử dụng CD+14: bé đã quen với kính chưa ạ?</a:t>
            </a:r>
          </a:p>
          <a:p>
            <a:pPr>
              <a:lnSpc>
                <a:spcPct val="96000"/>
              </a:lnSpc>
              <a:spcAft>
                <a:spcPts val="500"/>
              </a:spcAft>
            </a:pPr>
            <a:r>
              <a:rPr sz="850" b="1" lang="vi-VN">
                <a:solidFill>
                  <a:srgbClr val="C0392B"/>
                </a:solidFill>
                <a:latin typeface="Arial"/>
              </a:rPr>
              <a:t>25/8   </a:t>
            </a:r>
            <a:r>
              <a:rPr sz="850" b="0" lang="vi-VN">
                <a:solidFill>
                  <a:srgbClr val="5C6B62"/>
                </a:solidFill>
                <a:latin typeface="Arial"/>
              </a:rPr>
              <a:t>Phụ huynh trả lời: chị vẫn chưa xuống lấy mà. DA đành phải xin lỗi và nói rằng tin nhắn đã gửi nhầm.</a:t>
            </a:r>
          </a:p>
        </p:txBody>
      </p:sp>
      <p:sp>
        <p:nvSpPr>
          <p:cNvPr id="14" name="Rectangle 13"/>
          <p:cNvSpPr/>
          <p:nvPr/>
        </p:nvSpPr>
        <p:spPr>
          <a:xfrm>
            <a:off x="6547104" y="4352544"/>
            <a:ext cx="5138928" cy="310896"/>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54864" bIns="27432" rtlCol="0" anchor="ctr"/>
          <a:lstStyle/>
          <a:p>
            <a:pPr algn="ctr">
              <a:lnSpc>
                <a:spcPct val="100000"/>
              </a:lnSpc>
              <a:spcAft>
                <a:spcPts val="0"/>
              </a:spcAft>
            </a:pPr>
            <a:r>
              <a:rPr sz="1050" b="1" i="0" lang="vi-VN">
                <a:solidFill>
                  <a:srgbClr val="FFFFFF"/>
                </a:solidFill>
                <a:latin typeface="Arial"/>
              </a:rPr>
              <a:t>Điều này cho thấy gì</a:t>
            </a:r>
          </a:p>
        </p:txBody>
      </p:sp>
      <p:sp>
        <p:nvSpPr>
          <p:cNvPr id="15" name="Rectangle 14"/>
          <p:cNvSpPr/>
          <p:nvPr/>
        </p:nvSpPr>
        <p:spPr>
          <a:xfrm>
            <a:off x="6547104" y="4663440"/>
            <a:ext cx="5138928" cy="1097280"/>
          </a:xfrm>
          <a:prstGeom prst="rect">
            <a:avLst/>
          </a:prstGeom>
          <a:solidFill>
            <a:srgbClr val="F7F8F7"/>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6" name="TextBox 15"/>
          <p:cNvSpPr txBox="1"/>
          <p:nvPr/>
        </p:nvSpPr>
        <p:spPr>
          <a:xfrm>
            <a:off x="6693408" y="4745736"/>
            <a:ext cx="4846320" cy="950976"/>
          </a:xfrm>
          <a:prstGeom prst="rect">
            <a:avLst/>
          </a:prstGeom>
          <a:noFill/>
        </p:spPr>
        <p:txBody>
          <a:bodyPr wrap="square" lIns="27432" tIns="9144" rIns="27432" bIns="9144" anchor="t">
            <a:spAutoFit/>
          </a:bodyPr>
          <a:lstStyle/>
          <a:p>
            <a:pPr>
              <a:lnSpc>
                <a:spcPct val="96000"/>
              </a:lnSpc>
              <a:spcAft>
                <a:spcPts val="400"/>
              </a:spcAft>
            </a:pPr>
            <a:r>
              <a:rPr sz="850" b="1" dirty="0" lang="vi-VN">
                <a:solidFill>
                  <a:srgbClr val="31633D"/>
                </a:solidFill>
                <a:latin typeface="Arial"/>
              </a:rPr>
              <a:t>Ngày trên thẻ sai không chỉ làm sai số liệu. </a:t>
            </a:r>
            <a:r>
              <a:rPr sz="850" b="0" dirty="0" lang="vi-VN">
                <a:solidFill>
                  <a:srgbClr val="5C6B62"/>
                </a:solidFill>
                <a:latin typeface="Arial"/>
              </a:rPr>
              <a:t>Nó khiến CRM yêu cầu gửi tin chăm sóc chưa đến hạn, và DA thì gửi thật.</a:t>
            </a:r>
          </a:p>
          <a:p>
            <a:pPr>
              <a:lnSpc>
                <a:spcPct val="96000"/>
              </a:lnSpc>
              <a:spcAft>
                <a:spcPts val="400"/>
              </a:spcAft>
            </a:pPr>
            <a:r>
              <a:rPr sz="850" b="1" dirty="0" lang="vi-VN">
                <a:solidFill>
                  <a:srgbClr val="31633D"/>
                </a:solidFill>
                <a:latin typeface="Arial"/>
              </a:rPr>
              <a:t>Khách hàng nhìn thấy lỗi đó. </a:t>
            </a:r>
            <a:r>
              <a:rPr sz="850" b="0" dirty="0" lang="vi-VN">
                <a:solidFill>
                  <a:srgbClr val="5C6B62"/>
                </a:solidFill>
                <a:latin typeface="Arial"/>
              </a:rPr>
              <a:t>Phụ huynh bị hỏi về một chiếc kính mà họ còn chưa nhận.</a:t>
            </a:r>
          </a:p>
          <a:p>
            <a:pPr>
              <a:lnSpc>
                <a:spcPct val="96000"/>
              </a:lnSpc>
              <a:spcAft>
                <a:spcPts val="400"/>
              </a:spcAft>
            </a:pPr>
            <a:r>
              <a:rPr sz="850" b="1" dirty="0" lang="vi-VN">
                <a:solidFill>
                  <a:srgbClr val="31633D"/>
                </a:solidFill>
                <a:latin typeface="Arial"/>
              </a:rPr>
              <a:t>Chỉ đánh dấu đã nhận kính vào đúng ngày khách đến nhận. </a:t>
            </a:r>
            <a:r>
              <a:rPr sz="850" b="0" dirty="0" lang="vi-VN">
                <a:solidFill>
                  <a:srgbClr val="5C6B62"/>
                </a:solidFill>
                <a:latin typeface="Arial"/>
              </a:rPr>
              <a:t>Không phải khi kính vừa làm xong, cũng không phải khi khách nói sẽ đến.</a:t>
            </a:r>
          </a:p>
        </p:txBody>
      </p:sp>
      <p:sp>
        <p:nvSpPr>
          <p:cNvPr id="17" name="Rectangle 16"/>
          <p:cNvSpPr/>
          <p:nvPr/>
        </p:nvSpPr>
        <p:spPr>
          <a:xfrm>
            <a:off x="502920" y="5888736"/>
            <a:ext cx="64008"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8" name="Rectangle 17"/>
          <p:cNvSpPr/>
          <p:nvPr/>
        </p:nvSpPr>
        <p:spPr>
          <a:xfrm>
            <a:off x="566928" y="5888736"/>
            <a:ext cx="11119104"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54864" bIns="27432" rtlCol="0" anchor="ctr"/>
          <a:lstStyle/>
          <a:p>
            <a:pPr algn="ctr">
              <a:lnSpc>
                <a:spcPct val="94000"/>
              </a:lnSpc>
              <a:spcAft>
                <a:spcPts val="0"/>
              </a:spcAft>
            </a:pPr>
            <a:r>
              <a:rPr sz="1150" b="1" i="0" lang="vi-VN">
                <a:solidFill>
                  <a:srgbClr val="31633D"/>
                </a:solidFill>
                <a:latin typeface="Arial"/>
              </a:rPr>
              <a:t>Chỉ đánh dấu đã nhận kính vào đúng ngày khách thực sự lấy kính về.</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6. VIỆC CẦN LÀM TIẾP   |   MỘT VÍ DỤ THỰC TẾ TRONG TUẦN</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dirty="0" lang="vi-VN">
                <a:solidFill>
                  <a:srgbClr val="31633D"/>
                </a:solidFill>
                <a:latin typeface="Arial"/>
              </a:rPr>
              <a:t>Một ví dụ thực tế trong tuần — chăm sóc tốt, nhưng sai ngày trên thẻ (MCY 260814)</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5817" y="6595872"/>
            <a:ext cx="713232" cy="153888"/>
          </a:xfrm>
          <a:prstGeom prst="rect">
            <a:avLst/>
          </a:prstGeom>
          <a:noFill/>
        </p:spPr>
        <p:txBody>
          <a:bodyPr wrap="square" lIns="36576" tIns="18288" rIns="36576" bIns="18288" anchor="t">
            <a:spAutoFit/>
          </a:bodyPr>
          <a:lstStyle/>
          <a:p>
            <a:pPr algn="r">
              <a:lnSpc>
                <a:spcPct val="95000"/>
              </a:lnSpc>
              <a:spcBef>
                <a:spcPts val="0"/>
              </a:spcBef>
              <a:spcAft>
                <a:spcPts val="0"/>
              </a:spcAft>
            </a:pPr>
            <a:r>
              <a:rPr lang="vi-VN" sz="800" b="1" i="0" dirty="0">
                <a:solidFill>
                  <a:srgbClr val="5C6B62"/>
                </a:solidFill>
                <a:latin typeface="Arial"/>
              </a:rPr>
              <a:t>12</a:t>
            </a:r>
          </a:p>
        </p:txBody>
      </p:sp>
      <p:sp>
        <p:nvSpPr>
          <p:cNvPr id="8" name="Rectangle 7"/>
          <p:cNvSpPr/>
          <p:nvPr/>
        </p:nvSpPr>
        <p:spPr>
          <a:xfrm>
            <a:off x="502920" y="1280160"/>
            <a:ext cx="11183112" cy="310896"/>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28016" rtlCol="0" anchor="ctr"/>
          <a:lstStyle/>
          <a:p>
            <a:pPr algn="l">
              <a:lnSpc>
                <a:spcPct val="95000"/>
              </a:lnSpc>
              <a:spcBef>
                <a:spcPts val="0"/>
              </a:spcBef>
              <a:spcAft>
                <a:spcPts val="0"/>
              </a:spcAft>
            </a:pPr>
            <a:r>
              <a:rPr sz="1000" b="1" lang="vi-VN">
                <a:solidFill>
                  <a:srgbClr val="2E9C4C"/>
                </a:solidFill>
                <a:latin typeface="Arial"/>
              </a:rPr>
              <a:t>Khách hàng:  </a:t>
            </a:r>
            <a:r>
              <a:rPr sz="1000" b="0" lang="vi-VN">
                <a:solidFill>
                  <a:srgbClr val="5C6B62"/>
                </a:solidFill>
                <a:latin typeface="Arial"/>
              </a:rPr>
              <a:t>MCY 260814 MẸ BÉ BẢO NGHI   ·   MC · kính kiểm soát cận thị   ·   27–28/8/2026</a:t>
            </a:r>
          </a:p>
        </p:txBody>
      </p:sp>
      <p:sp>
        <p:nvSpPr>
          <p:cNvPr id="9" name="Rectangle 8"/>
          <p:cNvSpPr/>
          <p:nvPr/>
        </p:nvSpPr>
        <p:spPr>
          <a:xfrm>
            <a:off x="502920" y="1700784"/>
            <a:ext cx="5888736" cy="4261104"/>
          </a:xfrm>
          <a:prstGeom prst="rect">
            <a:avLst/>
          </a:prstGeom>
          <a:solidFill>
            <a:srgbClr val="F7F8F7"/>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7" name="Picture 9" descr="1788321043552-image.png"/>
          <p:cNvPicPr>
            <a:picLocks noChangeAspect="1"/>
          </p:cNvPicPr>
          <p:nvPr/>
        </p:nvPicPr>
        <p:blipFill>
          <a:blip r:embed="rId3"/>
          <a:stretch>
            <a:fillRect/>
          </a:stretch>
        </p:blipFill>
        <p:spPr>
          <a:xfrm>
            <a:off x="890983" y="1726675"/>
            <a:ext cx="5112609" cy="4209321"/>
          </a:xfrm>
          <a:prstGeom prst="rect">
            <a:avLst/>
          </a:prstGeom>
        </p:spPr>
      </p:pic>
      <p:sp>
        <p:nvSpPr>
          <p:cNvPr id="11" name="Rectangle 10"/>
          <p:cNvSpPr/>
          <p:nvPr/>
        </p:nvSpPr>
        <p:spPr>
          <a:xfrm>
            <a:off x="6620256" y="1700784"/>
            <a:ext cx="5065776" cy="310896"/>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lnSpc>
                <a:spcPct val="90000"/>
              </a:lnSpc>
              <a:spcBef>
                <a:spcPts val="0"/>
              </a:spcBef>
              <a:spcAft>
                <a:spcPts val="0"/>
              </a:spcAft>
            </a:pPr>
            <a:r>
              <a:rPr sz="1050" b="1" i="0" lang="vi-VN">
                <a:solidFill>
                  <a:srgbClr val="FFFFFF"/>
                </a:solidFill>
                <a:latin typeface="Arial"/>
              </a:rPr>
              <a:t>DA này đã làm tốt điều gì</a:t>
            </a:r>
          </a:p>
        </p:txBody>
      </p:sp>
      <p:sp>
        <p:nvSpPr>
          <p:cNvPr id="12" name="Oval 11"/>
          <p:cNvSpPr/>
          <p:nvPr/>
        </p:nvSpPr>
        <p:spPr>
          <a:xfrm>
            <a:off x="6620256" y="2048256"/>
            <a:ext cx="228600" cy="228600"/>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1</a:t>
            </a:r>
          </a:p>
        </p:txBody>
      </p:sp>
      <p:sp>
        <p:nvSpPr>
          <p:cNvPr id="13" name="TextBox 12"/>
          <p:cNvSpPr txBox="1"/>
          <p:nvPr/>
        </p:nvSpPr>
        <p:spPr>
          <a:xfrm>
            <a:off x="6931152" y="2007108"/>
            <a:ext cx="4736592" cy="219456"/>
          </a:xfrm>
          <a:prstGeom prst="rect">
            <a:avLst/>
          </a:prstGeom>
          <a:noFill/>
        </p:spPr>
        <p:txBody>
          <a:bodyPr wrap="square" lIns="36576" tIns="18288" rIns="36576" bIns="18288" anchor="t">
            <a:spAutoFit/>
          </a:bodyPr>
          <a:lstStyle/>
          <a:p>
            <a:pPr algn="l">
              <a:lnSpc>
                <a:spcPct val="92000"/>
              </a:lnSpc>
              <a:spcBef>
                <a:spcPts val="0"/>
              </a:spcBef>
              <a:spcAft>
                <a:spcPts val="0"/>
              </a:spcAft>
            </a:pPr>
            <a:r>
              <a:rPr sz="950" b="1" i="0" lang="vi-VN">
                <a:solidFill>
                  <a:srgbClr val="31633D"/>
                </a:solidFill>
                <a:latin typeface="Arial"/>
              </a:rPr>
              <a:t>Bạn ấy hỏi một câu hỏi thật, không phải tin nhắn mẫu</a:t>
            </a:r>
          </a:p>
        </p:txBody>
      </p:sp>
      <p:sp>
        <p:nvSpPr>
          <p:cNvPr id="14" name="TextBox 13"/>
          <p:cNvSpPr txBox="1"/>
          <p:nvPr/>
        </p:nvSpPr>
        <p:spPr>
          <a:xfrm>
            <a:off x="6931152" y="2231136"/>
            <a:ext cx="4736592" cy="749808"/>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dirty="0" lang="vi-VN">
                <a:solidFill>
                  <a:srgbClr val="5C6B62"/>
                </a:solidFill>
                <a:latin typeface="Arial"/>
              </a:rPr>
              <a:t>Bạn ấy hỏi xem sau vài ngày đeo kính mới, bé có nhìn rõ và thoải mái không. Phụ huynh chưa hề hỏi trước.</a:t>
            </a:r>
          </a:p>
        </p:txBody>
      </p:sp>
      <p:sp>
        <p:nvSpPr>
          <p:cNvPr id="15" name="Oval 14"/>
          <p:cNvSpPr/>
          <p:nvPr/>
        </p:nvSpPr>
        <p:spPr>
          <a:xfrm>
            <a:off x="6620256" y="3044952"/>
            <a:ext cx="228600" cy="228600"/>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2</a:t>
            </a:r>
          </a:p>
        </p:txBody>
      </p:sp>
      <p:sp>
        <p:nvSpPr>
          <p:cNvPr id="16" name="TextBox 15"/>
          <p:cNvSpPr txBox="1"/>
          <p:nvPr/>
        </p:nvSpPr>
        <p:spPr>
          <a:xfrm>
            <a:off x="6931152" y="3003804"/>
            <a:ext cx="4736592" cy="219456"/>
          </a:xfrm>
          <a:prstGeom prst="rect">
            <a:avLst/>
          </a:prstGeom>
          <a:noFill/>
        </p:spPr>
        <p:txBody>
          <a:bodyPr wrap="square" lIns="36576" tIns="18288" rIns="36576" bIns="18288" anchor="t">
            <a:spAutoFit/>
          </a:bodyPr>
          <a:lstStyle/>
          <a:p>
            <a:pPr algn="l">
              <a:lnSpc>
                <a:spcPct val="92000"/>
              </a:lnSpc>
              <a:spcBef>
                <a:spcPts val="0"/>
              </a:spcBef>
              <a:spcAft>
                <a:spcPts val="0"/>
              </a:spcAft>
            </a:pPr>
            <a:r>
              <a:rPr sz="950" b="1" i="0" lang="vi-VN">
                <a:solidFill>
                  <a:srgbClr val="31633D"/>
                </a:solidFill>
                <a:latin typeface="Arial"/>
              </a:rPr>
              <a:t>Bạn ấy giải đáp đúng mối lo của phụ huynh</a:t>
            </a:r>
          </a:p>
        </p:txBody>
      </p:sp>
      <p:sp>
        <p:nvSpPr>
          <p:cNvPr id="17" name="TextBox 16"/>
          <p:cNvSpPr txBox="1"/>
          <p:nvPr/>
        </p:nvSpPr>
        <p:spPr>
          <a:xfrm>
            <a:off x="6931152" y="3227832"/>
            <a:ext cx="4736592" cy="749808"/>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dirty="0" lang="vi-VN">
                <a:solidFill>
                  <a:srgbClr val="5C6B62"/>
                </a:solidFill>
                <a:latin typeface="Arial"/>
              </a:rPr>
              <a:t>Phụ huynh nói ngày đầu bé bị mỏi mắt. DA giải thích khoảng một tuần đầu thích nghi là bình thường, rồi đưa ra nguyên tắc đeo kính: đeo cả ngày trừ lúc tắm và lúc ngủ, trên 12 giờ mỗi ngày sẽ cho hiệu quả tốt nhất.</a:t>
            </a:r>
          </a:p>
        </p:txBody>
      </p:sp>
      <p:sp>
        <p:nvSpPr>
          <p:cNvPr id="18" name="Oval 17"/>
          <p:cNvSpPr/>
          <p:nvPr/>
        </p:nvSpPr>
        <p:spPr>
          <a:xfrm>
            <a:off x="6620256" y="4041648"/>
            <a:ext cx="228600" cy="228600"/>
          </a:xfrm>
          <a:prstGeom prst="ellipse">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3</a:t>
            </a:r>
          </a:p>
        </p:txBody>
      </p:sp>
      <p:sp>
        <p:nvSpPr>
          <p:cNvPr id="19" name="TextBox 18"/>
          <p:cNvSpPr txBox="1"/>
          <p:nvPr/>
        </p:nvSpPr>
        <p:spPr>
          <a:xfrm>
            <a:off x="6931152" y="4000500"/>
            <a:ext cx="4736592" cy="219456"/>
          </a:xfrm>
          <a:prstGeom prst="rect">
            <a:avLst/>
          </a:prstGeom>
          <a:noFill/>
        </p:spPr>
        <p:txBody>
          <a:bodyPr wrap="square" lIns="36576" tIns="18288" rIns="36576" bIns="18288" anchor="t">
            <a:spAutoFit/>
          </a:bodyPr>
          <a:lstStyle/>
          <a:p>
            <a:pPr algn="l">
              <a:lnSpc>
                <a:spcPct val="92000"/>
              </a:lnSpc>
              <a:spcBef>
                <a:spcPts val="0"/>
              </a:spcBef>
              <a:spcAft>
                <a:spcPts val="0"/>
              </a:spcAft>
            </a:pPr>
            <a:r>
              <a:rPr sz="950" b="1" i="0" lang="vi-VN">
                <a:solidFill>
                  <a:srgbClr val="31633D"/>
                </a:solidFill>
                <a:latin typeface="Arial"/>
              </a:rPr>
              <a:t>Bạn ấy gửi quyền lợi trước, rồi mới đề nghị giới thiệu sau khi khách phản hồi</a:t>
            </a:r>
          </a:p>
        </p:txBody>
      </p:sp>
      <p:sp>
        <p:nvSpPr>
          <p:cNvPr id="20" name="TextBox 19"/>
          <p:cNvSpPr txBox="1"/>
          <p:nvPr/>
        </p:nvSpPr>
        <p:spPr>
          <a:xfrm>
            <a:off x="6931152" y="4224528"/>
            <a:ext cx="4736592" cy="749808"/>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lang="vi-VN">
                <a:solidFill>
                  <a:srgbClr val="5C6B62"/>
                </a:solidFill>
                <a:latin typeface="Arial"/>
              </a:rPr>
              <a:t>Quyền lợi thành viên được gửi kèm đầy đủ voucher và điều kiện giới thiệu. Bạn ấy chỉ đề nghị giới thiệu sau khi phụ huynh trả lời “oki e”, chứ không đề nghị trước đó.</a:t>
            </a:r>
          </a:p>
        </p:txBody>
      </p:sp>
      <p:sp>
        <p:nvSpPr>
          <p:cNvPr id="21" name="Oval 20"/>
          <p:cNvSpPr/>
          <p:nvPr/>
        </p:nvSpPr>
        <p:spPr>
          <a:xfrm>
            <a:off x="6620256" y="5038344"/>
            <a:ext cx="228600" cy="228600"/>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4</a:t>
            </a:r>
          </a:p>
        </p:txBody>
      </p:sp>
      <p:sp>
        <p:nvSpPr>
          <p:cNvPr id="22" name="TextBox 21"/>
          <p:cNvSpPr txBox="1"/>
          <p:nvPr/>
        </p:nvSpPr>
        <p:spPr>
          <a:xfrm>
            <a:off x="6931152" y="4997196"/>
            <a:ext cx="4736592" cy="219456"/>
          </a:xfrm>
          <a:prstGeom prst="rect">
            <a:avLst/>
          </a:prstGeom>
          <a:noFill/>
        </p:spPr>
        <p:txBody>
          <a:bodyPr wrap="square" lIns="36576" tIns="18288" rIns="36576" bIns="18288" anchor="t">
            <a:spAutoFit/>
          </a:bodyPr>
          <a:lstStyle/>
          <a:p>
            <a:pPr algn="l">
              <a:lnSpc>
                <a:spcPct val="92000"/>
              </a:lnSpc>
              <a:spcBef>
                <a:spcPts val="0"/>
              </a:spcBef>
              <a:spcAft>
                <a:spcPts val="0"/>
              </a:spcAft>
            </a:pPr>
            <a:r>
              <a:rPr sz="950" b="1" i="0" lang="vi-VN">
                <a:solidFill>
                  <a:srgbClr val="31633D"/>
                </a:solidFill>
                <a:latin typeface="Arial"/>
              </a:rPr>
              <a:t>Bạn ấy kết thúc bằng sự quan tâm, không phải bằng ưu đãi</a:t>
            </a:r>
          </a:p>
        </p:txBody>
      </p:sp>
      <p:sp>
        <p:nvSpPr>
          <p:cNvPr id="23" name="TextBox 22"/>
          <p:cNvSpPr txBox="1"/>
          <p:nvPr/>
        </p:nvSpPr>
        <p:spPr>
          <a:xfrm>
            <a:off x="6931152" y="5221224"/>
            <a:ext cx="4736592" cy="749808"/>
          </a:xfrm>
          <a:prstGeom prst="rect">
            <a:avLst/>
          </a:prstGeom>
          <a:noFill/>
        </p:spPr>
        <p:txBody>
          <a:bodyPr wrap="square" lIns="36576" tIns="18288" rIns="36576" bIns="18288" anchor="t">
            <a:spAutoFit/>
          </a:bodyPr>
          <a:lstStyle/>
          <a:p>
            <a:pPr algn="l">
              <a:lnSpc>
                <a:spcPct val="96000"/>
              </a:lnSpc>
              <a:spcBef>
                <a:spcPts val="0"/>
              </a:spcBef>
              <a:spcAft>
                <a:spcPts val="0"/>
              </a:spcAft>
            </a:pPr>
            <a:r>
              <a:rPr sz="850" b="0" i="0" dirty="0" lang="vi-VN">
                <a:solidFill>
                  <a:srgbClr val="5C6B62"/>
                </a:solidFill>
                <a:latin typeface="Arial"/>
              </a:rPr>
              <a:t>Tin nhắn cuối cùng đề nghị hỗ trợ voucher cho người thân và bạn bè, và cảm ơn phụ huynh đã tin tưởng trung tâm.</a:t>
            </a:r>
            <a:r>
              <a:rPr sz="850" b="0" i="0" dirty="0" err="1" lang="vi-VN">
                <a:solidFill>
                  <a:srgbClr val="5C6B62"/>
                </a:solidFill>
                <a:latin typeface="Arial"/>
              </a:rPr>
              <a:t/>
            </a:r>
            <a:r>
              <a:rPr sz="850" b="0" i="0" dirty="0" lang="vi-VN">
                <a:solidFill>
                  <a:srgbClr val="5C6B62"/>
                </a:solidFill>
                <a:latin typeface="Arial"/>
              </a:rPr>
              <a:t/>
            </a:r>
          </a:p>
        </p:txBody>
      </p:sp>
      <p:sp>
        <p:nvSpPr>
          <p:cNvPr id="24" name="Rectangle 23"/>
          <p:cNvSpPr/>
          <p:nvPr/>
        </p:nvSpPr>
        <p:spPr>
          <a:xfrm>
            <a:off x="6620256" y="6035040"/>
            <a:ext cx="5065776" cy="512064"/>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18872" rtlCol="0" anchor="ctr"/>
          <a:lstStyle/>
          <a:p>
            <a:pPr algn="l">
              <a:lnSpc>
                <a:spcPct val="94000"/>
              </a:lnSpc>
              <a:spcBef>
                <a:spcPts val="0"/>
              </a:spcBef>
              <a:spcAft>
                <a:spcPts val="200"/>
              </a:spcAft>
            </a:pPr>
            <a:r>
              <a:rPr sz="900" b="1" dirty="0" lang="vi-VN">
                <a:solidFill>
                  <a:srgbClr val="C0392B"/>
                </a:solidFill>
                <a:latin typeface="Arial"/>
              </a:rPr>
              <a:t/>
            </a:r>
            <a:r>
              <a:rPr lang="vi-VN" sz="900" b="1" dirty="0">
                <a:solidFill>
                  <a:srgbClr val="C0392B"/>
                </a:solidFill>
                <a:latin typeface="Arial"/>
              </a:rPr>
              <a:t>Điểm duy nhất còn thiếu sót</a:t>
            </a:r>
            <a:r>
              <a:rPr sz="900" b="1" dirty="0" lang="vi-VN">
                <a:solidFill>
                  <a:srgbClr val="C0392B"/>
                </a:solidFill>
                <a:latin typeface="Arial"/>
              </a:rPr>
              <a:t>:  </a:t>
            </a:r>
            <a:r>
              <a:rPr sz="900" b="1" dirty="0" lang="vi-VN">
                <a:solidFill>
                  <a:srgbClr val="31633D"/>
                </a:solidFill>
                <a:latin typeface="Arial"/>
              </a:rPr>
              <a:t>ngày trên thẻ </a:t>
            </a:r>
            <a:r>
              <a:rPr sz="900" b="1" dirty="0" err="1" lang="vi-VN">
                <a:solidFill>
                  <a:srgbClr val="31633D"/>
                </a:solidFill>
                <a:latin typeface="Arial"/>
              </a:rPr>
              <a:t>Zalo</a:t>
            </a:r>
            <a:r>
              <a:rPr sz="900" b="1" dirty="0" lang="vi-VN">
                <a:solidFill>
                  <a:srgbClr val="31633D"/>
                </a:solidFill>
                <a:latin typeface="Arial"/>
              </a:rPr>
              <a:t> bị sai.</a:t>
            </a:r>
          </a:p>
          <a:p>
            <a:pPr algn="l">
              <a:lnSpc>
                <a:spcPct val="94000"/>
              </a:lnSpc>
              <a:spcBef>
                <a:spcPts val="0"/>
              </a:spcBef>
              <a:spcAft>
                <a:spcPts val="0"/>
              </a:spcAft>
            </a:pPr>
            <a:r>
              <a:rPr sz="800" b="0" i="0" dirty="0" lang="vi-VN">
                <a:solidFill>
                  <a:srgbClr val="5C6B62"/>
                </a:solidFill>
                <a:latin typeface="Arial"/>
              </a:rPr>
              <a:t>Đoạn hội thoại thì đúng, nhưng ngày trên thẻ không khớp ngày nhận kính, nên CRM tính các ngày chăm sóc từ một ngày sai. Xem trang 8 và 9.</a:t>
            </a:r>
          </a:p>
        </p:txBody>
      </p:sp>
      <p:sp>
        <p:nvSpPr>
          <p:cNvPr id="25" name="Rectangle 24"/>
          <p:cNvSpPr/>
          <p:nvPr/>
        </p:nvSpPr>
        <p:spPr>
          <a:xfrm>
            <a:off x="502920" y="6035040"/>
            <a:ext cx="68580" cy="475488"/>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ectangle 25"/>
          <p:cNvSpPr/>
          <p:nvPr/>
        </p:nvSpPr>
        <p:spPr>
          <a:xfrm>
            <a:off x="571500" y="6035040"/>
            <a:ext cx="5820156" cy="475488"/>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09728" rtlCol="0" anchor="ctr"/>
          <a:lstStyle/>
          <a:p>
            <a:pPr algn="l">
              <a:lnSpc>
                <a:spcPct val="90000"/>
              </a:lnSpc>
              <a:spcBef>
                <a:spcPts val="0"/>
              </a:spcBef>
              <a:spcAft>
                <a:spcPts val="0"/>
              </a:spcAft>
            </a:pPr>
            <a:r>
              <a:rPr sz="1050" b="1" i="0" dirty="0" lang="vi-VN">
                <a:solidFill>
                  <a:srgbClr val="31633D"/>
                </a:solidFill>
                <a:latin typeface="Arial"/>
              </a:rPr>
              <a:t>Chủ động nhắn trước. Trả lời thật kỹ.
Đề nghị giới thiệu sau khi khách phản hồi.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100584"/>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02920" y="228600"/>
            <a:ext cx="9692640" cy="228600"/>
          </a:xfrm>
          <a:prstGeom prst="rect">
            <a:avLst/>
          </a:prstGeom>
          <a:noFill/>
        </p:spPr>
        <p:txBody>
          <a:bodyPr wrap="square" lIns="36576" tIns="18288" rIns="36576" bIns="18288" anchor="t">
            <a:spAutoFit/>
          </a:bodyPr>
          <a:lstStyle/>
          <a:p>
            <a:pPr algn="l">
              <a:lnSpc>
                <a:spcPct val="95000"/>
              </a:lnSpc>
              <a:spcBef>
                <a:spcPts val="0"/>
              </a:spcBef>
              <a:spcAft>
                <a:spcPts val="0"/>
              </a:spcAft>
            </a:pPr>
            <a:r>
              <a:rPr sz="950" b="1" i="0" lang="vi-VN">
                <a:solidFill>
                  <a:srgbClr val="2E9C4C"/>
                </a:solidFill>
                <a:latin typeface="Arial"/>
              </a:rPr>
              <a:t>6. VIỆC CẦN LÀM TIẾP   |   ƯU TIÊN ĐÀO TẠO</a:t>
            </a:r>
          </a:p>
        </p:txBody>
      </p:sp>
      <p:sp>
        <p:nvSpPr>
          <p:cNvPr id="4" name="TextBox 3"/>
          <p:cNvSpPr txBox="1"/>
          <p:nvPr/>
        </p:nvSpPr>
        <p:spPr>
          <a:xfrm>
            <a:off x="502920" y="493776"/>
            <a:ext cx="11247120" cy="640080"/>
          </a:xfrm>
          <a:prstGeom prst="rect">
            <a:avLst/>
          </a:prstGeom>
          <a:noFill/>
        </p:spPr>
        <p:txBody>
          <a:bodyPr wrap="square" lIns="36576" tIns="18288" rIns="36576" bIns="18288" anchor="t">
            <a:spAutoFit/>
          </a:bodyPr>
          <a:lstStyle/>
          <a:p>
            <a:pPr algn="l">
              <a:lnSpc>
                <a:spcPct val="92000"/>
              </a:lnSpc>
              <a:spcBef>
                <a:spcPts val="0"/>
              </a:spcBef>
              <a:spcAft>
                <a:spcPts val="0"/>
              </a:spcAft>
            </a:pPr>
            <a:r>
              <a:rPr sz="2200" b="1" i="0" lang="vi-VN">
                <a:solidFill>
                  <a:srgbClr val="31633D"/>
                </a:solidFill>
                <a:latin typeface="Arial"/>
              </a:rPr>
              <a:t>Ba ưu tiên trong tuần này</a:t>
            </a:r>
          </a:p>
        </p:txBody>
      </p:sp>
      <p:sp>
        <p:nvSpPr>
          <p:cNvPr id="5" name="Rectangle 4"/>
          <p:cNvSpPr/>
          <p:nvPr/>
        </p:nvSpPr>
        <p:spPr>
          <a:xfrm>
            <a:off x="502920" y="1179576"/>
            <a:ext cx="11186129" cy="18288"/>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02920" y="6455664"/>
            <a:ext cx="5486400" cy="237744"/>
          </a:xfrm>
          <a:prstGeom prst="rect">
            <a:avLst/>
          </a:prstGeom>
          <a:noFill/>
        </p:spPr>
        <p:txBody>
          <a:bodyPr wrap="square" lIns="36576" tIns="18288" rIns="36576" bIns="18288" anchor="t">
            <a:spAutoFit/>
          </a:bodyPr>
          <a:lstStyle/>
          <a:p>
            <a:pPr algn="l">
              <a:lnSpc>
                <a:spcPct val="95000"/>
              </a:lnSpc>
              <a:spcBef>
                <a:spcPts val="0"/>
              </a:spcBef>
              <a:spcAft>
                <a:spcPts val="0"/>
              </a:spcAft>
            </a:pPr>
            <a:r>
              <a:rPr sz="800" b="0" i="0" lang="vi-VN">
                <a:solidFill>
                  <a:srgbClr val="5C6B62"/>
                </a:solidFill>
                <a:latin typeface="Arial"/>
              </a:rPr>
              <a:t>Mắt Sài Gòn  |  Đào tạo DA Khúc xạ</a:t>
            </a:r>
          </a:p>
        </p:txBody>
      </p:sp>
      <p:sp>
        <p:nvSpPr>
          <p:cNvPr id="7" name="TextBox 6"/>
          <p:cNvSpPr txBox="1"/>
          <p:nvPr/>
        </p:nvSpPr>
        <p:spPr>
          <a:xfrm>
            <a:off x="10972800" y="6455664"/>
            <a:ext cx="713232" cy="153888"/>
          </a:xfrm>
          <a:prstGeom prst="rect">
            <a:avLst/>
          </a:prstGeom>
          <a:noFill/>
        </p:spPr>
        <p:txBody>
          <a:bodyPr wrap="square" lIns="36576" tIns="18288" rIns="36576" bIns="18288" anchor="t">
            <a:spAutoFit/>
          </a:bodyPr>
          <a:lstStyle/>
          <a:p>
            <a:pPr algn="r">
              <a:lnSpc>
                <a:spcPct val="95000"/>
              </a:lnSpc>
              <a:spcBef>
                <a:spcPts val="0"/>
              </a:spcBef>
              <a:spcAft>
                <a:spcPts val="0"/>
              </a:spcAft>
            </a:pPr>
            <a:r>
              <a:rPr lang="vi-VN" sz="800" b="1" i="0" dirty="0">
                <a:solidFill>
                  <a:srgbClr val="5C6B62"/>
                </a:solidFill>
                <a:latin typeface="Arial"/>
              </a:rPr>
              <a:t>13</a:t>
            </a:r>
            <a:endParaRPr sz="800" b="1" i="0" dirty="0">
              <a:solidFill>
                <a:srgbClr val="5C6B62"/>
              </a:solidFill>
              <a:latin typeface="Arial"/>
            </a:endParaRPr>
          </a:p>
        </p:txBody>
      </p:sp>
      <p:sp>
        <p:nvSpPr>
          <p:cNvPr id="8" name="Rectangle 7"/>
          <p:cNvSpPr/>
          <p:nvPr/>
        </p:nvSpPr>
        <p:spPr>
          <a:xfrm>
            <a:off x="502920" y="1353312"/>
            <a:ext cx="3575304" cy="39319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502920" y="1353312"/>
            <a:ext cx="3575304" cy="50292"/>
          </a:xfrm>
          <a:prstGeom prst="rect">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649224" y="1536192"/>
            <a:ext cx="292608" cy="292608"/>
          </a:xfrm>
          <a:prstGeom prst="ellipse">
            <a:avLst/>
          </a:prstGeom>
          <a:solidFill>
            <a:srgbClr val="2E9C4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1</a:t>
            </a:r>
          </a:p>
        </p:txBody>
      </p:sp>
      <p:sp>
        <p:nvSpPr>
          <p:cNvPr id="11" name="TextBox 10"/>
          <p:cNvSpPr txBox="1"/>
          <p:nvPr/>
        </p:nvSpPr>
        <p:spPr>
          <a:xfrm>
            <a:off x="1014984" y="1499616"/>
            <a:ext cx="2916936" cy="475488"/>
          </a:xfrm>
          <a:prstGeom prst="rect">
            <a:avLst/>
          </a:prstGeom>
          <a:noFill/>
        </p:spPr>
        <p:txBody>
          <a:bodyPr wrap="square" lIns="36576" tIns="18288" rIns="36576" bIns="18288" anchor="t">
            <a:spAutoFit/>
          </a:bodyPr>
          <a:lstStyle/>
          <a:p>
            <a:pPr algn="l">
              <a:lnSpc>
                <a:spcPct val="92000"/>
              </a:lnSpc>
              <a:spcBef>
                <a:spcPts val="0"/>
              </a:spcBef>
              <a:spcAft>
                <a:spcPts val="0"/>
              </a:spcAft>
            </a:pPr>
            <a:r>
              <a:rPr sz="1150" b="1" lang="vi-VN">
                <a:solidFill>
                  <a:srgbClr val="31633D"/>
                </a:solidFill>
                <a:latin typeface="Arial"/>
              </a:rPr>
              <a:t>Tần suất chăm sóc</a:t>
            </a:r>
          </a:p>
          <a:p>
            <a:pPr>
              <a:lnSpc>
                <a:spcPct val="92000"/>
              </a:lnSpc>
              <a:spcAft>
                <a:spcPts val="0"/>
              </a:spcAft>
            </a:pPr>
            <a:r>
              <a:rPr sz="1150" b="1" lang="vi-VN">
                <a:solidFill>
                  <a:srgbClr val="31633D"/>
                </a:solidFill>
                <a:latin typeface="Arial"/>
              </a:rPr>
              <a:t>và nội dung bắt buộc</a:t>
            </a:r>
          </a:p>
        </p:txBody>
      </p:sp>
      <p:sp>
        <p:nvSpPr>
          <p:cNvPr id="12" name="Rectangle 11"/>
          <p:cNvSpPr/>
          <p:nvPr/>
        </p:nvSpPr>
        <p:spPr>
          <a:xfrm>
            <a:off x="649224" y="2066543"/>
            <a:ext cx="3282696"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49224" y="2157984"/>
            <a:ext cx="3282696" cy="1920240"/>
          </a:xfrm>
          <a:prstGeom prst="rect">
            <a:avLst/>
          </a:prstGeom>
          <a:noFill/>
        </p:spPr>
        <p:txBody>
          <a:bodyPr wrap="square" lIns="36576" tIns="18288" rIns="36576" bIns="18288" anchor="t">
            <a:spAutoFit/>
          </a:bodyPr>
          <a:lstStyle/>
          <a:p>
            <a:pPr algn="l">
              <a:lnSpc>
                <a:spcPct val="94000"/>
              </a:lnSpc>
              <a:spcBef>
                <a:spcPts val="0"/>
              </a:spcBef>
              <a:spcAft>
                <a:spcPts val="500"/>
              </a:spcAft>
            </a:pPr>
            <a:r>
              <a:rPr sz="900" b="0" i="0" lang="vi-VN">
                <a:solidFill>
                  <a:srgbClr val="5C6B62"/>
                </a:solidFill>
                <a:latin typeface="Arial"/>
              </a:rPr>
              <a:t>▪  Gửi tin chăm sóc đúng tần suất yêu cầu, cho mọi khách hàng</a:t>
            </a:r>
          </a:p>
          <a:p>
            <a:pPr algn="l">
              <a:lnSpc>
                <a:spcPct val="94000"/>
              </a:lnSpc>
              <a:spcBef>
                <a:spcPts val="0"/>
              </a:spcBef>
              <a:spcAft>
                <a:spcPts val="500"/>
              </a:spcAft>
            </a:pPr>
            <a:r>
              <a:rPr sz="900" b="0" i="0" lang="vi-VN">
                <a:solidFill>
                  <a:srgbClr val="5C6B62"/>
                </a:solidFill>
                <a:latin typeface="Arial"/>
              </a:rPr>
              <a:t>▪  Tất cả khách hàng, không chỉ một số khách</a:t>
            </a:r>
          </a:p>
          <a:p>
            <a:pPr algn="l">
              <a:lnSpc>
                <a:spcPct val="94000"/>
              </a:lnSpc>
              <a:spcBef>
                <a:spcPts val="0"/>
              </a:spcBef>
              <a:spcAft>
                <a:spcPts val="500"/>
              </a:spcAft>
            </a:pPr>
            <a:r>
              <a:rPr sz="900" b="0" i="0" lang="vi-VN">
                <a:solidFill>
                  <a:srgbClr val="5C6B62"/>
                </a:solidFill>
                <a:latin typeface="Arial"/>
              </a:rPr>
              <a:t>▪  Gửi đúng nội dung cho từng mốc chăm sóc CD</a:t>
            </a:r>
          </a:p>
          <a:p>
            <a:pPr algn="l">
              <a:lnSpc>
                <a:spcPct val="94000"/>
              </a:lnSpc>
              <a:spcBef>
                <a:spcPts val="0"/>
              </a:spcBef>
              <a:spcAft>
                <a:spcPts val="500"/>
              </a:spcAft>
            </a:pPr>
            <a:r>
              <a:rPr sz="900" b="0" i="0" lang="vi-VN">
                <a:solidFill>
                  <a:srgbClr val="5C6B62"/>
                </a:solidFill>
                <a:latin typeface="Arial"/>
              </a:rPr>
              <a:t>▪  Mỗi lượt chăm sóc có mục đích riêng — hãy xem sản phẩm trước</a:t>
            </a:r>
          </a:p>
          <a:p>
            <a:pPr algn="l">
              <a:lnSpc>
                <a:spcPct val="94000"/>
              </a:lnSpc>
              <a:spcBef>
                <a:spcPts val="0"/>
              </a:spcBef>
              <a:spcAft>
                <a:spcPts val="500"/>
              </a:spcAft>
            </a:pPr>
            <a:r>
              <a:rPr sz="900" b="0" i="0" lang="vi-VN">
                <a:solidFill>
                  <a:srgbClr val="5C6B62"/>
                </a:solidFill>
                <a:latin typeface="Arial"/>
              </a:rPr>
              <a:t>▪  CD+3-5 hiện là mốc chăm sóc yếu nhất</a:t>
            </a:r>
          </a:p>
        </p:txBody>
      </p:sp>
      <p:sp>
        <p:nvSpPr>
          <p:cNvPr id="14" name="Rectangle 13"/>
          <p:cNvSpPr/>
          <p:nvPr/>
        </p:nvSpPr>
        <p:spPr>
          <a:xfrm>
            <a:off x="649224" y="4224528"/>
            <a:ext cx="3282696" cy="914400"/>
          </a:xfrm>
          <a:prstGeom prst="rect">
            <a:avLst/>
          </a:prstGeom>
          <a:solidFill>
            <a:srgbClr val="EBF4EF"/>
          </a:solidFill>
          <a:ln>
            <a:noFill/>
          </a:ln>
          <a:effectLst/>
        </p:spPr>
        <p:style>
          <a:lnRef idx="1">
            <a:schemeClr val="accent1"/>
          </a:lnRef>
          <a:fillRef idx="3">
            <a:schemeClr val="accent1"/>
          </a:fillRef>
          <a:effectRef idx="2">
            <a:schemeClr val="accent1"/>
          </a:effectRef>
          <a:fontRef idx="minor">
            <a:schemeClr val="lt1"/>
          </a:fontRef>
        </p:style>
        <p:txBody>
          <a:bodyPr wrap="square" rIns="73152" rtlCol="0" anchor="ctr"/>
          <a:lstStyle/>
          <a:p>
            <a:pPr algn="l">
              <a:lnSpc>
                <a:spcPct val="95000"/>
              </a:lnSpc>
              <a:spcBef>
                <a:spcPts val="0"/>
              </a:spcBef>
              <a:spcAft>
                <a:spcPts val="0"/>
              </a:spcAft>
            </a:pPr>
            <a:r>
              <a:rPr sz="950" b="1" lang="vi-VN">
                <a:solidFill>
                  <a:srgbClr val="31633D"/>
                </a:solidFill>
                <a:latin typeface="Arial"/>
              </a:rPr>
              <a:t>Mọi khách hàng, đúng hạn, đúng nội dung.</a:t>
            </a:r>
          </a:p>
        </p:txBody>
      </p:sp>
      <p:sp>
        <p:nvSpPr>
          <p:cNvPr id="15" name="Rectangle 14"/>
          <p:cNvSpPr/>
          <p:nvPr/>
        </p:nvSpPr>
        <p:spPr>
          <a:xfrm>
            <a:off x="4309863" y="1353312"/>
            <a:ext cx="3575304" cy="39319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4309863" y="1353312"/>
            <a:ext cx="3575304" cy="50292"/>
          </a:xfrm>
          <a:prstGeom prst="rect">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4456168" y="1536192"/>
            <a:ext cx="292608" cy="292608"/>
          </a:xfrm>
          <a:prstGeom prst="ellipse">
            <a:avLst/>
          </a:prstGeom>
          <a:solidFill>
            <a:srgbClr val="0C98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2</a:t>
            </a:r>
          </a:p>
        </p:txBody>
      </p:sp>
      <p:sp>
        <p:nvSpPr>
          <p:cNvPr id="18" name="TextBox 17"/>
          <p:cNvSpPr txBox="1"/>
          <p:nvPr/>
        </p:nvSpPr>
        <p:spPr>
          <a:xfrm>
            <a:off x="4821928" y="1499616"/>
            <a:ext cx="2916936" cy="475488"/>
          </a:xfrm>
          <a:prstGeom prst="rect">
            <a:avLst/>
          </a:prstGeom>
          <a:noFill/>
        </p:spPr>
        <p:txBody>
          <a:bodyPr wrap="square" lIns="36576" tIns="18288" rIns="36576" bIns="18288" anchor="t">
            <a:spAutoFit/>
          </a:bodyPr>
          <a:lstStyle/>
          <a:p>
            <a:pPr algn="l">
              <a:lnSpc>
                <a:spcPct val="92000"/>
              </a:lnSpc>
              <a:spcBef>
                <a:spcPts val="0"/>
              </a:spcBef>
              <a:spcAft>
                <a:spcPts val="0"/>
              </a:spcAft>
            </a:pPr>
            <a:r>
              <a:rPr sz="1150" b="1" lang="vi-VN">
                <a:solidFill>
                  <a:srgbClr val="31633D"/>
                </a:solidFill>
                <a:latin typeface="Arial"/>
              </a:rPr>
              <a:t>Đề nghị giới thiệu</a:t>
            </a:r>
          </a:p>
          <a:p>
            <a:pPr>
              <a:lnSpc>
                <a:spcPct val="92000"/>
              </a:lnSpc>
              <a:spcAft>
                <a:spcPts val="0"/>
              </a:spcAft>
            </a:pPr>
            <a:r>
              <a:rPr sz="1150" b="1" lang="vi-VN">
                <a:solidFill>
                  <a:srgbClr val="31633D"/>
                </a:solidFill>
                <a:latin typeface="Arial"/>
              </a:rPr>
              <a:t>mỗi khi có dịp phù hợp</a:t>
            </a:r>
          </a:p>
        </p:txBody>
      </p:sp>
      <p:sp>
        <p:nvSpPr>
          <p:cNvPr id="19" name="Rectangle 18"/>
          <p:cNvSpPr/>
          <p:nvPr/>
        </p:nvSpPr>
        <p:spPr>
          <a:xfrm>
            <a:off x="4456168" y="2066543"/>
            <a:ext cx="3282696"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4456168" y="2157984"/>
            <a:ext cx="3282696" cy="1920240"/>
          </a:xfrm>
          <a:prstGeom prst="rect">
            <a:avLst/>
          </a:prstGeom>
          <a:noFill/>
        </p:spPr>
        <p:txBody>
          <a:bodyPr wrap="square" lIns="36576" tIns="18288" rIns="36576" bIns="18288" anchor="t">
            <a:spAutoFit/>
          </a:bodyPr>
          <a:lstStyle/>
          <a:p>
            <a:pPr algn="l">
              <a:lnSpc>
                <a:spcPct val="94000"/>
              </a:lnSpc>
              <a:spcBef>
                <a:spcPts val="0"/>
              </a:spcBef>
              <a:spcAft>
                <a:spcPts val="500"/>
              </a:spcAft>
            </a:pPr>
            <a:r>
              <a:rPr sz="900" b="0" i="0" lang="vi-VN">
                <a:solidFill>
                  <a:srgbClr val="5C6B62"/>
                </a:solidFill>
                <a:latin typeface="Arial"/>
              </a:rPr>
              <a:t>▪  Đề nghị trong khoảng từ lúc thanh toán đến lúc nhận kính</a:t>
            </a:r>
          </a:p>
          <a:p>
            <a:pPr algn="l">
              <a:lnSpc>
                <a:spcPct val="94000"/>
              </a:lnSpc>
              <a:spcBef>
                <a:spcPts val="0"/>
              </a:spcBef>
              <a:spcAft>
                <a:spcPts val="500"/>
              </a:spcAft>
            </a:pPr>
            <a:r>
              <a:rPr sz="900" b="0" i="0" lang="vi-VN">
                <a:solidFill>
                  <a:srgbClr val="5C6B62"/>
                </a:solidFill>
                <a:latin typeface="Arial"/>
              </a:rPr>
              <a:t>▪  Đề nghị lại sau khi khách phản hồi tốt</a:t>
            </a:r>
          </a:p>
          <a:p>
            <a:pPr algn="l">
              <a:lnSpc>
                <a:spcPct val="94000"/>
              </a:lnSpc>
              <a:spcBef>
                <a:spcPts val="0"/>
              </a:spcBef>
              <a:spcAft>
                <a:spcPts val="500"/>
              </a:spcAft>
            </a:pPr>
            <a:r>
              <a:rPr sz="900" b="0" i="0" lang="vi-VN">
                <a:solidFill>
                  <a:srgbClr val="5C6B62"/>
                </a:solidFill>
                <a:latin typeface="Arial"/>
              </a:rPr>
              <a:t>▪  Ví dụ sau khi bạn xác nhận giao kính tận nơi</a:t>
            </a:r>
          </a:p>
          <a:p>
            <a:pPr algn="l">
              <a:lnSpc>
                <a:spcPct val="94000"/>
              </a:lnSpc>
              <a:spcBef>
                <a:spcPts val="0"/>
              </a:spcBef>
              <a:spcAft>
                <a:spcPts val="500"/>
              </a:spcAft>
            </a:pPr>
            <a:r>
              <a:rPr sz="900" b="0" i="0" lang="vi-VN">
                <a:solidFill>
                  <a:srgbClr val="5C6B62"/>
                </a:solidFill>
                <a:latin typeface="Arial"/>
              </a:rPr>
              <a:t>▪  Tất cả chi nhánh đều đề nghị quá ít</a:t>
            </a:r>
          </a:p>
          <a:p>
            <a:pPr algn="l">
              <a:lnSpc>
                <a:spcPct val="94000"/>
              </a:lnSpc>
              <a:spcBef>
                <a:spcPts val="0"/>
              </a:spcBef>
              <a:spcAft>
                <a:spcPts val="500"/>
              </a:spcAft>
            </a:pPr>
            <a:r>
              <a:rPr sz="900" b="0" i="0" lang="vi-VN">
                <a:solidFill>
                  <a:srgbClr val="5C6B62"/>
                </a:solidFill>
                <a:latin typeface="Arial"/>
              </a:rPr>
              <a:t>▪  Hãy đề nghị đều đặn, không phải thỉnh thoảng</a:t>
            </a:r>
          </a:p>
        </p:txBody>
      </p:sp>
      <p:sp>
        <p:nvSpPr>
          <p:cNvPr id="21" name="Rectangle 20"/>
          <p:cNvSpPr/>
          <p:nvPr/>
        </p:nvSpPr>
        <p:spPr>
          <a:xfrm>
            <a:off x="4456168" y="4224528"/>
            <a:ext cx="3282696" cy="914400"/>
          </a:xfrm>
          <a:prstGeom prst="rect">
            <a:avLst/>
          </a:prstGeom>
          <a:solidFill>
            <a:srgbClr val="E4F3F3"/>
          </a:solidFill>
          <a:ln>
            <a:noFill/>
          </a:ln>
          <a:effectLst/>
        </p:spPr>
        <p:style>
          <a:lnRef idx="1">
            <a:schemeClr val="accent1"/>
          </a:lnRef>
          <a:fillRef idx="3">
            <a:schemeClr val="accent1"/>
          </a:fillRef>
          <a:effectRef idx="2">
            <a:schemeClr val="accent1"/>
          </a:effectRef>
          <a:fontRef idx="minor">
            <a:schemeClr val="lt1"/>
          </a:fontRef>
        </p:style>
        <p:txBody>
          <a:bodyPr wrap="square" rIns="73152" rtlCol="0" anchor="ctr"/>
          <a:lstStyle/>
          <a:p>
            <a:pPr algn="l">
              <a:lnSpc>
                <a:spcPct val="95000"/>
              </a:lnSpc>
              <a:spcBef>
                <a:spcPts val="0"/>
              </a:spcBef>
              <a:spcAft>
                <a:spcPts val="0"/>
              </a:spcAft>
            </a:pPr>
            <a:r>
              <a:rPr sz="950" b="1" lang="vi-VN">
                <a:solidFill>
                  <a:srgbClr val="31633D"/>
                </a:solidFill>
                <a:latin typeface="Arial"/>
              </a:rPr>
              <a:t>Bạn không đề nghị thì khách sẽ không giới thiệu.</a:t>
            </a:r>
          </a:p>
        </p:txBody>
      </p:sp>
      <p:sp>
        <p:nvSpPr>
          <p:cNvPr id="22" name="Rectangle 21"/>
          <p:cNvSpPr/>
          <p:nvPr/>
        </p:nvSpPr>
        <p:spPr>
          <a:xfrm>
            <a:off x="8107664" y="1353312"/>
            <a:ext cx="3575304" cy="3931920"/>
          </a:xfrm>
          <a:prstGeom prst="rect">
            <a:avLst/>
          </a:prstGeom>
          <a:solidFill>
            <a:srgbClr val="F7FAF8"/>
          </a:solidFill>
          <a:ln w="9525">
            <a:solidFill>
              <a:srgbClr val="CFE6D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8107664" y="1353312"/>
            <a:ext cx="3575304" cy="50292"/>
          </a:xfrm>
          <a:prstGeom prst="rect">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8253968" y="1536192"/>
            <a:ext cx="292608" cy="292608"/>
          </a:xfrm>
          <a:prstGeom prst="ellipse">
            <a:avLst/>
          </a:prstGeom>
          <a:solidFill>
            <a:srgbClr val="5B2C6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95000"/>
              </a:lnSpc>
              <a:spcBef>
                <a:spcPts val="0"/>
              </a:spcBef>
              <a:spcAft>
                <a:spcPts val="0"/>
              </a:spcAft>
            </a:pPr>
            <a:r>
              <a:rPr sz="1100" b="1" i="0" lang="vi-VN">
                <a:solidFill>
                  <a:srgbClr val="FFFFFF"/>
                </a:solidFill>
                <a:latin typeface="Arial"/>
              </a:rPr>
              <a:t>3</a:t>
            </a:r>
          </a:p>
        </p:txBody>
      </p:sp>
      <p:sp>
        <p:nvSpPr>
          <p:cNvPr id="25" name="TextBox 24"/>
          <p:cNvSpPr txBox="1"/>
          <p:nvPr/>
        </p:nvSpPr>
        <p:spPr>
          <a:xfrm>
            <a:off x="8619727" y="1499616"/>
            <a:ext cx="2916936" cy="475488"/>
          </a:xfrm>
          <a:prstGeom prst="rect">
            <a:avLst/>
          </a:prstGeom>
          <a:noFill/>
        </p:spPr>
        <p:txBody>
          <a:bodyPr wrap="square" lIns="36576" tIns="18288" rIns="36576" bIns="18288" anchor="t">
            <a:spAutoFit/>
          </a:bodyPr>
          <a:lstStyle/>
          <a:p>
            <a:pPr algn="l">
              <a:lnSpc>
                <a:spcPct val="92000"/>
              </a:lnSpc>
              <a:spcBef>
                <a:spcPts val="0"/>
              </a:spcBef>
              <a:spcAft>
                <a:spcPts val="0"/>
              </a:spcAft>
            </a:pPr>
            <a:r>
              <a:rPr sz="1150" b="1" lang="vi-VN">
                <a:solidFill>
                  <a:srgbClr val="31633D"/>
                </a:solidFill>
                <a:latin typeface="Arial"/>
              </a:rPr>
              <a:t>Tăng tương tác</a:t>
            </a:r>
          </a:p>
          <a:p>
            <a:pPr>
              <a:lnSpc>
                <a:spcPct val="92000"/>
              </a:lnSpc>
              <a:spcAft>
                <a:spcPts val="0"/>
              </a:spcAft>
            </a:pPr>
            <a:r>
              <a:rPr sz="1150" b="1" lang="vi-VN">
                <a:solidFill>
                  <a:srgbClr val="31633D"/>
                </a:solidFill>
                <a:latin typeface="Arial"/>
              </a:rPr>
              <a:t>với khách thành viên</a:t>
            </a:r>
          </a:p>
        </p:txBody>
      </p:sp>
      <p:sp>
        <p:nvSpPr>
          <p:cNvPr id="26" name="Rectangle 25"/>
          <p:cNvSpPr/>
          <p:nvPr/>
        </p:nvSpPr>
        <p:spPr>
          <a:xfrm>
            <a:off x="8253968" y="2066543"/>
            <a:ext cx="3282696" cy="13716"/>
          </a:xfrm>
          <a:prstGeom prst="rect">
            <a:avLst/>
          </a:prstGeom>
          <a:solidFill>
            <a:srgbClr val="CFE6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8253968" y="2157984"/>
            <a:ext cx="3282696" cy="1920240"/>
          </a:xfrm>
          <a:prstGeom prst="rect">
            <a:avLst/>
          </a:prstGeom>
          <a:noFill/>
        </p:spPr>
        <p:txBody>
          <a:bodyPr wrap="square" lIns="36576" tIns="18288" rIns="36576" bIns="18288" anchor="t">
            <a:spAutoFit/>
          </a:bodyPr>
          <a:lstStyle/>
          <a:p>
            <a:pPr algn="l">
              <a:lnSpc>
                <a:spcPct val="94000"/>
              </a:lnSpc>
              <a:spcBef>
                <a:spcPts val="0"/>
              </a:spcBef>
              <a:spcAft>
                <a:spcPts val="500"/>
              </a:spcAft>
            </a:pPr>
            <a:r>
              <a:rPr sz="900" b="0" i="0" lang="vi-VN">
                <a:solidFill>
                  <a:srgbClr val="5C6B62"/>
                </a:solidFill>
                <a:latin typeface="Arial"/>
              </a:rPr>
              <a:t>▪  Tiếp xúc với khách thành viên nhiều hơn</a:t>
            </a:r>
          </a:p>
          <a:p>
            <a:pPr algn="l">
              <a:lnSpc>
                <a:spcPct val="94000"/>
              </a:lnSpc>
              <a:spcBef>
                <a:spcPts val="0"/>
              </a:spcBef>
              <a:spcAft>
                <a:spcPts val="500"/>
              </a:spcAft>
            </a:pPr>
            <a:r>
              <a:rPr sz="900" b="0" i="0" lang="vi-VN">
                <a:solidFill>
                  <a:srgbClr val="5C6B62"/>
                </a:solidFill>
                <a:latin typeface="Arial"/>
              </a:rPr>
              <a:t>▪  Gặp trực tiếp mọi khách khi khách đến nhận kính</a:t>
            </a:r>
          </a:p>
          <a:p>
            <a:pPr algn="l">
              <a:lnSpc>
                <a:spcPct val="94000"/>
              </a:lnSpc>
              <a:spcBef>
                <a:spcPts val="0"/>
              </a:spcBef>
              <a:spcAft>
                <a:spcPts val="500"/>
              </a:spcAft>
            </a:pPr>
            <a:r>
              <a:rPr sz="900" b="0" i="0" lang="vi-VN">
                <a:solidFill>
                  <a:srgbClr val="5C6B62"/>
                </a:solidFill>
                <a:latin typeface="Arial"/>
              </a:rPr>
              <a:t>▪  Nhờ vậy khách biết DA của mình là ai</a:t>
            </a:r>
          </a:p>
          <a:p>
            <a:pPr algn="l">
              <a:lnSpc>
                <a:spcPct val="94000"/>
              </a:lnSpc>
              <a:spcBef>
                <a:spcPts val="0"/>
              </a:spcBef>
              <a:spcAft>
                <a:spcPts val="500"/>
              </a:spcAft>
            </a:pPr>
            <a:r>
              <a:rPr sz="900" b="0" i="0" lang="vi-VN">
                <a:solidFill>
                  <a:srgbClr val="5C6B62"/>
                </a:solidFill>
                <a:latin typeface="Arial"/>
              </a:rPr>
              <a:t>▪  Khách đã biết bạn thì sẽ dễ phản hồi hơn</a:t>
            </a:r>
          </a:p>
          <a:p>
            <a:pPr algn="l">
              <a:lnSpc>
                <a:spcPct val="94000"/>
              </a:lnSpc>
              <a:spcBef>
                <a:spcPts val="0"/>
              </a:spcBef>
              <a:spcAft>
                <a:spcPts val="500"/>
              </a:spcAft>
            </a:pPr>
            <a:r>
              <a:rPr sz="900" b="0" i="0" lang="vi-VN">
                <a:solidFill>
                  <a:srgbClr val="5C6B62"/>
                </a:solidFill>
                <a:latin typeface="Arial"/>
              </a:rPr>
              <a:t>▪  Nếu khách không phản hồi, hãy tiếp tục giữ liên lạc</a:t>
            </a:r>
          </a:p>
        </p:txBody>
      </p:sp>
      <p:sp>
        <p:nvSpPr>
          <p:cNvPr id="28" name="Rectangle 27"/>
          <p:cNvSpPr/>
          <p:nvPr/>
        </p:nvSpPr>
        <p:spPr>
          <a:xfrm>
            <a:off x="8253968" y="4224528"/>
            <a:ext cx="3282696" cy="914400"/>
          </a:xfrm>
          <a:prstGeom prst="rect">
            <a:avLst/>
          </a:prstGeom>
          <a:solidFill>
            <a:srgbClr val="EEE6F2"/>
          </a:solidFill>
          <a:ln>
            <a:noFill/>
          </a:ln>
          <a:effectLst/>
        </p:spPr>
        <p:style>
          <a:lnRef idx="1">
            <a:schemeClr val="accent1"/>
          </a:lnRef>
          <a:fillRef idx="3">
            <a:schemeClr val="accent1"/>
          </a:fillRef>
          <a:effectRef idx="2">
            <a:schemeClr val="accent1"/>
          </a:effectRef>
          <a:fontRef idx="minor">
            <a:schemeClr val="lt1"/>
          </a:fontRef>
        </p:style>
        <p:txBody>
          <a:bodyPr wrap="square" rIns="73152" rtlCol="0" anchor="ctr"/>
          <a:lstStyle/>
          <a:p>
            <a:pPr algn="l">
              <a:lnSpc>
                <a:spcPct val="95000"/>
              </a:lnSpc>
              <a:spcBef>
                <a:spcPts val="0"/>
              </a:spcBef>
              <a:spcAft>
                <a:spcPts val="0"/>
              </a:spcAft>
            </a:pPr>
            <a:r>
              <a:rPr sz="950" b="1" lang="vi-VN">
                <a:solidFill>
                  <a:srgbClr val="31633D"/>
                </a:solidFill>
                <a:latin typeface="Arial"/>
              </a:rPr>
              <a:t>Khách biết bạn thì khách sẽ trả lời bạn.</a:t>
            </a:r>
          </a:p>
        </p:txBody>
      </p:sp>
      <p:sp>
        <p:nvSpPr>
          <p:cNvPr id="36" name="Rectangle 35"/>
          <p:cNvSpPr/>
          <p:nvPr/>
        </p:nvSpPr>
        <p:spPr>
          <a:xfrm>
            <a:off x="502920" y="5431536"/>
            <a:ext cx="11186129" cy="402336"/>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lnSpc>
                <a:spcPct val="95000"/>
              </a:lnSpc>
              <a:spcBef>
                <a:spcPts val="0"/>
              </a:spcBef>
              <a:spcAft>
                <a:spcPts val="0"/>
              </a:spcAft>
            </a:pPr>
            <a:r>
              <a:rPr sz="950" b="1" dirty="0" lang="vi-VN">
                <a:solidFill>
                  <a:srgbClr val="C0392B"/>
                </a:solidFill>
                <a:latin typeface="Arial"/>
              </a:rPr>
              <a:t>Vấn đề riêng</a:t>
            </a:r>
            <a:r>
              <a:rPr lang="vi-VN" sz="950" b="1" dirty="0">
                <a:solidFill>
                  <a:srgbClr val="C0392B"/>
                </a:solidFill>
                <a:latin typeface="Arial"/>
              </a:rPr>
              <a:t> của Sông Hàn</a:t>
            </a:r>
            <a:r>
              <a:rPr sz="950" b="1" dirty="0" lang="vi-VN">
                <a:solidFill>
                  <a:srgbClr val="C0392B"/>
                </a:solidFill>
                <a:latin typeface="Arial"/>
              </a:rPr>
              <a:t>:  </a:t>
            </a:r>
            <a:r>
              <a:rPr sz="950" b="0" dirty="0" lang="vi-VN">
                <a:solidFill>
                  <a:srgbClr val="5C6B62"/>
                </a:solidFill>
                <a:latin typeface="Arial"/>
              </a:rPr>
              <a:t>SH (Sông Hàn) </a:t>
            </a:r>
            <a:r>
              <a:rPr sz="950" b="0" dirty="0" err="1" lang="vi-VN">
                <a:solidFill>
                  <a:srgbClr val="5C6B62"/>
                </a:solidFill>
                <a:latin typeface="Arial"/>
              </a:rPr>
              <a:t>Zalo</a:t>
            </a:r>
            <a:r>
              <a:rPr sz="950" b="0" dirty="0" lang="vi-VN">
                <a:solidFill>
                  <a:srgbClr val="5C6B62"/>
                </a:solidFill>
                <a:latin typeface="Arial"/>
              </a:rPr>
              <a:t> bị mất kết nối truy cập. Không thể </a:t>
            </a:r>
            <a:r>
              <a:rPr lang="vi-VN" sz="950" dirty="0">
                <a:solidFill>
                  <a:srgbClr val="5C6B62"/>
                </a:solidFill>
                <a:latin typeface="Arial"/>
              </a:rPr>
              <a:t>ghi nhận</a:t>
            </a:r>
            <a:r>
              <a:rPr sz="950" b="0" dirty="0" lang="vi-VN">
                <a:solidFill>
                  <a:srgbClr val="5C6B62"/>
                </a:solidFill>
                <a:latin typeface="Arial"/>
              </a:rPr>
              <a:t> lượt chăm sóc nào cho đến khi kết nối được khôi phục.</a:t>
            </a:r>
            <a:r>
              <a:rPr lang="vi-VN" sz="950" b="0" dirty="0">
                <a:solidFill>
                  <a:srgbClr val="5C6B62"/>
                </a:solidFill>
                <a:latin typeface="Arial"/>
              </a:rPr>
              <a:t> Đồng thời vui lòng cập nhật Biểu mẫu CRM. </a:t>
            </a:r>
            <a:endParaRPr sz="950" b="0" dirty="0">
              <a:solidFill>
                <a:srgbClr val="5C6B62"/>
              </a:solidFill>
              <a:latin typeface="Arial"/>
            </a:endParaRPr>
          </a:p>
        </p:txBody>
      </p:sp>
      <p:sp>
        <p:nvSpPr>
          <p:cNvPr id="37" name="Rectangle 36"/>
          <p:cNvSpPr/>
          <p:nvPr/>
        </p:nvSpPr>
        <p:spPr>
          <a:xfrm>
            <a:off x="502920" y="5925312"/>
            <a:ext cx="11186129" cy="457200"/>
          </a:xfrm>
          <a:prstGeom prst="rect">
            <a:avLst/>
          </a:prstGeom>
          <a:solidFill>
            <a:srgbClr val="3163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spcBef>
                <a:spcPts val="0"/>
              </a:spcBef>
              <a:spcAft>
                <a:spcPts val="0"/>
              </a:spcAft>
            </a:pPr>
            <a:r>
              <a:rPr sz="1600" b="1" i="0" dirty="0" lang="vi-VN">
                <a:solidFill>
                  <a:srgbClr val="FFFFFF"/>
                </a:solidFill>
                <a:latin typeface="Arial"/>
              </a:rPr>
              <a:t>Mọi khách hàng.    Đúng hạn.    Đúng nội dung.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4056</Words>
  <Application>Microsoft Office PowerPoint</Application>
  <PresentationFormat>Widescreen</PresentationFormat>
  <Paragraphs>375</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Sin Long Koh</cp:lastModifiedBy>
  <cp:revision>8</cp:revision>
  <dcterms:created xsi:type="dcterms:W3CDTF">2013-01-27T09:14:16Z</dcterms:created>
  <dcterms:modified xsi:type="dcterms:W3CDTF">2026-09-03T00:49:26Z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586a97b-dc47-4882-9241-a2ba35606524_Enabled">
    <vt:lpwstr>true</vt:lpwstr>
  </property>
  <property fmtid="{D5CDD505-2E9C-101B-9397-08002B2CF9AE}" pid="3" name="MSIP_Label_e586a97b-dc47-4882-9241-a2ba35606524_SetDate">
    <vt:lpwstr>2026-09-01T11:28:26Z</vt:lpwstr>
  </property>
  <property fmtid="{D5CDD505-2E9C-101B-9397-08002B2CF9AE}" pid="4" name="MSIP_Label_e586a97b-dc47-4882-9241-a2ba35606524_Method">
    <vt:lpwstr>Standard</vt:lpwstr>
  </property>
  <property fmtid="{D5CDD505-2E9C-101B-9397-08002B2CF9AE}" pid="5" name="MSIP_Label_e586a97b-dc47-4882-9241-a2ba35606524_Name">
    <vt:lpwstr>Limited</vt:lpwstr>
  </property>
  <property fmtid="{D5CDD505-2E9C-101B-9397-08002B2CF9AE}" pid="6" name="MSIP_Label_e586a97b-dc47-4882-9241-a2ba35606524_SiteId">
    <vt:lpwstr>a95f93a6-6a75-4e3b-831a-966f1930949e</vt:lpwstr>
  </property>
  <property fmtid="{D5CDD505-2E9C-101B-9397-08002B2CF9AE}" pid="7" name="MSIP_Label_e586a97b-dc47-4882-9241-a2ba35606524_ActionId">
    <vt:lpwstr>a58066ec-4ad1-4371-bd42-b119b59591d2</vt:lpwstr>
  </property>
  <property fmtid="{D5CDD505-2E9C-101B-9397-08002B2CF9AE}" pid="8" name="MSIP_Label_e586a97b-dc47-4882-9241-a2ba35606524_ContentBits">
    <vt:lpwstr>2</vt:lpwstr>
  </property>
  <property fmtid="{D5CDD505-2E9C-101B-9397-08002B2CF9AE}" pid="9" name="MSIP_Label_e586a97b-dc47-4882-9241-a2ba35606524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Classification: Limited</vt:lpwstr>
  </property>
</Properties>
</file>