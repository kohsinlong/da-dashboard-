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31633D"/>
          </a:solidFill>
          <a:ln>
            <a:noFill/>
          </a:ln>
          <a:effectLst/>
        </p:spPr>
        <p:txBody>
          <a:bodyPr rtlCol="0" anchor="ctr" wrap="square"/>
          <a:lstStyle/>
          <a:p>
            <a:pPr algn="ctr"/>
          </a:p>
        </p:txBody>
      </p:sp>
      <p:sp>
        <p:nvSpPr>
          <p:cNvPr id="3" name="Rectangle 2"/>
          <p:cNvSpPr/>
          <p:nvPr/>
        </p:nvSpPr>
        <p:spPr>
          <a:xfrm>
            <a:off x="0" y="0"/>
            <a:ext cx="12191969" cy="146304"/>
          </a:xfrm>
          <a:prstGeom prst="rect">
            <a:avLst/>
          </a:prstGeom>
          <a:solidFill>
            <a:srgbClr val="2E9C4C"/>
          </a:solidFill>
          <a:ln>
            <a:noFill/>
          </a:ln>
          <a:effectLst/>
        </p:spPr>
        <p:txBody>
          <a:bodyPr rtlCol="0" anchor="ctr" wrap="square"/>
          <a:lstStyle/>
          <a:p>
            <a:pPr algn="ctr"/>
          </a:p>
        </p:txBody>
      </p:sp>
      <p:sp>
        <p:nvSpPr>
          <p:cNvPr id="4" name="Rectangle 3"/>
          <p:cNvSpPr/>
          <p:nvPr/>
        </p:nvSpPr>
        <p:spPr>
          <a:xfrm>
            <a:off x="0" y="5989320"/>
            <a:ext cx="12191969" cy="868680"/>
          </a:xfrm>
          <a:prstGeom prst="rect">
            <a:avLst/>
          </a:prstGeom>
          <a:solidFill>
            <a:srgbClr val="275132"/>
          </a:solidFill>
          <a:ln>
            <a:noFill/>
          </a:ln>
          <a:effectLst/>
        </p:spPr>
        <p:txBody>
          <a:bodyPr rtlCol="0" anchor="ctr" wrap="square"/>
          <a:lstStyle/>
          <a:p>
            <a:pPr algn="ctr"/>
          </a:p>
        </p:txBody>
      </p:sp>
      <p:sp>
        <p:nvSpPr>
          <p:cNvPr id="5" name="TextBox 4"/>
          <p:cNvSpPr txBox="1"/>
          <p:nvPr/>
        </p:nvSpPr>
        <p:spPr>
          <a:xfrm>
            <a:off x="566928" y="2048256"/>
            <a:ext cx="10424160" cy="228600"/>
          </a:xfrm>
          <a:prstGeom prst="rect">
            <a:avLst/>
          </a:prstGeom>
          <a:noFill/>
        </p:spPr>
        <p:txBody>
          <a:bodyPr wrap="square" anchor="t" lIns="0" rIns="0" tIns="0" bIns="0">
            <a:spAutoFit/>
          </a:bodyPr>
          <a:lstStyle/>
          <a:p>
            <a:pPr algn="l">
              <a:lnSpc>
                <a:spcPct val="95000"/>
              </a:lnSpc>
              <a:spcBef>
                <a:spcPts val="0"/>
              </a:spcBef>
              <a:spcAft>
                <a:spcPts val="0"/>
              </a:spcAft>
            </a:pPr>
            <a:r>
              <a:rPr sz="1200" b="1">
                <a:solidFill>
                  <a:srgbClr val="CFE6D8"/>
                </a:solidFill>
                <a:latin typeface="Arial"/>
              </a:rPr>
              <a:t>Tháng 10 năm 2026</a:t>
            </a:r>
          </a:p>
        </p:txBody>
      </p:sp>
      <p:sp>
        <p:nvSpPr>
          <p:cNvPr id="6" name="TextBox 5"/>
          <p:cNvSpPr txBox="1"/>
          <p:nvPr/>
        </p:nvSpPr>
        <p:spPr>
          <a:xfrm>
            <a:off x="566928" y="2395728"/>
            <a:ext cx="10607040" cy="731520"/>
          </a:xfrm>
          <a:prstGeom prst="rect">
            <a:avLst/>
          </a:prstGeom>
          <a:noFill/>
        </p:spPr>
        <p:txBody>
          <a:bodyPr wrap="square" anchor="t" lIns="0" rIns="0" tIns="0" bIns="0">
            <a:spAutoFit/>
          </a:bodyPr>
          <a:lstStyle/>
          <a:p>
            <a:pPr algn="l">
              <a:lnSpc>
                <a:spcPct val="95000"/>
              </a:lnSpc>
              <a:spcBef>
                <a:spcPts val="0"/>
              </a:spcBef>
              <a:spcAft>
                <a:spcPts val="0"/>
              </a:spcAft>
            </a:pPr>
            <a:r>
              <a:rPr sz="4000" b="1">
                <a:solidFill>
                  <a:srgbClr val="CFE6D8"/>
                </a:solidFill>
                <a:latin typeface="Arial"/>
              </a:rPr>
              <a:t>Đào tạo DA Khúc xạ</a:t>
            </a:r>
          </a:p>
        </p:txBody>
      </p:sp>
      <p:sp>
        <p:nvSpPr>
          <p:cNvPr id="7" name="Rectangle 6"/>
          <p:cNvSpPr/>
          <p:nvPr/>
        </p:nvSpPr>
        <p:spPr>
          <a:xfrm>
            <a:off x="566928" y="4078224"/>
            <a:ext cx="1920240" cy="45720"/>
          </a:xfrm>
          <a:prstGeom prst="rect">
            <a:avLst/>
          </a:prstGeom>
          <a:solidFill>
            <a:srgbClr val="2E9C4C"/>
          </a:solidFill>
          <a:ln>
            <a:noFill/>
          </a:ln>
          <a:effectLst/>
        </p:spPr>
        <p:txBody>
          <a:bodyPr rtlCol="0" anchor="ctr" wrap="square"/>
          <a:lstStyle/>
          <a:p>
            <a:pPr algn="ctr"/>
          </a:p>
        </p:txBody>
      </p:sp>
      <p:sp>
        <p:nvSpPr>
          <p:cNvPr id="8" name="TextBox 7"/>
          <p:cNvSpPr txBox="1"/>
          <p:nvPr/>
        </p:nvSpPr>
        <p:spPr>
          <a:xfrm>
            <a:off x="566928" y="4297680"/>
            <a:ext cx="9601200" cy="228600"/>
          </a:xfrm>
          <a:prstGeom prst="rect">
            <a:avLst/>
          </a:prstGeom>
          <a:noFill/>
        </p:spPr>
        <p:txBody>
          <a:bodyPr wrap="square" anchor="t" lIns="0" rIns="0" tIns="0" bIns="0">
            <a:spAutoFit/>
          </a:bodyPr>
          <a:lstStyle/>
          <a:p>
            <a:pPr algn="l">
              <a:lnSpc>
                <a:spcPct val="95000"/>
              </a:lnSpc>
              <a:spcBef>
                <a:spcPts val="0"/>
              </a:spcBef>
              <a:spcAft>
                <a:spcPts val="0"/>
              </a:spcAft>
            </a:pPr>
            <a:r>
              <a:rPr sz="1200" b="1">
                <a:solidFill>
                  <a:srgbClr val="CFE6D8"/>
                </a:solidFill>
                <a:latin typeface="Arial"/>
              </a:rPr>
              <a:t>CTE D5   ·   CTE D7   ·   NGT   ·   SH   ·   CMTT   ·   LA</a:t>
            </a:r>
          </a:p>
        </p:txBody>
      </p:sp>
      <p:sp>
        <p:nvSpPr>
          <p:cNvPr id="9" name="TextBox 8"/>
          <p:cNvSpPr txBox="1"/>
          <p:nvPr/>
        </p:nvSpPr>
        <p:spPr>
          <a:xfrm>
            <a:off x="566928" y="6217920"/>
            <a:ext cx="10058400" cy="274320"/>
          </a:xfrm>
          <a:prstGeom prst="rect">
            <a:avLst/>
          </a:prstGeom>
          <a:noFill/>
        </p:spPr>
        <p:txBody>
          <a:bodyPr wrap="square" anchor="t" lIns="0" rIns="0" tIns="0" bIns="0">
            <a:spAutoFit/>
          </a:bodyPr>
          <a:lstStyle/>
          <a:p>
            <a:pPr algn="l">
              <a:lnSpc>
                <a:spcPct val="95000"/>
              </a:lnSpc>
              <a:spcBef>
                <a:spcPts val="0"/>
              </a:spcBef>
              <a:spcAft>
                <a:spcPts val="0"/>
              </a:spcAft>
            </a:pPr>
            <a:r>
              <a:rPr sz="950" b="0">
                <a:solidFill>
                  <a:srgbClr val="CFE6D8"/>
                </a:solidFill>
                <a:latin typeface="Arial"/>
              </a:rPr>
              <a:t>Dùng cho đào tạo và rà soát DA  ·  Nội dung từ bản rà soát Zalo của CZ  ·  Chỉ dùng nội bộ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1. TẤT CẢ TRUNG TÂM  |  VẤN ĐỀ CHUNG</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CD3–5, CD7, CD14 và CD30 phần lớn vẫn chưa được thực hiện</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Điểm duy nhất CZ nêu cho tất cả trung tâm. Mẫu câu đã có sẵn trong tin nhắn của chính mình — hãy đảm bảo liên hệ với tất cả hội viên.</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2</a:t>
            </a:r>
          </a:p>
        </p:txBody>
      </p:sp>
      <p:sp>
        <p:nvSpPr>
          <p:cNvPr id="9" name="Rectangle 8"/>
          <p:cNvSpPr/>
          <p:nvPr/>
        </p:nvSpPr>
        <p:spPr>
          <a:xfrm>
            <a:off x="502920"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682496"/>
            <a:ext cx="2651760" cy="54864"/>
          </a:xfrm>
          <a:prstGeom prst="rect">
            <a:avLst/>
          </a:prstGeom>
          <a:solidFill>
            <a:srgbClr val="2E9C4C"/>
          </a:solidFill>
          <a:ln>
            <a:noFill/>
          </a:ln>
          <a:effectLst/>
        </p:spPr>
        <p:txBody>
          <a:bodyPr rtlCol="0" anchor="ctr" wrap="square"/>
          <a:lstStyle/>
          <a:p>
            <a:pPr algn="ctr"/>
          </a:p>
        </p:txBody>
      </p:sp>
      <p:sp>
        <p:nvSpPr>
          <p:cNvPr id="11" name="Rectangle 10"/>
          <p:cNvSpPr/>
          <p:nvPr/>
        </p:nvSpPr>
        <p:spPr>
          <a:xfrm>
            <a:off x="667512"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CD3–5</a:t>
            </a:r>
          </a:p>
        </p:txBody>
      </p:sp>
      <p:sp>
        <p:nvSpPr>
          <p:cNvPr id="12" name="TextBox 11"/>
          <p:cNvSpPr txBox="1"/>
          <p:nvPr/>
        </p:nvSpPr>
        <p:spPr>
          <a:xfrm>
            <a:off x="667512"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Hỏi thăm sau khi nhận kính</a:t>
            </a:r>
          </a:p>
        </p:txBody>
      </p:sp>
      <p:sp>
        <p:nvSpPr>
          <p:cNvPr id="13" name="TextBox 12"/>
          <p:cNvSpPr txBox="1"/>
          <p:nvPr/>
        </p:nvSpPr>
        <p:spPr>
          <a:xfrm>
            <a:off x="667512"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Hỏi xem những ngày đầu bé đeo kính thế nào, có điểm nào chưa thoải mái không.</a:t>
            </a:r>
          </a:p>
        </p:txBody>
      </p:sp>
      <p:sp>
        <p:nvSpPr>
          <p:cNvPr id="14" name="Rectangle 13"/>
          <p:cNvSpPr/>
          <p:nvPr/>
        </p:nvSpPr>
        <p:spPr>
          <a:xfrm>
            <a:off x="667512" y="3328416"/>
            <a:ext cx="2322576" cy="7315"/>
          </a:xfrm>
          <a:prstGeom prst="rect">
            <a:avLst/>
          </a:prstGeom>
          <a:solidFill>
            <a:srgbClr val="CFE6D8"/>
          </a:solidFill>
          <a:ln>
            <a:noFill/>
          </a:ln>
          <a:effectLst/>
        </p:spPr>
        <p:txBody>
          <a:bodyPr rtlCol="0" anchor="ctr" wrap="square"/>
          <a:lstStyle/>
          <a:p>
            <a:pPr algn="ctr"/>
          </a:p>
        </p:txBody>
      </p:sp>
      <p:sp>
        <p:nvSpPr>
          <p:cNvPr id="15" name="TextBox 14"/>
          <p:cNvSpPr txBox="1"/>
          <p:nvPr/>
        </p:nvSpPr>
        <p:spPr>
          <a:xfrm>
            <a:off x="667512"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Mẫu câu tham khảo</a:t>
            </a:r>
          </a:p>
        </p:txBody>
      </p:sp>
      <p:sp>
        <p:nvSpPr>
          <p:cNvPr id="16" name="Rectangle 15"/>
          <p:cNvSpPr/>
          <p:nvPr/>
        </p:nvSpPr>
        <p:spPr>
          <a:xfrm>
            <a:off x="667512"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“Dạ chị ơi, mấy hôm nay bé đeo kính có nhìn rõ và thoải mái không và bé đã quen với kính mới chưa ạ.”</a:t>
            </a:r>
          </a:p>
        </p:txBody>
      </p:sp>
      <p:sp>
        <p:nvSpPr>
          <p:cNvPr id="17" name="TextBox 16"/>
          <p:cNvSpPr txBox="1"/>
          <p:nvPr/>
        </p:nvSpPr>
        <p:spPr>
          <a:xfrm>
            <a:off x="667512"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Đã dùng tại: CMTT, MCY 261006 (09/10)</a:t>
            </a:r>
          </a:p>
        </p:txBody>
      </p:sp>
      <p:sp>
        <p:nvSpPr>
          <p:cNvPr id="18" name="Rectangle 17"/>
          <p:cNvSpPr/>
          <p:nvPr/>
        </p:nvSpPr>
        <p:spPr>
          <a:xfrm>
            <a:off x="3346704"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3346704" y="1682496"/>
            <a:ext cx="2651760" cy="54864"/>
          </a:xfrm>
          <a:prstGeom prst="rect">
            <a:avLst/>
          </a:prstGeom>
          <a:solidFill>
            <a:srgbClr val="2E9C4C"/>
          </a:solidFill>
          <a:ln>
            <a:noFill/>
          </a:ln>
          <a:effectLst/>
        </p:spPr>
        <p:txBody>
          <a:bodyPr rtlCol="0" anchor="ctr" wrap="square"/>
          <a:lstStyle/>
          <a:p>
            <a:pPr algn="ctr"/>
          </a:p>
        </p:txBody>
      </p:sp>
      <p:sp>
        <p:nvSpPr>
          <p:cNvPr id="20" name="Rectangle 19"/>
          <p:cNvSpPr/>
          <p:nvPr/>
        </p:nvSpPr>
        <p:spPr>
          <a:xfrm>
            <a:off x="3511296"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CD7</a:t>
            </a:r>
          </a:p>
        </p:txBody>
      </p:sp>
      <p:sp>
        <p:nvSpPr>
          <p:cNvPr id="21" name="TextBox 20"/>
          <p:cNvSpPr txBox="1"/>
          <p:nvPr/>
        </p:nvSpPr>
        <p:spPr>
          <a:xfrm>
            <a:off x="3511296"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Hướng dẫn sử dụng kính</a:t>
            </a:r>
          </a:p>
        </p:txBody>
      </p:sp>
      <p:sp>
        <p:nvSpPr>
          <p:cNvPr id="22" name="TextBox 21"/>
          <p:cNvSpPr txBox="1"/>
          <p:nvPr/>
        </p:nvSpPr>
        <p:spPr>
          <a:xfrm>
            <a:off x="3511296"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Hướng dẫn cách cho bé đeo và bảo quản kính, trước khi bé hình thành thói quen sai.</a:t>
            </a:r>
          </a:p>
        </p:txBody>
      </p:sp>
      <p:sp>
        <p:nvSpPr>
          <p:cNvPr id="23" name="Rectangle 22"/>
          <p:cNvSpPr/>
          <p:nvPr/>
        </p:nvSpPr>
        <p:spPr>
          <a:xfrm>
            <a:off x="3511296" y="3328416"/>
            <a:ext cx="2322576" cy="7315"/>
          </a:xfrm>
          <a:prstGeom prst="rect">
            <a:avLst/>
          </a:prstGeom>
          <a:solidFill>
            <a:srgbClr val="CFE6D8"/>
          </a:solidFill>
          <a:ln>
            <a:noFill/>
          </a:ln>
          <a:effectLst/>
        </p:spPr>
        <p:txBody>
          <a:bodyPr rtlCol="0" anchor="ctr" wrap="square"/>
          <a:lstStyle/>
          <a:p>
            <a:pPr algn="ctr"/>
          </a:p>
        </p:txBody>
      </p:sp>
      <p:sp>
        <p:nvSpPr>
          <p:cNvPr id="24" name="TextBox 23"/>
          <p:cNvSpPr txBox="1"/>
          <p:nvPr/>
        </p:nvSpPr>
        <p:spPr>
          <a:xfrm>
            <a:off x="3511296"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Mẫu câu tham khảo</a:t>
            </a:r>
          </a:p>
        </p:txBody>
      </p:sp>
      <p:sp>
        <p:nvSpPr>
          <p:cNvPr id="25" name="Rectangle 24"/>
          <p:cNvSpPr/>
          <p:nvPr/>
        </p:nvSpPr>
        <p:spPr>
          <a:xfrm>
            <a:off x="3511296"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“Chị lưu ý cho bé đeo liên tục trừ lúc ngủ, tắm giúp em nha.”  /  “Mình dùng khăn lau kính được tặng kèm để lau, hạn chế dùng vải quần áo.”</a:t>
            </a:r>
          </a:p>
        </p:txBody>
      </p:sp>
      <p:sp>
        <p:nvSpPr>
          <p:cNvPr id="26" name="TextBox 25"/>
          <p:cNvSpPr txBox="1"/>
          <p:nvPr/>
        </p:nvSpPr>
        <p:spPr>
          <a:xfrm>
            <a:off x="3511296"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Đã dùng tại: CMTT, KTY 261013  ·  NGT, MCY 260825</a:t>
            </a:r>
          </a:p>
        </p:txBody>
      </p:sp>
      <p:sp>
        <p:nvSpPr>
          <p:cNvPr id="27" name="Rectangle 26"/>
          <p:cNvSpPr/>
          <p:nvPr/>
        </p:nvSpPr>
        <p:spPr>
          <a:xfrm>
            <a:off x="6190488"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28" name="Rectangle 27"/>
          <p:cNvSpPr/>
          <p:nvPr/>
        </p:nvSpPr>
        <p:spPr>
          <a:xfrm>
            <a:off x="6190488" y="1682496"/>
            <a:ext cx="2651760" cy="54864"/>
          </a:xfrm>
          <a:prstGeom prst="rect">
            <a:avLst/>
          </a:prstGeom>
          <a:solidFill>
            <a:srgbClr val="2E9C4C"/>
          </a:solidFill>
          <a:ln>
            <a:noFill/>
          </a:ln>
          <a:effectLst/>
        </p:spPr>
        <p:txBody>
          <a:bodyPr rtlCol="0" anchor="ctr" wrap="square"/>
          <a:lstStyle/>
          <a:p>
            <a:pPr algn="ctr"/>
          </a:p>
        </p:txBody>
      </p:sp>
      <p:sp>
        <p:nvSpPr>
          <p:cNvPr id="29" name="Rectangle 28"/>
          <p:cNvSpPr/>
          <p:nvPr/>
        </p:nvSpPr>
        <p:spPr>
          <a:xfrm>
            <a:off x="6355079"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CD14</a:t>
            </a:r>
          </a:p>
        </p:txBody>
      </p:sp>
      <p:sp>
        <p:nvSpPr>
          <p:cNvPr id="30" name="TextBox 29"/>
          <p:cNvSpPr txBox="1"/>
          <p:nvPr/>
        </p:nvSpPr>
        <p:spPr>
          <a:xfrm>
            <a:off x="6355079"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Bé đã quen kính chưa</a:t>
            </a:r>
          </a:p>
        </p:txBody>
      </p:sp>
      <p:sp>
        <p:nvSpPr>
          <p:cNvPr id="31" name="TextBox 30"/>
          <p:cNvSpPr txBox="1"/>
          <p:nvPr/>
        </p:nvSpPr>
        <p:spPr>
          <a:xfrm>
            <a:off x="6355079"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Kiểm tra bé đã quen với kính chưa và có điểm nào chưa thoải mái không.</a:t>
            </a:r>
          </a:p>
        </p:txBody>
      </p:sp>
      <p:sp>
        <p:nvSpPr>
          <p:cNvPr id="32" name="Rectangle 31"/>
          <p:cNvSpPr/>
          <p:nvPr/>
        </p:nvSpPr>
        <p:spPr>
          <a:xfrm>
            <a:off x="6355079" y="3328416"/>
            <a:ext cx="2322576" cy="7315"/>
          </a:xfrm>
          <a:prstGeom prst="rect">
            <a:avLst/>
          </a:prstGeom>
          <a:solidFill>
            <a:srgbClr val="CFE6D8"/>
          </a:solidFill>
          <a:ln>
            <a:noFill/>
          </a:ln>
          <a:effectLst/>
        </p:spPr>
        <p:txBody>
          <a:bodyPr rtlCol="0" anchor="ctr" wrap="square"/>
          <a:lstStyle/>
          <a:p>
            <a:pPr algn="ctr"/>
          </a:p>
        </p:txBody>
      </p:sp>
      <p:sp>
        <p:nvSpPr>
          <p:cNvPr id="33" name="TextBox 32"/>
          <p:cNvSpPr txBox="1"/>
          <p:nvPr/>
        </p:nvSpPr>
        <p:spPr>
          <a:xfrm>
            <a:off x="6355079"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Mẫu câu tham khảo</a:t>
            </a:r>
          </a:p>
        </p:txBody>
      </p:sp>
      <p:sp>
        <p:nvSpPr>
          <p:cNvPr id="34" name="Rectangle 33"/>
          <p:cNvSpPr/>
          <p:nvPr/>
        </p:nvSpPr>
        <p:spPr>
          <a:xfrm>
            <a:off x="6355079"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Chưa thấy mẫu câu nào ở mốc này trong các đoạn chat đã rà soát — có thể dùng lại mẫu câu CD3–5.</a:t>
            </a:r>
          </a:p>
        </p:txBody>
      </p:sp>
      <p:sp>
        <p:nvSpPr>
          <p:cNvPr id="35" name="TextBox 34"/>
          <p:cNvSpPr txBox="1"/>
          <p:nvPr/>
        </p:nvSpPr>
        <p:spPr>
          <a:xfrm>
            <a:off x="6355079"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Đây là mốc bị bỏ qua nhiều nhất.</a:t>
            </a:r>
          </a:p>
        </p:txBody>
      </p:sp>
      <p:sp>
        <p:nvSpPr>
          <p:cNvPr id="36" name="Rectangle 35"/>
          <p:cNvSpPr/>
          <p:nvPr/>
        </p:nvSpPr>
        <p:spPr>
          <a:xfrm>
            <a:off x="9034272"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37" name="Rectangle 36"/>
          <p:cNvSpPr/>
          <p:nvPr/>
        </p:nvSpPr>
        <p:spPr>
          <a:xfrm>
            <a:off x="9034272" y="1682496"/>
            <a:ext cx="2651760" cy="54864"/>
          </a:xfrm>
          <a:prstGeom prst="rect">
            <a:avLst/>
          </a:prstGeom>
          <a:solidFill>
            <a:srgbClr val="2E9C4C"/>
          </a:solidFill>
          <a:ln>
            <a:noFill/>
          </a:ln>
          <a:effectLst/>
        </p:spPr>
        <p:txBody>
          <a:bodyPr rtlCol="0" anchor="ctr" wrap="square"/>
          <a:lstStyle/>
          <a:p>
            <a:pPr algn="ctr"/>
          </a:p>
        </p:txBody>
      </p:sp>
      <p:sp>
        <p:nvSpPr>
          <p:cNvPr id="38" name="Rectangle 37"/>
          <p:cNvSpPr/>
          <p:nvPr/>
        </p:nvSpPr>
        <p:spPr>
          <a:xfrm>
            <a:off x="9198864"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CD30</a:t>
            </a:r>
          </a:p>
        </p:txBody>
      </p:sp>
      <p:sp>
        <p:nvSpPr>
          <p:cNvPr id="39" name="TextBox 38"/>
          <p:cNvSpPr txBox="1"/>
          <p:nvPr/>
        </p:nvSpPr>
        <p:spPr>
          <a:xfrm>
            <a:off x="9198864"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Hỏi về thị lực của bé</a:t>
            </a:r>
          </a:p>
        </p:txBody>
      </p:sp>
      <p:sp>
        <p:nvSpPr>
          <p:cNvPr id="40" name="TextBox 39"/>
          <p:cNvSpPr txBox="1"/>
          <p:nvPr/>
        </p:nvSpPr>
        <p:spPr>
          <a:xfrm>
            <a:off x="9198864"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Chuyển từ cảm giác thoải mái sang kết quả: bé nhìn thấy thế nào khi học và khi sinh hoạt.</a:t>
            </a:r>
          </a:p>
        </p:txBody>
      </p:sp>
      <p:sp>
        <p:nvSpPr>
          <p:cNvPr id="41" name="Rectangle 40"/>
          <p:cNvSpPr/>
          <p:nvPr/>
        </p:nvSpPr>
        <p:spPr>
          <a:xfrm>
            <a:off x="9198864" y="3328416"/>
            <a:ext cx="2322576" cy="7315"/>
          </a:xfrm>
          <a:prstGeom prst="rect">
            <a:avLst/>
          </a:prstGeom>
          <a:solidFill>
            <a:srgbClr val="CFE6D8"/>
          </a:solidFill>
          <a:ln>
            <a:noFill/>
          </a:ln>
          <a:effectLst/>
        </p:spPr>
        <p:txBody>
          <a:bodyPr rtlCol="0" anchor="ctr" wrap="square"/>
          <a:lstStyle/>
          <a:p>
            <a:pPr algn="ctr"/>
          </a:p>
        </p:txBody>
      </p:sp>
      <p:sp>
        <p:nvSpPr>
          <p:cNvPr id="42" name="TextBox 41"/>
          <p:cNvSpPr txBox="1"/>
          <p:nvPr/>
        </p:nvSpPr>
        <p:spPr>
          <a:xfrm>
            <a:off x="9198864"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Mẫu câu tham khảo</a:t>
            </a:r>
          </a:p>
        </p:txBody>
      </p:sp>
      <p:sp>
        <p:nvSpPr>
          <p:cNvPr id="43" name="Rectangle 42"/>
          <p:cNvSpPr/>
          <p:nvPr/>
        </p:nvSpPr>
        <p:spPr>
          <a:xfrm>
            <a:off x="9198864"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“Mấy hôm nay bé đi học lại rồi nên em nhắn hỏi thăm chút ạ. Lúc học bài, nhìn bảng hay sinh hoạt bé có nhìn rõ và thoải mái không ạ.”</a:t>
            </a:r>
          </a:p>
        </p:txBody>
      </p:sp>
      <p:sp>
        <p:nvSpPr>
          <p:cNvPr id="44" name="TextBox 43"/>
          <p:cNvSpPr txBox="1"/>
          <p:nvPr/>
        </p:nvSpPr>
        <p:spPr>
          <a:xfrm>
            <a:off x="9198864"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Đã dùng tại: NGT, MCY 260825 (24/09)</a:t>
            </a:r>
          </a:p>
        </p:txBody>
      </p:sp>
      <p:sp>
        <p:nvSpPr>
          <p:cNvPr id="45" name="Rectangle 44"/>
          <p:cNvSpPr/>
          <p:nvPr/>
        </p:nvSpPr>
        <p:spPr>
          <a:xfrm>
            <a:off x="502920" y="5084064"/>
            <a:ext cx="64008" cy="420624"/>
          </a:xfrm>
          <a:prstGeom prst="rect">
            <a:avLst/>
          </a:prstGeom>
          <a:solidFill>
            <a:srgbClr val="B9770B"/>
          </a:solidFill>
          <a:ln>
            <a:noFill/>
          </a:ln>
          <a:effectLst/>
        </p:spPr>
        <p:txBody>
          <a:bodyPr rtlCol="0" anchor="ctr" wrap="square"/>
          <a:lstStyle/>
          <a:p>
            <a:pPr algn="ctr"/>
          </a:p>
        </p:txBody>
      </p:sp>
      <p:sp>
        <p:nvSpPr>
          <p:cNvPr id="46" name="Rectangle 45"/>
          <p:cNvSpPr/>
          <p:nvPr/>
        </p:nvSpPr>
        <p:spPr>
          <a:xfrm>
            <a:off x="566928" y="5084064"/>
            <a:ext cx="11119104" cy="420624"/>
          </a:xfrm>
          <a:prstGeom prst="rect">
            <a:avLst/>
          </a:prstGeom>
          <a:solidFill>
            <a:srgbClr val="FDF6E3"/>
          </a:solidFill>
          <a:ln>
            <a:noFill/>
          </a:ln>
          <a:effectLst/>
        </p:spPr>
        <p:txBody>
          <a:bodyPr rtlCol="0" anchor="ctr" wrap="square" lIns="164592" tIns="27432" bIns="27432"/>
          <a:lstStyle/>
          <a:p>
            <a:pPr algn="l">
              <a:lnSpc>
                <a:spcPct val="95000"/>
              </a:lnSpc>
              <a:spcBef>
                <a:spcPts val="0"/>
              </a:spcBef>
              <a:spcAft>
                <a:spcPts val="0"/>
              </a:spcAft>
            </a:pPr>
            <a:r>
              <a:rPr sz="950" b="1">
                <a:solidFill>
                  <a:srgbClr val="31633D"/>
                </a:solidFill>
                <a:latin typeface="Arial"/>
              </a:rPr>
              <a:t>Có thể xem xét đưa các mẫu câu này vào template để giảm khối lượng công việc trên Zalo.</a:t>
            </a:r>
          </a:p>
        </p:txBody>
      </p:sp>
      <p:sp>
        <p:nvSpPr>
          <p:cNvPr id="47" name="Rectangle 46"/>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48" name="Rectangle 47"/>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Quan trọng là phải chăm sóc để tạo niềm tin. Chỉ khi đủ niềm tin, hội viên mới giới thiệu khách mới.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RÀ SOÁT TRUNG TÂM  |  CTE D5</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CTE D5</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kết luận: vẫn là những vấn đề như trước, chưa cải thiện. Hai đoạn chat là của CTE D5, DA Thảo.</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3</a:t>
            </a:r>
          </a:p>
        </p:txBody>
      </p:sp>
      <p:sp>
        <p:nvSpPr>
          <p:cNvPr id="9" name="Rectangle 8"/>
          <p:cNvSpPr/>
          <p:nvPr/>
        </p:nvSpPr>
        <p:spPr>
          <a:xfrm>
            <a:off x="516636" y="1591056"/>
            <a:ext cx="2939134"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MCN-261010  ·  hỏi hai lần về ưu đãi — chỉ được trả lời về quà tặng</a:t>
            </a:r>
          </a:p>
        </p:txBody>
      </p:sp>
      <p:sp>
        <p:nvSpPr>
          <p:cNvPr id="10" name="Rectangle 9"/>
          <p:cNvSpPr/>
          <p:nvPr/>
        </p:nvSpPr>
        <p:spPr>
          <a:xfrm>
            <a:off x="516636" y="1851660"/>
            <a:ext cx="2939134" cy="3635454"/>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2004.jpeg"/>
          <p:cNvPicPr>
            <a:picLocks noChangeAspect="1"/>
          </p:cNvPicPr>
          <p:nvPr/>
        </p:nvPicPr>
        <p:blipFill>
          <a:blip r:embed="rId2"/>
          <a:stretch>
            <a:fillRect/>
          </a:stretch>
        </p:blipFill>
        <p:spPr>
          <a:xfrm>
            <a:off x="548640" y="1883664"/>
            <a:ext cx="2875126" cy="3571446"/>
          </a:xfrm>
          <a:prstGeom prst="rect">
            <a:avLst/>
          </a:prstGeom>
        </p:spPr>
      </p:pic>
      <p:sp>
        <p:nvSpPr>
          <p:cNvPr id="12" name="Rectangle 11"/>
          <p:cNvSpPr/>
          <p:nvPr/>
        </p:nvSpPr>
        <p:spPr>
          <a:xfrm>
            <a:off x="3611218" y="1591056"/>
            <a:ext cx="2146227" cy="292608"/>
          </a:xfrm>
          <a:prstGeom prst="rect">
            <a:avLst/>
          </a:prstGeom>
          <a:solidFill>
            <a:srgbClr val="B9770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Exam-261011  ·  tư vấn từ 27/08, đến 11/10 vẫn đang theo</a:t>
            </a:r>
          </a:p>
        </p:txBody>
      </p:sp>
      <p:sp>
        <p:nvSpPr>
          <p:cNvPr id="13" name="Rectangle 12"/>
          <p:cNvSpPr/>
          <p:nvPr/>
        </p:nvSpPr>
        <p:spPr>
          <a:xfrm>
            <a:off x="3611218" y="1851660"/>
            <a:ext cx="2146227" cy="3594020"/>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2003_crop.png"/>
          <p:cNvPicPr>
            <a:picLocks noChangeAspect="1"/>
          </p:cNvPicPr>
          <p:nvPr/>
        </p:nvPicPr>
        <p:blipFill>
          <a:blip r:embed="rId3"/>
          <a:stretch>
            <a:fillRect/>
          </a:stretch>
        </p:blipFill>
        <p:spPr>
          <a:xfrm>
            <a:off x="3643222" y="1883664"/>
            <a:ext cx="2082219" cy="3530012"/>
          </a:xfrm>
          <a:prstGeom prst="rect">
            <a:avLst/>
          </a:prstGeom>
        </p:spPr>
      </p:pic>
      <p:sp>
        <p:nvSpPr>
          <p:cNvPr id="15" name="Rectangle 14"/>
          <p:cNvSpPr/>
          <p:nvPr/>
        </p:nvSpPr>
        <p:spPr>
          <a:xfrm>
            <a:off x="6199632" y="1591056"/>
            <a:ext cx="5486400" cy="879043"/>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Điểm mạnh</a:t>
            </a:r>
          </a:p>
        </p:txBody>
      </p:sp>
      <p:sp>
        <p:nvSpPr>
          <p:cNvPr id="17" name="TextBox 16"/>
          <p:cNvSpPr txBox="1"/>
          <p:nvPr/>
        </p:nvSpPr>
        <p:spPr>
          <a:xfrm>
            <a:off x="6345936" y="1975104"/>
            <a:ext cx="5193792" cy="366979"/>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Ghi chú Zalo chính xác. </a:t>
            </a:r>
            <a:r>
              <a:rPr sz="900" b="0">
                <a:solidFill>
                  <a:srgbClr val="5C6B62"/>
                </a:solidFill>
                <a:latin typeface="Arial"/>
              </a:rPr>
              <a:t>Tên ghi chú theo đúng định dạng mã – ngày – phụ huynh — MCN-261010 và Exam-261011.</a:t>
            </a:r>
          </a:p>
        </p:txBody>
      </p:sp>
      <p:sp>
        <p:nvSpPr>
          <p:cNvPr id="18" name="Rectangle 17"/>
          <p:cNvSpPr/>
          <p:nvPr/>
        </p:nvSpPr>
        <p:spPr>
          <a:xfrm>
            <a:off x="6199632" y="2616403"/>
            <a:ext cx="5486400" cy="1926945"/>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2616403"/>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Cần cải thiện</a:t>
            </a:r>
          </a:p>
        </p:txBody>
      </p:sp>
      <p:sp>
        <p:nvSpPr>
          <p:cNvPr id="20" name="TextBox 19"/>
          <p:cNvSpPr txBox="1"/>
          <p:nvPr/>
        </p:nvSpPr>
        <p:spPr>
          <a:xfrm>
            <a:off x="6345936" y="3000451"/>
            <a:ext cx="5193792" cy="1414881"/>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Gửi quyền lợi rồi im lặng. </a:t>
            </a:r>
            <a:r>
              <a:rPr sz="900" b="0">
                <a:solidFill>
                  <a:srgbClr val="5C6B62"/>
                </a:solidFill>
                <a:latin typeface="Arial"/>
              </a:rPr>
              <a:t>Sau khi gửi quyền lợi hội viên thì gần như không còn chủ động nhắn tin hay chăm sóc lại, nên khách không thể tin tưởng DA.</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Liên hệ quá ít. </a:t>
            </a:r>
            <a:r>
              <a:rPr sz="900" b="0">
                <a:solidFill>
                  <a:srgbClr val="5C6B62"/>
                </a:solidFill>
                <a:latin typeface="Arial"/>
              </a:rPr>
              <a:t>Rất ít khách được liên hệ từ thứ Hai đến thứ Sáu, và số khách được trao đổi cũng rất ít.</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Bỏ khách chưa mua. </a:t>
            </a:r>
            <a:r>
              <a:rPr sz="900" b="0">
                <a:solidFill>
                  <a:srgbClr val="5C6B62"/>
                </a:solidFill>
                <a:latin typeface="Arial"/>
              </a:rPr>
              <a:t>Khách đã tư vấn nhưng chưa cắt kính vẫn cần được liên hệ lại và dẫn dắt quay lại mua.</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Kiến thức sản phẩm. </a:t>
            </a:r>
            <a:r>
              <a:rPr sz="900" b="0">
                <a:solidFill>
                  <a:srgbClr val="5C6B62"/>
                </a:solidFill>
                <a:latin typeface="Arial"/>
              </a:rPr>
              <a:t>Những câu hỏi nhỏ — ví dụ kính Ortho-K có rửa được bằng nước muối không — phải trả lời được chắc chắn, vì đó là cách tạo niềm tin.</a:t>
            </a:r>
          </a:p>
        </p:txBody>
      </p:sp>
      <p:sp>
        <p:nvSpPr>
          <p:cNvPr id="21" name="Rectangle 20"/>
          <p:cNvSpPr/>
          <p:nvPr/>
        </p:nvSpPr>
        <p:spPr>
          <a:xfrm>
            <a:off x="6199632" y="4689652"/>
            <a:ext cx="5486400" cy="879043"/>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689652"/>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Ghi nhận từ tin nhắn Zalo</a:t>
            </a:r>
          </a:p>
        </p:txBody>
      </p:sp>
      <p:sp>
        <p:nvSpPr>
          <p:cNvPr id="23" name="TextBox 22"/>
          <p:cNvSpPr txBox="1"/>
          <p:nvPr/>
        </p:nvSpPr>
        <p:spPr>
          <a:xfrm>
            <a:off x="6345936" y="5073700"/>
            <a:ext cx="5193792" cy="366979"/>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Câu hỏi về quà tặng. </a:t>
            </a:r>
            <a:r>
              <a:rPr sz="900" b="0">
                <a:solidFill>
                  <a:srgbClr val="5C6B62"/>
                </a:solidFill>
                <a:latin typeface="Arial"/>
              </a:rPr>
              <a:t>Phụ huynh hỏi hai lần xem mua kính có kèm ưu đãi gì không. DA chỉ trả lời về nón bảo hiểm tặng kèm. Không nhắc quyền lợi hội viên, không voucher, không đề nghị giới thiệu.</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Việc cần sửa đầu tiên là trình tự — gửi quyền lợi ngay ngày nhận kính, sau đó là tin nhắn chăm sóc CD3–5.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RÀ SOÁT TRUNG TÂM  |  CTE D7</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CTE D7</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Một điểm mạnh, một điểm cần sửa. CZ có cung cấp sẵn mẫu câu cho điểm cần sửa — xem trang 9.</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4</a:t>
            </a:r>
          </a:p>
        </p:txBody>
      </p:sp>
      <p:sp>
        <p:nvSpPr>
          <p:cNvPr id="9" name="Rectangle 8"/>
          <p:cNvSpPr/>
          <p:nvPr/>
        </p:nvSpPr>
        <p:spPr>
          <a:xfrm>
            <a:off x="516636" y="1591056"/>
            <a:ext cx="2436308"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OKY 260924  ·  chủ động hẹn tái khám, xác nhận giờ, nhắc mang kính</a:t>
            </a:r>
          </a:p>
        </p:txBody>
      </p:sp>
      <p:sp>
        <p:nvSpPr>
          <p:cNvPr id="10" name="Rectangle 9"/>
          <p:cNvSpPr/>
          <p:nvPr/>
        </p:nvSpPr>
        <p:spPr>
          <a:xfrm>
            <a:off x="516636" y="1851660"/>
            <a:ext cx="2436308" cy="2631175"/>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89a13bba21eee337a58fbe90d36d5a7c.jpeg"/>
          <p:cNvPicPr>
            <a:picLocks noChangeAspect="1"/>
          </p:cNvPicPr>
          <p:nvPr/>
        </p:nvPicPr>
        <p:blipFill>
          <a:blip r:embed="rId2"/>
          <a:stretch>
            <a:fillRect/>
          </a:stretch>
        </p:blipFill>
        <p:spPr>
          <a:xfrm>
            <a:off x="548640" y="1883664"/>
            <a:ext cx="2372300" cy="2567167"/>
          </a:xfrm>
          <a:prstGeom prst="rect">
            <a:avLst/>
          </a:prstGeom>
        </p:spPr>
      </p:pic>
      <p:sp>
        <p:nvSpPr>
          <p:cNvPr id="12" name="Rectangle 11"/>
          <p:cNvSpPr/>
          <p:nvPr/>
        </p:nvSpPr>
        <p:spPr>
          <a:xfrm>
            <a:off x="3112311" y="1591056"/>
            <a:ext cx="2859373"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VT Bảo Nguyên  ·  lịch tập cố định, có gọi điện — không đề nghị giới thiệu</a:t>
            </a:r>
          </a:p>
        </p:txBody>
      </p:sp>
      <p:sp>
        <p:nvSpPr>
          <p:cNvPr id="13" name="Rectangle 12"/>
          <p:cNvSpPr/>
          <p:nvPr/>
        </p:nvSpPr>
        <p:spPr>
          <a:xfrm>
            <a:off x="3112311" y="1851660"/>
            <a:ext cx="2859373" cy="2638687"/>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d7_vt_crop.png"/>
          <p:cNvPicPr>
            <a:picLocks noChangeAspect="1"/>
          </p:cNvPicPr>
          <p:nvPr/>
        </p:nvPicPr>
        <p:blipFill>
          <a:blip r:embed="rId3"/>
          <a:stretch>
            <a:fillRect/>
          </a:stretch>
        </p:blipFill>
        <p:spPr>
          <a:xfrm>
            <a:off x="3144315" y="1883664"/>
            <a:ext cx="2795365" cy="2574679"/>
          </a:xfrm>
          <a:prstGeom prst="rect">
            <a:avLst/>
          </a:prstGeom>
        </p:spPr>
      </p:pic>
      <p:sp>
        <p:nvSpPr>
          <p:cNvPr id="15" name="Rectangle 14"/>
          <p:cNvSpPr/>
          <p:nvPr/>
        </p:nvSpPr>
        <p:spPr>
          <a:xfrm>
            <a:off x="6199632" y="1591056"/>
            <a:ext cx="5486400" cy="1089428"/>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Điểm mạnh</a:t>
            </a:r>
          </a:p>
        </p:txBody>
      </p:sp>
      <p:sp>
        <p:nvSpPr>
          <p:cNvPr id="17" name="TextBox 16"/>
          <p:cNvSpPr txBox="1"/>
          <p:nvPr/>
        </p:nvSpPr>
        <p:spPr>
          <a:xfrm>
            <a:off x="6345936" y="1975104"/>
            <a:ext cx="5193792" cy="577364"/>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Làm đúng theo đào tạo. </a:t>
            </a:r>
            <a:r>
              <a:rPr sz="900" b="0">
                <a:solidFill>
                  <a:srgbClr val="5C6B62"/>
                </a:solidFill>
                <a:latin typeface="Arial"/>
              </a:rPr>
              <a:t>Cả phần ghi chú tên khách và phần gửi tin nhắn đều đúng theo nội dung đào tạo. Đề nghị tiếp tục duy trì.</a:t>
            </a:r>
          </a:p>
        </p:txBody>
      </p:sp>
      <p:sp>
        <p:nvSpPr>
          <p:cNvPr id="18" name="Rectangle 17"/>
          <p:cNvSpPr/>
          <p:nvPr/>
        </p:nvSpPr>
        <p:spPr>
          <a:xfrm>
            <a:off x="6199632" y="2826788"/>
            <a:ext cx="5486400" cy="1089428"/>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2826788"/>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Cần cải thiện</a:t>
            </a:r>
          </a:p>
        </p:txBody>
      </p:sp>
      <p:sp>
        <p:nvSpPr>
          <p:cNvPr id="20" name="TextBox 19"/>
          <p:cNvSpPr txBox="1"/>
          <p:nvPr/>
        </p:nvSpPr>
        <p:spPr>
          <a:xfrm>
            <a:off x="6345936" y="3210836"/>
            <a:ext cx="5193792" cy="577364"/>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Đề nghị giới thiệu. </a:t>
            </a:r>
            <a:r>
              <a:rPr sz="900" b="0">
                <a:solidFill>
                  <a:srgbClr val="5C6B62"/>
                </a:solidFill>
                <a:latin typeface="Arial"/>
              </a:rPr>
              <a:t>Với hội viên đã hoàn tất dịch vụ, hãy trao đổi nhiều hơn và dẫn dắt khách giới thiệu khách mới, dùng mẫu câu tham khảo.</a:t>
            </a:r>
          </a:p>
        </p:txBody>
      </p:sp>
      <p:sp>
        <p:nvSpPr>
          <p:cNvPr id="21" name="Rectangle 20"/>
          <p:cNvSpPr/>
          <p:nvPr/>
        </p:nvSpPr>
        <p:spPr>
          <a:xfrm>
            <a:off x="6199632" y="4062521"/>
            <a:ext cx="5486400" cy="1506174"/>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062521"/>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Ghi nhận từ tin nhắn Zalo</a:t>
            </a:r>
          </a:p>
        </p:txBody>
      </p:sp>
      <p:sp>
        <p:nvSpPr>
          <p:cNvPr id="23" name="TextBox 22"/>
          <p:cNvSpPr txBox="1"/>
          <p:nvPr/>
        </p:nvSpPr>
        <p:spPr>
          <a:xfrm>
            <a:off x="6345936" y="4446569"/>
            <a:ext cx="5193792" cy="994110"/>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Niềm tin đã có sẵn. </a:t>
            </a:r>
            <a:r>
              <a:rPr sz="900" b="0">
                <a:solidFill>
                  <a:srgbClr val="5C6B62"/>
                </a:solidFill>
                <a:latin typeface="Arial"/>
              </a:rPr>
              <a:t>Phụ huynh tập mắt tự đăng ký lịch cố định hằng tuần và gọi trực tiếp cho DA. Nhưng cả đoạn chat không có lời đề nghị giới thiệu nào.</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Ortho-K làm tốt. </a:t>
            </a:r>
            <a:r>
              <a:rPr sz="900" b="0">
                <a:solidFill>
                  <a:srgbClr val="5C6B62"/>
                </a:solidFill>
                <a:latin typeface="Arial"/>
              </a:rPr>
              <a:t>DA chủ động hẹn tái khám, xác nhận giờ, đổi giờ khi trùng lịch và nhắc phụ huynh mang kính theo.</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“Đã hoàn tất dịch vụ” là thời điểm cần đề nghị: đã hẹn tái khám, đã giải đáp xong, đã giao kính.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RÀ SOÁT TRUNG TÂM  |  NGT</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NGT</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ghi nhận việc thử nghiệm voucher. Phần còn thiếu nằm ở bước nhận kính và bước gửi kính.</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5</a:t>
            </a:r>
          </a:p>
        </p:txBody>
      </p:sp>
      <p:sp>
        <p:nvSpPr>
          <p:cNvPr id="9" name="Rectangle 8"/>
          <p:cNvSpPr/>
          <p:nvPr/>
        </p:nvSpPr>
        <p:spPr>
          <a:xfrm>
            <a:off x="568174" y="1591056"/>
            <a:ext cx="2595684"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260926  ·  12/10 — tặng phụ huynh 20 voucher để giới thiệu</a:t>
            </a:r>
          </a:p>
        </p:txBody>
      </p:sp>
      <p:sp>
        <p:nvSpPr>
          <p:cNvPr id="10" name="Rectangle 9"/>
          <p:cNvSpPr/>
          <p:nvPr/>
        </p:nvSpPr>
        <p:spPr>
          <a:xfrm>
            <a:off x="568174" y="1851660"/>
            <a:ext cx="2595684" cy="1254112"/>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7cc3805742516d2bb31ddc04129b2ec7.jpeg"/>
          <p:cNvPicPr>
            <a:picLocks noChangeAspect="1"/>
          </p:cNvPicPr>
          <p:nvPr/>
        </p:nvPicPr>
        <p:blipFill>
          <a:blip r:embed="rId2"/>
          <a:stretch>
            <a:fillRect/>
          </a:stretch>
        </p:blipFill>
        <p:spPr>
          <a:xfrm>
            <a:off x="600178" y="1883664"/>
            <a:ext cx="2531676" cy="1190104"/>
          </a:xfrm>
          <a:prstGeom prst="rect">
            <a:avLst/>
          </a:prstGeom>
        </p:spPr>
      </p:pic>
      <p:sp>
        <p:nvSpPr>
          <p:cNvPr id="12" name="Rectangle 11"/>
          <p:cNvSpPr/>
          <p:nvPr/>
        </p:nvSpPr>
        <p:spPr>
          <a:xfrm>
            <a:off x="533775" y="3293224"/>
            <a:ext cx="2664483"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KTN 261010  ·  gửi kính — chat kết thúc ở địa chỉ giao hàng</a:t>
            </a:r>
          </a:p>
        </p:txBody>
      </p:sp>
      <p:sp>
        <p:nvSpPr>
          <p:cNvPr id="13" name="Rectangle 12"/>
          <p:cNvSpPr/>
          <p:nvPr/>
        </p:nvSpPr>
        <p:spPr>
          <a:xfrm>
            <a:off x="533775" y="3553828"/>
            <a:ext cx="2664483" cy="1955431"/>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3007598717ad2e6ac8f50d13ec974d7a.jpeg"/>
          <p:cNvPicPr>
            <a:picLocks noChangeAspect="1"/>
          </p:cNvPicPr>
          <p:nvPr/>
        </p:nvPicPr>
        <p:blipFill>
          <a:blip r:embed="rId3"/>
          <a:stretch>
            <a:fillRect/>
          </a:stretch>
        </p:blipFill>
        <p:spPr>
          <a:xfrm>
            <a:off x="565779" y="3585832"/>
            <a:ext cx="2600475" cy="1891423"/>
          </a:xfrm>
          <a:prstGeom prst="rect">
            <a:avLst/>
          </a:prstGeom>
        </p:spPr>
      </p:pic>
      <p:sp>
        <p:nvSpPr>
          <p:cNvPr id="15" name="Rectangle 14"/>
          <p:cNvSpPr/>
          <p:nvPr/>
        </p:nvSpPr>
        <p:spPr>
          <a:xfrm>
            <a:off x="3640594" y="1591056"/>
            <a:ext cx="3894702" cy="1868667"/>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640594" y="1591056"/>
            <a:ext cx="3894702"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Điểm mạnh</a:t>
            </a:r>
          </a:p>
        </p:txBody>
      </p:sp>
      <p:sp>
        <p:nvSpPr>
          <p:cNvPr id="17" name="TextBox 16"/>
          <p:cNvSpPr txBox="1"/>
          <p:nvPr/>
        </p:nvSpPr>
        <p:spPr>
          <a:xfrm>
            <a:off x="3786898" y="1975104"/>
            <a:ext cx="3602094" cy="1356603"/>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Chủ động của DA. </a:t>
            </a:r>
            <a:r>
              <a:rPr sz="1000" b="0">
                <a:solidFill>
                  <a:srgbClr val="5C6B62"/>
                </a:solidFill>
                <a:latin typeface="Arial"/>
              </a:rPr>
              <a:t>DA lấy chính quyền lợi giới thiệu sẵn có và đóng gói thành một chương trình có giới hạn — 20 voucher, giảm 50% phí khám và ưu đãi cắt kính, dành cho bé chưa khám tại trung tâm.</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Thời điểm hợp lý. </a:t>
            </a:r>
            <a:r>
              <a:rPr sz="1000" b="0">
                <a:solidFill>
                  <a:srgbClr val="5C6B62"/>
                </a:solidFill>
                <a:latin typeface="Arial"/>
              </a:rPr>
              <a:t>Tin nhắn được gửi ngay sau khi DA hứa sẽ chủ động liên hệ cho lần tái khám tới.</a:t>
            </a:r>
          </a:p>
        </p:txBody>
      </p:sp>
      <p:sp>
        <p:nvSpPr>
          <p:cNvPr id="18" name="Rectangle 17"/>
          <p:cNvSpPr/>
          <p:nvPr/>
        </p:nvSpPr>
        <p:spPr>
          <a:xfrm>
            <a:off x="7791329" y="1591056"/>
            <a:ext cx="3894702" cy="1868667"/>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791329" y="1591056"/>
            <a:ext cx="3894702"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Cần cải thiện</a:t>
            </a:r>
          </a:p>
        </p:txBody>
      </p:sp>
      <p:sp>
        <p:nvSpPr>
          <p:cNvPr id="20" name="TextBox 19"/>
          <p:cNvSpPr txBox="1"/>
          <p:nvPr/>
        </p:nvSpPr>
        <p:spPr>
          <a:xfrm>
            <a:off x="7937633" y="1975104"/>
            <a:ext cx="3602094" cy="1356603"/>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Nhận kính là lúc tạo quan hệ. </a:t>
            </a:r>
            <a:r>
              <a:rPr sz="1000" b="0">
                <a:solidFill>
                  <a:srgbClr val="5C6B62"/>
                </a:solidFill>
                <a:latin typeface="Arial"/>
              </a:rPr>
              <a:t>Nhiều khách phải hẹn giờ đến nhận kính. Khi trao đổi giờ hẹn, có thể thêm: nếu người thân hoặc bạn bè có bé cần kiểm soát cận thị thì cho đi cùng — khám được giảm 50% và có ưu đãi cắt kính.</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Kính gửi qua bưu điện. </a:t>
            </a:r>
            <a:r>
              <a:rPr sz="1000" b="0">
                <a:solidFill>
                  <a:srgbClr val="5C6B62"/>
                </a:solidFill>
                <a:latin typeface="Arial"/>
              </a:rPr>
              <a:t>Với khách được gửi kính thay vì đến nhận, phải gửi quyền lợi hội viên sau khi kính đã gửi, và nhắc khách xác nhận với DA ngay khi nhận được.</a:t>
            </a:r>
          </a:p>
        </p:txBody>
      </p:sp>
      <p:sp>
        <p:nvSpPr>
          <p:cNvPr id="21" name="Rectangle 20"/>
          <p:cNvSpPr/>
          <p:nvPr/>
        </p:nvSpPr>
        <p:spPr>
          <a:xfrm>
            <a:off x="3640594" y="3606027"/>
            <a:ext cx="8045437" cy="1077711"/>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640594" y="3606027"/>
            <a:ext cx="8045437"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Ghi nhận từ tin nhắn Zalo</a:t>
            </a:r>
          </a:p>
        </p:txBody>
      </p:sp>
      <p:sp>
        <p:nvSpPr>
          <p:cNvPr id="23" name="TextBox 22"/>
          <p:cNvSpPr txBox="1"/>
          <p:nvPr/>
        </p:nvSpPr>
        <p:spPr>
          <a:xfrm>
            <a:off x="3786898" y="3990075"/>
            <a:ext cx="7752829" cy="565647"/>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Đúng tình huống gửi kính. </a:t>
            </a:r>
            <a:r>
              <a:rPr sz="1000" b="0">
                <a:solidFill>
                  <a:srgbClr val="5C6B62"/>
                </a:solidFill>
                <a:latin typeface="Arial"/>
              </a:rPr>
              <a:t>KTN 261010 được gửi kính về địa chỉ nhà. Đoạn chat kết thúc ở địa chỉ giao hàng — không quyền lợi, không nhắc xác nhận, không tin nhắn chăm sóc.</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Khuyến khích cách làm này. Cứ thử, hiệu quả thì nhân rộng, không hiệu quả thì chuyển hướng.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RÀ SOÁT TRUNG TÂM  |  SH</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SH</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khen mẫu câu, nhưng kèm một nguyên tắc: chỉ hiệu quả khi đã có niềm tin, không gửi sớm hơn.</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6</a:t>
            </a:r>
          </a:p>
        </p:txBody>
      </p:sp>
      <p:sp>
        <p:nvSpPr>
          <p:cNvPr id="9" name="Rectangle 8"/>
          <p:cNvSpPr/>
          <p:nvPr/>
        </p:nvSpPr>
        <p:spPr>
          <a:xfrm>
            <a:off x="542130" y="1591056"/>
            <a:ext cx="2851131"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 chị Nga  ·  gửi đầy đủ quyền lợi hội viên, 03/10</a:t>
            </a:r>
          </a:p>
        </p:txBody>
      </p:sp>
      <p:sp>
        <p:nvSpPr>
          <p:cNvPr id="10" name="Rectangle 9"/>
          <p:cNvSpPr/>
          <p:nvPr/>
        </p:nvSpPr>
        <p:spPr>
          <a:xfrm>
            <a:off x="542130" y="1851660"/>
            <a:ext cx="2851131" cy="1853344"/>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0b950c5a4663d30d2fff7ce3b8e60641.jpeg"/>
          <p:cNvPicPr>
            <a:picLocks noChangeAspect="1"/>
          </p:cNvPicPr>
          <p:nvPr/>
        </p:nvPicPr>
        <p:blipFill>
          <a:blip r:embed="rId2"/>
          <a:stretch>
            <a:fillRect/>
          </a:stretch>
        </p:blipFill>
        <p:spPr>
          <a:xfrm>
            <a:off x="574134" y="1883664"/>
            <a:ext cx="2787123" cy="1789336"/>
          </a:xfrm>
          <a:prstGeom prst="rect">
            <a:avLst/>
          </a:prstGeom>
        </p:spPr>
      </p:pic>
      <p:sp>
        <p:nvSpPr>
          <p:cNvPr id="12" name="Rectangle 11"/>
          <p:cNvSpPr/>
          <p:nvPr/>
        </p:nvSpPr>
        <p:spPr>
          <a:xfrm>
            <a:off x="567718" y="3892456"/>
            <a:ext cx="2799955" cy="292608"/>
          </a:xfrm>
          <a:prstGeom prst="rect">
            <a:avLst/>
          </a:prstGeom>
          <a:solidFill>
            <a:srgbClr val="B9770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KSCT Khôi Nguyên  ·  gửi mẫu câu 10/10 — “làm tốt cho con chị trước”</a:t>
            </a:r>
          </a:p>
        </p:txBody>
      </p:sp>
      <p:sp>
        <p:nvSpPr>
          <p:cNvPr id="13" name="Rectangle 12"/>
          <p:cNvSpPr/>
          <p:nvPr/>
        </p:nvSpPr>
        <p:spPr>
          <a:xfrm>
            <a:off x="567718" y="4153060"/>
            <a:ext cx="2799955" cy="1356199"/>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e5a83c14124cd5770a386a64835f8fb4.jpeg"/>
          <p:cNvPicPr>
            <a:picLocks noChangeAspect="1"/>
          </p:cNvPicPr>
          <p:nvPr/>
        </p:nvPicPr>
        <p:blipFill>
          <a:blip r:embed="rId3"/>
          <a:stretch>
            <a:fillRect/>
          </a:stretch>
        </p:blipFill>
        <p:spPr>
          <a:xfrm>
            <a:off x="599722" y="4185064"/>
            <a:ext cx="2735947" cy="1292191"/>
          </a:xfrm>
          <a:prstGeom prst="rect">
            <a:avLst/>
          </a:prstGeom>
        </p:spPr>
      </p:pic>
      <p:sp>
        <p:nvSpPr>
          <p:cNvPr id="15" name="Rectangle 14"/>
          <p:cNvSpPr/>
          <p:nvPr/>
        </p:nvSpPr>
        <p:spPr>
          <a:xfrm>
            <a:off x="3843952" y="1591056"/>
            <a:ext cx="3793023" cy="1721449"/>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843952" y="1591056"/>
            <a:ext cx="3793023"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Điểm mạnh</a:t>
            </a:r>
          </a:p>
        </p:txBody>
      </p:sp>
      <p:sp>
        <p:nvSpPr>
          <p:cNvPr id="17" name="TextBox 16"/>
          <p:cNvSpPr txBox="1"/>
          <p:nvPr/>
        </p:nvSpPr>
        <p:spPr>
          <a:xfrm>
            <a:off x="3990256" y="1975104"/>
            <a:ext cx="3500415" cy="1209385"/>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Đã dùng mẫu câu tham khảo. </a:t>
            </a:r>
            <a:r>
              <a:rPr sz="1000" b="0">
                <a:solidFill>
                  <a:srgbClr val="5C6B62"/>
                </a:solidFill>
                <a:latin typeface="Arial"/>
              </a:rPr>
              <a:t>Rất tốt — đây chính là mẫu câu CZ đang đề nghị các trung tâm khác áp dụng.</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Nhưng trình tự rất quan trọng. </a:t>
            </a:r>
            <a:r>
              <a:rPr sz="1000" b="0">
                <a:solidFill>
                  <a:srgbClr val="5C6B62"/>
                </a:solidFill>
                <a:latin typeface="Arial"/>
              </a:rPr>
              <a:t>Mẫu câu hiệu quả hơn khi hội viên đã nhận kính và đã nhận quyền lợi, sau khi DA đã giải đáp thắc mắc, hoặc sau khi đã hẹn được lịch tái khám — tức là khi đã có một phần niềm tin.</a:t>
            </a:r>
          </a:p>
        </p:txBody>
      </p:sp>
      <p:sp>
        <p:nvSpPr>
          <p:cNvPr id="18" name="Rectangle 17"/>
          <p:cNvSpPr/>
          <p:nvPr/>
        </p:nvSpPr>
        <p:spPr>
          <a:xfrm>
            <a:off x="7893008" y="1591056"/>
            <a:ext cx="3793023" cy="1721449"/>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893008" y="1591056"/>
            <a:ext cx="3793023"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Cần cải thiện</a:t>
            </a:r>
          </a:p>
        </p:txBody>
      </p:sp>
      <p:sp>
        <p:nvSpPr>
          <p:cNvPr id="20" name="TextBox 19"/>
          <p:cNvSpPr txBox="1"/>
          <p:nvPr/>
        </p:nvSpPr>
        <p:spPr>
          <a:xfrm>
            <a:off x="8039312" y="1975104"/>
            <a:ext cx="3500415" cy="1209385"/>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Quyền lợi trước, chăm sóc sau. </a:t>
            </a:r>
            <a:r>
              <a:rPr sz="1000" b="0">
                <a:solidFill>
                  <a:srgbClr val="5C6B62"/>
                </a:solidFill>
                <a:latin typeface="Arial"/>
              </a:rPr>
              <a:t>Gửi quyền lợi hội viên sau khi khách nhận kính, rồi đến tin nhắn CD3–5 hỏi thăm tình hình bé đeo kính để tạo niềm tin.</a:t>
            </a:r>
          </a:p>
        </p:txBody>
      </p:sp>
      <p:sp>
        <p:nvSpPr>
          <p:cNvPr id="21" name="Rectangle 20"/>
          <p:cNvSpPr/>
          <p:nvPr/>
        </p:nvSpPr>
        <p:spPr>
          <a:xfrm>
            <a:off x="3843952" y="3458809"/>
            <a:ext cx="7842079" cy="1427012"/>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843952" y="3458809"/>
            <a:ext cx="7842079"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Ghi nhận từ tin nhắn Zalo</a:t>
            </a:r>
          </a:p>
        </p:txBody>
      </p:sp>
      <p:sp>
        <p:nvSpPr>
          <p:cNvPr id="23" name="TextBox 22"/>
          <p:cNvSpPr txBox="1"/>
          <p:nvPr/>
        </p:nvSpPr>
        <p:spPr>
          <a:xfrm>
            <a:off x="3990256" y="3842857"/>
            <a:ext cx="7549471" cy="914948"/>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Chính phụ huynh chứng minh nguyên tắc này. </a:t>
            </a:r>
            <a:r>
              <a:rPr sz="1000" b="0">
                <a:solidFill>
                  <a:srgbClr val="5C6B62"/>
                </a:solidFill>
                <a:latin typeface="Arial"/>
              </a:rPr>
              <a:t>Gửi mẫu câu ngày 10/10, phụ huynh trả lời: em cứ làm tốt cho con chị trước, con chị thấy ổn thì chị mới dám giới thiệu. Và: liên quan tới sức khoẻ, giá voucher không quan trọng.</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Mẫu tin quyền lợi. </a:t>
            </a:r>
            <a:r>
              <a:rPr sz="1000" b="0">
                <a:solidFill>
                  <a:srgbClr val="5C6B62"/>
                </a:solidFill>
                <a:latin typeface="Arial"/>
              </a:rPr>
              <a:t>KT chị Nga, 03/10 — tin nhắn quyền lợi hội viên đầy đủ, có cả hai chiều ưu đãi giới thiệu. Tin nhắn chăm sóc là việc cần làm tiếp sau đó.</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Câu trả lời của phụ huynh chính là lý do cho nguyên tắc của CZ — chăm sóc trước, giới thiệu sau. Voucher không phải là điều thuyết phục họ.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RÀ SOÁT TRUNG TÂM  |  CMTT</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CMTT</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Hai điểm mạnh, không có điểm cần cải thiện. Các đoạn chat cho thấy quy trình đã chạy đầy đủ.</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7</a:t>
            </a:r>
          </a:p>
        </p:txBody>
      </p:sp>
      <p:sp>
        <p:nvSpPr>
          <p:cNvPr id="9" name="Rectangle 8"/>
          <p:cNvSpPr/>
          <p:nvPr/>
        </p:nvSpPr>
        <p:spPr>
          <a:xfrm>
            <a:off x="516636" y="1591056"/>
            <a:ext cx="1988891"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261006  ·  quyền lợi, giới thiệu, rồi hỏi thăm CD3 ngày 09/10</a:t>
            </a:r>
          </a:p>
        </p:txBody>
      </p:sp>
      <p:sp>
        <p:nvSpPr>
          <p:cNvPr id="10" name="Rectangle 9"/>
          <p:cNvSpPr/>
          <p:nvPr/>
        </p:nvSpPr>
        <p:spPr>
          <a:xfrm>
            <a:off x="516636" y="1851660"/>
            <a:ext cx="1988891" cy="3070700"/>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02ecdd54364b930dbb5390d269f6569b.jpeg"/>
          <p:cNvPicPr>
            <a:picLocks noChangeAspect="1"/>
          </p:cNvPicPr>
          <p:nvPr/>
        </p:nvPicPr>
        <p:blipFill>
          <a:blip r:embed="rId2"/>
          <a:stretch>
            <a:fillRect/>
          </a:stretch>
        </p:blipFill>
        <p:spPr>
          <a:xfrm>
            <a:off x="548640" y="1883664"/>
            <a:ext cx="1924883" cy="3006692"/>
          </a:xfrm>
          <a:prstGeom prst="rect">
            <a:avLst/>
          </a:prstGeom>
        </p:spPr>
      </p:pic>
      <p:sp>
        <p:nvSpPr>
          <p:cNvPr id="12" name="Rectangle 11"/>
          <p:cNvSpPr/>
          <p:nvPr/>
        </p:nvSpPr>
        <p:spPr>
          <a:xfrm>
            <a:off x="2663770" y="1591056"/>
            <a:ext cx="3309038"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KTY 261013  ·  gửi kính, hướng dẫn đeo, quyền lợi, giới thiệu</a:t>
            </a:r>
          </a:p>
        </p:txBody>
      </p:sp>
      <p:sp>
        <p:nvSpPr>
          <p:cNvPr id="13" name="Rectangle 12"/>
          <p:cNvSpPr/>
          <p:nvPr/>
        </p:nvSpPr>
        <p:spPr>
          <a:xfrm>
            <a:off x="2663770" y="1851660"/>
            <a:ext cx="3309038" cy="3122091"/>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90054432aa32af0e2d1eddd7ed04c3b7.jpeg"/>
          <p:cNvPicPr>
            <a:picLocks noChangeAspect="1"/>
          </p:cNvPicPr>
          <p:nvPr/>
        </p:nvPicPr>
        <p:blipFill>
          <a:blip r:embed="rId3"/>
          <a:stretch>
            <a:fillRect/>
          </a:stretch>
        </p:blipFill>
        <p:spPr>
          <a:xfrm>
            <a:off x="2695774" y="1883664"/>
            <a:ext cx="3245030" cy="3058083"/>
          </a:xfrm>
          <a:prstGeom prst="rect">
            <a:avLst/>
          </a:prstGeom>
        </p:spPr>
      </p:pic>
      <p:sp>
        <p:nvSpPr>
          <p:cNvPr id="15" name="Rectangle 14"/>
          <p:cNvSpPr/>
          <p:nvPr/>
        </p:nvSpPr>
        <p:spPr>
          <a:xfrm>
            <a:off x="6199632" y="1591056"/>
            <a:ext cx="5486400" cy="1413680"/>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Điểm mạnh</a:t>
            </a:r>
          </a:p>
        </p:txBody>
      </p:sp>
      <p:sp>
        <p:nvSpPr>
          <p:cNvPr id="17" name="TextBox 16"/>
          <p:cNvSpPr txBox="1"/>
          <p:nvPr/>
        </p:nvSpPr>
        <p:spPr>
          <a:xfrm>
            <a:off x="6345936" y="1975104"/>
            <a:ext cx="5193792" cy="901616"/>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Ghi chú khách rất tốt. </a:t>
            </a:r>
            <a:r>
              <a:rPr sz="900" b="0">
                <a:solidFill>
                  <a:srgbClr val="5C6B62"/>
                </a:solidFill>
                <a:latin typeface="Arial"/>
              </a:rPr>
              <a:t>Nếu thêm được số điện thoại của khách vào phần ghi chú thì sẽ còn tốt hơn nữa.</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Chủ động ở bước đặt kính. </a:t>
            </a:r>
            <a:r>
              <a:rPr sz="900" b="0">
                <a:solidFill>
                  <a:srgbClr val="5C6B62"/>
                </a:solidFill>
                <a:latin typeface="Arial"/>
              </a:rPr>
              <a:t>Chương trình hội viên mới bắt đầu, mà DA đã chủ động nhắn tin nhắc khách ở bước đặt kính — rất tốt.</a:t>
            </a:r>
          </a:p>
        </p:txBody>
      </p:sp>
      <p:sp>
        <p:nvSpPr>
          <p:cNvPr id="18" name="Rectangle 17"/>
          <p:cNvSpPr/>
          <p:nvPr/>
        </p:nvSpPr>
        <p:spPr>
          <a:xfrm>
            <a:off x="6199632" y="3151040"/>
            <a:ext cx="5486400" cy="857670"/>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3151040"/>
            <a:ext cx="5486400" cy="292608"/>
          </a:xfrm>
          <a:prstGeom prst="rect">
            <a:avLst/>
          </a:prstGeom>
          <a:solidFill>
            <a:srgbClr val="0C989A"/>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Cần cải thiện</a:t>
            </a:r>
          </a:p>
        </p:txBody>
      </p:sp>
      <p:sp>
        <p:nvSpPr>
          <p:cNvPr id="20" name="TextBox 19"/>
          <p:cNvSpPr txBox="1"/>
          <p:nvPr/>
        </p:nvSpPr>
        <p:spPr>
          <a:xfrm>
            <a:off x="6345936" y="3535088"/>
            <a:ext cx="5193792" cy="345606"/>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Góp ý duy nhất. </a:t>
            </a:r>
            <a:r>
              <a:rPr sz="900" b="0">
                <a:solidFill>
                  <a:srgbClr val="5C6B62"/>
                </a:solidFill>
                <a:latin typeface="Arial"/>
              </a:rPr>
              <a:t>Thêm số điện thoại vào ghi chú Zalo — điều duy nhất CZ muốn thay đổi.</a:t>
            </a:r>
          </a:p>
        </p:txBody>
      </p:sp>
      <p:sp>
        <p:nvSpPr>
          <p:cNvPr id="21" name="Rectangle 20"/>
          <p:cNvSpPr/>
          <p:nvPr/>
        </p:nvSpPr>
        <p:spPr>
          <a:xfrm>
            <a:off x="6199632" y="4155015"/>
            <a:ext cx="5486400" cy="1413680"/>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155015"/>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Ghi nhận từ tin nhắn Zalo</a:t>
            </a:r>
          </a:p>
        </p:txBody>
      </p:sp>
      <p:sp>
        <p:nvSpPr>
          <p:cNvPr id="23" name="TextBox 22"/>
          <p:cNvSpPr txBox="1"/>
          <p:nvPr/>
        </p:nvSpPr>
        <p:spPr>
          <a:xfrm>
            <a:off x="6345936" y="4539063"/>
            <a:ext cx="5193792" cy="901616"/>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Quy trình đầy đủ, không cần ai nhắc. </a:t>
            </a:r>
            <a:r>
              <a:rPr sz="900" b="0">
                <a:solidFill>
                  <a:srgbClr val="5C6B62"/>
                </a:solidFill>
                <a:latin typeface="Arial"/>
              </a:rPr>
              <a:t>MCY 261006: giới thiệu bản thân, thông báo đặt kính, quyền lợi, ưu đãi giới thiệu — rồi hỏi thăm CD3 vào ngày 09/10 xem bé nhìn có rõ và thoải mái không.</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Và lặp lại lần nữa. </a:t>
            </a:r>
            <a:r>
              <a:rPr sz="900" b="0">
                <a:solidFill>
                  <a:srgbClr val="5C6B62"/>
                </a:solidFill>
                <a:latin typeface="Arial"/>
              </a:rPr>
              <a:t>KTY 261013: thông báo gửi kính, hướng dẫn đeo (liên tục trừ lúc ngủ và tắm), hứa nhắc lịch tái khám, quyền lợi, ưu đãi giới thiệu.</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CMTT là trung tâm nên học theo: thông báo đặt kính, giao kính, hướng dẫn đeo, quyền lợi, giới thiệu, rồi hỏi thăm CD3.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RÀ SOÁT TRUNG TÂM  |  LA</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LA</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Ba điểm mạnh. Hai điểm cần sửa đều là về độ phủ, không phải về chất lượng.</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8</a:t>
            </a:r>
          </a:p>
        </p:txBody>
      </p:sp>
      <p:sp>
        <p:nvSpPr>
          <p:cNvPr id="9" name="Rectangle 8"/>
          <p:cNvSpPr/>
          <p:nvPr/>
        </p:nvSpPr>
        <p:spPr>
          <a:xfrm>
            <a:off x="516636" y="1591056"/>
            <a:ext cx="2113280"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251025  ·  khách năm 2025, lấy bảo hành làm lý do mời tái khám</a:t>
            </a:r>
          </a:p>
        </p:txBody>
      </p:sp>
      <p:sp>
        <p:nvSpPr>
          <p:cNvPr id="10" name="Rectangle 9"/>
          <p:cNvSpPr/>
          <p:nvPr/>
        </p:nvSpPr>
        <p:spPr>
          <a:xfrm>
            <a:off x="516636" y="1851660"/>
            <a:ext cx="2113280" cy="2227373"/>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la_warranty_crop.png"/>
          <p:cNvPicPr>
            <a:picLocks noChangeAspect="1"/>
          </p:cNvPicPr>
          <p:nvPr/>
        </p:nvPicPr>
        <p:blipFill>
          <a:blip r:embed="rId2"/>
          <a:stretch>
            <a:fillRect/>
          </a:stretch>
        </p:blipFill>
        <p:spPr>
          <a:xfrm>
            <a:off x="548640" y="1883664"/>
            <a:ext cx="2049272" cy="2163365"/>
          </a:xfrm>
          <a:prstGeom prst="rect">
            <a:avLst/>
          </a:prstGeom>
        </p:spPr>
      </p:pic>
      <p:sp>
        <p:nvSpPr>
          <p:cNvPr id="12" name="Rectangle 11"/>
          <p:cNvSpPr/>
          <p:nvPr/>
        </p:nvSpPr>
        <p:spPr>
          <a:xfrm>
            <a:off x="568349" y="4271576"/>
            <a:ext cx="2009853"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MCY-261008  ·  mẫu câu đặt kính, hẹn 3–10 ngày</a:t>
            </a:r>
          </a:p>
        </p:txBody>
      </p:sp>
      <p:sp>
        <p:nvSpPr>
          <p:cNvPr id="13" name="Rectangle 12"/>
          <p:cNvSpPr/>
          <p:nvPr/>
        </p:nvSpPr>
        <p:spPr>
          <a:xfrm>
            <a:off x="568349" y="4532180"/>
            <a:ext cx="2009853" cy="977079"/>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7b9334f2036cec4a6f6dfdee0a329c5c.jpeg"/>
          <p:cNvPicPr>
            <a:picLocks noChangeAspect="1"/>
          </p:cNvPicPr>
          <p:nvPr/>
        </p:nvPicPr>
        <p:blipFill>
          <a:blip r:embed="rId3"/>
          <a:stretch>
            <a:fillRect/>
          </a:stretch>
        </p:blipFill>
        <p:spPr>
          <a:xfrm>
            <a:off x="600353" y="4564184"/>
            <a:ext cx="1945845" cy="913071"/>
          </a:xfrm>
          <a:prstGeom prst="rect">
            <a:avLst/>
          </a:prstGeom>
        </p:spPr>
      </p:pic>
      <p:sp>
        <p:nvSpPr>
          <p:cNvPr id="15" name="Rectangle 14"/>
          <p:cNvSpPr/>
          <p:nvPr/>
        </p:nvSpPr>
        <p:spPr>
          <a:xfrm>
            <a:off x="3055112" y="1591056"/>
            <a:ext cx="4187443" cy="1776313"/>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055112" y="1591056"/>
            <a:ext cx="4187443"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Điểm mạnh</a:t>
            </a:r>
          </a:p>
        </p:txBody>
      </p:sp>
      <p:sp>
        <p:nvSpPr>
          <p:cNvPr id="17" name="TextBox 16"/>
          <p:cNvSpPr txBox="1"/>
          <p:nvPr/>
        </p:nvSpPr>
        <p:spPr>
          <a:xfrm>
            <a:off x="3201416" y="1975104"/>
            <a:ext cx="3894835" cy="1264249"/>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Liên hệ lại khách cũ. </a:t>
            </a:r>
            <a:r>
              <a:rPr sz="1000" b="0">
                <a:solidFill>
                  <a:srgbClr val="5C6B62"/>
                </a:solidFill>
                <a:latin typeface="Arial"/>
              </a:rPr>
              <a:t>Đã bắt đầu liên hệ lại khách của năm 2025 và nửa đầu năm 2026 — rất tốt.</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Dùng mẫu câu đào tạo. </a:t>
            </a:r>
            <a:r>
              <a:rPr sz="1000" b="0">
                <a:solidFill>
                  <a:srgbClr val="5C6B62"/>
                </a:solidFill>
                <a:latin typeface="Arial"/>
              </a:rPr>
              <a:t>Mẫu câu “đặt kính” trong nội dung đào tạo được dùng đúng nguyên văn.</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Trả lời nhanh. </a:t>
            </a:r>
            <a:r>
              <a:rPr sz="1000" b="0">
                <a:solidFill>
                  <a:srgbClr val="5C6B62"/>
                </a:solidFill>
                <a:latin typeface="Arial"/>
              </a:rPr>
              <a:t>Phần lớn thắc mắc của khách đều được trả lời kịp thời.</a:t>
            </a:r>
          </a:p>
        </p:txBody>
      </p:sp>
      <p:sp>
        <p:nvSpPr>
          <p:cNvPr id="18" name="Rectangle 17"/>
          <p:cNvSpPr/>
          <p:nvPr/>
        </p:nvSpPr>
        <p:spPr>
          <a:xfrm>
            <a:off x="7498588" y="1591056"/>
            <a:ext cx="4187443" cy="1776313"/>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498588" y="1591056"/>
            <a:ext cx="4187443"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Cần cải thiện</a:t>
            </a:r>
          </a:p>
        </p:txBody>
      </p:sp>
      <p:sp>
        <p:nvSpPr>
          <p:cNvPr id="20" name="TextBox 19"/>
          <p:cNvSpPr txBox="1"/>
          <p:nvPr/>
        </p:nvSpPr>
        <p:spPr>
          <a:xfrm>
            <a:off x="7644892" y="1975104"/>
            <a:ext cx="3894835" cy="1264249"/>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Phủ hết hội viên. </a:t>
            </a:r>
            <a:r>
              <a:rPr sz="1000" b="0">
                <a:solidFill>
                  <a:srgbClr val="5C6B62"/>
                </a:solidFill>
                <a:latin typeface="Arial"/>
              </a:rPr>
              <a:t>Hỏi thăm, hướng dẫn và kiểm tra tình hình đeo kính có thể làm liên tục theo thời gian của mình — nhưng cần phủ hết các hội viên đã nhận kính.</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Giới thiệu là KPI. </a:t>
            </a:r>
            <a:r>
              <a:rPr sz="1000" b="0">
                <a:solidFill>
                  <a:srgbClr val="5C6B62"/>
                </a:solidFill>
                <a:latin typeface="Arial"/>
              </a:rPr>
              <a:t>KPI chính của DA là tăng doanh số, nên hãy dùng mẫu câu giới thiệu nhiều hơn với những khách đã tin tưởng hoặc đã hài lòng.</a:t>
            </a:r>
          </a:p>
        </p:txBody>
      </p:sp>
      <p:sp>
        <p:nvSpPr>
          <p:cNvPr id="21" name="Rectangle 20"/>
          <p:cNvSpPr/>
          <p:nvPr/>
        </p:nvSpPr>
        <p:spPr>
          <a:xfrm>
            <a:off x="3055112" y="3513673"/>
            <a:ext cx="8630919" cy="1077711"/>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055112" y="3513673"/>
            <a:ext cx="8630919"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Ghi nhận từ tin nhắn Zalo</a:t>
            </a:r>
          </a:p>
        </p:txBody>
      </p:sp>
      <p:sp>
        <p:nvSpPr>
          <p:cNvPr id="23" name="TextBox 22"/>
          <p:cNvSpPr txBox="1"/>
          <p:nvPr/>
        </p:nvSpPr>
        <p:spPr>
          <a:xfrm>
            <a:off x="3201416" y="3897721"/>
            <a:ext cx="8338311" cy="565647"/>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Lấy bảo hành làm lý do mời tái khám. </a:t>
            </a:r>
            <a:r>
              <a:rPr sz="1000" b="0">
                <a:solidFill>
                  <a:srgbClr val="5C6B62"/>
                </a:solidFill>
                <a:latin typeface="Arial"/>
              </a:rPr>
              <a:t>Kính cắt ngày 25/10/2025, bảo hành 1 năm, nên lần tái khám có thời hạn rõ ràng. Phụ huynh hẹn đến ngay chiều hôm đó.</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Ghi chú khách tốt nhất trong nhóm: mã, ngày, phụ huynh, tên bé, số điện thoại và cả dấu “chưa quà”. Nên chuẩn hoá theo cách này.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3. MẪU CÂU THAM KHẢO  |  CHUẨN CỦA CZ</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Mẫu câu giới thiệu, và thời điểm nên gửi</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nhắc đúng mẫu câu này ba lần — CTE D7 cần áp dụng, SH vì đã dùng tốt, và LA nên dùng nhiều hơn.</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9</a:t>
            </a:r>
          </a:p>
        </p:txBody>
      </p:sp>
      <p:sp>
        <p:nvSpPr>
          <p:cNvPr id="9" name="Rectangle 8"/>
          <p:cNvSpPr/>
          <p:nvPr/>
        </p:nvSpPr>
        <p:spPr>
          <a:xfrm>
            <a:off x="502920" y="1645920"/>
            <a:ext cx="11183112" cy="1783080"/>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645920"/>
            <a:ext cx="11183112" cy="292608"/>
          </a:xfrm>
          <a:prstGeom prst="rect">
            <a:avLst/>
          </a:prstGeom>
          <a:solidFill>
            <a:srgbClr val="31633D"/>
          </a:solidFill>
          <a:ln>
            <a:noFill/>
          </a:ln>
          <a:effectLst/>
        </p:spPr>
        <p:txBody>
          <a:bodyPr rtlCol="0" anchor="ctr" wrap="square" lIns="146304" tIns="27432" bIns="27432"/>
          <a:lstStyle/>
          <a:p>
            <a:pPr algn="l">
              <a:lnSpc>
                <a:spcPct val="95000"/>
              </a:lnSpc>
              <a:spcBef>
                <a:spcPts val="0"/>
              </a:spcBef>
              <a:spcAft>
                <a:spcPts val="0"/>
              </a:spcAft>
            </a:pPr>
            <a:r>
              <a:rPr sz="900" b="1">
                <a:solidFill>
                  <a:srgbClr val="FFFFFF"/>
                </a:solidFill>
                <a:latin typeface="Arial"/>
              </a:rPr>
              <a:t>MẪU CÂU GIỚI THIỆU  ·  nguyên văn do CZ ban hành — đây là tin nhắn gửi cho khách, vui lòng không sửa lại câu chữ</a:t>
            </a:r>
          </a:p>
        </p:txBody>
      </p:sp>
      <p:sp>
        <p:nvSpPr>
          <p:cNvPr id="11" name="TextBox 10"/>
          <p:cNvSpPr txBox="1"/>
          <p:nvPr/>
        </p:nvSpPr>
        <p:spPr>
          <a:xfrm>
            <a:off x="704088" y="2066544"/>
            <a:ext cx="10780776" cy="640080"/>
          </a:xfrm>
          <a:prstGeom prst="rect">
            <a:avLst/>
          </a:prstGeom>
          <a:noFill/>
        </p:spPr>
        <p:txBody>
          <a:bodyPr wrap="square" anchor="t" lIns="0" rIns="0" tIns="0" bIns="0">
            <a:spAutoFit/>
          </a:bodyPr>
          <a:lstStyle/>
          <a:p>
            <a:pPr algn="l">
              <a:lnSpc>
                <a:spcPct val="115000"/>
              </a:lnSpc>
              <a:spcBef>
                <a:spcPts val="0"/>
              </a:spcBef>
              <a:spcAft>
                <a:spcPts val="0"/>
              </a:spcAft>
            </a:pPr>
            <a:r>
              <a:rPr sz="1150" b="1">
                <a:solidFill>
                  <a:srgbClr val="31633D"/>
                </a:solidFill>
                <a:latin typeface="Arial"/>
              </a:rPr>
              <a:t>có người thân bạn bè có các bé cần kiểm soát cận thị hay khám mắt có thể nhắn em ạ. Em sẽ gửi Voucher giảm phí khám và ưu đãi khi cắt kính để mọi người đều được nhận chính sách ưu đãi tốt nhất ạ. Ngoài ra, Anh/ Chị cũng sẽ nhận quyền lợi tri ân dành cho Hội viên khi chia sẻ, thời thiệu thành công ạ. Em cảm ơn Anh/ Chị đã tin tưởng trung tâm bên em ạ ❤️</a:t>
            </a:r>
          </a:p>
        </p:txBody>
      </p:sp>
      <p:sp>
        <p:nvSpPr>
          <p:cNvPr id="12" name="Rectangle 11"/>
          <p:cNvSpPr/>
          <p:nvPr/>
        </p:nvSpPr>
        <p:spPr>
          <a:xfrm>
            <a:off x="704088" y="2852928"/>
            <a:ext cx="10780776" cy="7315"/>
          </a:xfrm>
          <a:prstGeom prst="rect">
            <a:avLst/>
          </a:prstGeom>
          <a:solidFill>
            <a:srgbClr val="CFE6D8"/>
          </a:solidFill>
          <a:ln>
            <a:noFill/>
          </a:ln>
          <a:effectLst/>
        </p:spPr>
        <p:txBody>
          <a:bodyPr rtlCol="0" anchor="ctr" wrap="square"/>
          <a:lstStyle/>
          <a:p>
            <a:pPr algn="ctr"/>
          </a:p>
        </p:txBody>
      </p:sp>
      <p:sp>
        <p:nvSpPr>
          <p:cNvPr id="13" name="TextBox 12"/>
          <p:cNvSpPr txBox="1"/>
          <p:nvPr/>
        </p:nvSpPr>
        <p:spPr>
          <a:xfrm>
            <a:off x="704088" y="2944368"/>
            <a:ext cx="10780776" cy="457200"/>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Lưu ý: sao chép đúng nguyên văn, không tự sửa lại câu chữ. Mẫu câu này được dùng chung cho tất cả trung tâm, nên mọi nơi phải gửi cùng một nội dung.</a:t>
            </a:r>
          </a:p>
        </p:txBody>
      </p:sp>
      <p:sp>
        <p:nvSpPr>
          <p:cNvPr id="14" name="Rectangle 13"/>
          <p:cNvSpPr/>
          <p:nvPr/>
        </p:nvSpPr>
        <p:spPr>
          <a:xfrm>
            <a:off x="502920" y="3675887"/>
            <a:ext cx="5486400" cy="1572768"/>
          </a:xfrm>
          <a:prstGeom prst="rect">
            <a:avLst/>
          </a:prstGeom>
          <a:solidFill>
            <a:srgbClr val="F7FAF8"/>
          </a:solidFill>
          <a:ln w="9525">
            <a:solidFill>
              <a:srgbClr val="CFE6D8"/>
            </a:solidFill>
          </a:ln>
          <a:effectLst/>
        </p:spPr>
        <p:txBody>
          <a:bodyPr rtlCol="0" anchor="ctr" wrap="square"/>
          <a:lstStyle/>
          <a:p>
            <a:pPr algn="ctr"/>
          </a:p>
        </p:txBody>
      </p:sp>
      <p:sp>
        <p:nvSpPr>
          <p:cNvPr id="15" name="Rectangle 14"/>
          <p:cNvSpPr/>
          <p:nvPr/>
        </p:nvSpPr>
        <p:spPr>
          <a:xfrm>
            <a:off x="502920" y="3675887"/>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Thời điểm nên gửi — sau khi đã có niềm tin</a:t>
            </a:r>
          </a:p>
        </p:txBody>
      </p:sp>
      <p:sp>
        <p:nvSpPr>
          <p:cNvPr id="16" name="TextBox 15"/>
          <p:cNvSpPr txBox="1"/>
          <p:nvPr/>
        </p:nvSpPr>
        <p:spPr>
          <a:xfrm>
            <a:off x="649224" y="4059935"/>
            <a:ext cx="5193792" cy="1060704"/>
          </a:xfrm>
          <a:prstGeom prst="rect">
            <a:avLst/>
          </a:prstGeom>
          <a:noFill/>
        </p:spPr>
        <p:txBody>
          <a:bodyPr wrap="square" anchor="t" lIns="0" rIns="0" tIns="0" bIns="0">
            <a:spAutoFit/>
          </a:bodyPr>
          <a:lstStyle/>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Sau khi nhận kính. </a:t>
            </a:r>
            <a:r>
              <a:rPr sz="900" b="0">
                <a:solidFill>
                  <a:srgbClr val="5C6B62"/>
                </a:solidFill>
                <a:latin typeface="Arial"/>
              </a:rPr>
              <a:t>Hội viên đã có kính và tin nhắn quyền lợi đã được gửi.</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Sau khi giải đáp. </a:t>
            </a:r>
            <a:r>
              <a:rPr sz="900" b="0">
                <a:solidFill>
                  <a:srgbClr val="5C6B62"/>
                </a:solidFill>
                <a:latin typeface="Arial"/>
              </a:rPr>
              <a:t>DA đã trả lời xong một thắc mắc quan trọng với khách.</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Sau khi hẹn lịch. </a:t>
            </a:r>
            <a:r>
              <a:rPr sz="900" b="0">
                <a:solidFill>
                  <a:srgbClr val="5C6B62"/>
                </a:solidFill>
                <a:latin typeface="Arial"/>
              </a:rPr>
              <a:t>Đã hẹn được lịch tái khám cho bé.</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Sau khi gửi kính. </a:t>
            </a:r>
            <a:r>
              <a:rPr sz="900" b="0">
                <a:solidFill>
                  <a:srgbClr val="5C6B62"/>
                </a:solidFill>
                <a:latin typeface="Arial"/>
              </a:rPr>
              <a:t>DA đã hỗ trợ gửi kính và khách đã xác nhận nhận được.</a:t>
            </a:r>
          </a:p>
        </p:txBody>
      </p:sp>
      <p:sp>
        <p:nvSpPr>
          <p:cNvPr id="17" name="Rectangle 16"/>
          <p:cNvSpPr/>
          <p:nvPr/>
        </p:nvSpPr>
        <p:spPr>
          <a:xfrm>
            <a:off x="6199632" y="3675887"/>
            <a:ext cx="5486400" cy="1572768"/>
          </a:xfrm>
          <a:prstGeom prst="rect">
            <a:avLst/>
          </a:prstGeom>
          <a:solidFill>
            <a:srgbClr val="F7FAF8"/>
          </a:solidFill>
          <a:ln w="9525">
            <a:solidFill>
              <a:srgbClr val="CFE6D8"/>
            </a:solidFill>
          </a:ln>
          <a:effectLst/>
        </p:spPr>
        <p:txBody>
          <a:bodyPr rtlCol="0" anchor="ctr" wrap="square"/>
          <a:lstStyle/>
          <a:p>
            <a:pPr algn="ctr"/>
          </a:p>
        </p:txBody>
      </p:sp>
      <p:sp>
        <p:nvSpPr>
          <p:cNvPr id="18" name="Rectangle 17"/>
          <p:cNvSpPr/>
          <p:nvPr/>
        </p:nvSpPr>
        <p:spPr>
          <a:xfrm>
            <a:off x="6199632" y="3675887"/>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Cần sửa trước khi phổ biến</a:t>
            </a:r>
          </a:p>
        </p:txBody>
      </p:sp>
      <p:sp>
        <p:nvSpPr>
          <p:cNvPr id="19" name="TextBox 18"/>
          <p:cNvSpPr txBox="1"/>
          <p:nvPr/>
        </p:nvSpPr>
        <p:spPr>
          <a:xfrm>
            <a:off x="6345936" y="4059935"/>
            <a:ext cx="5193792" cy="1060704"/>
          </a:xfrm>
          <a:prstGeom prst="rect">
            <a:avLst/>
          </a:prstGeom>
          <a:noFill/>
        </p:spPr>
        <p:txBody>
          <a:bodyPr wrap="square" anchor="t" lIns="0" rIns="0" tIns="0" bIns="0">
            <a:spAutoFit/>
          </a:bodyPr>
          <a:lstStyle/>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Lỗi chính tả trong bản gốc. </a:t>
            </a:r>
            <a:r>
              <a:rPr sz="900" b="0">
                <a:solidFill>
                  <a:srgbClr val="5C6B62"/>
                </a:solidFill>
                <a:latin typeface="Arial"/>
              </a:rPr>
              <a:t>“thời thiệu” phải là “giới thiệu”. Đây là tin nhắn mẫu lưu sẵn, nên trung tâm nào áp dụng cũng sẽ mắc lỗi này. Cần sửa ở bản gốc.</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Không gửi khi chưa có niềm tin. </a:t>
            </a:r>
            <a:r>
              <a:rPr sz="900" b="0">
                <a:solidFill>
                  <a:srgbClr val="5C6B62"/>
                </a:solidFill>
                <a:latin typeface="Arial"/>
              </a:rPr>
              <a:t>Gửi quá sớm sẽ bị hiểu là chào bán — đoạn chat của SH cho thấy đúng phản ứng đó.</a:t>
            </a:r>
          </a:p>
        </p:txBody>
      </p:sp>
      <p:sp>
        <p:nvSpPr>
          <p:cNvPr id="20" name="Rectangle 19"/>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1" name="Rectangle 20"/>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Chăm sóc trước, giới thiệu sau. Mẫu câu chỉ phát huy khi niềm tin đã có.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4. VIỆC CẦN LÀM</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Tuần này cần thay đổi điều gì</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Chuẩn liên hệ áp dụng cho tất cả, sau đó là danh sách ngắn cho từng trung tâm.</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Đào tạo DA Khúc xạ</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10</a:t>
            </a:r>
          </a:p>
        </p:txBody>
      </p:sp>
      <p:sp>
        <p:nvSpPr>
          <p:cNvPr id="9" name="Rectangle 8"/>
          <p:cNvSpPr/>
          <p:nvPr/>
        </p:nvSpPr>
        <p:spPr>
          <a:xfrm>
            <a:off x="502920" y="1591056"/>
            <a:ext cx="11183112" cy="293522"/>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591056"/>
            <a:ext cx="54864" cy="293522"/>
          </a:xfrm>
          <a:prstGeom prst="rect">
            <a:avLst/>
          </a:prstGeom>
          <a:solidFill>
            <a:srgbClr val="31633D"/>
          </a:solidFill>
          <a:ln>
            <a:noFill/>
          </a:ln>
          <a:effectLst/>
        </p:spPr>
        <p:txBody>
          <a:bodyPr rtlCol="0" anchor="ctr" wrap="square"/>
          <a:lstStyle/>
          <a:p>
            <a:pPr algn="ctr"/>
          </a:p>
        </p:txBody>
      </p:sp>
      <p:sp>
        <p:nvSpPr>
          <p:cNvPr id="11" name="TextBox 10"/>
          <p:cNvSpPr txBox="1"/>
          <p:nvPr/>
        </p:nvSpPr>
        <p:spPr>
          <a:xfrm>
            <a:off x="704088" y="1664208"/>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Tất cả</a:t>
            </a:r>
          </a:p>
        </p:txBody>
      </p:sp>
      <p:sp>
        <p:nvSpPr>
          <p:cNvPr id="12" name="TextBox 11"/>
          <p:cNvSpPr txBox="1"/>
          <p:nvPr/>
        </p:nvSpPr>
        <p:spPr>
          <a:xfrm>
            <a:off x="1691640" y="1655064"/>
            <a:ext cx="9720072" cy="147218"/>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Liên hệ ở các mốc CD3–5 và CD7, rồi CD14 và CD30 — tối thiểu ba lần cho mỗi hội viên.</a:t>
            </a:r>
          </a:p>
        </p:txBody>
      </p:sp>
      <p:sp>
        <p:nvSpPr>
          <p:cNvPr id="13" name="Rectangle 12"/>
          <p:cNvSpPr/>
          <p:nvPr/>
        </p:nvSpPr>
        <p:spPr>
          <a:xfrm>
            <a:off x="502920" y="1966112"/>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14" name="Rectangle 13"/>
          <p:cNvSpPr/>
          <p:nvPr/>
        </p:nvSpPr>
        <p:spPr>
          <a:xfrm>
            <a:off x="502920" y="1966112"/>
            <a:ext cx="54864" cy="651967"/>
          </a:xfrm>
          <a:prstGeom prst="rect">
            <a:avLst/>
          </a:prstGeom>
          <a:solidFill>
            <a:srgbClr val="C0392B"/>
          </a:solidFill>
          <a:ln>
            <a:noFill/>
          </a:ln>
          <a:effectLst/>
        </p:spPr>
        <p:txBody>
          <a:bodyPr rtlCol="0" anchor="ctr" wrap="square"/>
          <a:lstStyle/>
          <a:p>
            <a:pPr algn="ctr"/>
          </a:p>
        </p:txBody>
      </p:sp>
      <p:sp>
        <p:nvSpPr>
          <p:cNvPr id="15" name="TextBox 14"/>
          <p:cNvSpPr txBox="1"/>
          <p:nvPr/>
        </p:nvSpPr>
        <p:spPr>
          <a:xfrm>
            <a:off x="704088" y="2039264"/>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CTE D5</a:t>
            </a:r>
          </a:p>
        </p:txBody>
      </p:sp>
      <p:sp>
        <p:nvSpPr>
          <p:cNvPr id="16" name="TextBox 15"/>
          <p:cNvSpPr txBox="1"/>
          <p:nvPr/>
        </p:nvSpPr>
        <p:spPr>
          <a:xfrm>
            <a:off x="1691640" y="2030120"/>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Gửi quyền lợi hội viên ngay ngày khách nhận kính, sau đó là tin nhắn chăm sóc CD3–5.</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Liên hệ lại danh sách khách đã tư vấn nhưng chưa mua, và tăng số khách liên hệ trong tuần.</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Nắm vững các câu hỏi về sản phẩm — ví dụ cách vệ sinh Ortho-K và nước muối.</a:t>
            </a:r>
          </a:p>
        </p:txBody>
      </p:sp>
      <p:sp>
        <p:nvSpPr>
          <p:cNvPr id="17" name="Rectangle 16"/>
          <p:cNvSpPr/>
          <p:nvPr/>
        </p:nvSpPr>
        <p:spPr>
          <a:xfrm>
            <a:off x="502920" y="2699613"/>
            <a:ext cx="11183112" cy="293522"/>
          </a:xfrm>
          <a:prstGeom prst="rect">
            <a:avLst/>
          </a:prstGeom>
          <a:solidFill>
            <a:srgbClr val="F7FAF8"/>
          </a:solidFill>
          <a:ln w="9525">
            <a:solidFill>
              <a:srgbClr val="CFE6D8"/>
            </a:solidFill>
          </a:ln>
          <a:effectLst/>
        </p:spPr>
        <p:txBody>
          <a:bodyPr rtlCol="0" anchor="ctr" wrap="square"/>
          <a:lstStyle/>
          <a:p>
            <a:pPr algn="ctr"/>
          </a:p>
        </p:txBody>
      </p:sp>
      <p:sp>
        <p:nvSpPr>
          <p:cNvPr id="18" name="Rectangle 17"/>
          <p:cNvSpPr/>
          <p:nvPr/>
        </p:nvSpPr>
        <p:spPr>
          <a:xfrm>
            <a:off x="502920" y="2699613"/>
            <a:ext cx="54864" cy="293522"/>
          </a:xfrm>
          <a:prstGeom prst="rect">
            <a:avLst/>
          </a:prstGeom>
          <a:solidFill>
            <a:srgbClr val="2E9C4C"/>
          </a:solidFill>
          <a:ln>
            <a:noFill/>
          </a:ln>
          <a:effectLst/>
        </p:spPr>
        <p:txBody>
          <a:bodyPr rtlCol="0" anchor="ctr" wrap="square"/>
          <a:lstStyle/>
          <a:p>
            <a:pPr algn="ctr"/>
          </a:p>
        </p:txBody>
      </p:sp>
      <p:sp>
        <p:nvSpPr>
          <p:cNvPr id="19" name="TextBox 18"/>
          <p:cNvSpPr txBox="1"/>
          <p:nvPr/>
        </p:nvSpPr>
        <p:spPr>
          <a:xfrm>
            <a:off x="704088" y="2772765"/>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CTE D7</a:t>
            </a:r>
          </a:p>
        </p:txBody>
      </p:sp>
      <p:sp>
        <p:nvSpPr>
          <p:cNvPr id="20" name="TextBox 19"/>
          <p:cNvSpPr txBox="1"/>
          <p:nvPr/>
        </p:nvSpPr>
        <p:spPr>
          <a:xfrm>
            <a:off x="1691640" y="2763621"/>
            <a:ext cx="9720072" cy="147218"/>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Đề nghị giới thiệu một cách tự nhiên khi phù hợp, tức là sau khi đã hoàn tất dịch vụ.</a:t>
            </a:r>
          </a:p>
        </p:txBody>
      </p:sp>
      <p:sp>
        <p:nvSpPr>
          <p:cNvPr id="21" name="Rectangle 20"/>
          <p:cNvSpPr/>
          <p:nvPr/>
        </p:nvSpPr>
        <p:spPr>
          <a:xfrm>
            <a:off x="502920" y="3074669"/>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502920" y="3074669"/>
            <a:ext cx="54864" cy="651967"/>
          </a:xfrm>
          <a:prstGeom prst="rect">
            <a:avLst/>
          </a:prstGeom>
          <a:solidFill>
            <a:srgbClr val="B9770B"/>
          </a:solidFill>
          <a:ln>
            <a:noFill/>
          </a:ln>
          <a:effectLst/>
        </p:spPr>
        <p:txBody>
          <a:bodyPr rtlCol="0" anchor="ctr" wrap="square"/>
          <a:lstStyle/>
          <a:p>
            <a:pPr algn="ctr"/>
          </a:p>
        </p:txBody>
      </p:sp>
      <p:sp>
        <p:nvSpPr>
          <p:cNvPr id="23" name="TextBox 22"/>
          <p:cNvSpPr txBox="1"/>
          <p:nvPr/>
        </p:nvSpPr>
        <p:spPr>
          <a:xfrm>
            <a:off x="704088" y="3147821"/>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NGT</a:t>
            </a:r>
          </a:p>
        </p:txBody>
      </p:sp>
      <p:sp>
        <p:nvSpPr>
          <p:cNvPr id="24" name="TextBox 23"/>
          <p:cNvSpPr txBox="1"/>
          <p:nvPr/>
        </p:nvSpPr>
        <p:spPr>
          <a:xfrm>
            <a:off x="1691640" y="3138677"/>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Tiếp tục thử các ý tưởng mới và điều chỉnh cách làm khi cần.</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Khi hẹn giờ nhận kính, thêm câu mời: người thân hoặc bạn bè có bé cần kiểm soát cận thị thì cho đi cùng, khám giảm 50% và có ưu đãi cắt kính.</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Với khách được gửi kính, gửi quyền lợi sau khi kính đã gửi và nhắc khách xác nhận khi nhận được.</a:t>
            </a:r>
          </a:p>
        </p:txBody>
      </p:sp>
      <p:sp>
        <p:nvSpPr>
          <p:cNvPr id="25" name="Rectangle 24"/>
          <p:cNvSpPr/>
          <p:nvPr/>
        </p:nvSpPr>
        <p:spPr>
          <a:xfrm>
            <a:off x="502920" y="3808171"/>
            <a:ext cx="11183112" cy="472744"/>
          </a:xfrm>
          <a:prstGeom prst="rect">
            <a:avLst/>
          </a:prstGeom>
          <a:solidFill>
            <a:srgbClr val="F7FAF8"/>
          </a:solidFill>
          <a:ln w="9525">
            <a:solidFill>
              <a:srgbClr val="CFE6D8"/>
            </a:solidFill>
          </a:ln>
          <a:effectLst/>
        </p:spPr>
        <p:txBody>
          <a:bodyPr rtlCol="0" anchor="ctr" wrap="square"/>
          <a:lstStyle/>
          <a:p>
            <a:pPr algn="ctr"/>
          </a:p>
        </p:txBody>
      </p:sp>
      <p:sp>
        <p:nvSpPr>
          <p:cNvPr id="26" name="Rectangle 25"/>
          <p:cNvSpPr/>
          <p:nvPr/>
        </p:nvSpPr>
        <p:spPr>
          <a:xfrm>
            <a:off x="502920" y="3808171"/>
            <a:ext cx="54864" cy="472744"/>
          </a:xfrm>
          <a:prstGeom prst="rect">
            <a:avLst/>
          </a:prstGeom>
          <a:solidFill>
            <a:srgbClr val="2E9C4C"/>
          </a:solidFill>
          <a:ln>
            <a:noFill/>
          </a:ln>
          <a:effectLst/>
        </p:spPr>
        <p:txBody>
          <a:bodyPr rtlCol="0" anchor="ctr" wrap="square"/>
          <a:lstStyle/>
          <a:p>
            <a:pPr algn="ctr"/>
          </a:p>
        </p:txBody>
      </p:sp>
      <p:sp>
        <p:nvSpPr>
          <p:cNvPr id="27" name="TextBox 26"/>
          <p:cNvSpPr txBox="1"/>
          <p:nvPr/>
        </p:nvSpPr>
        <p:spPr>
          <a:xfrm>
            <a:off x="704088" y="3881323"/>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SH</a:t>
            </a:r>
          </a:p>
        </p:txBody>
      </p:sp>
      <p:sp>
        <p:nvSpPr>
          <p:cNvPr id="28" name="TextBox 27"/>
          <p:cNvSpPr txBox="1"/>
          <p:nvPr/>
        </p:nvSpPr>
        <p:spPr>
          <a:xfrm>
            <a:off x="1691640" y="3872179"/>
            <a:ext cx="9720072" cy="326440"/>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Chuyển mẫu câu giới thiệu sang gửi sau khi khách nhận kính, sau khi giải đáp thắc mắc, hoặc sau khi đã hẹn tái khám.</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Thêm tin nhắn chăm sóc CD3–5 sau khi đã gửi quyền lợi.</a:t>
            </a:r>
          </a:p>
        </p:txBody>
      </p:sp>
      <p:sp>
        <p:nvSpPr>
          <p:cNvPr id="29" name="Rectangle 28"/>
          <p:cNvSpPr/>
          <p:nvPr/>
        </p:nvSpPr>
        <p:spPr>
          <a:xfrm>
            <a:off x="502920" y="4362450"/>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30" name="Rectangle 29"/>
          <p:cNvSpPr/>
          <p:nvPr/>
        </p:nvSpPr>
        <p:spPr>
          <a:xfrm>
            <a:off x="502920" y="4362450"/>
            <a:ext cx="54864" cy="651967"/>
          </a:xfrm>
          <a:prstGeom prst="rect">
            <a:avLst/>
          </a:prstGeom>
          <a:solidFill>
            <a:srgbClr val="2E9C4C"/>
          </a:solidFill>
          <a:ln>
            <a:noFill/>
          </a:ln>
          <a:effectLst/>
        </p:spPr>
        <p:txBody>
          <a:bodyPr rtlCol="0" anchor="ctr" wrap="square"/>
          <a:lstStyle/>
          <a:p>
            <a:pPr algn="ctr"/>
          </a:p>
        </p:txBody>
      </p:sp>
      <p:sp>
        <p:nvSpPr>
          <p:cNvPr id="31" name="TextBox 30"/>
          <p:cNvSpPr txBox="1"/>
          <p:nvPr/>
        </p:nvSpPr>
        <p:spPr>
          <a:xfrm>
            <a:off x="704088" y="4435602"/>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CMTT</a:t>
            </a:r>
          </a:p>
        </p:txBody>
      </p:sp>
      <p:sp>
        <p:nvSpPr>
          <p:cNvPr id="32" name="TextBox 31"/>
          <p:cNvSpPr txBox="1"/>
          <p:nvPr/>
        </p:nvSpPr>
        <p:spPr>
          <a:xfrm>
            <a:off x="1691640" y="4426458"/>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Tiếp tục duy trì — quy trình ở đây là mẫu cho cả nhóm.</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Thêm số điện thoại vào ghi chú Zalo.</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Làm đúng SOP, có thắc mắc thì trao đổi với người phụ trách đào tạo.</a:t>
            </a:r>
          </a:p>
        </p:txBody>
      </p:sp>
      <p:sp>
        <p:nvSpPr>
          <p:cNvPr id="33" name="Rectangle 32"/>
          <p:cNvSpPr/>
          <p:nvPr/>
        </p:nvSpPr>
        <p:spPr>
          <a:xfrm>
            <a:off x="502920" y="5095951"/>
            <a:ext cx="11183112" cy="472744"/>
          </a:xfrm>
          <a:prstGeom prst="rect">
            <a:avLst/>
          </a:prstGeom>
          <a:solidFill>
            <a:srgbClr val="F7FAF8"/>
          </a:solidFill>
          <a:ln w="9525">
            <a:solidFill>
              <a:srgbClr val="CFE6D8"/>
            </a:solidFill>
          </a:ln>
          <a:effectLst/>
        </p:spPr>
        <p:txBody>
          <a:bodyPr rtlCol="0" anchor="ctr" wrap="square"/>
          <a:lstStyle/>
          <a:p>
            <a:pPr algn="ctr"/>
          </a:p>
        </p:txBody>
      </p:sp>
      <p:sp>
        <p:nvSpPr>
          <p:cNvPr id="34" name="Rectangle 33"/>
          <p:cNvSpPr/>
          <p:nvPr/>
        </p:nvSpPr>
        <p:spPr>
          <a:xfrm>
            <a:off x="502920" y="5095951"/>
            <a:ext cx="54864" cy="472744"/>
          </a:xfrm>
          <a:prstGeom prst="rect">
            <a:avLst/>
          </a:prstGeom>
          <a:solidFill>
            <a:srgbClr val="2E9C4C"/>
          </a:solidFill>
          <a:ln>
            <a:noFill/>
          </a:ln>
          <a:effectLst/>
        </p:spPr>
        <p:txBody>
          <a:bodyPr rtlCol="0" anchor="ctr" wrap="square"/>
          <a:lstStyle/>
          <a:p>
            <a:pPr algn="ctr"/>
          </a:p>
        </p:txBody>
      </p:sp>
      <p:sp>
        <p:nvSpPr>
          <p:cNvPr id="35" name="TextBox 34"/>
          <p:cNvSpPr txBox="1"/>
          <p:nvPr/>
        </p:nvSpPr>
        <p:spPr>
          <a:xfrm>
            <a:off x="704088" y="5169103"/>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LA</a:t>
            </a:r>
          </a:p>
        </p:txBody>
      </p:sp>
      <p:sp>
        <p:nvSpPr>
          <p:cNvPr id="36" name="TextBox 35"/>
          <p:cNvSpPr txBox="1"/>
          <p:nvPr/>
        </p:nvSpPr>
        <p:spPr>
          <a:xfrm>
            <a:off x="1691640" y="5159959"/>
            <a:ext cx="9720072" cy="326440"/>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Mở rộng chăm sóc đến tất cả hội viên đã nhận kính, không chỉ những khách hay trả lời.</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Dùng mẫu câu giới thiệu với những khách đã tin tưởng hoặc đã hài lòng.</a:t>
            </a:r>
          </a:p>
        </p:txBody>
      </p:sp>
      <p:sp>
        <p:nvSpPr>
          <p:cNvPr id="37" name="Rectangle 36"/>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38" name="Rectangle 37"/>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Giữ đúng trình tự: quyền lợi trước, rồi tin nhắn chăm sóc, sau đó mới đề nghị giới thiệu.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