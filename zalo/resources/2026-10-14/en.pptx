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31633D"/>
          </a:solidFill>
          <a:ln>
            <a:noFill/>
          </a:ln>
          <a:effectLst/>
        </p:spPr>
        <p:txBody>
          <a:bodyPr rtlCol="0" anchor="ctr" wrap="square"/>
          <a:lstStyle/>
          <a:p>
            <a:pPr algn="ctr"/>
          </a:p>
        </p:txBody>
      </p:sp>
      <p:sp>
        <p:nvSpPr>
          <p:cNvPr id="3" name="Rectangle 2"/>
          <p:cNvSpPr/>
          <p:nvPr/>
        </p:nvSpPr>
        <p:spPr>
          <a:xfrm>
            <a:off x="0" y="0"/>
            <a:ext cx="12191969" cy="146304"/>
          </a:xfrm>
          <a:prstGeom prst="rect">
            <a:avLst/>
          </a:prstGeom>
          <a:solidFill>
            <a:srgbClr val="2E9C4C"/>
          </a:solidFill>
          <a:ln>
            <a:noFill/>
          </a:ln>
          <a:effectLst/>
        </p:spPr>
        <p:txBody>
          <a:bodyPr rtlCol="0" anchor="ctr" wrap="square"/>
          <a:lstStyle/>
          <a:p>
            <a:pPr algn="ctr"/>
          </a:p>
        </p:txBody>
      </p:sp>
      <p:sp>
        <p:nvSpPr>
          <p:cNvPr id="4" name="Rectangle 3"/>
          <p:cNvSpPr/>
          <p:nvPr/>
        </p:nvSpPr>
        <p:spPr>
          <a:xfrm>
            <a:off x="0" y="5989320"/>
            <a:ext cx="12191969" cy="868680"/>
          </a:xfrm>
          <a:prstGeom prst="rect">
            <a:avLst/>
          </a:prstGeom>
          <a:solidFill>
            <a:srgbClr val="275132"/>
          </a:solidFill>
          <a:ln>
            <a:noFill/>
          </a:ln>
          <a:effectLst/>
        </p:spPr>
        <p:txBody>
          <a:bodyPr rtlCol="0" anchor="ctr" wrap="square"/>
          <a:lstStyle/>
          <a:p>
            <a:pPr algn="ctr"/>
          </a:p>
        </p:txBody>
      </p:sp>
      <p:sp>
        <p:nvSpPr>
          <p:cNvPr id="5" name="TextBox 4"/>
          <p:cNvSpPr txBox="1"/>
          <p:nvPr/>
        </p:nvSpPr>
        <p:spPr>
          <a:xfrm>
            <a:off x="566928" y="2048256"/>
            <a:ext cx="10424160" cy="228600"/>
          </a:xfrm>
          <a:prstGeom prst="rect">
            <a:avLst/>
          </a:prstGeom>
          <a:noFill/>
        </p:spPr>
        <p:txBody>
          <a:bodyPr wrap="square" anchor="t" lIns="0" rIns="0" tIns="0" bIns="0">
            <a:spAutoFit/>
          </a:bodyPr>
          <a:lstStyle/>
          <a:p>
            <a:pPr algn="l">
              <a:lnSpc>
                <a:spcPct val="95000"/>
              </a:lnSpc>
              <a:spcBef>
                <a:spcPts val="0"/>
              </a:spcBef>
              <a:spcAft>
                <a:spcPts val="0"/>
              </a:spcAft>
            </a:pPr>
            <a:r>
              <a:rPr sz="1200" b="1">
                <a:solidFill>
                  <a:srgbClr val="CFE6D8"/>
                </a:solidFill>
                <a:latin typeface="Arial"/>
              </a:rPr>
              <a:t>October 2026</a:t>
            </a:r>
          </a:p>
        </p:txBody>
      </p:sp>
      <p:sp>
        <p:nvSpPr>
          <p:cNvPr id="6" name="TextBox 5"/>
          <p:cNvSpPr txBox="1"/>
          <p:nvPr/>
        </p:nvSpPr>
        <p:spPr>
          <a:xfrm>
            <a:off x="566928" y="2395728"/>
            <a:ext cx="10607040" cy="731520"/>
          </a:xfrm>
          <a:prstGeom prst="rect">
            <a:avLst/>
          </a:prstGeom>
          <a:noFill/>
        </p:spPr>
        <p:txBody>
          <a:bodyPr wrap="square" anchor="t" lIns="0" rIns="0" tIns="0" bIns="0">
            <a:spAutoFit/>
          </a:bodyPr>
          <a:lstStyle/>
          <a:p>
            <a:pPr algn="l">
              <a:lnSpc>
                <a:spcPct val="95000"/>
              </a:lnSpc>
              <a:spcBef>
                <a:spcPts val="0"/>
              </a:spcBef>
              <a:spcAft>
                <a:spcPts val="0"/>
              </a:spcAft>
            </a:pPr>
            <a:r>
              <a:rPr sz="4000" b="1">
                <a:solidFill>
                  <a:srgbClr val="CFE6D8"/>
                </a:solidFill>
                <a:latin typeface="Arial"/>
              </a:rPr>
              <a:t>Optometry DA Training</a:t>
            </a:r>
          </a:p>
        </p:txBody>
      </p:sp>
      <p:sp>
        <p:nvSpPr>
          <p:cNvPr id="7" name="Rectangle 6"/>
          <p:cNvSpPr/>
          <p:nvPr/>
        </p:nvSpPr>
        <p:spPr>
          <a:xfrm>
            <a:off x="566928" y="4078224"/>
            <a:ext cx="1920240" cy="45720"/>
          </a:xfrm>
          <a:prstGeom prst="rect">
            <a:avLst/>
          </a:prstGeom>
          <a:solidFill>
            <a:srgbClr val="2E9C4C"/>
          </a:solidFill>
          <a:ln>
            <a:noFill/>
          </a:ln>
          <a:effectLst/>
        </p:spPr>
        <p:txBody>
          <a:bodyPr rtlCol="0" anchor="ctr" wrap="square"/>
          <a:lstStyle/>
          <a:p>
            <a:pPr algn="ctr"/>
          </a:p>
        </p:txBody>
      </p:sp>
      <p:sp>
        <p:nvSpPr>
          <p:cNvPr id="8" name="TextBox 7"/>
          <p:cNvSpPr txBox="1"/>
          <p:nvPr/>
        </p:nvSpPr>
        <p:spPr>
          <a:xfrm>
            <a:off x="566928" y="4297680"/>
            <a:ext cx="9601200" cy="228600"/>
          </a:xfrm>
          <a:prstGeom prst="rect">
            <a:avLst/>
          </a:prstGeom>
          <a:noFill/>
        </p:spPr>
        <p:txBody>
          <a:bodyPr wrap="square" anchor="t" lIns="0" rIns="0" tIns="0" bIns="0">
            <a:spAutoFit/>
          </a:bodyPr>
          <a:lstStyle/>
          <a:p>
            <a:pPr algn="l">
              <a:lnSpc>
                <a:spcPct val="95000"/>
              </a:lnSpc>
              <a:spcBef>
                <a:spcPts val="0"/>
              </a:spcBef>
              <a:spcAft>
                <a:spcPts val="0"/>
              </a:spcAft>
            </a:pPr>
            <a:r>
              <a:rPr sz="1200" b="1">
                <a:solidFill>
                  <a:srgbClr val="CFE6D8"/>
                </a:solidFill>
                <a:latin typeface="Arial"/>
              </a:rPr>
              <a:t>CTE D5   ·   CTE D7   ·   NGT   ·   SH   ·   CMTT   ·   LA</a:t>
            </a:r>
          </a:p>
        </p:txBody>
      </p:sp>
      <p:sp>
        <p:nvSpPr>
          <p:cNvPr id="9" name="TextBox 8"/>
          <p:cNvSpPr txBox="1"/>
          <p:nvPr/>
        </p:nvSpPr>
        <p:spPr>
          <a:xfrm>
            <a:off x="566928" y="6217920"/>
            <a:ext cx="10058400" cy="274320"/>
          </a:xfrm>
          <a:prstGeom prst="rect">
            <a:avLst/>
          </a:prstGeom>
          <a:noFill/>
        </p:spPr>
        <p:txBody>
          <a:bodyPr wrap="square" anchor="t" lIns="0" rIns="0" tIns="0" bIns="0">
            <a:spAutoFit/>
          </a:bodyPr>
          <a:lstStyle/>
          <a:p>
            <a:pPr algn="l">
              <a:lnSpc>
                <a:spcPct val="95000"/>
              </a:lnSpc>
              <a:spcBef>
                <a:spcPts val="0"/>
              </a:spcBef>
              <a:spcAft>
                <a:spcPts val="0"/>
              </a:spcAft>
            </a:pPr>
            <a:r>
              <a:rPr sz="950" b="0">
                <a:solidFill>
                  <a:srgbClr val="CFE6D8"/>
                </a:solidFill>
                <a:latin typeface="Arial"/>
              </a:rPr>
              <a:t>For DA training and review  ·  Content from the CZ Zalo review  ·  Internal use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1. ALL CLINICS  |  COMMON TO EVERY CLINIC</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CD3–5, CD7, CD14 and CD30 are still mostly not completed</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CZ's one point against every clinic. The wording already exists in your own chats — let’s make sure we reach out to all members</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2</a:t>
            </a:r>
          </a:p>
        </p:txBody>
      </p:sp>
      <p:sp>
        <p:nvSpPr>
          <p:cNvPr id="9" name="Rectangle 8"/>
          <p:cNvSpPr/>
          <p:nvPr/>
        </p:nvSpPr>
        <p:spPr>
          <a:xfrm>
            <a:off x="502920"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682496"/>
            <a:ext cx="2651760" cy="54864"/>
          </a:xfrm>
          <a:prstGeom prst="rect">
            <a:avLst/>
          </a:prstGeom>
          <a:solidFill>
            <a:srgbClr val="2E9C4C"/>
          </a:solidFill>
          <a:ln>
            <a:noFill/>
          </a:ln>
          <a:effectLst/>
        </p:spPr>
        <p:txBody>
          <a:bodyPr rtlCol="0" anchor="ctr" wrap="square"/>
          <a:lstStyle/>
          <a:p>
            <a:pPr algn="ctr"/>
          </a:p>
        </p:txBody>
      </p:sp>
      <p:sp>
        <p:nvSpPr>
          <p:cNvPr id="11" name="Rectangle 10"/>
          <p:cNvSpPr/>
          <p:nvPr/>
        </p:nvSpPr>
        <p:spPr>
          <a:xfrm>
            <a:off x="667512"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CD3–5</a:t>
            </a:r>
          </a:p>
        </p:txBody>
      </p:sp>
      <p:sp>
        <p:nvSpPr>
          <p:cNvPr id="12" name="TextBox 11"/>
          <p:cNvSpPr txBox="1"/>
          <p:nvPr/>
        </p:nvSpPr>
        <p:spPr>
          <a:xfrm>
            <a:off x="667512"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Check in after collection</a:t>
            </a:r>
          </a:p>
        </p:txBody>
      </p:sp>
      <p:sp>
        <p:nvSpPr>
          <p:cNvPr id="13" name="TextBox 12"/>
          <p:cNvSpPr txBox="1"/>
          <p:nvPr/>
        </p:nvSpPr>
        <p:spPr>
          <a:xfrm>
            <a:off x="667512"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Ask how the first few days have gone, and whether anything is uncomfortable.</a:t>
            </a:r>
          </a:p>
        </p:txBody>
      </p:sp>
      <p:sp>
        <p:nvSpPr>
          <p:cNvPr id="14" name="Rectangle 13"/>
          <p:cNvSpPr/>
          <p:nvPr/>
        </p:nvSpPr>
        <p:spPr>
          <a:xfrm>
            <a:off x="667512" y="3328416"/>
            <a:ext cx="2322576" cy="7315"/>
          </a:xfrm>
          <a:prstGeom prst="rect">
            <a:avLst/>
          </a:prstGeom>
          <a:solidFill>
            <a:srgbClr val="CFE6D8"/>
          </a:solidFill>
          <a:ln>
            <a:noFill/>
          </a:ln>
          <a:effectLst/>
        </p:spPr>
        <p:txBody>
          <a:bodyPr rtlCol="0" anchor="ctr" wrap="square"/>
          <a:lstStyle/>
          <a:p>
            <a:pPr algn="ctr"/>
          </a:p>
        </p:txBody>
      </p:sp>
      <p:sp>
        <p:nvSpPr>
          <p:cNvPr id="15" name="TextBox 14"/>
          <p:cNvSpPr txBox="1"/>
          <p:nvPr/>
        </p:nvSpPr>
        <p:spPr>
          <a:xfrm>
            <a:off x="667512"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Reference Script</a:t>
            </a:r>
          </a:p>
        </p:txBody>
      </p:sp>
      <p:sp>
        <p:nvSpPr>
          <p:cNvPr id="16" name="Rectangle 15"/>
          <p:cNvSpPr/>
          <p:nvPr/>
        </p:nvSpPr>
        <p:spPr>
          <a:xfrm>
            <a:off x="667512"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“Over the past few days, has the child been seeing clearly and comfortably — and has he got used to the new glasses?”</a:t>
            </a:r>
          </a:p>
        </p:txBody>
      </p:sp>
      <p:sp>
        <p:nvSpPr>
          <p:cNvPr id="17" name="TextBox 16"/>
          <p:cNvSpPr txBox="1"/>
          <p:nvPr/>
        </p:nvSpPr>
        <p:spPr>
          <a:xfrm>
            <a:off x="667512"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Already in use: CMTT, MCY 261006 (9 Oct)</a:t>
            </a:r>
          </a:p>
        </p:txBody>
      </p:sp>
      <p:sp>
        <p:nvSpPr>
          <p:cNvPr id="18" name="Rectangle 17"/>
          <p:cNvSpPr/>
          <p:nvPr/>
        </p:nvSpPr>
        <p:spPr>
          <a:xfrm>
            <a:off x="3346704"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3346704" y="1682496"/>
            <a:ext cx="2651760" cy="54864"/>
          </a:xfrm>
          <a:prstGeom prst="rect">
            <a:avLst/>
          </a:prstGeom>
          <a:solidFill>
            <a:srgbClr val="2E9C4C"/>
          </a:solidFill>
          <a:ln>
            <a:noFill/>
          </a:ln>
          <a:effectLst/>
        </p:spPr>
        <p:txBody>
          <a:bodyPr rtlCol="0" anchor="ctr" wrap="square"/>
          <a:lstStyle/>
          <a:p>
            <a:pPr algn="ctr"/>
          </a:p>
        </p:txBody>
      </p:sp>
      <p:sp>
        <p:nvSpPr>
          <p:cNvPr id="20" name="Rectangle 19"/>
          <p:cNvSpPr/>
          <p:nvPr/>
        </p:nvSpPr>
        <p:spPr>
          <a:xfrm>
            <a:off x="3511296"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CD7</a:t>
            </a:r>
          </a:p>
        </p:txBody>
      </p:sp>
      <p:sp>
        <p:nvSpPr>
          <p:cNvPr id="21" name="TextBox 20"/>
          <p:cNvSpPr txBox="1"/>
          <p:nvPr/>
        </p:nvSpPr>
        <p:spPr>
          <a:xfrm>
            <a:off x="3511296"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Glasses-use education</a:t>
            </a:r>
          </a:p>
        </p:txBody>
      </p:sp>
      <p:sp>
        <p:nvSpPr>
          <p:cNvPr id="22" name="TextBox 21"/>
          <p:cNvSpPr txBox="1"/>
          <p:nvPr/>
        </p:nvSpPr>
        <p:spPr>
          <a:xfrm>
            <a:off x="3511296"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Teach the parent how the glasses are worn and looked after, before a bad habit forms.</a:t>
            </a:r>
          </a:p>
        </p:txBody>
      </p:sp>
      <p:sp>
        <p:nvSpPr>
          <p:cNvPr id="23" name="Rectangle 22"/>
          <p:cNvSpPr/>
          <p:nvPr/>
        </p:nvSpPr>
        <p:spPr>
          <a:xfrm>
            <a:off x="3511296" y="3328416"/>
            <a:ext cx="2322576" cy="7315"/>
          </a:xfrm>
          <a:prstGeom prst="rect">
            <a:avLst/>
          </a:prstGeom>
          <a:solidFill>
            <a:srgbClr val="CFE6D8"/>
          </a:solidFill>
          <a:ln>
            <a:noFill/>
          </a:ln>
          <a:effectLst/>
        </p:spPr>
        <p:txBody>
          <a:bodyPr rtlCol="0" anchor="ctr" wrap="square"/>
          <a:lstStyle/>
          <a:p>
            <a:pPr algn="ctr"/>
          </a:p>
        </p:txBody>
      </p:sp>
      <p:sp>
        <p:nvSpPr>
          <p:cNvPr id="24" name="TextBox 23"/>
          <p:cNvSpPr txBox="1"/>
          <p:nvPr/>
        </p:nvSpPr>
        <p:spPr>
          <a:xfrm>
            <a:off x="3511296"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Reference Script</a:t>
            </a:r>
          </a:p>
        </p:txBody>
      </p:sp>
      <p:sp>
        <p:nvSpPr>
          <p:cNvPr id="25" name="Rectangle 24"/>
          <p:cNvSpPr/>
          <p:nvPr/>
        </p:nvSpPr>
        <p:spPr>
          <a:xfrm>
            <a:off x="3511296"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“Wear them continuously, except when sleeping or bathing.”  /  “Clean the lenses with the cloth provided — avoid clothing, which scratches them.”</a:t>
            </a:r>
          </a:p>
        </p:txBody>
      </p:sp>
      <p:sp>
        <p:nvSpPr>
          <p:cNvPr id="26" name="TextBox 25"/>
          <p:cNvSpPr txBox="1"/>
          <p:nvPr/>
        </p:nvSpPr>
        <p:spPr>
          <a:xfrm>
            <a:off x="3511296"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Already in use: CMTT, KTY 261013  ·  NGT, MCY 260825</a:t>
            </a:r>
          </a:p>
        </p:txBody>
      </p:sp>
      <p:sp>
        <p:nvSpPr>
          <p:cNvPr id="27" name="Rectangle 26"/>
          <p:cNvSpPr/>
          <p:nvPr/>
        </p:nvSpPr>
        <p:spPr>
          <a:xfrm>
            <a:off x="6190488"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28" name="Rectangle 27"/>
          <p:cNvSpPr/>
          <p:nvPr/>
        </p:nvSpPr>
        <p:spPr>
          <a:xfrm>
            <a:off x="6190488" y="1682496"/>
            <a:ext cx="2651760" cy="54864"/>
          </a:xfrm>
          <a:prstGeom prst="rect">
            <a:avLst/>
          </a:prstGeom>
          <a:solidFill>
            <a:srgbClr val="2E9C4C"/>
          </a:solidFill>
          <a:ln>
            <a:noFill/>
          </a:ln>
          <a:effectLst/>
        </p:spPr>
        <p:txBody>
          <a:bodyPr rtlCol="0" anchor="ctr" wrap="square"/>
          <a:lstStyle/>
          <a:p>
            <a:pPr algn="ctr"/>
          </a:p>
        </p:txBody>
      </p:sp>
      <p:sp>
        <p:nvSpPr>
          <p:cNvPr id="29" name="Rectangle 28"/>
          <p:cNvSpPr/>
          <p:nvPr/>
        </p:nvSpPr>
        <p:spPr>
          <a:xfrm>
            <a:off x="6355079"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CD14</a:t>
            </a:r>
          </a:p>
        </p:txBody>
      </p:sp>
      <p:sp>
        <p:nvSpPr>
          <p:cNvPr id="30" name="TextBox 29"/>
          <p:cNvSpPr txBox="1"/>
          <p:nvPr/>
        </p:nvSpPr>
        <p:spPr>
          <a:xfrm>
            <a:off x="6355079"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Has the child adapted</a:t>
            </a:r>
          </a:p>
        </p:txBody>
      </p:sp>
      <p:sp>
        <p:nvSpPr>
          <p:cNvPr id="31" name="TextBox 30"/>
          <p:cNvSpPr txBox="1"/>
          <p:nvPr/>
        </p:nvSpPr>
        <p:spPr>
          <a:xfrm>
            <a:off x="6355079"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Check the child has settled into the glasses and nothing is bothering them.</a:t>
            </a:r>
          </a:p>
        </p:txBody>
      </p:sp>
      <p:sp>
        <p:nvSpPr>
          <p:cNvPr id="32" name="Rectangle 31"/>
          <p:cNvSpPr/>
          <p:nvPr/>
        </p:nvSpPr>
        <p:spPr>
          <a:xfrm>
            <a:off x="6355079" y="3328416"/>
            <a:ext cx="2322576" cy="7315"/>
          </a:xfrm>
          <a:prstGeom prst="rect">
            <a:avLst/>
          </a:prstGeom>
          <a:solidFill>
            <a:srgbClr val="CFE6D8"/>
          </a:solidFill>
          <a:ln>
            <a:noFill/>
          </a:ln>
          <a:effectLst/>
        </p:spPr>
        <p:txBody>
          <a:bodyPr rtlCol="0" anchor="ctr" wrap="square"/>
          <a:lstStyle/>
          <a:p>
            <a:pPr algn="ctr"/>
          </a:p>
        </p:txBody>
      </p:sp>
      <p:sp>
        <p:nvSpPr>
          <p:cNvPr id="33" name="TextBox 32"/>
          <p:cNvSpPr txBox="1"/>
          <p:nvPr/>
        </p:nvSpPr>
        <p:spPr>
          <a:xfrm>
            <a:off x="6355079"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Reference Script</a:t>
            </a:r>
          </a:p>
        </p:txBody>
      </p:sp>
      <p:sp>
        <p:nvSpPr>
          <p:cNvPr id="34" name="Rectangle 33"/>
          <p:cNvSpPr/>
          <p:nvPr/>
        </p:nvSpPr>
        <p:spPr>
          <a:xfrm>
            <a:off x="6355079"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No wording found at this touchpoint in the chats reviewed — the CD3–5 wording works here too.</a:t>
            </a:r>
          </a:p>
        </p:txBody>
      </p:sp>
      <p:sp>
        <p:nvSpPr>
          <p:cNvPr id="35" name="TextBox 34"/>
          <p:cNvSpPr txBox="1"/>
          <p:nvPr/>
        </p:nvSpPr>
        <p:spPr>
          <a:xfrm>
            <a:off x="6355079"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This is the touchpoint missed most often.</a:t>
            </a:r>
          </a:p>
        </p:txBody>
      </p:sp>
      <p:sp>
        <p:nvSpPr>
          <p:cNvPr id="36" name="Rectangle 35"/>
          <p:cNvSpPr/>
          <p:nvPr/>
        </p:nvSpPr>
        <p:spPr>
          <a:xfrm>
            <a:off x="9034272" y="1682496"/>
            <a:ext cx="2651760" cy="3017520"/>
          </a:xfrm>
          <a:prstGeom prst="rect">
            <a:avLst/>
          </a:prstGeom>
          <a:solidFill>
            <a:srgbClr val="F7FAF8"/>
          </a:solidFill>
          <a:ln w="9525">
            <a:solidFill>
              <a:srgbClr val="CFE6D8"/>
            </a:solidFill>
          </a:ln>
          <a:effectLst/>
        </p:spPr>
        <p:txBody>
          <a:bodyPr rtlCol="0" anchor="ctr" wrap="square"/>
          <a:lstStyle/>
          <a:p>
            <a:pPr algn="ctr"/>
          </a:p>
        </p:txBody>
      </p:sp>
      <p:sp>
        <p:nvSpPr>
          <p:cNvPr id="37" name="Rectangle 36"/>
          <p:cNvSpPr/>
          <p:nvPr/>
        </p:nvSpPr>
        <p:spPr>
          <a:xfrm>
            <a:off x="9034272" y="1682496"/>
            <a:ext cx="2651760" cy="54864"/>
          </a:xfrm>
          <a:prstGeom prst="rect">
            <a:avLst/>
          </a:prstGeom>
          <a:solidFill>
            <a:srgbClr val="2E9C4C"/>
          </a:solidFill>
          <a:ln>
            <a:noFill/>
          </a:ln>
          <a:effectLst/>
        </p:spPr>
        <p:txBody>
          <a:bodyPr rtlCol="0" anchor="ctr" wrap="square"/>
          <a:lstStyle/>
          <a:p>
            <a:pPr algn="ctr"/>
          </a:p>
        </p:txBody>
      </p:sp>
      <p:sp>
        <p:nvSpPr>
          <p:cNvPr id="38" name="Rectangle 37"/>
          <p:cNvSpPr/>
          <p:nvPr/>
        </p:nvSpPr>
        <p:spPr>
          <a:xfrm>
            <a:off x="9198864" y="1901952"/>
            <a:ext cx="1170432" cy="256032"/>
          </a:xfrm>
          <a:prstGeom prst="rect">
            <a:avLst/>
          </a:prstGeom>
          <a:solidFill>
            <a:srgbClr val="2E9C4C"/>
          </a:solidFill>
          <a:ln>
            <a:noFill/>
          </a:ln>
          <a:effectLst/>
        </p:spPr>
        <p:txBody>
          <a:bodyPr rtlCol="0" anchor="ctr" wrap="square" lIns="36576" tIns="27432" bIns="27432"/>
          <a:lstStyle/>
          <a:p>
            <a:pPr algn="ctr">
              <a:lnSpc>
                <a:spcPct val="95000"/>
              </a:lnSpc>
              <a:spcBef>
                <a:spcPts val="0"/>
              </a:spcBef>
              <a:spcAft>
                <a:spcPts val="0"/>
              </a:spcAft>
            </a:pPr>
            <a:r>
              <a:rPr sz="1000" b="1">
                <a:solidFill>
                  <a:srgbClr val="FFFFFF"/>
                </a:solidFill>
                <a:latin typeface="Arial"/>
              </a:rPr>
              <a:t>CD30</a:t>
            </a:r>
          </a:p>
        </p:txBody>
      </p:sp>
      <p:sp>
        <p:nvSpPr>
          <p:cNvPr id="39" name="TextBox 38"/>
          <p:cNvSpPr txBox="1"/>
          <p:nvPr/>
        </p:nvSpPr>
        <p:spPr>
          <a:xfrm>
            <a:off x="9198864" y="2249424"/>
            <a:ext cx="2322576" cy="457200"/>
          </a:xfrm>
          <a:prstGeom prst="rect">
            <a:avLst/>
          </a:prstGeom>
          <a:noFill/>
        </p:spPr>
        <p:txBody>
          <a:bodyPr wrap="square" anchor="t" lIns="0" rIns="0" tIns="0" bIns="0">
            <a:spAutoFit/>
          </a:bodyPr>
          <a:lstStyle/>
          <a:p>
            <a:pPr algn="l">
              <a:lnSpc>
                <a:spcPct val="100000"/>
              </a:lnSpc>
              <a:spcBef>
                <a:spcPts val="0"/>
              </a:spcBef>
              <a:spcAft>
                <a:spcPts val="0"/>
              </a:spcAft>
            </a:pPr>
            <a:r>
              <a:rPr sz="1200" b="1">
                <a:solidFill>
                  <a:srgbClr val="31633D"/>
                </a:solidFill>
                <a:latin typeface="Arial"/>
              </a:rPr>
              <a:t>Ask about the child's vision</a:t>
            </a:r>
          </a:p>
        </p:txBody>
      </p:sp>
      <p:sp>
        <p:nvSpPr>
          <p:cNvPr id="40" name="TextBox 39"/>
          <p:cNvSpPr txBox="1"/>
          <p:nvPr/>
        </p:nvSpPr>
        <p:spPr>
          <a:xfrm>
            <a:off x="9198864" y="2706624"/>
            <a:ext cx="2322576" cy="603504"/>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Move from comfort to result: what the child can actually see, at school and at home.</a:t>
            </a:r>
          </a:p>
        </p:txBody>
      </p:sp>
      <p:sp>
        <p:nvSpPr>
          <p:cNvPr id="41" name="Rectangle 40"/>
          <p:cNvSpPr/>
          <p:nvPr/>
        </p:nvSpPr>
        <p:spPr>
          <a:xfrm>
            <a:off x="9198864" y="3328416"/>
            <a:ext cx="2322576" cy="7315"/>
          </a:xfrm>
          <a:prstGeom prst="rect">
            <a:avLst/>
          </a:prstGeom>
          <a:solidFill>
            <a:srgbClr val="CFE6D8"/>
          </a:solidFill>
          <a:ln>
            <a:noFill/>
          </a:ln>
          <a:effectLst/>
        </p:spPr>
        <p:txBody>
          <a:bodyPr rtlCol="0" anchor="ctr" wrap="square"/>
          <a:lstStyle/>
          <a:p>
            <a:pPr algn="ctr"/>
          </a:p>
        </p:txBody>
      </p:sp>
      <p:sp>
        <p:nvSpPr>
          <p:cNvPr id="42" name="TextBox 41"/>
          <p:cNvSpPr txBox="1"/>
          <p:nvPr/>
        </p:nvSpPr>
        <p:spPr>
          <a:xfrm>
            <a:off x="9198864" y="341985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00" b="1">
                <a:solidFill>
                  <a:srgbClr val="2E9C4C"/>
                </a:solidFill>
                <a:latin typeface="Arial"/>
              </a:rPr>
              <a:t>Reference Script</a:t>
            </a:r>
          </a:p>
        </p:txBody>
      </p:sp>
      <p:sp>
        <p:nvSpPr>
          <p:cNvPr id="43" name="Rectangle 42"/>
          <p:cNvSpPr/>
          <p:nvPr/>
        </p:nvSpPr>
        <p:spPr>
          <a:xfrm>
            <a:off x="9198864" y="3621024"/>
            <a:ext cx="2322576" cy="768096"/>
          </a:xfrm>
          <a:prstGeom prst="rect">
            <a:avLst/>
          </a:prstGeom>
          <a:solidFill>
            <a:srgbClr val="EBF4EF"/>
          </a:solidFill>
          <a:ln>
            <a:noFill/>
          </a:ln>
          <a:effectLst/>
        </p:spPr>
        <p:txBody>
          <a:bodyPr rtlCol="0" anchor="t" wrap="square" lIns="109728" tIns="27432" bIns="27432"/>
          <a:lstStyle/>
          <a:p>
            <a:pPr algn="l">
              <a:lnSpc>
                <a:spcPct val="105000"/>
              </a:lnSpc>
              <a:spcBef>
                <a:spcPts val="0"/>
              </a:spcBef>
              <a:spcAft>
                <a:spcPts val="0"/>
              </a:spcAft>
            </a:pPr>
            <a:r>
              <a:rPr sz="850" b="1">
                <a:solidFill>
                  <a:srgbClr val="31633D"/>
                </a:solidFill>
                <a:latin typeface="Arial"/>
              </a:rPr>
              <a:t>“He’s back at school now — when studying, looking at the board or playing, can he see clearly and comfortably?”</a:t>
            </a:r>
          </a:p>
        </p:txBody>
      </p:sp>
      <p:sp>
        <p:nvSpPr>
          <p:cNvPr id="44" name="TextBox 43"/>
          <p:cNvSpPr txBox="1"/>
          <p:nvPr/>
        </p:nvSpPr>
        <p:spPr>
          <a:xfrm>
            <a:off x="9198864" y="4425696"/>
            <a:ext cx="2322576" cy="182880"/>
          </a:xfrm>
          <a:prstGeom prst="rect">
            <a:avLst/>
          </a:prstGeom>
          <a:noFill/>
        </p:spPr>
        <p:txBody>
          <a:bodyPr wrap="square" anchor="t" lIns="0" rIns="0" tIns="0" bIns="0">
            <a:spAutoFit/>
          </a:bodyPr>
          <a:lstStyle/>
          <a:p>
            <a:pPr algn="l">
              <a:lnSpc>
                <a:spcPct val="95000"/>
              </a:lnSpc>
              <a:spcBef>
                <a:spcPts val="0"/>
              </a:spcBef>
              <a:spcAft>
                <a:spcPts val="0"/>
              </a:spcAft>
            </a:pPr>
            <a:r>
              <a:rPr sz="750" b="0">
                <a:solidFill>
                  <a:srgbClr val="5C6B62"/>
                </a:solidFill>
                <a:latin typeface="Arial"/>
              </a:rPr>
              <a:t>Already in use: NGT, MCY 260825 (24 Sept)</a:t>
            </a:r>
          </a:p>
        </p:txBody>
      </p:sp>
      <p:sp>
        <p:nvSpPr>
          <p:cNvPr id="45" name="Rectangle 44"/>
          <p:cNvSpPr/>
          <p:nvPr/>
        </p:nvSpPr>
        <p:spPr>
          <a:xfrm>
            <a:off x="502920" y="5084064"/>
            <a:ext cx="64008" cy="420624"/>
          </a:xfrm>
          <a:prstGeom prst="rect">
            <a:avLst/>
          </a:prstGeom>
          <a:solidFill>
            <a:srgbClr val="B9770B"/>
          </a:solidFill>
          <a:ln>
            <a:noFill/>
          </a:ln>
          <a:effectLst/>
        </p:spPr>
        <p:txBody>
          <a:bodyPr rtlCol="0" anchor="ctr" wrap="square"/>
          <a:lstStyle/>
          <a:p>
            <a:pPr algn="ctr"/>
          </a:p>
        </p:txBody>
      </p:sp>
      <p:sp>
        <p:nvSpPr>
          <p:cNvPr id="46" name="Rectangle 45"/>
          <p:cNvSpPr/>
          <p:nvPr/>
        </p:nvSpPr>
        <p:spPr>
          <a:xfrm>
            <a:off x="566928" y="5084064"/>
            <a:ext cx="11119104" cy="420624"/>
          </a:xfrm>
          <a:prstGeom prst="rect">
            <a:avLst/>
          </a:prstGeom>
          <a:solidFill>
            <a:srgbClr val="FDF6E3"/>
          </a:solidFill>
          <a:ln>
            <a:noFill/>
          </a:ln>
          <a:effectLst/>
        </p:spPr>
        <p:txBody>
          <a:bodyPr rtlCol="0" anchor="ctr" wrap="square" lIns="164592" tIns="27432" bIns="27432"/>
          <a:lstStyle/>
          <a:p>
            <a:pPr algn="l">
              <a:lnSpc>
                <a:spcPct val="95000"/>
              </a:lnSpc>
              <a:spcBef>
                <a:spcPts val="0"/>
              </a:spcBef>
              <a:spcAft>
                <a:spcPts val="0"/>
              </a:spcAft>
            </a:pPr>
            <a:r>
              <a:rPr sz="950" b="1">
                <a:solidFill>
                  <a:srgbClr val="31633D"/>
                </a:solidFill>
                <a:latin typeface="Arial"/>
              </a:rPr>
              <a:t>We can consider adding these reference scripts to template to reduce Zalo workload</a:t>
            </a:r>
          </a:p>
        </p:txBody>
      </p:sp>
      <p:sp>
        <p:nvSpPr>
          <p:cNvPr id="47" name="Rectangle 46"/>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48" name="Rectangle 47"/>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Important we follow up to build trust. Only with sufficient trust will members refer.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CLINIC REVIEW  |  CTE D5</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CTE D5</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CZ's verdict: still the same problems as before, no improvement. Both chats shown are CTE D5, DA Thảo.</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3</a:t>
            </a:r>
          </a:p>
        </p:txBody>
      </p:sp>
      <p:sp>
        <p:nvSpPr>
          <p:cNvPr id="9" name="Rectangle 8"/>
          <p:cNvSpPr/>
          <p:nvPr/>
        </p:nvSpPr>
        <p:spPr>
          <a:xfrm>
            <a:off x="516636" y="1591056"/>
            <a:ext cx="2939134"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MCN-261010  ·  asks twice about offers — answered with the gift only</a:t>
            </a:r>
          </a:p>
        </p:txBody>
      </p:sp>
      <p:sp>
        <p:nvSpPr>
          <p:cNvPr id="10" name="Rectangle 9"/>
          <p:cNvSpPr/>
          <p:nvPr/>
        </p:nvSpPr>
        <p:spPr>
          <a:xfrm>
            <a:off x="516636" y="1851660"/>
            <a:ext cx="2939134" cy="3635454"/>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2004.jpeg"/>
          <p:cNvPicPr>
            <a:picLocks noChangeAspect="1"/>
          </p:cNvPicPr>
          <p:nvPr/>
        </p:nvPicPr>
        <p:blipFill>
          <a:blip r:embed="rId2"/>
          <a:stretch>
            <a:fillRect/>
          </a:stretch>
        </p:blipFill>
        <p:spPr>
          <a:xfrm>
            <a:off x="548640" y="1883664"/>
            <a:ext cx="2875126" cy="3571446"/>
          </a:xfrm>
          <a:prstGeom prst="rect">
            <a:avLst/>
          </a:prstGeom>
        </p:spPr>
      </p:pic>
      <p:sp>
        <p:nvSpPr>
          <p:cNvPr id="12" name="Rectangle 11"/>
          <p:cNvSpPr/>
          <p:nvPr/>
        </p:nvSpPr>
        <p:spPr>
          <a:xfrm>
            <a:off x="3611218" y="1591056"/>
            <a:ext cx="2146227" cy="292608"/>
          </a:xfrm>
          <a:prstGeom prst="rect">
            <a:avLst/>
          </a:prstGeom>
          <a:solidFill>
            <a:srgbClr val="B9770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Exam-261011  ·  consulted 27 Aug, still being nurtured 11 Oct</a:t>
            </a:r>
          </a:p>
        </p:txBody>
      </p:sp>
      <p:sp>
        <p:nvSpPr>
          <p:cNvPr id="13" name="Rectangle 12"/>
          <p:cNvSpPr/>
          <p:nvPr/>
        </p:nvSpPr>
        <p:spPr>
          <a:xfrm>
            <a:off x="3611218" y="1851660"/>
            <a:ext cx="2146227" cy="3594020"/>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2003_crop.png"/>
          <p:cNvPicPr>
            <a:picLocks noChangeAspect="1"/>
          </p:cNvPicPr>
          <p:nvPr/>
        </p:nvPicPr>
        <p:blipFill>
          <a:blip r:embed="rId3"/>
          <a:stretch>
            <a:fillRect/>
          </a:stretch>
        </p:blipFill>
        <p:spPr>
          <a:xfrm>
            <a:off x="3643222" y="1883664"/>
            <a:ext cx="2082219" cy="3530012"/>
          </a:xfrm>
          <a:prstGeom prst="rect">
            <a:avLst/>
          </a:prstGeom>
        </p:spPr>
      </p:pic>
      <p:sp>
        <p:nvSpPr>
          <p:cNvPr id="15" name="Rectangle 14"/>
          <p:cNvSpPr/>
          <p:nvPr/>
        </p:nvSpPr>
        <p:spPr>
          <a:xfrm>
            <a:off x="6199632" y="1591056"/>
            <a:ext cx="5486400" cy="775367"/>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Strengths</a:t>
            </a:r>
          </a:p>
        </p:txBody>
      </p:sp>
      <p:sp>
        <p:nvSpPr>
          <p:cNvPr id="17" name="TextBox 16"/>
          <p:cNvSpPr txBox="1"/>
          <p:nvPr/>
        </p:nvSpPr>
        <p:spPr>
          <a:xfrm>
            <a:off x="6345936" y="1975104"/>
            <a:ext cx="5193792" cy="263303"/>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Zalo labels are accurate. </a:t>
            </a:r>
            <a:r>
              <a:rPr sz="900" b="0">
                <a:solidFill>
                  <a:srgbClr val="5C6B62"/>
                </a:solidFill>
                <a:latin typeface="Arial"/>
              </a:rPr>
              <a:t>The tags follow the code–date–parent format — MCN-261010 and Exam-261011.</a:t>
            </a:r>
          </a:p>
        </p:txBody>
      </p:sp>
      <p:sp>
        <p:nvSpPr>
          <p:cNvPr id="18" name="Rectangle 17"/>
          <p:cNvSpPr/>
          <p:nvPr/>
        </p:nvSpPr>
        <p:spPr>
          <a:xfrm>
            <a:off x="6199632" y="2512727"/>
            <a:ext cx="5486400" cy="1985259"/>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2512727"/>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Areas for improvement</a:t>
            </a:r>
          </a:p>
        </p:txBody>
      </p:sp>
      <p:sp>
        <p:nvSpPr>
          <p:cNvPr id="20" name="TextBox 19"/>
          <p:cNvSpPr txBox="1"/>
          <p:nvPr/>
        </p:nvSpPr>
        <p:spPr>
          <a:xfrm>
            <a:off x="6345936" y="2896775"/>
            <a:ext cx="5193792" cy="1473195"/>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Benefits, then silence. </a:t>
            </a:r>
            <a:r>
              <a:rPr sz="900" b="0">
                <a:solidFill>
                  <a:srgbClr val="5C6B62"/>
                </a:solidFill>
                <a:latin typeface="Arial"/>
              </a:rPr>
              <a:t>Once the membership benefits are sent there is essentially no proactive communication and no follow-up, so the customer never comes to trust the DA.</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Low contact volume. </a:t>
            </a:r>
            <a:r>
              <a:rPr sz="900" b="0">
                <a:solidFill>
                  <a:srgbClr val="5C6B62"/>
                </a:solidFill>
                <a:latin typeface="Arial"/>
              </a:rPr>
              <a:t>Very few customers are being contacted Monday to Friday, and very few are being communicated with at all.</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Non-buyers dropped. </a:t>
            </a:r>
            <a:r>
              <a:rPr sz="900" b="0">
                <a:solidFill>
                  <a:srgbClr val="5C6B62"/>
                </a:solidFill>
                <a:latin typeface="Arial"/>
              </a:rPr>
              <a:t>Customers who consulted but did not buy glasses still need following up and guiding back toward a purchase.</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Product knowledge. </a:t>
            </a:r>
            <a:r>
              <a:rPr sz="900" b="0">
                <a:solidFill>
                  <a:srgbClr val="5C6B62"/>
                </a:solidFill>
                <a:latin typeface="Arial"/>
              </a:rPr>
              <a:t>Small questions — can Ortho-K lenses be rinsed with saline? — have to be answered confidently, because that is what earns trust.</a:t>
            </a:r>
          </a:p>
        </p:txBody>
      </p:sp>
      <p:sp>
        <p:nvSpPr>
          <p:cNvPr id="21" name="Rectangle 20"/>
          <p:cNvSpPr/>
          <p:nvPr/>
        </p:nvSpPr>
        <p:spPr>
          <a:xfrm>
            <a:off x="6199632" y="4644290"/>
            <a:ext cx="5486400" cy="924405"/>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644290"/>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What the Zalo chats show</a:t>
            </a:r>
          </a:p>
        </p:txBody>
      </p:sp>
      <p:sp>
        <p:nvSpPr>
          <p:cNvPr id="23" name="TextBox 22"/>
          <p:cNvSpPr txBox="1"/>
          <p:nvPr/>
        </p:nvSpPr>
        <p:spPr>
          <a:xfrm>
            <a:off x="6345936" y="5028338"/>
            <a:ext cx="5193792" cy="412341"/>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The gift question. </a:t>
            </a:r>
            <a:r>
              <a:rPr sz="900" b="0">
                <a:solidFill>
                  <a:srgbClr val="5C6B62"/>
                </a:solidFill>
                <a:latin typeface="Arial"/>
              </a:rPr>
              <a:t>The mother asks twice whether anything comes with the glasses. She is told about the free helmet. No member benefits, no voucher, no referral ask.</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Fix the sequence first — benefits on collection day, then a CD3–5 care message. The silence after the benefits message is the whole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CLINIC REVIEW  |  CTE D7</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CTE D7</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One strength, one fix. CZ supplies the exact wording for the fix — see page 9.</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4</a:t>
            </a:r>
          </a:p>
        </p:txBody>
      </p:sp>
      <p:sp>
        <p:nvSpPr>
          <p:cNvPr id="9" name="Rectangle 8"/>
          <p:cNvSpPr/>
          <p:nvPr/>
        </p:nvSpPr>
        <p:spPr>
          <a:xfrm>
            <a:off x="516636" y="1591056"/>
            <a:ext cx="2436308"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OKY 260924  ·  Ortho-K recheck chased, confirmed, lens reminder</a:t>
            </a:r>
          </a:p>
        </p:txBody>
      </p:sp>
      <p:sp>
        <p:nvSpPr>
          <p:cNvPr id="10" name="Rectangle 9"/>
          <p:cNvSpPr/>
          <p:nvPr/>
        </p:nvSpPr>
        <p:spPr>
          <a:xfrm>
            <a:off x="516636" y="1851660"/>
            <a:ext cx="2436308" cy="2631175"/>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89a13bba21eee337a58fbe90d36d5a7c.jpeg"/>
          <p:cNvPicPr>
            <a:picLocks noChangeAspect="1"/>
          </p:cNvPicPr>
          <p:nvPr/>
        </p:nvPicPr>
        <p:blipFill>
          <a:blip r:embed="rId2"/>
          <a:stretch>
            <a:fillRect/>
          </a:stretch>
        </p:blipFill>
        <p:spPr>
          <a:xfrm>
            <a:off x="548640" y="1883664"/>
            <a:ext cx="2372300" cy="2567167"/>
          </a:xfrm>
          <a:prstGeom prst="rect">
            <a:avLst/>
          </a:prstGeom>
        </p:spPr>
      </p:pic>
      <p:sp>
        <p:nvSpPr>
          <p:cNvPr id="12" name="Rectangle 11"/>
          <p:cNvSpPr/>
          <p:nvPr/>
        </p:nvSpPr>
        <p:spPr>
          <a:xfrm>
            <a:off x="3112311" y="1591056"/>
            <a:ext cx="2859373"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VT Bảo Nguyên  ·  standing weekly schedule, calls — no referral ask</a:t>
            </a:r>
          </a:p>
        </p:txBody>
      </p:sp>
      <p:sp>
        <p:nvSpPr>
          <p:cNvPr id="13" name="Rectangle 12"/>
          <p:cNvSpPr/>
          <p:nvPr/>
        </p:nvSpPr>
        <p:spPr>
          <a:xfrm>
            <a:off x="3112311" y="1851660"/>
            <a:ext cx="2859373" cy="2638687"/>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d7_vt_crop.png"/>
          <p:cNvPicPr>
            <a:picLocks noChangeAspect="1"/>
          </p:cNvPicPr>
          <p:nvPr/>
        </p:nvPicPr>
        <p:blipFill>
          <a:blip r:embed="rId3"/>
          <a:stretch>
            <a:fillRect/>
          </a:stretch>
        </p:blipFill>
        <p:spPr>
          <a:xfrm>
            <a:off x="3144315" y="1883664"/>
            <a:ext cx="2795365" cy="2574679"/>
          </a:xfrm>
          <a:prstGeom prst="rect">
            <a:avLst/>
          </a:prstGeom>
        </p:spPr>
      </p:pic>
      <p:sp>
        <p:nvSpPr>
          <p:cNvPr id="15" name="Rectangle 14"/>
          <p:cNvSpPr/>
          <p:nvPr/>
        </p:nvSpPr>
        <p:spPr>
          <a:xfrm>
            <a:off x="6199632" y="1591056"/>
            <a:ext cx="5486400" cy="1089428"/>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Strengths</a:t>
            </a:r>
          </a:p>
        </p:txBody>
      </p:sp>
      <p:sp>
        <p:nvSpPr>
          <p:cNvPr id="17" name="TextBox 16"/>
          <p:cNvSpPr txBox="1"/>
          <p:nvPr/>
        </p:nvSpPr>
        <p:spPr>
          <a:xfrm>
            <a:off x="6345936" y="1975104"/>
            <a:ext cx="5193792" cy="577364"/>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Follows the training. </a:t>
            </a:r>
            <a:r>
              <a:rPr sz="900" b="0">
                <a:solidFill>
                  <a:srgbClr val="5C6B62"/>
                </a:solidFill>
                <a:latin typeface="Arial"/>
              </a:rPr>
              <a:t>Name annotations and the messages being sent are both in line with the training content. Please keep this up.</a:t>
            </a:r>
          </a:p>
        </p:txBody>
      </p:sp>
      <p:sp>
        <p:nvSpPr>
          <p:cNvPr id="18" name="Rectangle 17"/>
          <p:cNvSpPr/>
          <p:nvPr/>
        </p:nvSpPr>
        <p:spPr>
          <a:xfrm>
            <a:off x="6199632" y="2826788"/>
            <a:ext cx="5486400" cy="1089428"/>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2826788"/>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Areas for improvement</a:t>
            </a:r>
          </a:p>
        </p:txBody>
      </p:sp>
      <p:sp>
        <p:nvSpPr>
          <p:cNvPr id="20" name="TextBox 19"/>
          <p:cNvSpPr txBox="1"/>
          <p:nvPr/>
        </p:nvSpPr>
        <p:spPr>
          <a:xfrm>
            <a:off x="6345936" y="3210836"/>
            <a:ext cx="5193792" cy="577364"/>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Ask for the referral. </a:t>
            </a:r>
            <a:r>
              <a:rPr sz="900" b="0">
                <a:solidFill>
                  <a:srgbClr val="5C6B62"/>
                </a:solidFill>
                <a:latin typeface="Arial"/>
              </a:rPr>
              <a:t>For member customers whose service is already complete, communicate with them more and prompt them to refer new customers, using the reference script.</a:t>
            </a:r>
          </a:p>
        </p:txBody>
      </p:sp>
      <p:sp>
        <p:nvSpPr>
          <p:cNvPr id="21" name="Rectangle 20"/>
          <p:cNvSpPr/>
          <p:nvPr/>
        </p:nvSpPr>
        <p:spPr>
          <a:xfrm>
            <a:off x="6199632" y="4062521"/>
            <a:ext cx="5486400" cy="1506174"/>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062521"/>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What the Zalo chats show</a:t>
            </a:r>
          </a:p>
        </p:txBody>
      </p:sp>
      <p:sp>
        <p:nvSpPr>
          <p:cNvPr id="23" name="TextBox 22"/>
          <p:cNvSpPr txBox="1"/>
          <p:nvPr/>
        </p:nvSpPr>
        <p:spPr>
          <a:xfrm>
            <a:off x="6345936" y="4446569"/>
            <a:ext cx="5193792" cy="994110"/>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Trust is already there. </a:t>
            </a:r>
            <a:r>
              <a:rPr sz="900" b="0">
                <a:solidFill>
                  <a:srgbClr val="5C6B62"/>
                </a:solidFill>
                <a:latin typeface="Arial"/>
              </a:rPr>
              <a:t>The vision-therapy mother books her own standing weekly schedule and calls the DA directly. No referral ask anywhere in the chat.</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Ortho-K is handled well. </a:t>
            </a:r>
            <a:r>
              <a:rPr sz="900" b="0">
                <a:solidFill>
                  <a:srgbClr val="5C6B62"/>
                </a:solidFill>
                <a:latin typeface="Arial"/>
              </a:rPr>
              <a:t>The recheck is chased, confirmed, rescheduled around a clash, and the parent is reminded to bring the lens.</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“Service complete” is the trigger: recheck booked, question answered, glasses delivered. That is the moment to ask.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CLINIC REVIEW  |  NGT</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NGT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credits the voucher experiment. The gaps are in the collection and mailing steps.</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5</a:t>
            </a:r>
          </a:p>
        </p:txBody>
      </p:sp>
      <p:sp>
        <p:nvSpPr>
          <p:cNvPr id="9" name="Rectangle 8"/>
          <p:cNvSpPr/>
          <p:nvPr/>
        </p:nvSpPr>
        <p:spPr>
          <a:xfrm>
            <a:off x="568174" y="1591056"/>
            <a:ext cx="2595684"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260926  ·  12 Oct — parent offered 20 referral vouchers to pass on</a:t>
            </a:r>
          </a:p>
        </p:txBody>
      </p:sp>
      <p:sp>
        <p:nvSpPr>
          <p:cNvPr id="10" name="Rectangle 9"/>
          <p:cNvSpPr/>
          <p:nvPr/>
        </p:nvSpPr>
        <p:spPr>
          <a:xfrm>
            <a:off x="568174" y="1851660"/>
            <a:ext cx="2595684" cy="1254112"/>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7cc3805742516d2bb31ddc04129b2ec7.jpeg"/>
          <p:cNvPicPr>
            <a:picLocks noChangeAspect="1"/>
          </p:cNvPicPr>
          <p:nvPr/>
        </p:nvPicPr>
        <p:blipFill>
          <a:blip r:embed="rId2"/>
          <a:stretch>
            <a:fillRect/>
          </a:stretch>
        </p:blipFill>
        <p:spPr>
          <a:xfrm>
            <a:off x="600178" y="1883664"/>
            <a:ext cx="2531676" cy="1190104"/>
          </a:xfrm>
          <a:prstGeom prst="rect">
            <a:avLst/>
          </a:prstGeom>
        </p:spPr>
      </p:pic>
      <p:sp>
        <p:nvSpPr>
          <p:cNvPr id="12" name="Rectangle 11"/>
          <p:cNvSpPr/>
          <p:nvPr/>
        </p:nvSpPr>
        <p:spPr>
          <a:xfrm>
            <a:off x="533775" y="3293224"/>
            <a:ext cx="2664483" cy="292608"/>
          </a:xfrm>
          <a:prstGeom prst="rect">
            <a:avLst/>
          </a:prstGeom>
          <a:solidFill>
            <a:srgbClr val="C0392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KTN 261010  ·  glasses posted — chat ends at the address</a:t>
            </a:r>
          </a:p>
        </p:txBody>
      </p:sp>
      <p:sp>
        <p:nvSpPr>
          <p:cNvPr id="13" name="Rectangle 12"/>
          <p:cNvSpPr/>
          <p:nvPr/>
        </p:nvSpPr>
        <p:spPr>
          <a:xfrm>
            <a:off x="533775" y="3553828"/>
            <a:ext cx="2664483" cy="1955431"/>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3007598717ad2e6ac8f50d13ec974d7a.jpeg"/>
          <p:cNvPicPr>
            <a:picLocks noChangeAspect="1"/>
          </p:cNvPicPr>
          <p:nvPr/>
        </p:nvPicPr>
        <p:blipFill>
          <a:blip r:embed="rId3"/>
          <a:stretch>
            <a:fillRect/>
          </a:stretch>
        </p:blipFill>
        <p:spPr>
          <a:xfrm>
            <a:off x="565779" y="3585832"/>
            <a:ext cx="2600475" cy="1891423"/>
          </a:xfrm>
          <a:prstGeom prst="rect">
            <a:avLst/>
          </a:prstGeom>
        </p:spPr>
      </p:pic>
      <p:sp>
        <p:nvSpPr>
          <p:cNvPr id="15" name="Rectangle 14"/>
          <p:cNvSpPr/>
          <p:nvPr/>
        </p:nvSpPr>
        <p:spPr>
          <a:xfrm>
            <a:off x="3640594" y="1591056"/>
            <a:ext cx="3894702" cy="1868667"/>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640594" y="1591056"/>
            <a:ext cx="3894702"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Strengths</a:t>
            </a:r>
          </a:p>
        </p:txBody>
      </p:sp>
      <p:sp>
        <p:nvSpPr>
          <p:cNvPr id="17" name="TextBox 16"/>
          <p:cNvSpPr txBox="1"/>
          <p:nvPr/>
        </p:nvSpPr>
        <p:spPr>
          <a:xfrm>
            <a:off x="3786898" y="1975104"/>
            <a:ext cx="3602094" cy="1356603"/>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Her own initiative. </a:t>
            </a:r>
            <a:r>
              <a:rPr sz="1000" b="0">
                <a:solidFill>
                  <a:srgbClr val="5C6B62"/>
                </a:solidFill>
                <a:latin typeface="Arial"/>
              </a:rPr>
              <a:t>She took the standard referral benefit and framed it as a limited promotion — 20 vouchers, 50% off the exam plus a discount on the glasses, for children new to the centre.</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Well timed. </a:t>
            </a:r>
            <a:r>
              <a:rPr sz="1000" b="0">
                <a:solidFill>
                  <a:srgbClr val="5C6B62"/>
                </a:solidFill>
                <a:latin typeface="Arial"/>
              </a:rPr>
              <a:t>Sent a minute after she promised to own the next recheck.</a:t>
            </a:r>
          </a:p>
        </p:txBody>
      </p:sp>
      <p:sp>
        <p:nvSpPr>
          <p:cNvPr id="18" name="Rectangle 17"/>
          <p:cNvSpPr/>
          <p:nvPr/>
        </p:nvSpPr>
        <p:spPr>
          <a:xfrm>
            <a:off x="7791329" y="1591056"/>
            <a:ext cx="3894702" cy="1868667"/>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791329" y="1591056"/>
            <a:ext cx="3894702"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Areas for improvement</a:t>
            </a:r>
          </a:p>
        </p:txBody>
      </p:sp>
      <p:sp>
        <p:nvSpPr>
          <p:cNvPr id="20" name="TextBox 19"/>
          <p:cNvSpPr txBox="1"/>
          <p:nvPr/>
        </p:nvSpPr>
        <p:spPr>
          <a:xfrm>
            <a:off x="7937633" y="1975104"/>
            <a:ext cx="3602094" cy="1356603"/>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Collection builds the relationship. </a:t>
            </a:r>
            <a:r>
              <a:rPr sz="1000" b="0">
                <a:solidFill>
                  <a:srgbClr val="5C6B62"/>
                </a:solidFill>
                <a:latin typeface="Arial"/>
              </a:rPr>
              <a:t>Many customers book a time to collect in person. While arranging it, add: if other relatives or friends have children who need myopia control, bring them along — 50% off the exam plus a discount on the glasses.</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Posted glasses. </a:t>
            </a:r>
            <a:r>
              <a:rPr sz="1000" b="0">
                <a:solidFill>
                  <a:srgbClr val="5C6B62"/>
                </a:solidFill>
                <a:latin typeface="Arial"/>
              </a:rPr>
              <a:t>Where glasses are shipped instead of collected, send the membership benefits after they ship, and remind the customer to confirm with the DA as soon as they arrive.</a:t>
            </a:r>
          </a:p>
        </p:txBody>
      </p:sp>
      <p:sp>
        <p:nvSpPr>
          <p:cNvPr id="21" name="Rectangle 20"/>
          <p:cNvSpPr/>
          <p:nvPr/>
        </p:nvSpPr>
        <p:spPr>
          <a:xfrm>
            <a:off x="3640594" y="3606027"/>
            <a:ext cx="8045437" cy="1077711"/>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640594" y="3606027"/>
            <a:ext cx="8045437"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What the Zalo chats show</a:t>
            </a:r>
          </a:p>
        </p:txBody>
      </p:sp>
      <p:sp>
        <p:nvSpPr>
          <p:cNvPr id="23" name="TextBox 22"/>
          <p:cNvSpPr txBox="1"/>
          <p:nvPr/>
        </p:nvSpPr>
        <p:spPr>
          <a:xfrm>
            <a:off x="3786898" y="3990075"/>
            <a:ext cx="7752829" cy="565647"/>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Exactly the mailing case. </a:t>
            </a:r>
            <a:r>
              <a:rPr sz="1000" b="0">
                <a:solidFill>
                  <a:srgbClr val="5C6B62"/>
                </a:solidFill>
                <a:latin typeface="Arial"/>
              </a:rPr>
              <a:t>KTN 261010 is shipped to the parent's address. The chat ends at the shipping address — no benefits, no confirmation request, no care message.</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Encourage this. Test the idea, keep it if it works, move on if it doesn't.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CLINIC REVIEW  |  SH</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SH</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praises the script, then attaches a rule: it works once trust exists, not before.</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6</a:t>
            </a:r>
          </a:p>
        </p:txBody>
      </p:sp>
      <p:sp>
        <p:nvSpPr>
          <p:cNvPr id="9" name="Rectangle 8"/>
          <p:cNvSpPr/>
          <p:nvPr/>
        </p:nvSpPr>
        <p:spPr>
          <a:xfrm>
            <a:off x="542130" y="1591056"/>
            <a:ext cx="2851131"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 chị Nga  ·  full member benefits sent, 3 Oct</a:t>
            </a:r>
          </a:p>
        </p:txBody>
      </p:sp>
      <p:sp>
        <p:nvSpPr>
          <p:cNvPr id="10" name="Rectangle 9"/>
          <p:cNvSpPr/>
          <p:nvPr/>
        </p:nvSpPr>
        <p:spPr>
          <a:xfrm>
            <a:off x="542130" y="1851660"/>
            <a:ext cx="2851131" cy="1853344"/>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0b950c5a4663d30d2fff7ce3b8e60641.jpeg"/>
          <p:cNvPicPr>
            <a:picLocks noChangeAspect="1"/>
          </p:cNvPicPr>
          <p:nvPr/>
        </p:nvPicPr>
        <p:blipFill>
          <a:blip r:embed="rId2"/>
          <a:stretch>
            <a:fillRect/>
          </a:stretch>
        </p:blipFill>
        <p:spPr>
          <a:xfrm>
            <a:off x="574134" y="1883664"/>
            <a:ext cx="2787123" cy="1789336"/>
          </a:xfrm>
          <a:prstGeom prst="rect">
            <a:avLst/>
          </a:prstGeom>
        </p:spPr>
      </p:pic>
      <p:sp>
        <p:nvSpPr>
          <p:cNvPr id="12" name="Rectangle 11"/>
          <p:cNvSpPr/>
          <p:nvPr/>
        </p:nvSpPr>
        <p:spPr>
          <a:xfrm>
            <a:off x="567718" y="3892456"/>
            <a:ext cx="2799955" cy="292608"/>
          </a:xfrm>
          <a:prstGeom prst="rect">
            <a:avLst/>
          </a:prstGeom>
          <a:solidFill>
            <a:srgbClr val="B9770B"/>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KSCT Khôi Nguyên  ·  script sent 10 Oct — “prove it works first”</a:t>
            </a:r>
          </a:p>
        </p:txBody>
      </p:sp>
      <p:sp>
        <p:nvSpPr>
          <p:cNvPr id="13" name="Rectangle 12"/>
          <p:cNvSpPr/>
          <p:nvPr/>
        </p:nvSpPr>
        <p:spPr>
          <a:xfrm>
            <a:off x="567718" y="4153060"/>
            <a:ext cx="2799955" cy="1356199"/>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e5a83c14124cd5770a386a64835f8fb4.jpeg"/>
          <p:cNvPicPr>
            <a:picLocks noChangeAspect="1"/>
          </p:cNvPicPr>
          <p:nvPr/>
        </p:nvPicPr>
        <p:blipFill>
          <a:blip r:embed="rId3"/>
          <a:stretch>
            <a:fillRect/>
          </a:stretch>
        </p:blipFill>
        <p:spPr>
          <a:xfrm>
            <a:off x="599722" y="4185064"/>
            <a:ext cx="2735947" cy="1292191"/>
          </a:xfrm>
          <a:prstGeom prst="rect">
            <a:avLst/>
          </a:prstGeom>
        </p:spPr>
      </p:pic>
      <p:sp>
        <p:nvSpPr>
          <p:cNvPr id="15" name="Rectangle 14"/>
          <p:cNvSpPr/>
          <p:nvPr/>
        </p:nvSpPr>
        <p:spPr>
          <a:xfrm>
            <a:off x="3843952" y="1591056"/>
            <a:ext cx="3793023" cy="1721449"/>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843952" y="1591056"/>
            <a:ext cx="3793023"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Strengths</a:t>
            </a:r>
          </a:p>
        </p:txBody>
      </p:sp>
      <p:sp>
        <p:nvSpPr>
          <p:cNvPr id="17" name="TextBox 16"/>
          <p:cNvSpPr txBox="1"/>
          <p:nvPr/>
        </p:nvSpPr>
        <p:spPr>
          <a:xfrm>
            <a:off x="3990256" y="1975104"/>
            <a:ext cx="3500415" cy="1209385"/>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Reference script in use. </a:t>
            </a:r>
            <a:r>
              <a:rPr sz="1000" b="0">
                <a:solidFill>
                  <a:srgbClr val="5C6B62"/>
                </a:solidFill>
                <a:latin typeface="Arial"/>
              </a:rPr>
              <a:t>Excellent — this is the wording CZ is asking the other clinics to adopt.</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But sequence matters. </a:t>
            </a:r>
            <a:r>
              <a:rPr sz="1000" b="0">
                <a:solidFill>
                  <a:srgbClr val="5C6B62"/>
                </a:solidFill>
                <a:latin typeface="Arial"/>
              </a:rPr>
              <a:t>It works better once the member has collected and received the benefits, once you have answered their questions, or once you have booked their recheck — in other words, once some trust is earned.</a:t>
            </a:r>
          </a:p>
        </p:txBody>
      </p:sp>
      <p:sp>
        <p:nvSpPr>
          <p:cNvPr id="18" name="Rectangle 17"/>
          <p:cNvSpPr/>
          <p:nvPr/>
        </p:nvSpPr>
        <p:spPr>
          <a:xfrm>
            <a:off x="7893008" y="1591056"/>
            <a:ext cx="3793023" cy="1721449"/>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893008" y="1591056"/>
            <a:ext cx="3793023"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Areas for improvement</a:t>
            </a:r>
          </a:p>
        </p:txBody>
      </p:sp>
      <p:sp>
        <p:nvSpPr>
          <p:cNvPr id="20" name="TextBox 19"/>
          <p:cNvSpPr txBox="1"/>
          <p:nvPr/>
        </p:nvSpPr>
        <p:spPr>
          <a:xfrm>
            <a:off x="8039312" y="1975104"/>
            <a:ext cx="3500415" cy="1209385"/>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Benefits, then care. </a:t>
            </a:r>
            <a:r>
              <a:rPr sz="1000" b="0">
                <a:solidFill>
                  <a:srgbClr val="5C6B62"/>
                </a:solidFill>
                <a:latin typeface="Arial"/>
              </a:rPr>
              <a:t>Send the membership benefits after collection, then a CD3–5 message asking how the child is getting on with the glasses, to build trust.</a:t>
            </a:r>
          </a:p>
        </p:txBody>
      </p:sp>
      <p:sp>
        <p:nvSpPr>
          <p:cNvPr id="21" name="Rectangle 20"/>
          <p:cNvSpPr/>
          <p:nvPr/>
        </p:nvSpPr>
        <p:spPr>
          <a:xfrm>
            <a:off x="3843952" y="3458809"/>
            <a:ext cx="7842079" cy="1427012"/>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843952" y="3458809"/>
            <a:ext cx="7842079"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What the Zalo chats show</a:t>
            </a:r>
          </a:p>
        </p:txBody>
      </p:sp>
      <p:sp>
        <p:nvSpPr>
          <p:cNvPr id="23" name="TextBox 22"/>
          <p:cNvSpPr txBox="1"/>
          <p:nvPr/>
        </p:nvSpPr>
        <p:spPr>
          <a:xfrm>
            <a:off x="3990256" y="3842857"/>
            <a:ext cx="7549471" cy="914948"/>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The parent proves the rule. </a:t>
            </a:r>
            <a:r>
              <a:rPr sz="1000" b="0">
                <a:solidFill>
                  <a:srgbClr val="5C6B62"/>
                </a:solidFill>
                <a:latin typeface="Arial"/>
              </a:rPr>
              <a:t>Sent the script on 10 Oct, she replied: do a good job for my child first — once I see she is okay, then I will feel comfortable referring. And: the voucher price does not matter, this is about health.</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Benefits template. </a:t>
            </a:r>
            <a:r>
              <a:rPr sz="1000" b="0">
                <a:solidFill>
                  <a:srgbClr val="5C6B62"/>
                </a:solidFill>
                <a:latin typeface="Arial"/>
              </a:rPr>
              <a:t>KT chị Nga, 3 Oct — the full member benefits message, with both sides of the referral offer. The care message is what should follow it.</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Her reply is the whole argument for CZ's sequencing rule — care first, referral second. Vouchers are not what persuades 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CLINIC REVIEW  |  CMTT</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CMTT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Two strengths, no improvement points. The chats show the full sequence already running.</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7</a:t>
            </a:r>
          </a:p>
        </p:txBody>
      </p:sp>
      <p:sp>
        <p:nvSpPr>
          <p:cNvPr id="9" name="Rectangle 8"/>
          <p:cNvSpPr/>
          <p:nvPr/>
        </p:nvSpPr>
        <p:spPr>
          <a:xfrm>
            <a:off x="516636" y="1591056"/>
            <a:ext cx="1988891"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261006  ·  benefits, referral, then a CD3 check-in 9 Oct</a:t>
            </a:r>
          </a:p>
        </p:txBody>
      </p:sp>
      <p:sp>
        <p:nvSpPr>
          <p:cNvPr id="10" name="Rectangle 9"/>
          <p:cNvSpPr/>
          <p:nvPr/>
        </p:nvSpPr>
        <p:spPr>
          <a:xfrm>
            <a:off x="516636" y="1851660"/>
            <a:ext cx="1988891" cy="3070700"/>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02ecdd54364b930dbb5390d269f6569b.jpeg"/>
          <p:cNvPicPr>
            <a:picLocks noChangeAspect="1"/>
          </p:cNvPicPr>
          <p:nvPr/>
        </p:nvPicPr>
        <p:blipFill>
          <a:blip r:embed="rId2"/>
          <a:stretch>
            <a:fillRect/>
          </a:stretch>
        </p:blipFill>
        <p:spPr>
          <a:xfrm>
            <a:off x="548640" y="1883664"/>
            <a:ext cx="1924883" cy="3006692"/>
          </a:xfrm>
          <a:prstGeom prst="rect">
            <a:avLst/>
          </a:prstGeom>
        </p:spPr>
      </p:pic>
      <p:sp>
        <p:nvSpPr>
          <p:cNvPr id="12" name="Rectangle 11"/>
          <p:cNvSpPr/>
          <p:nvPr/>
        </p:nvSpPr>
        <p:spPr>
          <a:xfrm>
            <a:off x="2663770" y="1591056"/>
            <a:ext cx="3309038"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KTY 261013  ·  posted, wear instructions, benefits, referral</a:t>
            </a:r>
          </a:p>
        </p:txBody>
      </p:sp>
      <p:sp>
        <p:nvSpPr>
          <p:cNvPr id="13" name="Rectangle 12"/>
          <p:cNvSpPr/>
          <p:nvPr/>
        </p:nvSpPr>
        <p:spPr>
          <a:xfrm>
            <a:off x="2663770" y="1851660"/>
            <a:ext cx="3309038" cy="3122091"/>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90054432aa32af0e2d1eddd7ed04c3b7.jpeg"/>
          <p:cNvPicPr>
            <a:picLocks noChangeAspect="1"/>
          </p:cNvPicPr>
          <p:nvPr/>
        </p:nvPicPr>
        <p:blipFill>
          <a:blip r:embed="rId3"/>
          <a:stretch>
            <a:fillRect/>
          </a:stretch>
        </p:blipFill>
        <p:spPr>
          <a:xfrm>
            <a:off x="2695774" y="1883664"/>
            <a:ext cx="3245030" cy="3058083"/>
          </a:xfrm>
          <a:prstGeom prst="rect">
            <a:avLst/>
          </a:prstGeom>
        </p:spPr>
      </p:pic>
      <p:sp>
        <p:nvSpPr>
          <p:cNvPr id="15" name="Rectangle 14"/>
          <p:cNvSpPr/>
          <p:nvPr/>
        </p:nvSpPr>
        <p:spPr>
          <a:xfrm>
            <a:off x="6199632" y="1591056"/>
            <a:ext cx="5486400" cy="1413680"/>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6199632" y="1591056"/>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Strengths</a:t>
            </a:r>
          </a:p>
        </p:txBody>
      </p:sp>
      <p:sp>
        <p:nvSpPr>
          <p:cNvPr id="17" name="TextBox 16"/>
          <p:cNvSpPr txBox="1"/>
          <p:nvPr/>
        </p:nvSpPr>
        <p:spPr>
          <a:xfrm>
            <a:off x="6345936" y="1975104"/>
            <a:ext cx="5193792" cy="901616"/>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Annotations are very good. </a:t>
            </a:r>
            <a:r>
              <a:rPr sz="900" b="0">
                <a:solidFill>
                  <a:srgbClr val="5C6B62"/>
                </a:solidFill>
                <a:latin typeface="Arial"/>
              </a:rPr>
              <a:t>Adding the customer's contact number to the annotation would make them better still.</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Proactive at customization. </a:t>
            </a:r>
            <a:r>
              <a:rPr sz="900" b="0">
                <a:solidFill>
                  <a:srgbClr val="5C6B62"/>
                </a:solidFill>
                <a:latin typeface="Arial"/>
              </a:rPr>
              <a:t>The membership program has only just started, and messaging customers at the glasses-customization stage without being asked is excellent.</a:t>
            </a:r>
          </a:p>
        </p:txBody>
      </p:sp>
      <p:sp>
        <p:nvSpPr>
          <p:cNvPr id="18" name="Rectangle 17"/>
          <p:cNvSpPr/>
          <p:nvPr/>
        </p:nvSpPr>
        <p:spPr>
          <a:xfrm>
            <a:off x="6199632" y="3151040"/>
            <a:ext cx="5486400" cy="857670"/>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6199632" y="3151040"/>
            <a:ext cx="5486400" cy="292608"/>
          </a:xfrm>
          <a:prstGeom prst="rect">
            <a:avLst/>
          </a:prstGeom>
          <a:solidFill>
            <a:srgbClr val="0C989A"/>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Areas for improvement</a:t>
            </a:r>
          </a:p>
        </p:txBody>
      </p:sp>
      <p:sp>
        <p:nvSpPr>
          <p:cNvPr id="20" name="TextBox 19"/>
          <p:cNvSpPr txBox="1"/>
          <p:nvPr/>
        </p:nvSpPr>
        <p:spPr>
          <a:xfrm>
            <a:off x="6345936" y="3535088"/>
            <a:ext cx="5193792" cy="345606"/>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Only suggestion. </a:t>
            </a:r>
            <a:r>
              <a:rPr sz="900" b="0">
                <a:solidFill>
                  <a:srgbClr val="5C6B62"/>
                </a:solidFill>
                <a:latin typeface="Arial"/>
              </a:rPr>
              <a:t>Add contact numbers to the annotations — the one thing CZ would still change.</a:t>
            </a:r>
          </a:p>
        </p:txBody>
      </p:sp>
      <p:sp>
        <p:nvSpPr>
          <p:cNvPr id="21" name="Rectangle 20"/>
          <p:cNvSpPr/>
          <p:nvPr/>
        </p:nvSpPr>
        <p:spPr>
          <a:xfrm>
            <a:off x="6199632" y="4155015"/>
            <a:ext cx="5486400" cy="1413680"/>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6199632" y="4155015"/>
            <a:ext cx="5486400"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What the Zalo chats show</a:t>
            </a:r>
          </a:p>
        </p:txBody>
      </p:sp>
      <p:sp>
        <p:nvSpPr>
          <p:cNvPr id="23" name="TextBox 22"/>
          <p:cNvSpPr txBox="1"/>
          <p:nvPr/>
        </p:nvSpPr>
        <p:spPr>
          <a:xfrm>
            <a:off x="6345936" y="4539063"/>
            <a:ext cx="5193792" cy="901616"/>
          </a:xfrm>
          <a:prstGeom prst="rect">
            <a:avLst/>
          </a:prstGeom>
          <a:noFill/>
        </p:spPr>
        <p:txBody>
          <a:bodyPr wrap="square" anchor="t" lIns="0" rIns="0" tIns="0" bIns="0">
            <a:spAutoFit/>
          </a:bodyPr>
          <a:lstStyle/>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Full sequence, unprompted. </a:t>
            </a:r>
            <a:r>
              <a:rPr sz="900" b="0">
                <a:solidFill>
                  <a:srgbClr val="5C6B62"/>
                </a:solidFill>
                <a:latin typeface="Arial"/>
              </a:rPr>
              <a:t>MCY 261006: introduction, customization notice, benefits, referral offer — then a CD3 check-in on 9 Oct asking whether the child can see clearly and comfortably.</a:t>
            </a:r>
          </a:p>
          <a:p>
            <a:pPr algn="l">
              <a:lnSpc>
                <a:spcPct val="95000"/>
              </a:lnSpc>
              <a:spcBef>
                <a:spcPts val="0"/>
              </a:spcBef>
              <a:spcAft>
                <a:spcPts val="400"/>
              </a:spcAft>
            </a:pPr>
            <a:r>
              <a:rPr sz="900" b="1">
                <a:solidFill>
                  <a:srgbClr val="5C6B62"/>
                </a:solidFill>
                <a:latin typeface="Arial"/>
              </a:rPr>
              <a:t>▪  </a:t>
            </a:r>
            <a:r>
              <a:rPr sz="900" b="1">
                <a:solidFill>
                  <a:srgbClr val="31633D"/>
                </a:solidFill>
                <a:latin typeface="Arial"/>
              </a:rPr>
              <a:t>And again. </a:t>
            </a:r>
            <a:r>
              <a:rPr sz="900" b="0">
                <a:solidFill>
                  <a:srgbClr val="5C6B62"/>
                </a:solidFill>
                <a:latin typeface="Arial"/>
              </a:rPr>
              <a:t>KTY 261013: shipping notice, wear instructions (all day except sleeping and bathing), recheck promise, benefits, referral.</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CMTT is the clinic to copy: customization notice, delivery, wear instructions, benefits, referral, then the CD3 check-in.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2. CLINIC REVIEW  |  LA</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LA</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Three strengths. Both fixes are about volume rather than quality.</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8</a:t>
            </a:r>
          </a:p>
        </p:txBody>
      </p:sp>
      <p:sp>
        <p:nvSpPr>
          <p:cNvPr id="9" name="Rectangle 8"/>
          <p:cNvSpPr/>
          <p:nvPr/>
        </p:nvSpPr>
        <p:spPr>
          <a:xfrm>
            <a:off x="516636" y="1591056"/>
            <a:ext cx="2113280"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 251025  ·  2025 customer, warranty used as the recall hook</a:t>
            </a:r>
          </a:p>
        </p:txBody>
      </p:sp>
      <p:sp>
        <p:nvSpPr>
          <p:cNvPr id="10" name="Rectangle 9"/>
          <p:cNvSpPr/>
          <p:nvPr/>
        </p:nvSpPr>
        <p:spPr>
          <a:xfrm>
            <a:off x="516636" y="1851660"/>
            <a:ext cx="2113280" cy="2227373"/>
          </a:xfrm>
          <a:prstGeom prst="rect">
            <a:avLst/>
          </a:prstGeom>
          <a:solidFill>
            <a:srgbClr val="F7FAF8"/>
          </a:solidFill>
          <a:ln w="9525">
            <a:solidFill>
              <a:srgbClr val="CFE6D8"/>
            </a:solidFill>
          </a:ln>
          <a:effectLst/>
        </p:spPr>
        <p:txBody>
          <a:bodyPr rtlCol="0" anchor="ctr" wrap="square"/>
          <a:lstStyle/>
          <a:p>
            <a:pPr algn="ctr"/>
          </a:p>
        </p:txBody>
      </p:sp>
      <p:pic>
        <p:nvPicPr>
          <p:cNvPr id="11" name="Picture 10" descr="la_warranty_crop.png"/>
          <p:cNvPicPr>
            <a:picLocks noChangeAspect="1"/>
          </p:cNvPicPr>
          <p:nvPr/>
        </p:nvPicPr>
        <p:blipFill>
          <a:blip r:embed="rId2"/>
          <a:stretch>
            <a:fillRect/>
          </a:stretch>
        </p:blipFill>
        <p:spPr>
          <a:xfrm>
            <a:off x="548640" y="1883664"/>
            <a:ext cx="2049272" cy="2163365"/>
          </a:xfrm>
          <a:prstGeom prst="rect">
            <a:avLst/>
          </a:prstGeom>
        </p:spPr>
      </p:pic>
      <p:sp>
        <p:nvSpPr>
          <p:cNvPr id="12" name="Rectangle 11"/>
          <p:cNvSpPr/>
          <p:nvPr/>
        </p:nvSpPr>
        <p:spPr>
          <a:xfrm>
            <a:off x="568349" y="4271576"/>
            <a:ext cx="2009853" cy="292608"/>
          </a:xfrm>
          <a:prstGeom prst="rect">
            <a:avLst/>
          </a:prstGeom>
          <a:solidFill>
            <a:srgbClr val="2E9C4C"/>
          </a:solidFill>
          <a:ln>
            <a:noFill/>
          </a:ln>
          <a:effectLst/>
        </p:spPr>
        <p:txBody>
          <a:bodyPr rtlCol="0" anchor="ctr" wrap="square" lIns="82296" tIns="27432" bIns="27432"/>
          <a:lstStyle/>
          <a:p>
            <a:pPr algn="l">
              <a:lnSpc>
                <a:spcPct val="92000"/>
              </a:lnSpc>
              <a:spcBef>
                <a:spcPts val="0"/>
              </a:spcBef>
              <a:spcAft>
                <a:spcPts val="0"/>
              </a:spcAft>
            </a:pPr>
            <a:r>
              <a:rPr sz="750" b="1">
                <a:solidFill>
                  <a:srgbClr val="FFFFFF"/>
                </a:solidFill>
                <a:latin typeface="Arial"/>
              </a:rPr>
              <a:t>MCY-261008  ·  customization script, 3–10 day window</a:t>
            </a:r>
          </a:p>
        </p:txBody>
      </p:sp>
      <p:sp>
        <p:nvSpPr>
          <p:cNvPr id="13" name="Rectangle 12"/>
          <p:cNvSpPr/>
          <p:nvPr/>
        </p:nvSpPr>
        <p:spPr>
          <a:xfrm>
            <a:off x="568349" y="4532180"/>
            <a:ext cx="2009853" cy="977079"/>
          </a:xfrm>
          <a:prstGeom prst="rect">
            <a:avLst/>
          </a:prstGeom>
          <a:solidFill>
            <a:srgbClr val="F7FAF8"/>
          </a:solidFill>
          <a:ln w="9525">
            <a:solidFill>
              <a:srgbClr val="CFE6D8"/>
            </a:solidFill>
          </a:ln>
          <a:effectLst/>
        </p:spPr>
        <p:txBody>
          <a:bodyPr rtlCol="0" anchor="ctr" wrap="square"/>
          <a:lstStyle/>
          <a:p>
            <a:pPr algn="ctr"/>
          </a:p>
        </p:txBody>
      </p:sp>
      <p:pic>
        <p:nvPicPr>
          <p:cNvPr id="14" name="Picture 13" descr="7b9334f2036cec4a6f6dfdee0a329c5c.jpeg"/>
          <p:cNvPicPr>
            <a:picLocks noChangeAspect="1"/>
          </p:cNvPicPr>
          <p:nvPr/>
        </p:nvPicPr>
        <p:blipFill>
          <a:blip r:embed="rId3"/>
          <a:stretch>
            <a:fillRect/>
          </a:stretch>
        </p:blipFill>
        <p:spPr>
          <a:xfrm>
            <a:off x="600353" y="4564184"/>
            <a:ext cx="1945845" cy="913071"/>
          </a:xfrm>
          <a:prstGeom prst="rect">
            <a:avLst/>
          </a:prstGeom>
        </p:spPr>
      </p:pic>
      <p:sp>
        <p:nvSpPr>
          <p:cNvPr id="15" name="Rectangle 14"/>
          <p:cNvSpPr/>
          <p:nvPr/>
        </p:nvSpPr>
        <p:spPr>
          <a:xfrm>
            <a:off x="3055112" y="1591056"/>
            <a:ext cx="4187443" cy="1629095"/>
          </a:xfrm>
          <a:prstGeom prst="rect">
            <a:avLst/>
          </a:prstGeom>
          <a:solidFill>
            <a:srgbClr val="F7FAF8"/>
          </a:solidFill>
          <a:ln w="9525">
            <a:solidFill>
              <a:srgbClr val="CFE6D8"/>
            </a:solidFill>
          </a:ln>
          <a:effectLst/>
        </p:spPr>
        <p:txBody>
          <a:bodyPr rtlCol="0" anchor="ctr" wrap="square"/>
          <a:lstStyle/>
          <a:p>
            <a:pPr algn="ctr"/>
          </a:p>
        </p:txBody>
      </p:sp>
      <p:sp>
        <p:nvSpPr>
          <p:cNvPr id="16" name="Rectangle 15"/>
          <p:cNvSpPr/>
          <p:nvPr/>
        </p:nvSpPr>
        <p:spPr>
          <a:xfrm>
            <a:off x="3055112" y="1591056"/>
            <a:ext cx="4187443"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Strengths</a:t>
            </a:r>
          </a:p>
        </p:txBody>
      </p:sp>
      <p:sp>
        <p:nvSpPr>
          <p:cNvPr id="17" name="TextBox 16"/>
          <p:cNvSpPr txBox="1"/>
          <p:nvPr/>
        </p:nvSpPr>
        <p:spPr>
          <a:xfrm>
            <a:off x="3201416" y="1975104"/>
            <a:ext cx="3894835" cy="1117031"/>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Reactivating old customers. </a:t>
            </a:r>
            <a:r>
              <a:rPr sz="1000" b="0">
                <a:solidFill>
                  <a:srgbClr val="5C6B62"/>
                </a:solidFill>
                <a:latin typeface="Arial"/>
              </a:rPr>
              <a:t>Has started following up with customers from 2025 and the first half of 2026 — excellent.</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Uses the training script. </a:t>
            </a:r>
            <a:r>
              <a:rPr sz="1000" b="0">
                <a:solidFill>
                  <a:srgbClr val="5C6B62"/>
                </a:solidFill>
                <a:latin typeface="Arial"/>
              </a:rPr>
              <a:t>The “glasses customization” wording from the training is being used as written.</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Prompt replies. </a:t>
            </a:r>
            <a:r>
              <a:rPr sz="1000" b="0">
                <a:solidFill>
                  <a:srgbClr val="5C6B62"/>
                </a:solidFill>
                <a:latin typeface="Arial"/>
              </a:rPr>
              <a:t>Most customer questions are answered quickly.</a:t>
            </a:r>
          </a:p>
        </p:txBody>
      </p:sp>
      <p:sp>
        <p:nvSpPr>
          <p:cNvPr id="18" name="Rectangle 17"/>
          <p:cNvSpPr/>
          <p:nvPr/>
        </p:nvSpPr>
        <p:spPr>
          <a:xfrm>
            <a:off x="7498588" y="1591056"/>
            <a:ext cx="4187443" cy="1629095"/>
          </a:xfrm>
          <a:prstGeom prst="rect">
            <a:avLst/>
          </a:prstGeom>
          <a:solidFill>
            <a:srgbClr val="F7FAF8"/>
          </a:solidFill>
          <a:ln w="9525">
            <a:solidFill>
              <a:srgbClr val="CFE6D8"/>
            </a:solidFill>
          </a:ln>
          <a:effectLst/>
        </p:spPr>
        <p:txBody>
          <a:bodyPr rtlCol="0" anchor="ctr" wrap="square"/>
          <a:lstStyle/>
          <a:p>
            <a:pPr algn="ctr"/>
          </a:p>
        </p:txBody>
      </p:sp>
      <p:sp>
        <p:nvSpPr>
          <p:cNvPr id="19" name="Rectangle 18"/>
          <p:cNvSpPr/>
          <p:nvPr/>
        </p:nvSpPr>
        <p:spPr>
          <a:xfrm>
            <a:off x="7498588" y="1591056"/>
            <a:ext cx="4187443"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Areas for improvement</a:t>
            </a:r>
          </a:p>
        </p:txBody>
      </p:sp>
      <p:sp>
        <p:nvSpPr>
          <p:cNvPr id="20" name="TextBox 19"/>
          <p:cNvSpPr txBox="1"/>
          <p:nvPr/>
        </p:nvSpPr>
        <p:spPr>
          <a:xfrm>
            <a:off x="7644892" y="1975104"/>
            <a:ext cx="3894835" cy="1117031"/>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Cover every member. </a:t>
            </a:r>
            <a:r>
              <a:rPr sz="1000" b="0">
                <a:solidFill>
                  <a:srgbClr val="5C6B62"/>
                </a:solidFill>
                <a:latin typeface="Arial"/>
              </a:rPr>
              <a:t>Care check-ins, education and glasses-use questions can run continuously around your own schedule — but aim to cover every member who collects.</a:t>
            </a:r>
          </a:p>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Referrals are the KPI. </a:t>
            </a:r>
            <a:r>
              <a:rPr sz="1000" b="0">
                <a:solidFill>
                  <a:srgbClr val="5C6B62"/>
                </a:solidFill>
                <a:latin typeface="Arial"/>
              </a:rPr>
              <a:t>Sales is the DA's main KPI, so use the referral script more often with customers who already trust or endorse you.</a:t>
            </a:r>
          </a:p>
        </p:txBody>
      </p:sp>
      <p:sp>
        <p:nvSpPr>
          <p:cNvPr id="21" name="Rectangle 20"/>
          <p:cNvSpPr/>
          <p:nvPr/>
        </p:nvSpPr>
        <p:spPr>
          <a:xfrm>
            <a:off x="3055112" y="3366455"/>
            <a:ext cx="8630919" cy="930493"/>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3055112" y="3366455"/>
            <a:ext cx="8630919" cy="292608"/>
          </a:xfrm>
          <a:prstGeom prst="rect">
            <a:avLst/>
          </a:prstGeom>
          <a:solidFill>
            <a:srgbClr val="B9770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What the Zalo chats show</a:t>
            </a:r>
          </a:p>
        </p:txBody>
      </p:sp>
      <p:sp>
        <p:nvSpPr>
          <p:cNvPr id="23" name="TextBox 22"/>
          <p:cNvSpPr txBox="1"/>
          <p:nvPr/>
        </p:nvSpPr>
        <p:spPr>
          <a:xfrm>
            <a:off x="3201416" y="3750503"/>
            <a:ext cx="8338311" cy="418429"/>
          </a:xfrm>
          <a:prstGeom prst="rect">
            <a:avLst/>
          </a:prstGeom>
          <a:noFill/>
        </p:spPr>
        <p:txBody>
          <a:bodyPr wrap="square" anchor="t" lIns="0" rIns="0" tIns="0" bIns="0">
            <a:spAutoFit/>
          </a:bodyPr>
          <a:lstStyle/>
          <a:p>
            <a:pPr algn="l">
              <a:lnSpc>
                <a:spcPct val="95000"/>
              </a:lnSpc>
              <a:spcBef>
                <a:spcPts val="0"/>
              </a:spcBef>
              <a:spcAft>
                <a:spcPts val="400"/>
              </a:spcAft>
            </a:pPr>
            <a:r>
              <a:rPr sz="1000" b="1">
                <a:solidFill>
                  <a:srgbClr val="5C6B62"/>
                </a:solidFill>
                <a:latin typeface="Arial"/>
              </a:rPr>
              <a:t>▪  </a:t>
            </a:r>
            <a:r>
              <a:rPr sz="1000" b="1">
                <a:solidFill>
                  <a:srgbClr val="31633D"/>
                </a:solidFill>
                <a:latin typeface="Arial"/>
              </a:rPr>
              <a:t>Warranty as the recall hook. </a:t>
            </a:r>
            <a:r>
              <a:rPr sz="1000" b="0">
                <a:solidFill>
                  <a:srgbClr val="5C6B62"/>
                </a:solidFill>
                <a:latin typeface="Arial"/>
              </a:rPr>
              <a:t>Dispensed 25/10/2025, one-year warranty, so the recheck has a deadline. The parent booked the same afternoon.</a:t>
            </a:r>
          </a:p>
        </p:txBody>
      </p:sp>
      <p:sp>
        <p:nvSpPr>
          <p:cNvPr id="24" name="Rectangle 23"/>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5" name="Rectangle 24"/>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Best contact notes in the group: code, date, parent, child, phone, and a “gift not yet given” flag. Standardise on this format.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3. REFERENCE SCRIPT  |  CZ STANDARD</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The referral script, and when to send it</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CZ cites this same wording three times — for CTE D7 to adopt, for SH for using it, and for LA to use more often.</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9</a:t>
            </a:r>
          </a:p>
        </p:txBody>
      </p:sp>
      <p:sp>
        <p:nvSpPr>
          <p:cNvPr id="9" name="Rectangle 8"/>
          <p:cNvSpPr/>
          <p:nvPr/>
        </p:nvSpPr>
        <p:spPr>
          <a:xfrm>
            <a:off x="502920" y="1645920"/>
            <a:ext cx="11183112" cy="1783080"/>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645920"/>
            <a:ext cx="11183112" cy="292608"/>
          </a:xfrm>
          <a:prstGeom prst="rect">
            <a:avLst/>
          </a:prstGeom>
          <a:solidFill>
            <a:srgbClr val="31633D"/>
          </a:solidFill>
          <a:ln>
            <a:noFill/>
          </a:ln>
          <a:effectLst/>
        </p:spPr>
        <p:txBody>
          <a:bodyPr rtlCol="0" anchor="ctr" wrap="square" lIns="146304" tIns="27432" bIns="27432"/>
          <a:lstStyle/>
          <a:p>
            <a:pPr algn="l">
              <a:lnSpc>
                <a:spcPct val="95000"/>
              </a:lnSpc>
              <a:spcBef>
                <a:spcPts val="0"/>
              </a:spcBef>
              <a:spcAft>
                <a:spcPts val="0"/>
              </a:spcAft>
            </a:pPr>
            <a:r>
              <a:rPr sz="900" b="1">
                <a:solidFill>
                  <a:srgbClr val="FFFFFF"/>
                </a:solidFill>
                <a:latin typeface="Arial"/>
              </a:rPr>
              <a:t>REFERRAL SCRIPT  ·  as issued by CZ — Vietnamese below is the text sent to customers, not a translation</a:t>
            </a:r>
          </a:p>
        </p:txBody>
      </p:sp>
      <p:sp>
        <p:nvSpPr>
          <p:cNvPr id="11" name="TextBox 10"/>
          <p:cNvSpPr txBox="1"/>
          <p:nvPr/>
        </p:nvSpPr>
        <p:spPr>
          <a:xfrm>
            <a:off x="704088" y="2066544"/>
            <a:ext cx="10780776" cy="640080"/>
          </a:xfrm>
          <a:prstGeom prst="rect">
            <a:avLst/>
          </a:prstGeom>
          <a:noFill/>
        </p:spPr>
        <p:txBody>
          <a:bodyPr wrap="square" anchor="t" lIns="0" rIns="0" tIns="0" bIns="0">
            <a:spAutoFit/>
          </a:bodyPr>
          <a:lstStyle/>
          <a:p>
            <a:pPr algn="l">
              <a:lnSpc>
                <a:spcPct val="115000"/>
              </a:lnSpc>
              <a:spcBef>
                <a:spcPts val="0"/>
              </a:spcBef>
              <a:spcAft>
                <a:spcPts val="0"/>
              </a:spcAft>
            </a:pPr>
            <a:r>
              <a:rPr sz="1150" b="1">
                <a:solidFill>
                  <a:srgbClr val="31633D"/>
                </a:solidFill>
                <a:latin typeface="Arial"/>
              </a:rPr>
              <a:t>có người thân bạn bè có các bé cần kiểm soát cận thị hay khám mắt có thể nhắn em ạ. Em sẽ gửi Voucher giảm phí khám và ưu đãi khi cắt kính để mọi người đều được nhận chính sách ưu đãi tốt nhất ạ. Ngoài ra, Anh/ Chị cũng sẽ nhận quyền lợi tri ân dành cho Hội viên khi chia sẻ, thời thiệu thành công ạ. Em cảm ơn Anh/ Chị đã tin tưởng trung tâm bên em ạ ❤️</a:t>
            </a:r>
          </a:p>
        </p:txBody>
      </p:sp>
      <p:sp>
        <p:nvSpPr>
          <p:cNvPr id="12" name="Rectangle 11"/>
          <p:cNvSpPr/>
          <p:nvPr/>
        </p:nvSpPr>
        <p:spPr>
          <a:xfrm>
            <a:off x="704088" y="2852928"/>
            <a:ext cx="10780776" cy="7315"/>
          </a:xfrm>
          <a:prstGeom prst="rect">
            <a:avLst/>
          </a:prstGeom>
          <a:solidFill>
            <a:srgbClr val="CFE6D8"/>
          </a:solidFill>
          <a:ln>
            <a:noFill/>
          </a:ln>
          <a:effectLst/>
        </p:spPr>
        <p:txBody>
          <a:bodyPr rtlCol="0" anchor="ctr" wrap="square"/>
          <a:lstStyle/>
          <a:p>
            <a:pPr algn="ctr"/>
          </a:p>
        </p:txBody>
      </p:sp>
      <p:sp>
        <p:nvSpPr>
          <p:cNvPr id="13" name="TextBox 12"/>
          <p:cNvSpPr txBox="1"/>
          <p:nvPr/>
        </p:nvSpPr>
        <p:spPr>
          <a:xfrm>
            <a:off x="704088" y="2944368"/>
            <a:ext cx="10780776" cy="457200"/>
          </a:xfrm>
          <a:prstGeom prst="rect">
            <a:avLst/>
          </a:prstGeom>
          <a:noFill/>
        </p:spPr>
        <p:txBody>
          <a:bodyPr wrap="square" anchor="t" lIns="0" rIns="0" tIns="0" bIns="0">
            <a:spAutoFit/>
          </a:bodyPr>
          <a:lstStyle/>
          <a:p>
            <a:pPr algn="l">
              <a:lnSpc>
                <a:spcPct val="105000"/>
              </a:lnSpc>
              <a:spcBef>
                <a:spcPts val="0"/>
              </a:spcBef>
              <a:spcAft>
                <a:spcPts val="0"/>
              </a:spcAft>
            </a:pPr>
            <a:r>
              <a:rPr sz="900" b="0">
                <a:solidFill>
                  <a:srgbClr val="5C6B62"/>
                </a:solidFill>
                <a:latin typeface="Arial"/>
              </a:rPr>
              <a:t>“If you have relatives or friends with children who need myopia control or an eye exam, you can message me. I'll send a voucher reducing the exam fee plus an offer on the glasses, so everyone receives the best policy available. You will also receive the member appreciation benefit for a successful referral. Thank you for trusting our center.”</a:t>
            </a:r>
          </a:p>
        </p:txBody>
      </p:sp>
      <p:sp>
        <p:nvSpPr>
          <p:cNvPr id="14" name="Rectangle 13"/>
          <p:cNvSpPr/>
          <p:nvPr/>
        </p:nvSpPr>
        <p:spPr>
          <a:xfrm>
            <a:off x="502920" y="3675887"/>
            <a:ext cx="5486400" cy="1572768"/>
          </a:xfrm>
          <a:prstGeom prst="rect">
            <a:avLst/>
          </a:prstGeom>
          <a:solidFill>
            <a:srgbClr val="F7FAF8"/>
          </a:solidFill>
          <a:ln w="9525">
            <a:solidFill>
              <a:srgbClr val="CFE6D8"/>
            </a:solidFill>
          </a:ln>
          <a:effectLst/>
        </p:spPr>
        <p:txBody>
          <a:bodyPr rtlCol="0" anchor="ctr" wrap="square"/>
          <a:lstStyle/>
          <a:p>
            <a:pPr algn="ctr"/>
          </a:p>
        </p:txBody>
      </p:sp>
      <p:sp>
        <p:nvSpPr>
          <p:cNvPr id="15" name="Rectangle 14"/>
          <p:cNvSpPr/>
          <p:nvPr/>
        </p:nvSpPr>
        <p:spPr>
          <a:xfrm>
            <a:off x="502920" y="3675887"/>
            <a:ext cx="5486400" cy="292608"/>
          </a:xfrm>
          <a:prstGeom prst="rect">
            <a:avLst/>
          </a:prstGeom>
          <a:solidFill>
            <a:srgbClr val="2E9C4C"/>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When to send it — after trust is earned</a:t>
            </a:r>
          </a:p>
        </p:txBody>
      </p:sp>
      <p:sp>
        <p:nvSpPr>
          <p:cNvPr id="16" name="TextBox 15"/>
          <p:cNvSpPr txBox="1"/>
          <p:nvPr/>
        </p:nvSpPr>
        <p:spPr>
          <a:xfrm>
            <a:off x="649224" y="4059935"/>
            <a:ext cx="5193792" cy="1060704"/>
          </a:xfrm>
          <a:prstGeom prst="rect">
            <a:avLst/>
          </a:prstGeom>
          <a:noFill/>
        </p:spPr>
        <p:txBody>
          <a:bodyPr wrap="square" anchor="t" lIns="0" rIns="0" tIns="0" bIns="0">
            <a:spAutoFit/>
          </a:bodyPr>
          <a:lstStyle/>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After collection. </a:t>
            </a:r>
            <a:r>
              <a:rPr sz="900" b="0">
                <a:solidFill>
                  <a:srgbClr val="5C6B62"/>
                </a:solidFill>
                <a:latin typeface="Arial"/>
              </a:rPr>
              <a:t>The member has the glasses and the benefits message has gone out.</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After a question. </a:t>
            </a:r>
            <a:r>
              <a:rPr sz="900" b="0">
                <a:solidFill>
                  <a:srgbClr val="5C6B62"/>
                </a:solidFill>
                <a:latin typeface="Arial"/>
              </a:rPr>
              <a:t>You have answered something that mattered to them.</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After a booking. </a:t>
            </a:r>
            <a:r>
              <a:rPr sz="900" b="0">
                <a:solidFill>
                  <a:srgbClr val="5C6B62"/>
                </a:solidFill>
                <a:latin typeface="Arial"/>
              </a:rPr>
              <a:t>You have arranged their recheck.</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After shipping. </a:t>
            </a:r>
            <a:r>
              <a:rPr sz="900" b="0">
                <a:solidFill>
                  <a:srgbClr val="5C6B62"/>
                </a:solidFill>
                <a:latin typeface="Arial"/>
              </a:rPr>
              <a:t>You helped post the glasses and confirmed they arrived.</a:t>
            </a:r>
          </a:p>
        </p:txBody>
      </p:sp>
      <p:sp>
        <p:nvSpPr>
          <p:cNvPr id="17" name="Rectangle 16"/>
          <p:cNvSpPr/>
          <p:nvPr/>
        </p:nvSpPr>
        <p:spPr>
          <a:xfrm>
            <a:off x="6199632" y="3675887"/>
            <a:ext cx="5486400" cy="1572768"/>
          </a:xfrm>
          <a:prstGeom prst="rect">
            <a:avLst/>
          </a:prstGeom>
          <a:solidFill>
            <a:srgbClr val="F7FAF8"/>
          </a:solidFill>
          <a:ln w="9525">
            <a:solidFill>
              <a:srgbClr val="CFE6D8"/>
            </a:solidFill>
          </a:ln>
          <a:effectLst/>
        </p:spPr>
        <p:txBody>
          <a:bodyPr rtlCol="0" anchor="ctr" wrap="square"/>
          <a:lstStyle/>
          <a:p>
            <a:pPr algn="ctr"/>
          </a:p>
        </p:txBody>
      </p:sp>
      <p:sp>
        <p:nvSpPr>
          <p:cNvPr id="18" name="Rectangle 17"/>
          <p:cNvSpPr/>
          <p:nvPr/>
        </p:nvSpPr>
        <p:spPr>
          <a:xfrm>
            <a:off x="6199632" y="3675887"/>
            <a:ext cx="5486400" cy="292608"/>
          </a:xfrm>
          <a:prstGeom prst="rect">
            <a:avLst/>
          </a:prstGeom>
          <a:solidFill>
            <a:srgbClr val="C0392B"/>
          </a:solidFill>
          <a:ln>
            <a:noFill/>
          </a:ln>
          <a:effectLst/>
        </p:spPr>
        <p:txBody>
          <a:bodyPr rtlCol="0" anchor="ctr" wrap="square" lIns="146304" tIns="27432" bIns="27432"/>
          <a:lstStyle/>
          <a:p>
            <a:pPr algn="l">
              <a:lnSpc>
                <a:spcPct val="95000"/>
              </a:lnSpc>
              <a:spcBef>
                <a:spcPts val="0"/>
              </a:spcBef>
              <a:spcAft>
                <a:spcPts val="0"/>
              </a:spcAft>
            </a:pPr>
            <a:r>
              <a:rPr sz="950" b="1">
                <a:solidFill>
                  <a:srgbClr val="FFFFFF"/>
                </a:solidFill>
                <a:latin typeface="Arial"/>
              </a:rPr>
              <a:t>Fix before circulating</a:t>
            </a:r>
          </a:p>
        </p:txBody>
      </p:sp>
      <p:sp>
        <p:nvSpPr>
          <p:cNvPr id="19" name="TextBox 18"/>
          <p:cNvSpPr txBox="1"/>
          <p:nvPr/>
        </p:nvSpPr>
        <p:spPr>
          <a:xfrm>
            <a:off x="6345936" y="4059935"/>
            <a:ext cx="5193792" cy="1060704"/>
          </a:xfrm>
          <a:prstGeom prst="rect">
            <a:avLst/>
          </a:prstGeom>
          <a:noFill/>
        </p:spPr>
        <p:txBody>
          <a:bodyPr wrap="square" anchor="t" lIns="0" rIns="0" tIns="0" bIns="0">
            <a:spAutoFit/>
          </a:bodyPr>
          <a:lstStyle/>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Typo in the master. </a:t>
            </a:r>
            <a:r>
              <a:rPr sz="900" b="0">
                <a:solidFill>
                  <a:srgbClr val="5C6B62"/>
                </a:solidFill>
                <a:latin typeface="Arial"/>
              </a:rPr>
              <a:t>“thời thiệu” should be “giới thiệu”. It is a canned message, so every clinic that adopts it ships the error. Fix it at source.</a:t>
            </a:r>
          </a:p>
          <a:p>
            <a:pPr algn="l">
              <a:lnSpc>
                <a:spcPct val="95000"/>
              </a:lnSpc>
              <a:spcBef>
                <a:spcPts val="0"/>
              </a:spcBef>
              <a:spcAft>
                <a:spcPts val="500"/>
              </a:spcAft>
            </a:pPr>
            <a:r>
              <a:rPr sz="900" b="1">
                <a:solidFill>
                  <a:srgbClr val="5C6B62"/>
                </a:solidFill>
                <a:latin typeface="Arial"/>
              </a:rPr>
              <a:t>▪  </a:t>
            </a:r>
            <a:r>
              <a:rPr sz="900" b="1">
                <a:solidFill>
                  <a:srgbClr val="31633D"/>
                </a:solidFill>
                <a:latin typeface="Arial"/>
              </a:rPr>
              <a:t>Not before any trust. </a:t>
            </a:r>
            <a:r>
              <a:rPr sz="900" b="0">
                <a:solidFill>
                  <a:srgbClr val="5C6B62"/>
                </a:solidFill>
                <a:latin typeface="Arial"/>
              </a:rPr>
              <a:t>Sent too early it reads as a sales push — the SH chat shows exactly that reaction.</a:t>
            </a:r>
          </a:p>
        </p:txBody>
      </p:sp>
      <p:sp>
        <p:nvSpPr>
          <p:cNvPr id="20" name="Rectangle 19"/>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21" name="Rectangle 20"/>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Care first, referral second. The script only works where trust already exists.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00584"/>
          </a:xfrm>
          <a:prstGeom prst="rect">
            <a:avLst/>
          </a:prstGeom>
          <a:solidFill>
            <a:srgbClr val="2E9C4C"/>
          </a:solidFill>
          <a:ln>
            <a:noFill/>
          </a:ln>
          <a:effectLst/>
        </p:spPr>
        <p:txBody>
          <a:bodyPr rtlCol="0" anchor="ctr" wrap="square"/>
          <a:lstStyle/>
          <a:p>
            <a:pPr algn="ctr"/>
          </a:p>
        </p:txBody>
      </p:sp>
      <p:sp>
        <p:nvSpPr>
          <p:cNvPr id="3" name="TextBox 2"/>
          <p:cNvSpPr txBox="1"/>
          <p:nvPr/>
        </p:nvSpPr>
        <p:spPr>
          <a:xfrm>
            <a:off x="502920" y="228600"/>
            <a:ext cx="9692640" cy="228600"/>
          </a:xfrm>
          <a:prstGeom prst="rect">
            <a:avLst/>
          </a:prstGeom>
          <a:noFill/>
        </p:spPr>
        <p:txBody>
          <a:bodyPr wrap="square" anchor="t" lIns="0" rIns="0" tIns="0" bIns="0">
            <a:spAutoFit/>
          </a:bodyPr>
          <a:lstStyle/>
          <a:p>
            <a:pPr algn="l">
              <a:lnSpc>
                <a:spcPct val="95000"/>
              </a:lnSpc>
              <a:spcBef>
                <a:spcPts val="0"/>
              </a:spcBef>
              <a:spcAft>
                <a:spcPts val="0"/>
              </a:spcAft>
            </a:pPr>
            <a:r>
              <a:rPr sz="950" b="1">
                <a:solidFill>
                  <a:srgbClr val="2E9C4C"/>
                </a:solidFill>
                <a:latin typeface="Arial"/>
              </a:rPr>
              <a:t>4. ACTIONS</a:t>
            </a:r>
          </a:p>
        </p:txBody>
      </p:sp>
      <p:sp>
        <p:nvSpPr>
          <p:cNvPr id="4" name="TextBox 3"/>
          <p:cNvSpPr txBox="1"/>
          <p:nvPr/>
        </p:nvSpPr>
        <p:spPr>
          <a:xfrm>
            <a:off x="502920" y="475488"/>
            <a:ext cx="11247120" cy="658368"/>
          </a:xfrm>
          <a:prstGeom prst="rect">
            <a:avLst/>
          </a:prstGeom>
          <a:noFill/>
        </p:spPr>
        <p:txBody>
          <a:bodyPr wrap="square" anchor="t" lIns="0" rIns="0" tIns="0" bIns="0">
            <a:spAutoFit/>
          </a:bodyPr>
          <a:lstStyle/>
          <a:p>
            <a:pPr algn="l">
              <a:lnSpc>
                <a:spcPct val="100000"/>
              </a:lnSpc>
              <a:spcBef>
                <a:spcPts val="0"/>
              </a:spcBef>
              <a:spcAft>
                <a:spcPts val="0"/>
              </a:spcAft>
            </a:pPr>
            <a:r>
              <a:rPr sz="2100" b="1">
                <a:solidFill>
                  <a:srgbClr val="31633D"/>
                </a:solidFill>
                <a:latin typeface="Arial"/>
              </a:rPr>
              <a:t>What changes this week</a:t>
            </a:r>
          </a:p>
        </p:txBody>
      </p:sp>
      <p:sp>
        <p:nvSpPr>
          <p:cNvPr id="5" name="Rectangle 4"/>
          <p:cNvSpPr/>
          <p:nvPr/>
        </p:nvSpPr>
        <p:spPr>
          <a:xfrm>
            <a:off x="502920" y="1179576"/>
            <a:ext cx="11183112" cy="18288"/>
          </a:xfrm>
          <a:prstGeom prst="rect">
            <a:avLst/>
          </a:prstGeom>
          <a:solidFill>
            <a:srgbClr val="CFE6D8"/>
          </a:solidFill>
          <a:ln>
            <a:noFill/>
          </a:ln>
          <a:effectLst/>
        </p:spPr>
        <p:txBody>
          <a:bodyPr rtlCol="0" anchor="ctr" wrap="square"/>
          <a:lstStyle/>
          <a:p>
            <a:pPr algn="ctr"/>
          </a:p>
        </p:txBody>
      </p:sp>
      <p:sp>
        <p:nvSpPr>
          <p:cNvPr id="6" name="TextBox 5"/>
          <p:cNvSpPr txBox="1"/>
          <p:nvPr/>
        </p:nvSpPr>
        <p:spPr>
          <a:xfrm>
            <a:off x="502920" y="1261872"/>
            <a:ext cx="11183112" cy="237744"/>
          </a:xfrm>
          <a:prstGeom prst="rect">
            <a:avLst/>
          </a:prstGeom>
          <a:noFill/>
        </p:spPr>
        <p:txBody>
          <a:bodyPr wrap="square" anchor="t" lIns="0" rIns="0" tIns="0" bIns="0">
            <a:spAutoFit/>
          </a:bodyPr>
          <a:lstStyle/>
          <a:p>
            <a:pPr algn="l">
              <a:lnSpc>
                <a:spcPct val="95000"/>
              </a:lnSpc>
              <a:spcBef>
                <a:spcPts val="0"/>
              </a:spcBef>
              <a:spcAft>
                <a:spcPts val="0"/>
              </a:spcAft>
            </a:pPr>
            <a:r>
              <a:rPr sz="1000" b="0">
                <a:solidFill>
                  <a:srgbClr val="5C6B62"/>
                </a:solidFill>
                <a:latin typeface="Arial"/>
              </a:rPr>
              <a:t>The touchpoint standard for everyone, then one short list per clinic.</a:t>
            </a:r>
          </a:p>
        </p:txBody>
      </p:sp>
      <p:sp>
        <p:nvSpPr>
          <p:cNvPr id="7" name="TextBox 6"/>
          <p:cNvSpPr txBox="1"/>
          <p:nvPr/>
        </p:nvSpPr>
        <p:spPr>
          <a:xfrm>
            <a:off x="502920" y="6455664"/>
            <a:ext cx="5486400" cy="237744"/>
          </a:xfrm>
          <a:prstGeom prst="rect">
            <a:avLst/>
          </a:prstGeom>
          <a:noFill/>
        </p:spPr>
        <p:txBody>
          <a:bodyPr wrap="square" anchor="t" lIns="0" rIns="0" tIns="0" bIns="0">
            <a:spAutoFit/>
          </a:bodyPr>
          <a:lstStyle/>
          <a:p>
            <a:pPr algn="l">
              <a:lnSpc>
                <a:spcPct val="95000"/>
              </a:lnSpc>
              <a:spcBef>
                <a:spcPts val="0"/>
              </a:spcBef>
              <a:spcAft>
                <a:spcPts val="0"/>
              </a:spcAft>
            </a:pPr>
            <a:r>
              <a:rPr sz="800" b="0">
                <a:solidFill>
                  <a:srgbClr val="5C6B62"/>
                </a:solidFill>
                <a:latin typeface="Arial"/>
              </a:rPr>
              <a:t>Mắt Sài Gòn  |  Optometry DA Training</a:t>
            </a:r>
          </a:p>
        </p:txBody>
      </p:sp>
      <p:sp>
        <p:nvSpPr>
          <p:cNvPr id="8" name="TextBox 7"/>
          <p:cNvSpPr txBox="1"/>
          <p:nvPr/>
        </p:nvSpPr>
        <p:spPr>
          <a:xfrm>
            <a:off x="10972800" y="6455664"/>
            <a:ext cx="713232" cy="237744"/>
          </a:xfrm>
          <a:prstGeom prst="rect">
            <a:avLst/>
          </a:prstGeom>
          <a:noFill/>
        </p:spPr>
        <p:txBody>
          <a:bodyPr wrap="square" anchor="t" lIns="0" rIns="0" tIns="0" bIns="0">
            <a:spAutoFit/>
          </a:bodyPr>
          <a:lstStyle/>
          <a:p>
            <a:pPr algn="r">
              <a:lnSpc>
                <a:spcPct val="95000"/>
              </a:lnSpc>
              <a:spcBef>
                <a:spcPts val="0"/>
              </a:spcBef>
              <a:spcAft>
                <a:spcPts val="0"/>
              </a:spcAft>
            </a:pPr>
            <a:r>
              <a:rPr sz="800" b="1">
                <a:solidFill>
                  <a:srgbClr val="5C6B62"/>
                </a:solidFill>
                <a:latin typeface="Arial"/>
              </a:rPr>
              <a:t>10</a:t>
            </a:r>
          </a:p>
        </p:txBody>
      </p:sp>
      <p:sp>
        <p:nvSpPr>
          <p:cNvPr id="9" name="Rectangle 8"/>
          <p:cNvSpPr/>
          <p:nvPr/>
        </p:nvSpPr>
        <p:spPr>
          <a:xfrm>
            <a:off x="502920" y="1591056"/>
            <a:ext cx="11183112" cy="293522"/>
          </a:xfrm>
          <a:prstGeom prst="rect">
            <a:avLst/>
          </a:prstGeom>
          <a:solidFill>
            <a:srgbClr val="F7FAF8"/>
          </a:solidFill>
          <a:ln w="9525">
            <a:solidFill>
              <a:srgbClr val="CFE6D8"/>
            </a:solidFill>
          </a:ln>
          <a:effectLst/>
        </p:spPr>
        <p:txBody>
          <a:bodyPr rtlCol="0" anchor="ctr" wrap="square"/>
          <a:lstStyle/>
          <a:p>
            <a:pPr algn="ctr"/>
          </a:p>
        </p:txBody>
      </p:sp>
      <p:sp>
        <p:nvSpPr>
          <p:cNvPr id="10" name="Rectangle 9"/>
          <p:cNvSpPr/>
          <p:nvPr/>
        </p:nvSpPr>
        <p:spPr>
          <a:xfrm>
            <a:off x="502920" y="1591056"/>
            <a:ext cx="54864" cy="293522"/>
          </a:xfrm>
          <a:prstGeom prst="rect">
            <a:avLst/>
          </a:prstGeom>
          <a:solidFill>
            <a:srgbClr val="31633D"/>
          </a:solidFill>
          <a:ln>
            <a:noFill/>
          </a:ln>
          <a:effectLst/>
        </p:spPr>
        <p:txBody>
          <a:bodyPr rtlCol="0" anchor="ctr" wrap="square"/>
          <a:lstStyle/>
          <a:p>
            <a:pPr algn="ctr"/>
          </a:p>
        </p:txBody>
      </p:sp>
      <p:sp>
        <p:nvSpPr>
          <p:cNvPr id="11" name="TextBox 10"/>
          <p:cNvSpPr txBox="1"/>
          <p:nvPr/>
        </p:nvSpPr>
        <p:spPr>
          <a:xfrm>
            <a:off x="704088" y="1664208"/>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All clinics</a:t>
            </a:r>
          </a:p>
        </p:txBody>
      </p:sp>
      <p:sp>
        <p:nvSpPr>
          <p:cNvPr id="12" name="TextBox 11"/>
          <p:cNvSpPr txBox="1"/>
          <p:nvPr/>
        </p:nvSpPr>
        <p:spPr>
          <a:xfrm>
            <a:off x="1691640" y="1655064"/>
            <a:ext cx="9720072" cy="147218"/>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Reach out at CD3–5 and CD7, then CD14 and CD30 — at least three touchpoints per member.</a:t>
            </a:r>
          </a:p>
        </p:txBody>
      </p:sp>
      <p:sp>
        <p:nvSpPr>
          <p:cNvPr id="13" name="Rectangle 12"/>
          <p:cNvSpPr/>
          <p:nvPr/>
        </p:nvSpPr>
        <p:spPr>
          <a:xfrm>
            <a:off x="502920" y="1966112"/>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14" name="Rectangle 13"/>
          <p:cNvSpPr/>
          <p:nvPr/>
        </p:nvSpPr>
        <p:spPr>
          <a:xfrm>
            <a:off x="502920" y="1966112"/>
            <a:ext cx="54864" cy="651967"/>
          </a:xfrm>
          <a:prstGeom prst="rect">
            <a:avLst/>
          </a:prstGeom>
          <a:solidFill>
            <a:srgbClr val="C0392B"/>
          </a:solidFill>
          <a:ln>
            <a:noFill/>
          </a:ln>
          <a:effectLst/>
        </p:spPr>
        <p:txBody>
          <a:bodyPr rtlCol="0" anchor="ctr" wrap="square"/>
          <a:lstStyle/>
          <a:p>
            <a:pPr algn="ctr"/>
          </a:p>
        </p:txBody>
      </p:sp>
      <p:sp>
        <p:nvSpPr>
          <p:cNvPr id="15" name="TextBox 14"/>
          <p:cNvSpPr txBox="1"/>
          <p:nvPr/>
        </p:nvSpPr>
        <p:spPr>
          <a:xfrm>
            <a:off x="704088" y="2039264"/>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CTE D5</a:t>
            </a:r>
          </a:p>
        </p:txBody>
      </p:sp>
      <p:sp>
        <p:nvSpPr>
          <p:cNvPr id="16" name="TextBox 15"/>
          <p:cNvSpPr txBox="1"/>
          <p:nvPr/>
        </p:nvSpPr>
        <p:spPr>
          <a:xfrm>
            <a:off x="1691640" y="2030120"/>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Send the membership benefits on collection day, then a CD3–5 care message.</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Re-contact the consulted-but-did-not-buy list, and lift weekday contact volume.</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Familiarise with product questions — for example Ortho-K care and saline.</a:t>
            </a:r>
          </a:p>
        </p:txBody>
      </p:sp>
      <p:sp>
        <p:nvSpPr>
          <p:cNvPr id="17" name="Rectangle 16"/>
          <p:cNvSpPr/>
          <p:nvPr/>
        </p:nvSpPr>
        <p:spPr>
          <a:xfrm>
            <a:off x="502920" y="2699613"/>
            <a:ext cx="11183112" cy="293522"/>
          </a:xfrm>
          <a:prstGeom prst="rect">
            <a:avLst/>
          </a:prstGeom>
          <a:solidFill>
            <a:srgbClr val="F7FAF8"/>
          </a:solidFill>
          <a:ln w="9525">
            <a:solidFill>
              <a:srgbClr val="CFE6D8"/>
            </a:solidFill>
          </a:ln>
          <a:effectLst/>
        </p:spPr>
        <p:txBody>
          <a:bodyPr rtlCol="0" anchor="ctr" wrap="square"/>
          <a:lstStyle/>
          <a:p>
            <a:pPr algn="ctr"/>
          </a:p>
        </p:txBody>
      </p:sp>
      <p:sp>
        <p:nvSpPr>
          <p:cNvPr id="18" name="Rectangle 17"/>
          <p:cNvSpPr/>
          <p:nvPr/>
        </p:nvSpPr>
        <p:spPr>
          <a:xfrm>
            <a:off x="502920" y="2699613"/>
            <a:ext cx="54864" cy="293522"/>
          </a:xfrm>
          <a:prstGeom prst="rect">
            <a:avLst/>
          </a:prstGeom>
          <a:solidFill>
            <a:srgbClr val="2E9C4C"/>
          </a:solidFill>
          <a:ln>
            <a:noFill/>
          </a:ln>
          <a:effectLst/>
        </p:spPr>
        <p:txBody>
          <a:bodyPr rtlCol="0" anchor="ctr" wrap="square"/>
          <a:lstStyle/>
          <a:p>
            <a:pPr algn="ctr"/>
          </a:p>
        </p:txBody>
      </p:sp>
      <p:sp>
        <p:nvSpPr>
          <p:cNvPr id="19" name="TextBox 18"/>
          <p:cNvSpPr txBox="1"/>
          <p:nvPr/>
        </p:nvSpPr>
        <p:spPr>
          <a:xfrm>
            <a:off x="704088" y="2772765"/>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CTE D7</a:t>
            </a:r>
          </a:p>
        </p:txBody>
      </p:sp>
      <p:sp>
        <p:nvSpPr>
          <p:cNvPr id="20" name="TextBox 19"/>
          <p:cNvSpPr txBox="1"/>
          <p:nvPr/>
        </p:nvSpPr>
        <p:spPr>
          <a:xfrm>
            <a:off x="1691640" y="2763621"/>
            <a:ext cx="9720072" cy="147218"/>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Casually ask for referrals when appropriate — after service has been provided.</a:t>
            </a:r>
          </a:p>
        </p:txBody>
      </p:sp>
      <p:sp>
        <p:nvSpPr>
          <p:cNvPr id="21" name="Rectangle 20"/>
          <p:cNvSpPr/>
          <p:nvPr/>
        </p:nvSpPr>
        <p:spPr>
          <a:xfrm>
            <a:off x="502920" y="3074669"/>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22" name="Rectangle 21"/>
          <p:cNvSpPr/>
          <p:nvPr/>
        </p:nvSpPr>
        <p:spPr>
          <a:xfrm>
            <a:off x="502920" y="3074669"/>
            <a:ext cx="54864" cy="651967"/>
          </a:xfrm>
          <a:prstGeom prst="rect">
            <a:avLst/>
          </a:prstGeom>
          <a:solidFill>
            <a:srgbClr val="B9770B"/>
          </a:solidFill>
          <a:ln>
            <a:noFill/>
          </a:ln>
          <a:effectLst/>
        </p:spPr>
        <p:txBody>
          <a:bodyPr rtlCol="0" anchor="ctr" wrap="square"/>
          <a:lstStyle/>
          <a:p>
            <a:pPr algn="ctr"/>
          </a:p>
        </p:txBody>
      </p:sp>
      <p:sp>
        <p:nvSpPr>
          <p:cNvPr id="23" name="TextBox 22"/>
          <p:cNvSpPr txBox="1"/>
          <p:nvPr/>
        </p:nvSpPr>
        <p:spPr>
          <a:xfrm>
            <a:off x="704088" y="3147821"/>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NGT</a:t>
            </a:r>
          </a:p>
        </p:txBody>
      </p:sp>
      <p:sp>
        <p:nvSpPr>
          <p:cNvPr id="24" name="TextBox 23"/>
          <p:cNvSpPr txBox="1"/>
          <p:nvPr/>
        </p:nvSpPr>
        <p:spPr>
          <a:xfrm>
            <a:off x="1691640" y="3138677"/>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Keep testing ideas and customise the approach as needed.</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When booking a collection time, add the referral line — bring relatives or friends, 50% off the exam plus a discount on the glasses.</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When glasses are shipped, send the benefits after they ship and ask the parent to confirm arrival.</a:t>
            </a:r>
          </a:p>
        </p:txBody>
      </p:sp>
      <p:sp>
        <p:nvSpPr>
          <p:cNvPr id="25" name="Rectangle 24"/>
          <p:cNvSpPr/>
          <p:nvPr/>
        </p:nvSpPr>
        <p:spPr>
          <a:xfrm>
            <a:off x="502920" y="3808171"/>
            <a:ext cx="11183112" cy="472744"/>
          </a:xfrm>
          <a:prstGeom prst="rect">
            <a:avLst/>
          </a:prstGeom>
          <a:solidFill>
            <a:srgbClr val="F7FAF8"/>
          </a:solidFill>
          <a:ln w="9525">
            <a:solidFill>
              <a:srgbClr val="CFE6D8"/>
            </a:solidFill>
          </a:ln>
          <a:effectLst/>
        </p:spPr>
        <p:txBody>
          <a:bodyPr rtlCol="0" anchor="ctr" wrap="square"/>
          <a:lstStyle/>
          <a:p>
            <a:pPr algn="ctr"/>
          </a:p>
        </p:txBody>
      </p:sp>
      <p:sp>
        <p:nvSpPr>
          <p:cNvPr id="26" name="Rectangle 25"/>
          <p:cNvSpPr/>
          <p:nvPr/>
        </p:nvSpPr>
        <p:spPr>
          <a:xfrm>
            <a:off x="502920" y="3808171"/>
            <a:ext cx="54864" cy="472744"/>
          </a:xfrm>
          <a:prstGeom prst="rect">
            <a:avLst/>
          </a:prstGeom>
          <a:solidFill>
            <a:srgbClr val="2E9C4C"/>
          </a:solidFill>
          <a:ln>
            <a:noFill/>
          </a:ln>
          <a:effectLst/>
        </p:spPr>
        <p:txBody>
          <a:bodyPr rtlCol="0" anchor="ctr" wrap="square"/>
          <a:lstStyle/>
          <a:p>
            <a:pPr algn="ctr"/>
          </a:p>
        </p:txBody>
      </p:sp>
      <p:sp>
        <p:nvSpPr>
          <p:cNvPr id="27" name="TextBox 26"/>
          <p:cNvSpPr txBox="1"/>
          <p:nvPr/>
        </p:nvSpPr>
        <p:spPr>
          <a:xfrm>
            <a:off x="704088" y="3881323"/>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SH</a:t>
            </a:r>
          </a:p>
        </p:txBody>
      </p:sp>
      <p:sp>
        <p:nvSpPr>
          <p:cNvPr id="28" name="TextBox 27"/>
          <p:cNvSpPr txBox="1"/>
          <p:nvPr/>
        </p:nvSpPr>
        <p:spPr>
          <a:xfrm>
            <a:off x="1691640" y="3872179"/>
            <a:ext cx="9720072" cy="326440"/>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Move the referral script to after collection, after a question answered, or after a recheck booking.</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Add the CD3–5 care message once the benefits have gone out.</a:t>
            </a:r>
          </a:p>
        </p:txBody>
      </p:sp>
      <p:sp>
        <p:nvSpPr>
          <p:cNvPr id="29" name="Rectangle 28"/>
          <p:cNvSpPr/>
          <p:nvPr/>
        </p:nvSpPr>
        <p:spPr>
          <a:xfrm>
            <a:off x="502920" y="4362450"/>
            <a:ext cx="11183112" cy="651967"/>
          </a:xfrm>
          <a:prstGeom prst="rect">
            <a:avLst/>
          </a:prstGeom>
          <a:solidFill>
            <a:srgbClr val="F7FAF8"/>
          </a:solidFill>
          <a:ln w="9525">
            <a:solidFill>
              <a:srgbClr val="CFE6D8"/>
            </a:solidFill>
          </a:ln>
          <a:effectLst/>
        </p:spPr>
        <p:txBody>
          <a:bodyPr rtlCol="0" anchor="ctr" wrap="square"/>
          <a:lstStyle/>
          <a:p>
            <a:pPr algn="ctr"/>
          </a:p>
        </p:txBody>
      </p:sp>
      <p:sp>
        <p:nvSpPr>
          <p:cNvPr id="30" name="Rectangle 29"/>
          <p:cNvSpPr/>
          <p:nvPr/>
        </p:nvSpPr>
        <p:spPr>
          <a:xfrm>
            <a:off x="502920" y="4362450"/>
            <a:ext cx="54864" cy="651967"/>
          </a:xfrm>
          <a:prstGeom prst="rect">
            <a:avLst/>
          </a:prstGeom>
          <a:solidFill>
            <a:srgbClr val="2E9C4C"/>
          </a:solidFill>
          <a:ln>
            <a:noFill/>
          </a:ln>
          <a:effectLst/>
        </p:spPr>
        <p:txBody>
          <a:bodyPr rtlCol="0" anchor="ctr" wrap="square"/>
          <a:lstStyle/>
          <a:p>
            <a:pPr algn="ctr"/>
          </a:p>
        </p:txBody>
      </p:sp>
      <p:sp>
        <p:nvSpPr>
          <p:cNvPr id="31" name="TextBox 30"/>
          <p:cNvSpPr txBox="1"/>
          <p:nvPr/>
        </p:nvSpPr>
        <p:spPr>
          <a:xfrm>
            <a:off x="704088" y="4435602"/>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CMTT</a:t>
            </a:r>
          </a:p>
        </p:txBody>
      </p:sp>
      <p:sp>
        <p:nvSpPr>
          <p:cNvPr id="32" name="TextBox 31"/>
          <p:cNvSpPr txBox="1"/>
          <p:nvPr/>
        </p:nvSpPr>
        <p:spPr>
          <a:xfrm>
            <a:off x="1691640" y="4426458"/>
            <a:ext cx="9720072" cy="505663"/>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Keep up the good work — the sequence here is the model for the group.</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Add contact numbers to the Zalo tags.</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Stay close to the SOP, and raise any questions with the trainer.</a:t>
            </a:r>
          </a:p>
        </p:txBody>
      </p:sp>
      <p:sp>
        <p:nvSpPr>
          <p:cNvPr id="33" name="Rectangle 32"/>
          <p:cNvSpPr/>
          <p:nvPr/>
        </p:nvSpPr>
        <p:spPr>
          <a:xfrm>
            <a:off x="502920" y="5095951"/>
            <a:ext cx="11183112" cy="472744"/>
          </a:xfrm>
          <a:prstGeom prst="rect">
            <a:avLst/>
          </a:prstGeom>
          <a:solidFill>
            <a:srgbClr val="F7FAF8"/>
          </a:solidFill>
          <a:ln w="9525">
            <a:solidFill>
              <a:srgbClr val="CFE6D8"/>
            </a:solidFill>
          </a:ln>
          <a:effectLst/>
        </p:spPr>
        <p:txBody>
          <a:bodyPr rtlCol="0" anchor="ctr" wrap="square"/>
          <a:lstStyle/>
          <a:p>
            <a:pPr algn="ctr"/>
          </a:p>
        </p:txBody>
      </p:sp>
      <p:sp>
        <p:nvSpPr>
          <p:cNvPr id="34" name="Rectangle 33"/>
          <p:cNvSpPr/>
          <p:nvPr/>
        </p:nvSpPr>
        <p:spPr>
          <a:xfrm>
            <a:off x="502920" y="5095951"/>
            <a:ext cx="54864" cy="472744"/>
          </a:xfrm>
          <a:prstGeom prst="rect">
            <a:avLst/>
          </a:prstGeom>
          <a:solidFill>
            <a:srgbClr val="2E9C4C"/>
          </a:solidFill>
          <a:ln>
            <a:noFill/>
          </a:ln>
          <a:effectLst/>
        </p:spPr>
        <p:txBody>
          <a:bodyPr rtlCol="0" anchor="ctr" wrap="square"/>
          <a:lstStyle/>
          <a:p>
            <a:pPr algn="ctr"/>
          </a:p>
        </p:txBody>
      </p:sp>
      <p:sp>
        <p:nvSpPr>
          <p:cNvPr id="35" name="TextBox 34"/>
          <p:cNvSpPr txBox="1"/>
          <p:nvPr/>
        </p:nvSpPr>
        <p:spPr>
          <a:xfrm>
            <a:off x="704088" y="5169103"/>
            <a:ext cx="1097280" cy="237744"/>
          </a:xfrm>
          <a:prstGeom prst="rect">
            <a:avLst/>
          </a:prstGeom>
          <a:noFill/>
        </p:spPr>
        <p:txBody>
          <a:bodyPr wrap="square" anchor="t" lIns="0" rIns="0" tIns="0" bIns="0">
            <a:spAutoFit/>
          </a:bodyPr>
          <a:lstStyle/>
          <a:p>
            <a:pPr algn="l">
              <a:lnSpc>
                <a:spcPct val="95000"/>
              </a:lnSpc>
              <a:spcBef>
                <a:spcPts val="0"/>
              </a:spcBef>
              <a:spcAft>
                <a:spcPts val="0"/>
              </a:spcAft>
            </a:pPr>
            <a:r>
              <a:rPr sz="1100" b="1">
                <a:solidFill>
                  <a:srgbClr val="31633D"/>
                </a:solidFill>
                <a:latin typeface="Arial"/>
              </a:rPr>
              <a:t>LA</a:t>
            </a:r>
          </a:p>
        </p:txBody>
      </p:sp>
      <p:sp>
        <p:nvSpPr>
          <p:cNvPr id="36" name="TextBox 35"/>
          <p:cNvSpPr txBox="1"/>
          <p:nvPr/>
        </p:nvSpPr>
        <p:spPr>
          <a:xfrm>
            <a:off x="1691640" y="5159959"/>
            <a:ext cx="9720072" cy="326440"/>
          </a:xfrm>
          <a:prstGeom prst="rect">
            <a:avLst/>
          </a:prstGeom>
          <a:noFill/>
        </p:spPr>
        <p:txBody>
          <a:bodyPr wrap="square" anchor="t" lIns="0" rIns="0" tIns="0" bIns="0">
            <a:spAutoFit/>
          </a:bodyPr>
          <a:lstStyle/>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Extend follow-up to every member who collects, not only the responsive ones.</a:t>
            </a:r>
          </a:p>
          <a:p>
            <a:pPr algn="l">
              <a:lnSpc>
                <a:spcPct val="95000"/>
              </a:lnSpc>
              <a:spcBef>
                <a:spcPts val="0"/>
              </a:spcBef>
              <a:spcAft>
                <a:spcPts val="250"/>
              </a:spcAft>
            </a:pPr>
            <a:r>
              <a:rPr sz="900" b="1">
                <a:solidFill>
                  <a:srgbClr val="5C6B62"/>
                </a:solidFill>
                <a:latin typeface="Arial"/>
              </a:rPr>
              <a:t>–  </a:t>
            </a:r>
            <a:r>
              <a:rPr sz="900" b="0">
                <a:solidFill>
                  <a:srgbClr val="5C6B62"/>
                </a:solidFill>
                <a:latin typeface="Arial"/>
              </a:rPr>
              <a:t>Use the referral script with customers who already trust or endorse you.</a:t>
            </a:r>
          </a:p>
        </p:txBody>
      </p:sp>
      <p:sp>
        <p:nvSpPr>
          <p:cNvPr id="37" name="Rectangle 36"/>
          <p:cNvSpPr/>
          <p:nvPr/>
        </p:nvSpPr>
        <p:spPr>
          <a:xfrm>
            <a:off x="502920" y="5715000"/>
            <a:ext cx="64008" cy="457200"/>
          </a:xfrm>
          <a:prstGeom prst="rect">
            <a:avLst/>
          </a:prstGeom>
          <a:solidFill>
            <a:srgbClr val="2E9C4C"/>
          </a:solidFill>
          <a:ln>
            <a:noFill/>
          </a:ln>
          <a:effectLst/>
        </p:spPr>
        <p:txBody>
          <a:bodyPr rtlCol="0" anchor="ctr" wrap="square"/>
          <a:lstStyle/>
          <a:p>
            <a:pPr algn="ctr"/>
          </a:p>
        </p:txBody>
      </p:sp>
      <p:sp>
        <p:nvSpPr>
          <p:cNvPr id="38" name="Rectangle 37"/>
          <p:cNvSpPr/>
          <p:nvPr/>
        </p:nvSpPr>
        <p:spPr>
          <a:xfrm>
            <a:off x="566928" y="5715000"/>
            <a:ext cx="11119104" cy="457200"/>
          </a:xfrm>
          <a:prstGeom prst="rect">
            <a:avLst/>
          </a:prstGeom>
          <a:solidFill>
            <a:srgbClr val="EBF4EF"/>
          </a:solidFill>
          <a:ln>
            <a:noFill/>
          </a:ln>
          <a:effectLst/>
        </p:spPr>
        <p:txBody>
          <a:bodyPr rtlCol="0" anchor="ctr" wrap="square" lIns="164592" tIns="27432" bIns="27432"/>
          <a:lstStyle/>
          <a:p>
            <a:pPr algn="l">
              <a:lnSpc>
                <a:spcPct val="95000"/>
              </a:lnSpc>
              <a:spcBef>
                <a:spcPts val="0"/>
              </a:spcBef>
              <a:spcAft>
                <a:spcPts val="0"/>
              </a:spcAft>
            </a:pPr>
            <a:r>
              <a:rPr sz="1000" b="1">
                <a:solidFill>
                  <a:srgbClr val="31633D"/>
                </a:solidFill>
                <a:latin typeface="Arial"/>
              </a:rPr>
              <a:t>Keep the order: benefits first, then the care message, then the referral ask.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