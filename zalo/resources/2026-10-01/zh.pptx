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3"/>
  </p:notesMasterIdLst>
  <p:sldIdLst>
    <p:sldId id="256" r:id="rId4"/>
    <p:sldId id="257" r:id="rId5"/>
    <p:sldId id="258" r:id="rId6"/>
    <p:sldId id="259" r:id="rId7"/>
    <p:sldId id="260" r:id="rId8"/>
    <p:sldId id="261" r:id="rId9"/>
    <p:sldId id="262" r:id="rId10"/>
    <p:sldId id="263" r:id="rId11"/>
    <p:sldId id="264" r:id="rId12"/>
  </p:sldIdLst>
  <p:sldSz cx="12192000"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tableStyles" Target="tableStyles.xml"/><Relationship Id="rId1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BB5F3E3-9311-8E73-A334-6388D3EEA4E3}"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B95CF71-759C-FCF6-1B26-23EB0B4B9F00}"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A86ED29-4C1B-498B-1CE0-0BA72F098D9F}"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9CA36E0-FD6B-2522-512D-4C6BFFA5FC9B}"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69D10B0-7B80-3F1C-AE7B-B2023FBC81EE}"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420A451-EB8D-0DD2-DAB8-20C3F12BE1DD}"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FF0938A-C882-BD21-F980-F07576C87659}"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D98F1C8-133D-F1BF-C422-1F8DD6143312}"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8C554C9-55D4-AC86-1905-636374ECB451}" type="slidenum">
              <a:rPr/>
              <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789448830"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003576455"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2110782365"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089023373" name="Footer Placeholder 4"/>
          <p:cNvSpPr>
            <a:spLocks noGrp="1"/>
          </p:cNvSpPr>
          <p:nvPr>
            <p:ph type="ftr" sz="quarter" idx="11"/>
          </p:nvPr>
        </p:nvSpPr>
        <p:spPr bwMode="auto"/>
        <p:txBody>
          <a:bodyPr/>
          <a:lstStyle/>
          <a:p>
            <a:pPr>
              <a:defRPr/>
            </a:pPr>
            <a:endParaRPr lang="en-US"/>
          </a:p>
        </p:txBody>
      </p:sp>
      <p:sp>
        <p:nvSpPr>
          <p:cNvPr id="25119150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808190968" name="Title 1"/>
          <p:cNvSpPr>
            <a:spLocks noGrp="1"/>
          </p:cNvSpPr>
          <p:nvPr>
            <p:ph type="title"/>
          </p:nvPr>
        </p:nvSpPr>
        <p:spPr bwMode="auto"/>
        <p:txBody>
          <a:bodyPr/>
          <a:lstStyle/>
          <a:p>
            <a:pPr>
              <a:defRPr/>
            </a:pPr>
            <a:r>
              <a:rPr lang="en-US"/>
              <a:t>Click to edit Master title style</a:t>
            </a:r>
            <a:endParaRPr lang="en-US"/>
          </a:p>
        </p:txBody>
      </p:sp>
      <p:sp>
        <p:nvSpPr>
          <p:cNvPr id="191781630"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41251238"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993154557" name="Footer Placeholder 4"/>
          <p:cNvSpPr>
            <a:spLocks noGrp="1"/>
          </p:cNvSpPr>
          <p:nvPr>
            <p:ph type="ftr" sz="quarter" idx="11"/>
          </p:nvPr>
        </p:nvSpPr>
        <p:spPr bwMode="auto"/>
        <p:txBody>
          <a:bodyPr/>
          <a:lstStyle/>
          <a:p>
            <a:pPr>
              <a:defRPr/>
            </a:pPr>
            <a:endParaRPr lang="en-US"/>
          </a:p>
        </p:txBody>
      </p:sp>
      <p:sp>
        <p:nvSpPr>
          <p:cNvPr id="1905955846"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654568781"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919790828"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2098148587"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428603882" name="Footer Placeholder 4"/>
          <p:cNvSpPr>
            <a:spLocks noGrp="1"/>
          </p:cNvSpPr>
          <p:nvPr>
            <p:ph type="ftr" sz="quarter" idx="11"/>
          </p:nvPr>
        </p:nvSpPr>
        <p:spPr bwMode="auto"/>
        <p:txBody>
          <a:bodyPr/>
          <a:lstStyle/>
          <a:p>
            <a:pPr>
              <a:defRPr/>
            </a:pPr>
            <a:endParaRPr lang="en-US"/>
          </a:p>
        </p:txBody>
      </p:sp>
      <p:sp>
        <p:nvSpPr>
          <p:cNvPr id="1200475650"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358571052" name="Title 1"/>
          <p:cNvSpPr>
            <a:spLocks noGrp="1"/>
          </p:cNvSpPr>
          <p:nvPr>
            <p:ph type="title"/>
          </p:nvPr>
        </p:nvSpPr>
        <p:spPr bwMode="auto"/>
        <p:txBody>
          <a:bodyPr/>
          <a:lstStyle/>
          <a:p>
            <a:pPr>
              <a:defRPr/>
            </a:pPr>
            <a:r>
              <a:rPr lang="en-US"/>
              <a:t>Click to edit Master title style</a:t>
            </a:r>
            <a:endParaRPr lang="en-US"/>
          </a:p>
        </p:txBody>
      </p:sp>
      <p:sp>
        <p:nvSpPr>
          <p:cNvPr id="1087799384"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30580058"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86455057"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747067216" name="Footer Placeholder 5"/>
          <p:cNvSpPr>
            <a:spLocks noGrp="1"/>
          </p:cNvSpPr>
          <p:nvPr>
            <p:ph type="ftr" sz="quarter" idx="11"/>
          </p:nvPr>
        </p:nvSpPr>
        <p:spPr bwMode="auto"/>
        <p:txBody>
          <a:bodyPr/>
          <a:lstStyle/>
          <a:p>
            <a:pPr>
              <a:defRPr/>
            </a:pPr>
            <a:endParaRPr lang="en-US"/>
          </a:p>
        </p:txBody>
      </p:sp>
      <p:sp>
        <p:nvSpPr>
          <p:cNvPr id="1233204883"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384354638"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1453390606"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866211189"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87623378"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294843989"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29042721"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250934106" name="Footer Placeholder 7"/>
          <p:cNvSpPr>
            <a:spLocks noGrp="1"/>
          </p:cNvSpPr>
          <p:nvPr>
            <p:ph type="ftr" sz="quarter" idx="11"/>
          </p:nvPr>
        </p:nvSpPr>
        <p:spPr bwMode="auto"/>
        <p:txBody>
          <a:bodyPr/>
          <a:lstStyle/>
          <a:p>
            <a:pPr>
              <a:defRPr/>
            </a:pPr>
            <a:endParaRPr lang="en-US"/>
          </a:p>
        </p:txBody>
      </p:sp>
      <p:sp>
        <p:nvSpPr>
          <p:cNvPr id="2031028555"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299106570" name="Title 1"/>
          <p:cNvSpPr>
            <a:spLocks noGrp="1"/>
          </p:cNvSpPr>
          <p:nvPr>
            <p:ph type="title"/>
          </p:nvPr>
        </p:nvSpPr>
        <p:spPr bwMode="auto"/>
        <p:txBody>
          <a:bodyPr/>
          <a:lstStyle/>
          <a:p>
            <a:pPr>
              <a:defRPr/>
            </a:pPr>
            <a:r>
              <a:rPr lang="en-US"/>
              <a:t>Click to edit Master title style</a:t>
            </a:r>
            <a:endParaRPr lang="en-US"/>
          </a:p>
        </p:txBody>
      </p:sp>
      <p:sp>
        <p:nvSpPr>
          <p:cNvPr id="1201411542"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46851994" name="Footer Placeholder 3"/>
          <p:cNvSpPr>
            <a:spLocks noGrp="1"/>
          </p:cNvSpPr>
          <p:nvPr>
            <p:ph type="ftr" sz="quarter" idx="11"/>
          </p:nvPr>
        </p:nvSpPr>
        <p:spPr bwMode="auto"/>
        <p:txBody>
          <a:bodyPr/>
          <a:lstStyle/>
          <a:p>
            <a:pPr>
              <a:defRPr/>
            </a:pPr>
            <a:endParaRPr lang="en-US"/>
          </a:p>
        </p:txBody>
      </p:sp>
      <p:sp>
        <p:nvSpPr>
          <p:cNvPr id="1534737521"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88226115"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642775785" name="Footer Placeholder 2"/>
          <p:cNvSpPr>
            <a:spLocks noGrp="1"/>
          </p:cNvSpPr>
          <p:nvPr>
            <p:ph type="ftr" sz="quarter" idx="11"/>
          </p:nvPr>
        </p:nvSpPr>
        <p:spPr bwMode="auto"/>
        <p:txBody>
          <a:bodyPr/>
          <a:lstStyle/>
          <a:p>
            <a:pPr>
              <a:defRPr/>
            </a:pPr>
            <a:endParaRPr lang="en-US"/>
          </a:p>
        </p:txBody>
      </p:sp>
      <p:sp>
        <p:nvSpPr>
          <p:cNvPr id="907058813"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606326223"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1361928328"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22488804"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753740916"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801289141" name="Footer Placeholder 5"/>
          <p:cNvSpPr>
            <a:spLocks noGrp="1"/>
          </p:cNvSpPr>
          <p:nvPr>
            <p:ph type="ftr" sz="quarter" idx="11"/>
          </p:nvPr>
        </p:nvSpPr>
        <p:spPr bwMode="auto"/>
        <p:txBody>
          <a:bodyPr/>
          <a:lstStyle/>
          <a:p>
            <a:pPr>
              <a:defRPr/>
            </a:pPr>
            <a:endParaRPr lang="en-US"/>
          </a:p>
        </p:txBody>
      </p:sp>
      <p:sp>
        <p:nvSpPr>
          <p:cNvPr id="1083028522"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016965326"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178889488"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2069380299"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930170798"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743164216" name="Footer Placeholder 5"/>
          <p:cNvSpPr>
            <a:spLocks noGrp="1"/>
          </p:cNvSpPr>
          <p:nvPr>
            <p:ph type="ftr" sz="quarter" idx="11"/>
          </p:nvPr>
        </p:nvSpPr>
        <p:spPr bwMode="auto"/>
        <p:txBody>
          <a:bodyPr/>
          <a:lstStyle/>
          <a:p>
            <a:pPr>
              <a:defRPr/>
            </a:pPr>
            <a:endParaRPr lang="en-US"/>
          </a:p>
        </p:txBody>
      </p:sp>
      <p:sp>
        <p:nvSpPr>
          <p:cNvPr id="1943199308"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555691416" name="Title 1"/>
          <p:cNvSpPr>
            <a:spLocks noGrp="1"/>
          </p:cNvSpPr>
          <p:nvPr>
            <p:ph type="title"/>
          </p:nvPr>
        </p:nvSpPr>
        <p:spPr bwMode="auto"/>
        <p:txBody>
          <a:bodyPr/>
          <a:lstStyle/>
          <a:p>
            <a:pPr>
              <a:defRPr/>
            </a:pPr>
            <a:r>
              <a:rPr lang="en-US"/>
              <a:t>Click to edit Master title style</a:t>
            </a:r>
            <a:endParaRPr lang="en-US"/>
          </a:p>
        </p:txBody>
      </p:sp>
      <p:sp>
        <p:nvSpPr>
          <p:cNvPr id="210849985"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83850493"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648737147" name="Footer Placeholder 4"/>
          <p:cNvSpPr>
            <a:spLocks noGrp="1"/>
          </p:cNvSpPr>
          <p:nvPr>
            <p:ph type="ftr" sz="quarter" idx="11"/>
          </p:nvPr>
        </p:nvSpPr>
        <p:spPr bwMode="auto"/>
        <p:txBody>
          <a:bodyPr/>
          <a:lstStyle/>
          <a:p>
            <a:pPr>
              <a:defRPr/>
            </a:pPr>
            <a:endParaRPr lang="en-US"/>
          </a:p>
        </p:txBody>
      </p:sp>
      <p:sp>
        <p:nvSpPr>
          <p:cNvPr id="1017898310"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2049251168"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396744384"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91748141"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74586152" name="Footer Placeholder 4"/>
          <p:cNvSpPr>
            <a:spLocks noGrp="1"/>
          </p:cNvSpPr>
          <p:nvPr>
            <p:ph type="ftr" sz="quarter" idx="11"/>
          </p:nvPr>
        </p:nvSpPr>
        <p:spPr bwMode="auto"/>
        <p:txBody>
          <a:bodyPr/>
          <a:lstStyle/>
          <a:p>
            <a:pPr>
              <a:defRPr/>
            </a:pPr>
            <a:endParaRPr lang="en-US"/>
          </a:p>
        </p:txBody>
      </p:sp>
      <p:sp>
        <p:nvSpPr>
          <p:cNvPr id="132793183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148294314"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365992587"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55973801"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381132366"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80005819"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81989669" name="Rectangle 1"/>
          <p:cNvSpPr/>
          <p:nvPr/>
        </p:nvSpPr>
        <p:spPr bwMode="auto">
          <a:xfrm>
            <a:off x="0" y="0"/>
            <a:ext cx="12188952" cy="685800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854216259" name="Rectangle 2"/>
          <p:cNvSpPr/>
          <p:nvPr/>
        </p:nvSpPr>
        <p:spPr bwMode="auto">
          <a:xfrm>
            <a:off x="0" y="0"/>
            <a:ext cx="12188952" cy="14630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985287798" name="Rectangle 3"/>
          <p:cNvSpPr/>
          <p:nvPr/>
        </p:nvSpPr>
        <p:spPr bwMode="auto">
          <a:xfrm>
            <a:off x="0" y="5989320"/>
            <a:ext cx="12188952" cy="868680"/>
          </a:xfrm>
          <a:prstGeom prst="rect">
            <a:avLst/>
          </a:prstGeom>
          <a:solidFill>
            <a:srgbClr val="275132"/>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082972925" name="TextBox 4"/>
          <p:cNvSpPr txBox="1"/>
          <p:nvPr/>
        </p:nvSpPr>
        <p:spPr bwMode="auto">
          <a:xfrm>
            <a:off x="566928" y="2048256"/>
            <a:ext cx="10424160" cy="210312"/>
          </a:xfrm>
          <a:prstGeom prst="rect">
            <a:avLst/>
          </a:prstGeom>
          <a:noFill/>
        </p:spPr>
        <p:txBody>
          <a:bodyPr wrap="square" lIns="45720" tIns="18288" rIns="45720" bIns="18288">
            <a:spAutoFit/>
          </a:bodyPr>
          <a:lstStyle/>
          <a:p>
            <a:pPr algn="l">
              <a:defRPr/>
            </a:pPr>
            <a:r>
              <a:rPr sz="1200" b="1" i="0">
                <a:solidFill>
                  <a:srgbClr val="CFE6D8"/>
                </a:solidFill>
                <a:latin typeface="Arial"/>
                <a:ea typeface="Microsoft YaHei"/>
                <a:cs typeface="Microsoft YaHei"/>
              </a:rPr>
              <a:t>2026年10月1日</a:t>
            </a:r>
            <a:endParaRPr/>
          </a:p>
        </p:txBody>
      </p:sp>
      <p:sp>
        <p:nvSpPr>
          <p:cNvPr id="221433974" name="TextBox 5"/>
          <p:cNvSpPr txBox="1"/>
          <p:nvPr/>
        </p:nvSpPr>
        <p:spPr bwMode="auto">
          <a:xfrm>
            <a:off x="566928" y="2414016"/>
            <a:ext cx="10607040" cy="621792"/>
          </a:xfrm>
          <a:prstGeom prst="rect">
            <a:avLst/>
          </a:prstGeom>
          <a:noFill/>
        </p:spPr>
        <p:txBody>
          <a:bodyPr wrap="square" lIns="45720" tIns="18288" rIns="45720" bIns="18288">
            <a:spAutoFit/>
          </a:bodyPr>
          <a:lstStyle/>
          <a:p>
            <a:pPr algn="l">
              <a:defRPr/>
            </a:pPr>
            <a:r>
              <a:rPr sz="4000" b="1" i="0">
                <a:solidFill>
                  <a:srgbClr val="CFE6D8"/>
                </a:solidFill>
                <a:latin typeface="Arial"/>
                <a:ea typeface="Microsoft YaHei"/>
                <a:cs typeface="Microsoft YaHei"/>
              </a:rPr>
              <a:t>视光 DA 培训</a:t>
            </a:r>
            <a:endParaRPr/>
          </a:p>
        </p:txBody>
      </p:sp>
      <p:sp>
        <p:nvSpPr>
          <p:cNvPr id="25973409" name="Rectangle 6"/>
          <p:cNvSpPr/>
          <p:nvPr/>
        </p:nvSpPr>
        <p:spPr bwMode="auto">
          <a:xfrm>
            <a:off x="566928" y="4078224"/>
            <a:ext cx="1920240" cy="4572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599205891" name="TextBox 7"/>
          <p:cNvSpPr txBox="1"/>
          <p:nvPr/>
        </p:nvSpPr>
        <p:spPr bwMode="auto">
          <a:xfrm>
            <a:off x="566928" y="4297680"/>
            <a:ext cx="8412480" cy="210312"/>
          </a:xfrm>
          <a:prstGeom prst="rect">
            <a:avLst/>
          </a:prstGeom>
          <a:noFill/>
        </p:spPr>
        <p:txBody>
          <a:bodyPr wrap="square" lIns="45720" tIns="18288" rIns="45720" bIns="18288">
            <a:spAutoFit/>
          </a:bodyPr>
          <a:lstStyle/>
          <a:p>
            <a:pPr algn="l">
              <a:defRPr/>
            </a:pPr>
            <a:r>
              <a:rPr sz="1200" b="1" i="0">
                <a:solidFill>
                  <a:srgbClr val="CFE6D8"/>
                </a:solidFill>
                <a:latin typeface="Arial"/>
                <a:ea typeface="Microsoft YaHei"/>
                <a:cs typeface="Microsoft YaHei"/>
              </a:rPr>
              <a:t>NGT   ·   CTE D5   ·   CTE D7   ·   LA   ·   SH (Song Han)</a:t>
            </a:r>
            <a:endParaRPr/>
          </a:p>
        </p:txBody>
      </p:sp>
      <p:sp>
        <p:nvSpPr>
          <p:cNvPr id="1711279698" name="TextBox 8"/>
          <p:cNvSpPr txBox="1"/>
          <p:nvPr/>
        </p:nvSpPr>
        <p:spPr bwMode="auto">
          <a:xfrm>
            <a:off x="566928" y="6217920"/>
            <a:ext cx="9875520" cy="274320"/>
          </a:xfrm>
          <a:prstGeom prst="rect">
            <a:avLst/>
          </a:prstGeom>
          <a:noFill/>
        </p:spPr>
        <p:txBody>
          <a:bodyPr wrap="square" lIns="45720" tIns="18288" rIns="45720" bIns="18288">
            <a:spAutoFit/>
          </a:bodyPr>
          <a:lstStyle/>
          <a:p>
            <a:pPr algn="l">
              <a:defRPr/>
            </a:pPr>
            <a:r>
              <a:rPr sz="950" b="0" i="0">
                <a:solidFill>
                  <a:srgbClr val="CFE6D8"/>
                </a:solidFill>
                <a:latin typeface="Arial"/>
                <a:ea typeface="Microsoft YaHei"/>
                <a:cs typeface="Microsoft YaHei"/>
              </a:rPr>
              <a:t>用于 DA 培训与复盘  ·  内容取自 2026年9月29–30日 CZ Zalo 复盘  ·  仅供内部使用</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17412104" name="Rectangle 1"/>
          <p:cNvSpPr/>
          <p:nvPr/>
        </p:nvSpPr>
        <p:spPr bwMode="auto">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572169433" name="TextBox 2"/>
          <p:cNvSpPr txBox="1"/>
          <p:nvPr/>
        </p:nvSpPr>
        <p:spPr bwMode="auto">
          <a:xfrm>
            <a:off x="502920" y="228600"/>
            <a:ext cx="9692640" cy="228600"/>
          </a:xfrm>
          <a:prstGeom prst="rect">
            <a:avLst/>
          </a:prstGeom>
          <a:noFill/>
        </p:spPr>
        <p:txBody>
          <a:bodyPr wrap="square" lIns="45720" tIns="18288" rIns="45720" bIns="18288">
            <a:spAutoFit/>
          </a:bodyPr>
          <a:lstStyle/>
          <a:p>
            <a:pPr algn="l">
              <a:defRPr/>
            </a:pPr>
            <a:r>
              <a:rPr sz="950" b="1" i="0">
                <a:solidFill>
                  <a:srgbClr val="2E9C4C"/>
                </a:solidFill>
                <a:latin typeface="Arial"/>
                <a:ea typeface="Microsoft YaHei"/>
                <a:cs typeface="Microsoft YaHei"/>
              </a:rPr>
              <a:t>一、较上周情况   |   已改进与仍待解决</a:t>
            </a:r>
            <a:endParaRPr/>
          </a:p>
        </p:txBody>
      </p:sp>
      <p:sp>
        <p:nvSpPr>
          <p:cNvPr id="1986913011" name="TextBox 3"/>
          <p:cNvSpPr txBox="1"/>
          <p:nvPr/>
        </p:nvSpPr>
        <p:spPr bwMode="auto">
          <a:xfrm>
            <a:off x="502920" y="493776"/>
            <a:ext cx="11247120" cy="640080"/>
          </a:xfrm>
          <a:prstGeom prst="rect">
            <a:avLst/>
          </a:prstGeom>
          <a:noFill/>
        </p:spPr>
        <p:txBody>
          <a:bodyPr wrap="square" lIns="45720" tIns="18288" rIns="45720" bIns="18288">
            <a:spAutoFit/>
          </a:bodyPr>
          <a:lstStyle/>
          <a:p>
            <a:pPr algn="l">
              <a:defRPr/>
            </a:pPr>
            <a:r>
              <a:rPr sz="2100" b="1" i="0">
                <a:solidFill>
                  <a:srgbClr val="31633D"/>
                </a:solidFill>
                <a:latin typeface="Arial"/>
                <a:ea typeface="Microsoft YaHei"/>
                <a:cs typeface="Microsoft YaHei"/>
              </a:rPr>
              <a:t>较上周的改进，以及仍需改进的地方</a:t>
            </a:r>
            <a:endParaRPr/>
          </a:p>
        </p:txBody>
      </p:sp>
      <p:sp>
        <p:nvSpPr>
          <p:cNvPr id="2030910991" name="Rectangle 4"/>
          <p:cNvSpPr/>
          <p:nvPr/>
        </p:nvSpPr>
        <p:spPr bwMode="auto">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370461525" name="TextBox 5"/>
          <p:cNvSpPr txBox="1"/>
          <p:nvPr/>
        </p:nvSpPr>
        <p:spPr bwMode="auto">
          <a:xfrm>
            <a:off x="502920" y="6455664"/>
            <a:ext cx="5486400" cy="237744"/>
          </a:xfrm>
          <a:prstGeom prst="rect">
            <a:avLst/>
          </a:prstGeom>
          <a:noFill/>
        </p:spPr>
        <p:txBody>
          <a:bodyPr wrap="square" lIns="45720" tIns="18288" rIns="45720" bIns="18288">
            <a:spAutoFit/>
          </a:bodyPr>
          <a:lstStyle/>
          <a:p>
            <a:pPr algn="l">
              <a:defRPr/>
            </a:pPr>
            <a:r>
              <a:rPr sz="800" b="0" i="0">
                <a:solidFill>
                  <a:srgbClr val="5C6B62"/>
                </a:solidFill>
                <a:latin typeface="Arial"/>
                <a:ea typeface="Microsoft YaHei"/>
                <a:cs typeface="Microsoft YaHei"/>
              </a:rPr>
              <a:t>Mắt Sài Gòn  |  视光 DA 培训</a:t>
            </a:r>
            <a:endParaRPr/>
          </a:p>
        </p:txBody>
      </p:sp>
      <p:sp>
        <p:nvSpPr>
          <p:cNvPr id="1643872517" name="TextBox 6"/>
          <p:cNvSpPr txBox="1"/>
          <p:nvPr/>
        </p:nvSpPr>
        <p:spPr bwMode="auto">
          <a:xfrm>
            <a:off x="10972800" y="6455664"/>
            <a:ext cx="713232" cy="237744"/>
          </a:xfrm>
          <a:prstGeom prst="rect">
            <a:avLst/>
          </a:prstGeom>
          <a:noFill/>
        </p:spPr>
        <p:txBody>
          <a:bodyPr wrap="square" lIns="45720" tIns="18288" rIns="45720" bIns="18288">
            <a:spAutoFit/>
          </a:bodyPr>
          <a:lstStyle/>
          <a:p>
            <a:pPr algn="r">
              <a:defRPr/>
            </a:pPr>
            <a:r>
              <a:rPr sz="800" b="1" i="0">
                <a:solidFill>
                  <a:srgbClr val="5C6B62"/>
                </a:solidFill>
                <a:latin typeface="Arial"/>
                <a:ea typeface="Microsoft YaHei"/>
                <a:cs typeface="Microsoft YaHei"/>
              </a:rPr>
              <a:t>2</a:t>
            </a:r>
            <a:endParaRPr/>
          </a:p>
        </p:txBody>
      </p:sp>
      <p:sp>
        <p:nvSpPr>
          <p:cNvPr id="159593264" name="TextBox 7"/>
          <p:cNvSpPr txBox="1"/>
          <p:nvPr/>
        </p:nvSpPr>
        <p:spPr bwMode="auto">
          <a:xfrm>
            <a:off x="502920" y="1261872"/>
            <a:ext cx="11183112" cy="219456"/>
          </a:xfrm>
          <a:prstGeom prst="rect">
            <a:avLst/>
          </a:prstGeom>
          <a:noFill/>
        </p:spPr>
        <p:txBody>
          <a:bodyPr wrap="square" lIns="45720" tIns="18288" rIns="45720" bIns="18288">
            <a:spAutoFit/>
          </a:bodyPr>
          <a:lstStyle/>
          <a:p>
            <a:pPr algn="l">
              <a:lnSpc>
                <a:spcPct val="95000"/>
              </a:lnSpc>
              <a:defRPr/>
            </a:pPr>
            <a:r>
              <a:rPr sz="1000" b="0" i="1">
                <a:solidFill>
                  <a:srgbClr val="5C6B62"/>
                </a:solidFill>
                <a:latin typeface="Arial"/>
                <a:ea typeface="Microsoft YaHei"/>
                <a:cs typeface="Microsoft YaHei"/>
              </a:rPr>
              <a:t>有两家门店照着上周的培训做了，其中一家还产出了我们将要采用的话术。而被定为重点的那两项，恰恰就是仍未解决的两项。</a:t>
            </a:r>
            <a:endParaRPr/>
          </a:p>
        </p:txBody>
      </p:sp>
      <p:sp>
        <p:nvSpPr>
          <p:cNvPr id="1465205423" name="Rectangle 8"/>
          <p:cNvSpPr/>
          <p:nvPr/>
        </p:nvSpPr>
        <p:spPr bwMode="auto">
          <a:xfrm>
            <a:off x="502920" y="1591056"/>
            <a:ext cx="5486400" cy="379476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730973260" name="Rectangle 9"/>
          <p:cNvSpPr/>
          <p:nvPr/>
        </p:nvSpPr>
        <p:spPr bwMode="auto">
          <a:xfrm>
            <a:off x="502920" y="1591056"/>
            <a:ext cx="5486400" cy="310896"/>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18288" bIns="18288" rtlCol="0" anchor="ctr"/>
          <a:lstStyle/>
          <a:p>
            <a:pPr algn="l">
              <a:defRPr/>
            </a:pPr>
            <a:r>
              <a:rPr sz="1050" b="1" i="0">
                <a:solidFill>
                  <a:srgbClr val="FFFFFF"/>
                </a:solidFill>
                <a:latin typeface="Arial"/>
                <a:ea typeface="Microsoft YaHei"/>
                <a:cs typeface="Microsoft YaHei"/>
              </a:rPr>
              <a:t>较上周已改进</a:t>
            </a:r>
            <a:endParaRPr/>
          </a:p>
        </p:txBody>
      </p:sp>
      <p:sp>
        <p:nvSpPr>
          <p:cNvPr id="1364299717" name="Oval 10"/>
          <p:cNvSpPr/>
          <p:nvPr/>
        </p:nvSpPr>
        <p:spPr bwMode="auto">
          <a:xfrm>
            <a:off x="649224" y="1984248"/>
            <a:ext cx="237744" cy="237744"/>
          </a:xfrm>
          <a:prstGeom prst="ellipse">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950" b="1" i="0">
                <a:solidFill>
                  <a:srgbClr val="FFFFFF"/>
                </a:solidFill>
                <a:latin typeface="Arial"/>
                <a:ea typeface="Microsoft YaHei"/>
                <a:cs typeface="Microsoft YaHei"/>
              </a:rPr>
              <a:t>1</a:t>
            </a:r>
            <a:endParaRPr/>
          </a:p>
        </p:txBody>
      </p:sp>
      <p:sp>
        <p:nvSpPr>
          <p:cNvPr id="1001060063" name="TextBox 11"/>
          <p:cNvSpPr txBox="1"/>
          <p:nvPr/>
        </p:nvSpPr>
        <p:spPr bwMode="auto">
          <a:xfrm>
            <a:off x="960120" y="1975104"/>
            <a:ext cx="4882896" cy="237744"/>
          </a:xfrm>
          <a:prstGeom prst="rect">
            <a:avLst/>
          </a:prstGeom>
          <a:noFill/>
        </p:spPr>
        <p:txBody>
          <a:bodyPr wrap="square" lIns="45720" tIns="18288" rIns="45720" bIns="18288">
            <a:spAutoFit/>
          </a:bodyPr>
          <a:lstStyle/>
          <a:p>
            <a:pPr algn="l">
              <a:lnSpc>
                <a:spcPct val="104000"/>
              </a:lnSpc>
              <a:defRPr/>
            </a:pPr>
            <a:r>
              <a:rPr sz="1000" b="1" i="0">
                <a:solidFill>
                  <a:srgbClr val="31633D"/>
                </a:solidFill>
                <a:latin typeface="Arial"/>
                <a:ea typeface="Microsoft YaHei"/>
                <a:cs typeface="Microsoft YaHei"/>
              </a:rPr>
              <a:t>SH 已按要求填写 Zalo 备注名</a:t>
            </a:r>
            <a:endParaRPr/>
          </a:p>
        </p:txBody>
      </p:sp>
      <p:sp>
        <p:nvSpPr>
          <p:cNvPr id="1866892297" name="TextBox 12"/>
          <p:cNvSpPr txBox="1"/>
          <p:nvPr/>
        </p:nvSpPr>
        <p:spPr bwMode="auto">
          <a:xfrm>
            <a:off x="960120" y="2231136"/>
            <a:ext cx="4882896" cy="868680"/>
          </a:xfrm>
          <a:prstGeom prst="rect">
            <a:avLst/>
          </a:prstGeom>
          <a:noFill/>
        </p:spPr>
        <p:txBody>
          <a:bodyPr wrap="square" lIns="45720" tIns="18288" rIns="45720" bIns="18288">
            <a:spAutoFit/>
          </a:bodyPr>
          <a:lstStyle/>
          <a:p>
            <a:pPr algn="l">
              <a:lnSpc>
                <a:spcPct val="110000"/>
              </a:lnSpc>
              <a:defRPr/>
            </a:pPr>
            <a:r>
              <a:rPr sz="900" b="0" i="0">
                <a:solidFill>
                  <a:srgbClr val="5C6B62"/>
                </a:solidFill>
                <a:latin typeface="Arial"/>
                <a:ea typeface="Microsoft YaHei"/>
                <a:cs typeface="Microsoft YaHei"/>
              </a:rPr>
              <a:t>CZ 明确表示这是培训带来的结果。上周我们看的那个 SH 联系人没有产品代码、没有日期、也没有孩子姓名。现在已有部分客户收到定制进度和取镜通知。</a:t>
            </a:r>
            <a:endParaRPr/>
          </a:p>
        </p:txBody>
      </p:sp>
      <p:sp>
        <p:nvSpPr>
          <p:cNvPr id="2074333602" name="Oval 13"/>
          <p:cNvSpPr/>
          <p:nvPr/>
        </p:nvSpPr>
        <p:spPr bwMode="auto">
          <a:xfrm>
            <a:off x="649224" y="3118104"/>
            <a:ext cx="237744" cy="237744"/>
          </a:xfrm>
          <a:prstGeom prst="ellipse">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950" b="1" i="0">
                <a:solidFill>
                  <a:srgbClr val="FFFFFF"/>
                </a:solidFill>
                <a:latin typeface="Arial"/>
                <a:ea typeface="Microsoft YaHei"/>
                <a:cs typeface="Microsoft YaHei"/>
              </a:rPr>
              <a:t>2</a:t>
            </a:r>
            <a:endParaRPr/>
          </a:p>
        </p:txBody>
      </p:sp>
      <p:sp>
        <p:nvSpPr>
          <p:cNvPr id="1787112332" name="TextBox 14"/>
          <p:cNvSpPr txBox="1"/>
          <p:nvPr/>
        </p:nvSpPr>
        <p:spPr bwMode="auto">
          <a:xfrm>
            <a:off x="960120" y="3108960"/>
            <a:ext cx="4882896" cy="237744"/>
          </a:xfrm>
          <a:prstGeom prst="rect">
            <a:avLst/>
          </a:prstGeom>
          <a:noFill/>
        </p:spPr>
        <p:txBody>
          <a:bodyPr wrap="square" lIns="45720" tIns="18288" rIns="45720" bIns="18288">
            <a:spAutoFit/>
          </a:bodyPr>
          <a:lstStyle/>
          <a:p>
            <a:pPr algn="l">
              <a:lnSpc>
                <a:spcPct val="104000"/>
              </a:lnSpc>
              <a:defRPr/>
            </a:pPr>
            <a:r>
              <a:rPr sz="1000" b="1" i="0">
                <a:solidFill>
                  <a:srgbClr val="31633D"/>
                </a:solidFill>
                <a:latin typeface="Arial"/>
                <a:ea typeface="Microsoft YaHei"/>
                <a:cs typeface="Microsoft YaHei"/>
              </a:rPr>
              <a:t>NGT 在定制期间和取镜环节有了沟通</a:t>
            </a:r>
            <a:endParaRPr/>
          </a:p>
        </p:txBody>
      </p:sp>
      <p:sp>
        <p:nvSpPr>
          <p:cNvPr id="1254449842" name="TextBox 15"/>
          <p:cNvSpPr txBox="1"/>
          <p:nvPr/>
        </p:nvSpPr>
        <p:spPr bwMode="auto">
          <a:xfrm>
            <a:off x="960120" y="3364992"/>
            <a:ext cx="4883255" cy="338687"/>
          </a:xfrm>
          <a:prstGeom prst="rect">
            <a:avLst/>
          </a:prstGeom>
          <a:noFill/>
        </p:spPr>
        <p:txBody>
          <a:bodyPr wrap="square" lIns="45720" tIns="18288" rIns="45720" bIns="18288">
            <a:spAutoFit/>
          </a:bodyPr>
          <a:lstStyle/>
          <a:p>
            <a:pPr algn="l">
              <a:lnSpc>
                <a:spcPct val="110000"/>
              </a:lnSpc>
              <a:defRPr/>
            </a:pPr>
            <a:r>
              <a:rPr sz="900" b="0" i="0">
                <a:solidFill>
                  <a:srgbClr val="5C6B62"/>
                </a:solidFill>
                <a:latin typeface="Arial"/>
                <a:ea typeface="Microsoft YaHei"/>
                <a:cs typeface="Microsoft YaHei"/>
              </a:rPr>
              <a:t>这是 NGT 上周最大的缺口 —— 当时家长只能自己开口问眼镜到了没有。 </a:t>
            </a:r>
            <a:endParaRPr/>
          </a:p>
        </p:txBody>
      </p:sp>
      <p:sp>
        <p:nvSpPr>
          <p:cNvPr id="879221672" name="Oval 16"/>
          <p:cNvSpPr/>
          <p:nvPr/>
        </p:nvSpPr>
        <p:spPr bwMode="auto">
          <a:xfrm>
            <a:off x="649224" y="4251960"/>
            <a:ext cx="237744" cy="237744"/>
          </a:xfrm>
          <a:prstGeom prst="ellipse">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950" b="1" i="0">
                <a:solidFill>
                  <a:srgbClr val="FFFFFF"/>
                </a:solidFill>
                <a:latin typeface="Arial"/>
                <a:ea typeface="Microsoft YaHei"/>
                <a:cs typeface="Microsoft YaHei"/>
              </a:rPr>
              <a:t>3</a:t>
            </a:r>
            <a:endParaRPr/>
          </a:p>
        </p:txBody>
      </p:sp>
      <p:sp>
        <p:nvSpPr>
          <p:cNvPr id="19688000" name="TextBox 17"/>
          <p:cNvSpPr txBox="1"/>
          <p:nvPr/>
        </p:nvSpPr>
        <p:spPr bwMode="auto">
          <a:xfrm>
            <a:off x="960120" y="4242816"/>
            <a:ext cx="4882896" cy="237744"/>
          </a:xfrm>
          <a:prstGeom prst="rect">
            <a:avLst/>
          </a:prstGeom>
          <a:noFill/>
        </p:spPr>
        <p:txBody>
          <a:bodyPr wrap="square" lIns="45720" tIns="18288" rIns="45720" bIns="18288">
            <a:spAutoFit/>
          </a:bodyPr>
          <a:lstStyle/>
          <a:p>
            <a:pPr algn="l">
              <a:lnSpc>
                <a:spcPct val="104000"/>
              </a:lnSpc>
              <a:defRPr/>
            </a:pPr>
            <a:r>
              <a:rPr sz="1000" b="1" i="0">
                <a:solidFill>
                  <a:srgbClr val="31633D"/>
                </a:solidFill>
                <a:latin typeface="Arial"/>
                <a:ea typeface="Microsoft YaHei"/>
                <a:cs typeface="Microsoft YaHei"/>
              </a:rPr>
              <a:t>CTE-D7 的两条信息被建议推广使用</a:t>
            </a:r>
            <a:endParaRPr/>
          </a:p>
        </p:txBody>
      </p:sp>
      <p:sp>
        <p:nvSpPr>
          <p:cNvPr id="1346376262" name="TextBox 18"/>
          <p:cNvSpPr txBox="1"/>
          <p:nvPr/>
        </p:nvSpPr>
        <p:spPr bwMode="auto">
          <a:xfrm>
            <a:off x="960120" y="4498848"/>
            <a:ext cx="4882896" cy="868680"/>
          </a:xfrm>
          <a:prstGeom prst="rect">
            <a:avLst/>
          </a:prstGeom>
          <a:noFill/>
        </p:spPr>
        <p:txBody>
          <a:bodyPr wrap="square" lIns="45720" tIns="18288" rIns="45720" bIns="18288">
            <a:spAutoFit/>
          </a:bodyPr>
          <a:lstStyle/>
          <a:p>
            <a:pPr algn="l">
              <a:lnSpc>
                <a:spcPct val="110000"/>
              </a:lnSpc>
              <a:defRPr/>
            </a:pPr>
            <a:r>
              <a:rPr sz="900" b="0" i="0">
                <a:solidFill>
                  <a:srgbClr val="5C6B62"/>
                </a:solidFill>
                <a:latin typeface="Arial"/>
                <a:ea typeface="Microsoft YaHei"/>
                <a:cs typeface="Microsoft YaHei"/>
              </a:rPr>
              <a:t>上周我们举为范例的定制进度告知和取镜通知，正是 CZ 现在建议各门店采用的两条 —— 同一位客户，MCY 260811。详见第 5 页。</a:t>
            </a:r>
            <a:endParaRPr/>
          </a:p>
        </p:txBody>
      </p:sp>
      <p:sp>
        <p:nvSpPr>
          <p:cNvPr id="1390363345" name="Rectangle 19"/>
          <p:cNvSpPr/>
          <p:nvPr/>
        </p:nvSpPr>
        <p:spPr bwMode="auto">
          <a:xfrm>
            <a:off x="6199632" y="1591056"/>
            <a:ext cx="5486400" cy="379476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443308930" name="Rectangle 20"/>
          <p:cNvSpPr/>
          <p:nvPr/>
        </p:nvSpPr>
        <p:spPr bwMode="auto">
          <a:xfrm>
            <a:off x="6199632" y="1591056"/>
            <a:ext cx="5486400" cy="310896"/>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18288" bIns="18288" rtlCol="0" anchor="ctr"/>
          <a:lstStyle/>
          <a:p>
            <a:pPr algn="l">
              <a:defRPr/>
            </a:pPr>
            <a:r>
              <a:rPr sz="1050" b="1" i="0">
                <a:solidFill>
                  <a:srgbClr val="FFFFFF"/>
                </a:solidFill>
                <a:latin typeface="Arial"/>
                <a:ea typeface="Microsoft YaHei"/>
                <a:cs typeface="Microsoft YaHei"/>
              </a:rPr>
              <a:t>仍需改进的地方</a:t>
            </a:r>
            <a:endParaRPr/>
          </a:p>
        </p:txBody>
      </p:sp>
      <p:sp>
        <p:nvSpPr>
          <p:cNvPr id="1455020736" name="Oval 21"/>
          <p:cNvSpPr/>
          <p:nvPr/>
        </p:nvSpPr>
        <p:spPr bwMode="auto">
          <a:xfrm>
            <a:off x="6345936" y="1984248"/>
            <a:ext cx="237744" cy="237744"/>
          </a:xfrm>
          <a:prstGeom prst="ellipse">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950" b="1" i="0">
                <a:solidFill>
                  <a:srgbClr val="FFFFFF"/>
                </a:solidFill>
                <a:latin typeface="Arial"/>
                <a:ea typeface="Microsoft YaHei"/>
                <a:cs typeface="Microsoft YaHei"/>
              </a:rPr>
              <a:t>1</a:t>
            </a:r>
            <a:endParaRPr/>
          </a:p>
        </p:txBody>
      </p:sp>
      <p:sp>
        <p:nvSpPr>
          <p:cNvPr id="1318856849" name="TextBox 22"/>
          <p:cNvSpPr txBox="1"/>
          <p:nvPr/>
        </p:nvSpPr>
        <p:spPr bwMode="auto">
          <a:xfrm>
            <a:off x="6656832" y="1975104"/>
            <a:ext cx="4882896" cy="237744"/>
          </a:xfrm>
          <a:prstGeom prst="rect">
            <a:avLst/>
          </a:prstGeom>
          <a:noFill/>
        </p:spPr>
        <p:txBody>
          <a:bodyPr wrap="square" lIns="45720" tIns="18288" rIns="45720" bIns="18288">
            <a:spAutoFit/>
          </a:bodyPr>
          <a:lstStyle/>
          <a:p>
            <a:pPr algn="l">
              <a:lnSpc>
                <a:spcPct val="104000"/>
              </a:lnSpc>
              <a:defRPr/>
            </a:pPr>
            <a:r>
              <a:rPr sz="1000" b="1" i="0">
                <a:solidFill>
                  <a:srgbClr val="31633D"/>
                </a:solidFill>
                <a:latin typeface="Arial"/>
                <a:ea typeface="Microsoft YaHei"/>
                <a:cs typeface="Microsoft YaHei"/>
              </a:rPr>
              <a:t>CD7 与 CD30 在所有门店仍然薄弱</a:t>
            </a:r>
            <a:endParaRPr/>
          </a:p>
        </p:txBody>
      </p:sp>
      <p:sp>
        <p:nvSpPr>
          <p:cNvPr id="1947776678" name="TextBox 23"/>
          <p:cNvSpPr txBox="1"/>
          <p:nvPr/>
        </p:nvSpPr>
        <p:spPr bwMode="auto">
          <a:xfrm>
            <a:off x="6656832" y="2231136"/>
            <a:ext cx="4882896" cy="868680"/>
          </a:xfrm>
          <a:prstGeom prst="rect">
            <a:avLst/>
          </a:prstGeom>
          <a:noFill/>
        </p:spPr>
        <p:txBody>
          <a:bodyPr wrap="square" lIns="45720" tIns="18288" rIns="45720" bIns="18288">
            <a:spAutoFit/>
          </a:bodyPr>
          <a:lstStyle/>
          <a:p>
            <a:pPr algn="l">
              <a:lnSpc>
                <a:spcPct val="110000"/>
              </a:lnSpc>
              <a:defRPr/>
            </a:pPr>
            <a:r>
              <a:rPr sz="900" b="0" i="0">
                <a:solidFill>
                  <a:srgbClr val="5C6B62"/>
                </a:solidFill>
                <a:latin typeface="Arial"/>
                <a:ea typeface="Microsoft YaHei"/>
                <a:cs typeface="Microsoft YaHei"/>
              </a:rPr>
              <a:t>本周再次被列为共同问题。在 NGT，备注名上写着同一个日期的客户待遇却不一样 —— 有的收到了跟进，有的没有。</a:t>
            </a:r>
            <a:endParaRPr/>
          </a:p>
        </p:txBody>
      </p:sp>
      <p:sp>
        <p:nvSpPr>
          <p:cNvPr id="615902617" name="Oval 24"/>
          <p:cNvSpPr/>
          <p:nvPr/>
        </p:nvSpPr>
        <p:spPr bwMode="auto">
          <a:xfrm>
            <a:off x="6345936" y="3118104"/>
            <a:ext cx="237744" cy="237744"/>
          </a:xfrm>
          <a:prstGeom prst="ellipse">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950" b="1" i="0">
                <a:solidFill>
                  <a:srgbClr val="FFFFFF"/>
                </a:solidFill>
                <a:latin typeface="Arial"/>
                <a:ea typeface="Microsoft YaHei"/>
                <a:cs typeface="Microsoft YaHei"/>
              </a:rPr>
              <a:t>2</a:t>
            </a:r>
            <a:endParaRPr/>
          </a:p>
        </p:txBody>
      </p:sp>
      <p:sp>
        <p:nvSpPr>
          <p:cNvPr id="133066973" name="TextBox 25"/>
          <p:cNvSpPr txBox="1"/>
          <p:nvPr/>
        </p:nvSpPr>
        <p:spPr bwMode="auto">
          <a:xfrm>
            <a:off x="6656832" y="3108960"/>
            <a:ext cx="4882896" cy="237744"/>
          </a:xfrm>
          <a:prstGeom prst="rect">
            <a:avLst/>
          </a:prstGeom>
          <a:noFill/>
        </p:spPr>
        <p:txBody>
          <a:bodyPr wrap="square" lIns="45720" tIns="18288" rIns="45720" bIns="18288">
            <a:spAutoFit/>
          </a:bodyPr>
          <a:lstStyle/>
          <a:p>
            <a:pPr algn="l">
              <a:lnSpc>
                <a:spcPct val="104000"/>
              </a:lnSpc>
              <a:defRPr/>
            </a:pPr>
            <a:r>
              <a:rPr sz="1000" b="1" i="0">
                <a:solidFill>
                  <a:srgbClr val="31633D"/>
                </a:solidFill>
                <a:latin typeface="Arial"/>
                <a:ea typeface="Microsoft YaHei"/>
                <a:cs typeface="Microsoft YaHei"/>
              </a:rPr>
              <a:t>Zalo 备注名日期仍与取镜日期不符</a:t>
            </a:r>
            <a:endParaRPr/>
          </a:p>
        </p:txBody>
      </p:sp>
      <p:sp>
        <p:nvSpPr>
          <p:cNvPr id="1297063138" name="TextBox 26"/>
          <p:cNvSpPr txBox="1"/>
          <p:nvPr/>
        </p:nvSpPr>
        <p:spPr bwMode="auto">
          <a:xfrm>
            <a:off x="6656832" y="3364992"/>
            <a:ext cx="4882896" cy="868680"/>
          </a:xfrm>
          <a:prstGeom prst="rect">
            <a:avLst/>
          </a:prstGeom>
          <a:noFill/>
        </p:spPr>
        <p:txBody>
          <a:bodyPr wrap="square" lIns="45720" tIns="18288" rIns="45720" bIns="18288">
            <a:spAutoFit/>
          </a:bodyPr>
          <a:lstStyle/>
          <a:p>
            <a:pPr algn="l">
              <a:lnSpc>
                <a:spcPct val="110000"/>
              </a:lnSpc>
              <a:defRPr/>
            </a:pPr>
            <a:r>
              <a:rPr sz="900" b="0" i="0">
                <a:solidFill>
                  <a:srgbClr val="5C6B62"/>
                </a:solidFill>
                <a:latin typeface="Arial"/>
                <a:ea typeface="Microsoft YaHei"/>
                <a:cs typeface="Microsoft YaHei"/>
              </a:rPr>
              <a:t>CZ 在很多案例中都发现了这一点。上周我们测过四家门店的偏差：+3、+9、+19 和 +26 天。重点 1 并没有落实。</a:t>
            </a:r>
            <a:endParaRPr/>
          </a:p>
        </p:txBody>
      </p:sp>
      <p:sp>
        <p:nvSpPr>
          <p:cNvPr id="48571176" name="Oval 27"/>
          <p:cNvSpPr/>
          <p:nvPr/>
        </p:nvSpPr>
        <p:spPr bwMode="auto">
          <a:xfrm>
            <a:off x="6345936" y="4251960"/>
            <a:ext cx="237744" cy="237744"/>
          </a:xfrm>
          <a:prstGeom prst="ellipse">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950" b="1" i="0">
                <a:solidFill>
                  <a:srgbClr val="FFFFFF"/>
                </a:solidFill>
                <a:latin typeface="Arial"/>
                <a:ea typeface="Microsoft YaHei"/>
                <a:cs typeface="Microsoft YaHei"/>
              </a:rPr>
              <a:t>3</a:t>
            </a:r>
            <a:endParaRPr/>
          </a:p>
        </p:txBody>
      </p:sp>
      <p:sp>
        <p:nvSpPr>
          <p:cNvPr id="470508450" name="TextBox 28"/>
          <p:cNvSpPr txBox="1"/>
          <p:nvPr/>
        </p:nvSpPr>
        <p:spPr bwMode="auto">
          <a:xfrm>
            <a:off x="6656832" y="4242816"/>
            <a:ext cx="4882896" cy="237744"/>
          </a:xfrm>
          <a:prstGeom prst="rect">
            <a:avLst/>
          </a:prstGeom>
          <a:noFill/>
        </p:spPr>
        <p:txBody>
          <a:bodyPr wrap="square" lIns="45720" tIns="18288" rIns="45720" bIns="18288">
            <a:spAutoFit/>
          </a:bodyPr>
          <a:lstStyle/>
          <a:p>
            <a:pPr algn="l">
              <a:lnSpc>
                <a:spcPct val="104000"/>
              </a:lnSpc>
              <a:defRPr/>
            </a:pPr>
            <a:r>
              <a:rPr sz="1000" b="1" i="0">
                <a:solidFill>
                  <a:srgbClr val="31633D"/>
                </a:solidFill>
                <a:latin typeface="Arial"/>
                <a:ea typeface="Microsoft YaHei"/>
                <a:cs typeface="Microsoft YaHei"/>
              </a:rPr>
              <a:t>CTE-D5 没有变化</a:t>
            </a:r>
            <a:endParaRPr/>
          </a:p>
        </p:txBody>
      </p:sp>
      <p:sp>
        <p:nvSpPr>
          <p:cNvPr id="143114134" name="TextBox 29"/>
          <p:cNvSpPr txBox="1"/>
          <p:nvPr/>
        </p:nvSpPr>
        <p:spPr bwMode="auto">
          <a:xfrm>
            <a:off x="6656832" y="4498848"/>
            <a:ext cx="4882896" cy="868680"/>
          </a:xfrm>
          <a:prstGeom prst="rect">
            <a:avLst/>
          </a:prstGeom>
          <a:noFill/>
        </p:spPr>
        <p:txBody>
          <a:bodyPr wrap="square" lIns="45720" tIns="18288" rIns="45720" bIns="18288">
            <a:spAutoFit/>
          </a:bodyPr>
          <a:lstStyle/>
          <a:p>
            <a:pPr algn="l">
              <a:lnSpc>
                <a:spcPct val="110000"/>
              </a:lnSpc>
              <a:defRPr/>
            </a:pPr>
            <a:r>
              <a:rPr sz="900" b="0" i="0">
                <a:solidFill>
                  <a:srgbClr val="5C6B62"/>
                </a:solidFill>
                <a:latin typeface="Arial"/>
                <a:ea typeface="Microsoft YaHei"/>
                <a:cs typeface="Microsoft YaHei"/>
              </a:rPr>
              <a:t>会员权益信息之后仍然什么都没有，也极少有客户被问到戴镜情况。与上周的结论完全一样。</a:t>
            </a:r>
            <a:endParaRPr/>
          </a:p>
        </p:txBody>
      </p:sp>
      <p:sp>
        <p:nvSpPr>
          <p:cNvPr id="1290872040" name="Rectangle 30"/>
          <p:cNvSpPr/>
          <p:nvPr/>
        </p:nvSpPr>
        <p:spPr bwMode="auto">
          <a:xfrm>
            <a:off x="502920" y="5852160"/>
            <a:ext cx="64008" cy="475488"/>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006939612" name="Rectangle 31"/>
          <p:cNvSpPr/>
          <p:nvPr/>
        </p:nvSpPr>
        <p:spPr bwMode="auto">
          <a:xfrm>
            <a:off x="566928" y="5852160"/>
            <a:ext cx="11119104" cy="475488"/>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46304" tIns="18288" rIns="109728" bIns="18288" rtlCol="0" anchor="ctr"/>
          <a:lstStyle/>
          <a:p>
            <a:pPr algn="l">
              <a:defRPr/>
            </a:pPr>
            <a:r>
              <a:rPr sz="1150" b="1" i="0">
                <a:solidFill>
                  <a:srgbClr val="31633D"/>
                </a:solidFill>
                <a:latin typeface="Arial"/>
                <a:ea typeface="Microsoft YaHei"/>
                <a:cs typeface="Microsoft YaHei"/>
              </a:rPr>
              <a:t>门店改进的是看得见的部分。日期问题和 CD7 / CD30 跟进节奏仍然需要收尾。</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954748" name="Rectangle 1"/>
          <p:cNvSpPr/>
          <p:nvPr/>
        </p:nvSpPr>
        <p:spPr bwMode="auto">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075962881" name="TextBox 2"/>
          <p:cNvSpPr txBox="1"/>
          <p:nvPr/>
        </p:nvSpPr>
        <p:spPr bwMode="auto">
          <a:xfrm>
            <a:off x="502920" y="228600"/>
            <a:ext cx="9692640" cy="228600"/>
          </a:xfrm>
          <a:prstGeom prst="rect">
            <a:avLst/>
          </a:prstGeom>
          <a:noFill/>
        </p:spPr>
        <p:txBody>
          <a:bodyPr wrap="square" lIns="45720" tIns="18288" rIns="45720" bIns="18288">
            <a:spAutoFit/>
          </a:bodyPr>
          <a:lstStyle/>
          <a:p>
            <a:pPr algn="l">
              <a:defRPr/>
            </a:pPr>
            <a:r>
              <a:rPr sz="950" b="1" i="0">
                <a:solidFill>
                  <a:srgbClr val="2E9C4C"/>
                </a:solidFill>
                <a:latin typeface="Arial"/>
                <a:ea typeface="Microsoft YaHei"/>
                <a:cs typeface="Microsoft YaHei"/>
              </a:rPr>
              <a:t>二、本周情况   |   所有门店的四个问题</a:t>
            </a:r>
            <a:endParaRPr/>
          </a:p>
        </p:txBody>
      </p:sp>
      <p:sp>
        <p:nvSpPr>
          <p:cNvPr id="151141554" name="TextBox 3"/>
          <p:cNvSpPr txBox="1"/>
          <p:nvPr/>
        </p:nvSpPr>
        <p:spPr bwMode="auto">
          <a:xfrm>
            <a:off x="502920" y="493776"/>
            <a:ext cx="11247120" cy="640080"/>
          </a:xfrm>
          <a:prstGeom prst="rect">
            <a:avLst/>
          </a:prstGeom>
          <a:noFill/>
        </p:spPr>
        <p:txBody>
          <a:bodyPr wrap="square" lIns="45720" tIns="18288" rIns="45720" bIns="18288">
            <a:spAutoFit/>
          </a:bodyPr>
          <a:lstStyle/>
          <a:p>
            <a:pPr algn="l">
              <a:defRPr/>
            </a:pPr>
            <a:r>
              <a:rPr sz="2200" b="1" i="0">
                <a:solidFill>
                  <a:srgbClr val="31633D"/>
                </a:solidFill>
                <a:latin typeface="Arial"/>
                <a:ea typeface="Microsoft YaHei"/>
                <a:cs typeface="Microsoft YaHei"/>
              </a:rPr>
              <a:t>CZ 对所有门店提出的四个问题</a:t>
            </a:r>
            <a:endParaRPr/>
          </a:p>
        </p:txBody>
      </p:sp>
      <p:sp>
        <p:nvSpPr>
          <p:cNvPr id="99099483" name="Rectangle 4"/>
          <p:cNvSpPr/>
          <p:nvPr/>
        </p:nvSpPr>
        <p:spPr bwMode="auto">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023513280" name="TextBox 5"/>
          <p:cNvSpPr txBox="1"/>
          <p:nvPr/>
        </p:nvSpPr>
        <p:spPr bwMode="auto">
          <a:xfrm>
            <a:off x="502920" y="6455664"/>
            <a:ext cx="5486400" cy="237744"/>
          </a:xfrm>
          <a:prstGeom prst="rect">
            <a:avLst/>
          </a:prstGeom>
          <a:noFill/>
        </p:spPr>
        <p:txBody>
          <a:bodyPr wrap="square" lIns="45720" tIns="18288" rIns="45720" bIns="18288">
            <a:spAutoFit/>
          </a:bodyPr>
          <a:lstStyle/>
          <a:p>
            <a:pPr algn="l">
              <a:defRPr/>
            </a:pPr>
            <a:r>
              <a:rPr sz="800" b="0" i="0">
                <a:solidFill>
                  <a:srgbClr val="5C6B62"/>
                </a:solidFill>
                <a:latin typeface="Arial"/>
                <a:ea typeface="Microsoft YaHei"/>
                <a:cs typeface="Microsoft YaHei"/>
              </a:rPr>
              <a:t>Mắt Sài Gòn  |  视光 DA 培训</a:t>
            </a:r>
            <a:endParaRPr/>
          </a:p>
        </p:txBody>
      </p:sp>
      <p:sp>
        <p:nvSpPr>
          <p:cNvPr id="406528953" name="TextBox 6"/>
          <p:cNvSpPr txBox="1"/>
          <p:nvPr/>
        </p:nvSpPr>
        <p:spPr bwMode="auto">
          <a:xfrm>
            <a:off x="10972800" y="6455664"/>
            <a:ext cx="713232" cy="237744"/>
          </a:xfrm>
          <a:prstGeom prst="rect">
            <a:avLst/>
          </a:prstGeom>
          <a:noFill/>
        </p:spPr>
        <p:txBody>
          <a:bodyPr wrap="square" lIns="45720" tIns="18288" rIns="45720" bIns="18288">
            <a:spAutoFit/>
          </a:bodyPr>
          <a:lstStyle/>
          <a:p>
            <a:pPr algn="r">
              <a:defRPr/>
            </a:pPr>
            <a:r>
              <a:rPr sz="800" b="1" i="0">
                <a:solidFill>
                  <a:srgbClr val="5C6B62"/>
                </a:solidFill>
                <a:latin typeface="Arial"/>
                <a:ea typeface="Microsoft YaHei"/>
                <a:cs typeface="Microsoft YaHei"/>
              </a:rPr>
              <a:t>3</a:t>
            </a:r>
            <a:endParaRPr/>
          </a:p>
        </p:txBody>
      </p:sp>
      <p:sp>
        <p:nvSpPr>
          <p:cNvPr id="1086562712" name="TextBox 7"/>
          <p:cNvSpPr txBox="1"/>
          <p:nvPr/>
        </p:nvSpPr>
        <p:spPr bwMode="auto">
          <a:xfrm>
            <a:off x="502920" y="1261872"/>
            <a:ext cx="11183112" cy="219456"/>
          </a:xfrm>
          <a:prstGeom prst="rect">
            <a:avLst/>
          </a:prstGeom>
          <a:noFill/>
        </p:spPr>
        <p:txBody>
          <a:bodyPr wrap="square" lIns="45720" tIns="18288" rIns="45720" bIns="18288">
            <a:spAutoFit/>
          </a:bodyPr>
          <a:lstStyle/>
          <a:p>
            <a:pPr algn="l">
              <a:lnSpc>
                <a:spcPct val="95000"/>
              </a:lnSpc>
              <a:defRPr/>
            </a:pPr>
            <a:r>
              <a:rPr sz="1000" b="0" i="1">
                <a:solidFill>
                  <a:srgbClr val="5C6B62"/>
                </a:solidFill>
                <a:latin typeface="Arial"/>
                <a:ea typeface="Microsoft YaHei"/>
                <a:cs typeface="Microsoft YaHei"/>
              </a:rPr>
              <a:t>其中两个是上周的重复问题，两个是新问题。两个重复的，正是此前已被定为重点的那两项。</a:t>
            </a:r>
            <a:endParaRPr/>
          </a:p>
        </p:txBody>
      </p:sp>
      <p:sp>
        <p:nvSpPr>
          <p:cNvPr id="1439187878" name="Rectangle 8"/>
          <p:cNvSpPr/>
          <p:nvPr/>
        </p:nvSpPr>
        <p:spPr bwMode="auto">
          <a:xfrm>
            <a:off x="502920" y="1591056"/>
            <a:ext cx="11183112" cy="91440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5461505" name="Rectangle 9"/>
          <p:cNvSpPr/>
          <p:nvPr/>
        </p:nvSpPr>
        <p:spPr bwMode="auto">
          <a:xfrm>
            <a:off x="502920" y="1591056"/>
            <a:ext cx="54864" cy="91440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756737233" name="Oval 10"/>
          <p:cNvSpPr/>
          <p:nvPr/>
        </p:nvSpPr>
        <p:spPr bwMode="auto">
          <a:xfrm>
            <a:off x="694944" y="1892807"/>
            <a:ext cx="310896" cy="310896"/>
          </a:xfrm>
          <a:prstGeom prst="ellipse">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1100" b="1" i="0">
                <a:solidFill>
                  <a:srgbClr val="FFFFFF"/>
                </a:solidFill>
                <a:latin typeface="Arial"/>
                <a:ea typeface="Microsoft YaHei"/>
                <a:cs typeface="Microsoft YaHei"/>
              </a:rPr>
              <a:t>1</a:t>
            </a:r>
            <a:endParaRPr/>
          </a:p>
        </p:txBody>
      </p:sp>
      <p:sp>
        <p:nvSpPr>
          <p:cNvPr id="1888696128" name="Rectangle 11"/>
          <p:cNvSpPr/>
          <p:nvPr/>
        </p:nvSpPr>
        <p:spPr bwMode="auto">
          <a:xfrm>
            <a:off x="1133856" y="1947671"/>
            <a:ext cx="786384" cy="201168"/>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700" b="1" i="0">
                <a:solidFill>
                  <a:srgbClr val="FFFFFF"/>
                </a:solidFill>
                <a:latin typeface="Arial"/>
                <a:ea typeface="Microsoft YaHei"/>
                <a:cs typeface="Microsoft YaHei"/>
              </a:rPr>
              <a:t>重复</a:t>
            </a:r>
            <a:endParaRPr/>
          </a:p>
        </p:txBody>
      </p:sp>
      <p:sp>
        <p:nvSpPr>
          <p:cNvPr id="56881679" name="TextBox 12"/>
          <p:cNvSpPr txBox="1"/>
          <p:nvPr/>
        </p:nvSpPr>
        <p:spPr bwMode="auto">
          <a:xfrm>
            <a:off x="2029968" y="1773936"/>
            <a:ext cx="4663440" cy="548640"/>
          </a:xfrm>
          <a:prstGeom prst="rect">
            <a:avLst/>
          </a:prstGeom>
          <a:noFill/>
        </p:spPr>
        <p:txBody>
          <a:bodyPr wrap="square" lIns="45720" tIns="18288" rIns="45720" bIns="18288" anchor="ctr">
            <a:spAutoFit/>
          </a:bodyPr>
          <a:lstStyle/>
          <a:p>
            <a:pPr algn="l">
              <a:lnSpc>
                <a:spcPct val="106000"/>
              </a:lnSpc>
              <a:defRPr/>
            </a:pPr>
            <a:r>
              <a:rPr sz="1100" b="1" i="0">
                <a:solidFill>
                  <a:srgbClr val="31633D"/>
                </a:solidFill>
                <a:latin typeface="Arial"/>
                <a:ea typeface="Microsoft YaHei"/>
                <a:cs typeface="Microsoft YaHei"/>
              </a:rPr>
              <a:t>CD7 与 CD30 跟进仍需改进</a:t>
            </a:r>
            <a:endParaRPr/>
          </a:p>
        </p:txBody>
      </p:sp>
      <p:sp>
        <p:nvSpPr>
          <p:cNvPr id="921259753" name="TextBox 13"/>
          <p:cNvSpPr txBox="1"/>
          <p:nvPr/>
        </p:nvSpPr>
        <p:spPr bwMode="auto">
          <a:xfrm>
            <a:off x="6858000" y="1719072"/>
            <a:ext cx="3657600" cy="658368"/>
          </a:xfrm>
          <a:prstGeom prst="rect">
            <a:avLst/>
          </a:prstGeom>
          <a:noFill/>
        </p:spPr>
        <p:txBody>
          <a:bodyPr wrap="square" lIns="45720" tIns="18288" rIns="45720" bIns="18288" anchor="ctr">
            <a:spAutoFit/>
          </a:bodyPr>
          <a:lstStyle/>
          <a:p>
            <a:pPr algn="l">
              <a:lnSpc>
                <a:spcPct val="108000"/>
              </a:lnSpc>
              <a:defRPr/>
            </a:pPr>
            <a:r>
              <a:rPr sz="850" b="0" i="0">
                <a:solidFill>
                  <a:srgbClr val="5C6B62"/>
                </a:solidFill>
                <a:latin typeface="Arial"/>
                <a:ea typeface="Microsoft YaHei"/>
                <a:cs typeface="Microsoft YaHei"/>
              </a:rPr>
              <a:t>本周再次被列为所有门店的共同问题。在 NGT，备注名上写着同一个日期的客户待遇却不一样。</a:t>
            </a:r>
            <a:endParaRPr/>
          </a:p>
        </p:txBody>
      </p:sp>
      <p:sp>
        <p:nvSpPr>
          <p:cNvPr id="592460252" name="Rectangle 14"/>
          <p:cNvSpPr/>
          <p:nvPr/>
        </p:nvSpPr>
        <p:spPr bwMode="auto">
          <a:xfrm>
            <a:off x="10643616" y="1819656"/>
            <a:ext cx="1042415"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54864" tIns="18288" rIns="54864" bIns="18288" rtlCol="0" anchor="ctr"/>
          <a:lstStyle/>
          <a:p>
            <a:pPr algn="ctr">
              <a:lnSpc>
                <a:spcPct val="106000"/>
              </a:lnSpc>
              <a:defRPr/>
            </a:pPr>
            <a:r>
              <a:rPr sz="700" b="1" i="0">
                <a:solidFill>
                  <a:srgbClr val="31633D"/>
                </a:solidFill>
                <a:latin typeface="Arial"/>
                <a:ea typeface="Microsoft YaHei"/>
                <a:cs typeface="Microsoft YaHei"/>
              </a:rPr>
              <a:t>详见第 9 页 — 重点 2</a:t>
            </a:r>
            <a:endParaRPr/>
          </a:p>
        </p:txBody>
      </p:sp>
      <p:sp>
        <p:nvSpPr>
          <p:cNvPr id="482164130" name="Rectangle 15"/>
          <p:cNvSpPr/>
          <p:nvPr/>
        </p:nvSpPr>
        <p:spPr bwMode="auto">
          <a:xfrm>
            <a:off x="502920" y="2596896"/>
            <a:ext cx="11183112" cy="91440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681785057" name="Rectangle 16"/>
          <p:cNvSpPr/>
          <p:nvPr/>
        </p:nvSpPr>
        <p:spPr bwMode="auto">
          <a:xfrm>
            <a:off x="502920" y="2596896"/>
            <a:ext cx="54864" cy="914400"/>
          </a:xfrm>
          <a:prstGeom prst="rect">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359299441" name="Oval 17"/>
          <p:cNvSpPr/>
          <p:nvPr/>
        </p:nvSpPr>
        <p:spPr bwMode="auto">
          <a:xfrm>
            <a:off x="694944" y="2898648"/>
            <a:ext cx="310896" cy="310896"/>
          </a:xfrm>
          <a:prstGeom prst="ellipse">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1100" b="1" i="0">
                <a:solidFill>
                  <a:srgbClr val="FFFFFF"/>
                </a:solidFill>
                <a:latin typeface="Arial"/>
                <a:ea typeface="Microsoft YaHei"/>
                <a:cs typeface="Microsoft YaHei"/>
              </a:rPr>
              <a:t>2</a:t>
            </a:r>
            <a:endParaRPr/>
          </a:p>
        </p:txBody>
      </p:sp>
      <p:sp>
        <p:nvSpPr>
          <p:cNvPr id="1762857841" name="Rectangle 18"/>
          <p:cNvSpPr/>
          <p:nvPr/>
        </p:nvSpPr>
        <p:spPr bwMode="auto">
          <a:xfrm>
            <a:off x="1133856" y="2953512"/>
            <a:ext cx="786384" cy="201168"/>
          </a:xfrm>
          <a:prstGeom prst="rect">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700" b="1" i="0">
                <a:solidFill>
                  <a:srgbClr val="FFFFFF"/>
                </a:solidFill>
                <a:latin typeface="Arial"/>
                <a:ea typeface="Microsoft YaHei"/>
                <a:cs typeface="Microsoft YaHei"/>
              </a:rPr>
              <a:t>新增</a:t>
            </a:r>
            <a:endParaRPr/>
          </a:p>
        </p:txBody>
      </p:sp>
      <p:sp>
        <p:nvSpPr>
          <p:cNvPr id="1926605184" name="TextBox 19"/>
          <p:cNvSpPr txBox="1"/>
          <p:nvPr/>
        </p:nvSpPr>
        <p:spPr bwMode="auto">
          <a:xfrm>
            <a:off x="2029968" y="2779776"/>
            <a:ext cx="4663440" cy="548640"/>
          </a:xfrm>
          <a:prstGeom prst="rect">
            <a:avLst/>
          </a:prstGeom>
          <a:noFill/>
        </p:spPr>
        <p:txBody>
          <a:bodyPr wrap="square" lIns="45720" tIns="18288" rIns="45720" bIns="18288" anchor="ctr">
            <a:spAutoFit/>
          </a:bodyPr>
          <a:lstStyle/>
          <a:p>
            <a:pPr algn="l">
              <a:lnSpc>
                <a:spcPct val="106000"/>
              </a:lnSpc>
              <a:defRPr/>
            </a:pPr>
            <a:r>
              <a:rPr sz="1100" b="1" i="0">
                <a:solidFill>
                  <a:srgbClr val="31633D"/>
                </a:solidFill>
                <a:latin typeface="Arial"/>
                <a:ea typeface="Microsoft YaHei"/>
                <a:cs typeface="Microsoft YaHei"/>
              </a:rPr>
              <a:t>Ortho-K 客户第一周需要 2–3 次跟进</a:t>
            </a:r>
            <a:endParaRPr/>
          </a:p>
        </p:txBody>
      </p:sp>
      <p:sp>
        <p:nvSpPr>
          <p:cNvPr id="1323795687" name="TextBox 20"/>
          <p:cNvSpPr txBox="1"/>
          <p:nvPr/>
        </p:nvSpPr>
        <p:spPr bwMode="auto">
          <a:xfrm>
            <a:off x="6858000" y="2724911"/>
            <a:ext cx="3657600" cy="658368"/>
          </a:xfrm>
          <a:prstGeom prst="rect">
            <a:avLst/>
          </a:prstGeom>
          <a:noFill/>
        </p:spPr>
        <p:txBody>
          <a:bodyPr wrap="square" lIns="45720" tIns="18288" rIns="45720" bIns="18288" anchor="ctr">
            <a:spAutoFit/>
          </a:bodyPr>
          <a:lstStyle/>
          <a:p>
            <a:pPr algn="l">
              <a:lnSpc>
                <a:spcPct val="108000"/>
              </a:lnSpc>
              <a:defRPr/>
            </a:pPr>
            <a:r>
              <a:rPr sz="850" b="0" i="0">
                <a:solidFill>
                  <a:srgbClr val="5C6B62"/>
                </a:solidFill>
                <a:latin typeface="Arial"/>
                <a:ea typeface="Microsoft YaHei"/>
                <a:cs typeface="Microsoft YaHei"/>
              </a:rPr>
              <a:t>Ortho-K 首次出现在复盘中。CTE-D5 被点名：镜片定制信息、取镜后的佩戴回访、以及复查邀约全部缺失。</a:t>
            </a:r>
            <a:endParaRPr/>
          </a:p>
        </p:txBody>
      </p:sp>
      <p:sp>
        <p:nvSpPr>
          <p:cNvPr id="1314223779" name="Rectangle 21"/>
          <p:cNvSpPr/>
          <p:nvPr/>
        </p:nvSpPr>
        <p:spPr bwMode="auto">
          <a:xfrm>
            <a:off x="10643616" y="2825496"/>
            <a:ext cx="1042415"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54864" tIns="18288" rIns="54864" bIns="18288" rtlCol="0" anchor="ctr"/>
          <a:lstStyle/>
          <a:p>
            <a:pPr algn="ctr">
              <a:lnSpc>
                <a:spcPct val="106000"/>
              </a:lnSpc>
              <a:defRPr/>
            </a:pPr>
            <a:r>
              <a:rPr sz="700" b="1" i="0">
                <a:solidFill>
                  <a:srgbClr val="31633D"/>
                </a:solidFill>
                <a:latin typeface="Arial"/>
                <a:ea typeface="Microsoft YaHei"/>
                <a:cs typeface="Microsoft YaHei"/>
              </a:rPr>
              <a:t>详见第 6 页 — Ortho-K 跟进节奏</a:t>
            </a:r>
            <a:endParaRPr/>
          </a:p>
        </p:txBody>
      </p:sp>
      <p:sp>
        <p:nvSpPr>
          <p:cNvPr id="183857855" name="Rectangle 22"/>
          <p:cNvSpPr/>
          <p:nvPr/>
        </p:nvSpPr>
        <p:spPr bwMode="auto">
          <a:xfrm>
            <a:off x="502920" y="3602735"/>
            <a:ext cx="11183112" cy="91440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636363380" name="Rectangle 23"/>
          <p:cNvSpPr/>
          <p:nvPr/>
        </p:nvSpPr>
        <p:spPr bwMode="auto">
          <a:xfrm>
            <a:off x="502920" y="3602735"/>
            <a:ext cx="54864" cy="914400"/>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858144897" name="Oval 24"/>
          <p:cNvSpPr/>
          <p:nvPr/>
        </p:nvSpPr>
        <p:spPr bwMode="auto">
          <a:xfrm>
            <a:off x="694944" y="3904487"/>
            <a:ext cx="310896" cy="310896"/>
          </a:xfrm>
          <a:prstGeom prst="ellipse">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1100" b="1" i="0">
                <a:solidFill>
                  <a:srgbClr val="FFFFFF"/>
                </a:solidFill>
                <a:latin typeface="Arial"/>
                <a:ea typeface="Microsoft YaHei"/>
                <a:cs typeface="Microsoft YaHei"/>
              </a:rPr>
              <a:t>3</a:t>
            </a:r>
            <a:endParaRPr/>
          </a:p>
        </p:txBody>
      </p:sp>
      <p:sp>
        <p:nvSpPr>
          <p:cNvPr id="281152019" name="Rectangle 25"/>
          <p:cNvSpPr/>
          <p:nvPr/>
        </p:nvSpPr>
        <p:spPr bwMode="auto">
          <a:xfrm>
            <a:off x="1133856" y="3959352"/>
            <a:ext cx="786384" cy="201168"/>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700" b="1" i="0">
                <a:solidFill>
                  <a:srgbClr val="FFFFFF"/>
                </a:solidFill>
                <a:latin typeface="Arial"/>
                <a:ea typeface="Microsoft YaHei"/>
                <a:cs typeface="Microsoft YaHei"/>
              </a:rPr>
              <a:t>升级</a:t>
            </a:r>
            <a:endParaRPr/>
          </a:p>
        </p:txBody>
      </p:sp>
      <p:sp>
        <p:nvSpPr>
          <p:cNvPr id="662111744" name="TextBox 26"/>
          <p:cNvSpPr txBox="1"/>
          <p:nvPr/>
        </p:nvSpPr>
        <p:spPr bwMode="auto">
          <a:xfrm>
            <a:off x="2029968" y="3785615"/>
            <a:ext cx="4663440" cy="548640"/>
          </a:xfrm>
          <a:prstGeom prst="rect">
            <a:avLst/>
          </a:prstGeom>
          <a:noFill/>
        </p:spPr>
        <p:txBody>
          <a:bodyPr wrap="square" lIns="45720" tIns="18288" rIns="45720" bIns="18288" anchor="ctr">
            <a:spAutoFit/>
          </a:bodyPr>
          <a:lstStyle/>
          <a:p>
            <a:pPr algn="l">
              <a:lnSpc>
                <a:spcPct val="106000"/>
              </a:lnSpc>
              <a:defRPr/>
            </a:pPr>
            <a:r>
              <a:rPr sz="1100" b="1" i="0">
                <a:solidFill>
                  <a:srgbClr val="31633D"/>
                </a:solidFill>
                <a:latin typeface="Arial"/>
                <a:ea typeface="Microsoft YaHei"/>
                <a:cs typeface="Microsoft YaHei"/>
              </a:rPr>
              <a:t>每位 DA 都必须掌握简化版转介绍话术</a:t>
            </a:r>
            <a:endParaRPr/>
          </a:p>
        </p:txBody>
      </p:sp>
      <p:sp>
        <p:nvSpPr>
          <p:cNvPr id="633788194" name="TextBox 27"/>
          <p:cNvSpPr txBox="1"/>
          <p:nvPr/>
        </p:nvSpPr>
        <p:spPr bwMode="auto">
          <a:xfrm>
            <a:off x="6858000" y="3730752"/>
            <a:ext cx="3657600" cy="658368"/>
          </a:xfrm>
          <a:prstGeom prst="rect">
            <a:avLst/>
          </a:prstGeom>
          <a:noFill/>
        </p:spPr>
        <p:txBody>
          <a:bodyPr wrap="square" lIns="45720" tIns="18288" rIns="45720" bIns="18288" anchor="ctr">
            <a:spAutoFit/>
          </a:bodyPr>
          <a:lstStyle/>
          <a:p>
            <a:pPr algn="l">
              <a:lnSpc>
                <a:spcPct val="108000"/>
              </a:lnSpc>
              <a:defRPr/>
            </a:pPr>
            <a:r>
              <a:rPr sz="850" b="0" i="0">
                <a:solidFill>
                  <a:srgbClr val="5C6B62"/>
                </a:solidFill>
                <a:latin typeface="Arial"/>
                <a:ea typeface="Microsoft YaHei"/>
                <a:cs typeface="Microsoft YaHei"/>
              </a:rPr>
              <a:t>上周的说法是这条话术用得太少。本周的要求是所有 DA 都要熟练掌握 —— 并且现在已经有了明确的流程，用于处理客户被转介绍过来之后的环节。</a:t>
            </a:r>
            <a:endParaRPr/>
          </a:p>
        </p:txBody>
      </p:sp>
      <p:sp>
        <p:nvSpPr>
          <p:cNvPr id="1471477485" name="Rectangle 28"/>
          <p:cNvSpPr/>
          <p:nvPr/>
        </p:nvSpPr>
        <p:spPr bwMode="auto">
          <a:xfrm>
            <a:off x="10643616" y="3831335"/>
            <a:ext cx="1042415"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54864" tIns="18288" rIns="54864" bIns="18288" rtlCol="0" anchor="ctr"/>
          <a:lstStyle/>
          <a:p>
            <a:pPr algn="ctr">
              <a:lnSpc>
                <a:spcPct val="106000"/>
              </a:lnSpc>
              <a:defRPr/>
            </a:pPr>
            <a:r>
              <a:rPr sz="700" b="1" i="0">
                <a:solidFill>
                  <a:srgbClr val="31633D"/>
                </a:solidFill>
                <a:latin typeface="Arial"/>
                <a:ea typeface="Microsoft YaHei"/>
                <a:cs typeface="Microsoft YaHei"/>
              </a:rPr>
              <a:t>详见第 7–8 页 — 各门店</a:t>
            </a:r>
            <a:endParaRPr/>
          </a:p>
        </p:txBody>
      </p:sp>
      <p:sp>
        <p:nvSpPr>
          <p:cNvPr id="1603647728" name="Rectangle 29"/>
          <p:cNvSpPr/>
          <p:nvPr/>
        </p:nvSpPr>
        <p:spPr bwMode="auto">
          <a:xfrm>
            <a:off x="502920" y="4608576"/>
            <a:ext cx="11183112" cy="91440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350863006" name="Rectangle 30"/>
          <p:cNvSpPr/>
          <p:nvPr/>
        </p:nvSpPr>
        <p:spPr bwMode="auto">
          <a:xfrm>
            <a:off x="502920" y="4608576"/>
            <a:ext cx="54864" cy="91440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51686246" name="Oval 31"/>
          <p:cNvSpPr/>
          <p:nvPr/>
        </p:nvSpPr>
        <p:spPr bwMode="auto">
          <a:xfrm>
            <a:off x="694944" y="4910328"/>
            <a:ext cx="310896" cy="310896"/>
          </a:xfrm>
          <a:prstGeom prst="ellipse">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1100" b="1" i="0">
                <a:solidFill>
                  <a:srgbClr val="FFFFFF"/>
                </a:solidFill>
                <a:latin typeface="Arial"/>
                <a:ea typeface="Microsoft YaHei"/>
                <a:cs typeface="Microsoft YaHei"/>
              </a:rPr>
              <a:t>4</a:t>
            </a:r>
            <a:endParaRPr/>
          </a:p>
        </p:txBody>
      </p:sp>
      <p:sp>
        <p:nvSpPr>
          <p:cNvPr id="435963363" name="Rectangle 32"/>
          <p:cNvSpPr/>
          <p:nvPr/>
        </p:nvSpPr>
        <p:spPr bwMode="auto">
          <a:xfrm>
            <a:off x="1133856" y="4965192"/>
            <a:ext cx="786384" cy="201168"/>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700" b="1" i="0">
                <a:solidFill>
                  <a:srgbClr val="FFFFFF"/>
                </a:solidFill>
                <a:latin typeface="Arial"/>
                <a:ea typeface="Microsoft YaHei"/>
                <a:cs typeface="Microsoft YaHei"/>
              </a:rPr>
              <a:t>重复</a:t>
            </a:r>
            <a:endParaRPr/>
          </a:p>
        </p:txBody>
      </p:sp>
      <p:sp>
        <p:nvSpPr>
          <p:cNvPr id="384855392" name="TextBox 33"/>
          <p:cNvSpPr txBox="1"/>
          <p:nvPr/>
        </p:nvSpPr>
        <p:spPr bwMode="auto">
          <a:xfrm>
            <a:off x="2029968" y="4791456"/>
            <a:ext cx="4663440" cy="548640"/>
          </a:xfrm>
          <a:prstGeom prst="rect">
            <a:avLst/>
          </a:prstGeom>
          <a:noFill/>
        </p:spPr>
        <p:txBody>
          <a:bodyPr wrap="square" lIns="45720" tIns="18288" rIns="45720" bIns="18288" anchor="ctr">
            <a:spAutoFit/>
          </a:bodyPr>
          <a:lstStyle/>
          <a:p>
            <a:pPr algn="l">
              <a:lnSpc>
                <a:spcPct val="106000"/>
              </a:lnSpc>
              <a:defRPr/>
            </a:pPr>
            <a:r>
              <a:rPr sz="1100" b="1" i="0">
                <a:solidFill>
                  <a:srgbClr val="31633D"/>
                </a:solidFill>
                <a:latin typeface="Arial"/>
                <a:ea typeface="Microsoft YaHei"/>
                <a:cs typeface="Microsoft YaHei"/>
              </a:rPr>
              <a:t>很多案例的 Zalo 备注名日期与取镜日期不符</a:t>
            </a:r>
            <a:endParaRPr/>
          </a:p>
        </p:txBody>
      </p:sp>
      <p:sp>
        <p:nvSpPr>
          <p:cNvPr id="855357228" name="TextBox 34"/>
          <p:cNvSpPr txBox="1"/>
          <p:nvPr/>
        </p:nvSpPr>
        <p:spPr bwMode="auto">
          <a:xfrm>
            <a:off x="6858000" y="4736592"/>
            <a:ext cx="3657600" cy="658368"/>
          </a:xfrm>
          <a:prstGeom prst="rect">
            <a:avLst/>
          </a:prstGeom>
          <a:noFill/>
        </p:spPr>
        <p:txBody>
          <a:bodyPr wrap="square" lIns="45720" tIns="18288" rIns="45720" bIns="18288" anchor="ctr">
            <a:spAutoFit/>
          </a:bodyPr>
          <a:lstStyle/>
          <a:p>
            <a:pPr algn="l">
              <a:lnSpc>
                <a:spcPct val="108000"/>
              </a:lnSpc>
              <a:defRPr/>
            </a:pPr>
            <a:r>
              <a:rPr sz="850" b="0" i="0">
                <a:solidFill>
                  <a:srgbClr val="5C6B62"/>
                </a:solidFill>
                <a:latin typeface="Arial"/>
                <a:ea typeface="Microsoft YaHei"/>
                <a:cs typeface="Microsoft YaHei"/>
              </a:rPr>
              <a:t>与上周结论相同，尚未解决。追踪表现已新增三列专门用于解决这个问题，而三列都是空的。</a:t>
            </a:r>
            <a:endParaRPr/>
          </a:p>
        </p:txBody>
      </p:sp>
      <p:sp>
        <p:nvSpPr>
          <p:cNvPr id="433191035" name="Rectangle 35"/>
          <p:cNvSpPr/>
          <p:nvPr/>
        </p:nvSpPr>
        <p:spPr bwMode="auto">
          <a:xfrm>
            <a:off x="10643616" y="4837176"/>
            <a:ext cx="1042415"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54864" tIns="18288" rIns="54864" bIns="18288" rtlCol="0" anchor="ctr"/>
          <a:lstStyle/>
          <a:p>
            <a:pPr algn="ctr">
              <a:lnSpc>
                <a:spcPct val="106000"/>
              </a:lnSpc>
              <a:defRPr/>
            </a:pPr>
            <a:r>
              <a:rPr sz="700" b="1" i="0">
                <a:solidFill>
                  <a:srgbClr val="31633D"/>
                </a:solidFill>
                <a:latin typeface="Arial"/>
                <a:ea typeface="Microsoft YaHei"/>
                <a:cs typeface="Microsoft YaHei"/>
              </a:rPr>
              <a:t>详见第 4 页 — 新增三列</a:t>
            </a:r>
            <a:endParaRPr/>
          </a:p>
        </p:txBody>
      </p:sp>
      <p:sp>
        <p:nvSpPr>
          <p:cNvPr id="363486934" name="Rectangle 36"/>
          <p:cNvSpPr/>
          <p:nvPr/>
        </p:nvSpPr>
        <p:spPr bwMode="auto">
          <a:xfrm>
            <a:off x="502920" y="5760720"/>
            <a:ext cx="64008" cy="45720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428227908" name="Rectangle 37"/>
          <p:cNvSpPr/>
          <p:nvPr/>
        </p:nvSpPr>
        <p:spPr bwMode="auto">
          <a:xfrm>
            <a:off x="566928" y="5760720"/>
            <a:ext cx="11119104"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46304" tIns="18288" rIns="109728" bIns="18288" rtlCol="0" anchor="ctr"/>
          <a:lstStyle/>
          <a:p>
            <a:pPr algn="l">
              <a:defRPr/>
            </a:pPr>
            <a:r>
              <a:rPr sz="1100" b="1" i="0">
                <a:solidFill>
                  <a:srgbClr val="31633D"/>
                </a:solidFill>
                <a:latin typeface="Arial"/>
                <a:ea typeface="Microsoft YaHei"/>
                <a:cs typeface="Microsoft YaHei"/>
              </a:rPr>
              <a:t>问题 1 和问题 4 是上周的重点。在收尾之前，它们仍然是重点。</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16608880" name="Rectangle 1"/>
          <p:cNvSpPr/>
          <p:nvPr/>
        </p:nvSpPr>
        <p:spPr bwMode="auto">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539408966" name="TextBox 2"/>
          <p:cNvSpPr txBox="1"/>
          <p:nvPr/>
        </p:nvSpPr>
        <p:spPr bwMode="auto">
          <a:xfrm>
            <a:off x="502920" y="228600"/>
            <a:ext cx="9692640" cy="228600"/>
          </a:xfrm>
          <a:prstGeom prst="rect">
            <a:avLst/>
          </a:prstGeom>
          <a:noFill/>
        </p:spPr>
        <p:txBody>
          <a:bodyPr wrap="square" lIns="45720" tIns="18288" rIns="45720" bIns="18288">
            <a:spAutoFit/>
          </a:bodyPr>
          <a:lstStyle/>
          <a:p>
            <a:pPr algn="l">
              <a:defRPr/>
            </a:pPr>
            <a:r>
              <a:rPr sz="950" b="1" i="0">
                <a:solidFill>
                  <a:srgbClr val="2E9C4C"/>
                </a:solidFill>
                <a:latin typeface="Arial"/>
                <a:ea typeface="Microsoft YaHei"/>
                <a:cs typeface="Microsoft YaHei"/>
              </a:rPr>
              <a:t>二、本周情况   |   追踪表新增三列</a:t>
            </a:r>
            <a:endParaRPr/>
          </a:p>
        </p:txBody>
      </p:sp>
      <p:sp>
        <p:nvSpPr>
          <p:cNvPr id="417062157" name="TextBox 3"/>
          <p:cNvSpPr txBox="1"/>
          <p:nvPr/>
        </p:nvSpPr>
        <p:spPr bwMode="auto">
          <a:xfrm>
            <a:off x="502920" y="493776"/>
            <a:ext cx="11247120" cy="640080"/>
          </a:xfrm>
          <a:prstGeom prst="rect">
            <a:avLst/>
          </a:prstGeom>
          <a:noFill/>
        </p:spPr>
        <p:txBody>
          <a:bodyPr wrap="square" lIns="45720" tIns="18288" rIns="45720" bIns="18288">
            <a:spAutoFit/>
          </a:bodyPr>
          <a:lstStyle/>
          <a:p>
            <a:pPr algn="l">
              <a:defRPr/>
            </a:pPr>
            <a:r>
              <a:rPr sz="2200" b="1" i="0">
                <a:solidFill>
                  <a:srgbClr val="31633D"/>
                </a:solidFill>
                <a:latin typeface="Arial"/>
                <a:ea typeface="Microsoft YaHei"/>
                <a:cs typeface="Microsoft YaHei"/>
              </a:rPr>
              <a:t>追踪表已新增三列 —— 请填写完整</a:t>
            </a:r>
            <a:endParaRPr/>
          </a:p>
        </p:txBody>
      </p:sp>
      <p:sp>
        <p:nvSpPr>
          <p:cNvPr id="1497847956" name="Rectangle 4"/>
          <p:cNvSpPr/>
          <p:nvPr/>
        </p:nvSpPr>
        <p:spPr bwMode="auto">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101137945" name="TextBox 5"/>
          <p:cNvSpPr txBox="1"/>
          <p:nvPr/>
        </p:nvSpPr>
        <p:spPr bwMode="auto">
          <a:xfrm>
            <a:off x="502920" y="6455664"/>
            <a:ext cx="5486400" cy="237744"/>
          </a:xfrm>
          <a:prstGeom prst="rect">
            <a:avLst/>
          </a:prstGeom>
          <a:noFill/>
        </p:spPr>
        <p:txBody>
          <a:bodyPr wrap="square" lIns="45720" tIns="18288" rIns="45720" bIns="18288">
            <a:spAutoFit/>
          </a:bodyPr>
          <a:lstStyle/>
          <a:p>
            <a:pPr algn="l">
              <a:defRPr/>
            </a:pPr>
            <a:r>
              <a:rPr sz="800" b="0" i="0">
                <a:solidFill>
                  <a:srgbClr val="5C6B62"/>
                </a:solidFill>
                <a:latin typeface="Arial"/>
                <a:ea typeface="Microsoft YaHei"/>
                <a:cs typeface="Microsoft YaHei"/>
              </a:rPr>
              <a:t>Mắt Sài Gòn  |  视光 DA 培训</a:t>
            </a:r>
            <a:endParaRPr/>
          </a:p>
        </p:txBody>
      </p:sp>
      <p:sp>
        <p:nvSpPr>
          <p:cNvPr id="962388397" name="TextBox 6"/>
          <p:cNvSpPr txBox="1"/>
          <p:nvPr/>
        </p:nvSpPr>
        <p:spPr bwMode="auto">
          <a:xfrm>
            <a:off x="10972800" y="6455664"/>
            <a:ext cx="713232" cy="237744"/>
          </a:xfrm>
          <a:prstGeom prst="rect">
            <a:avLst/>
          </a:prstGeom>
          <a:noFill/>
        </p:spPr>
        <p:txBody>
          <a:bodyPr wrap="square" lIns="45720" tIns="18288" rIns="45720" bIns="18288">
            <a:spAutoFit/>
          </a:bodyPr>
          <a:lstStyle/>
          <a:p>
            <a:pPr algn="r">
              <a:defRPr/>
            </a:pPr>
            <a:r>
              <a:rPr sz="800" b="1" i="0">
                <a:solidFill>
                  <a:srgbClr val="5C6B62"/>
                </a:solidFill>
                <a:latin typeface="Arial"/>
                <a:ea typeface="Microsoft YaHei"/>
                <a:cs typeface="Microsoft YaHei"/>
              </a:rPr>
              <a:t>4</a:t>
            </a:r>
            <a:endParaRPr/>
          </a:p>
        </p:txBody>
      </p:sp>
      <p:sp>
        <p:nvSpPr>
          <p:cNvPr id="1121128130" name="Rectangle 7"/>
          <p:cNvSpPr/>
          <p:nvPr/>
        </p:nvSpPr>
        <p:spPr bwMode="auto">
          <a:xfrm>
            <a:off x="502920" y="1389888"/>
            <a:ext cx="3575303" cy="84124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750583627" name="Rectangle 8"/>
          <p:cNvSpPr/>
          <p:nvPr/>
        </p:nvSpPr>
        <p:spPr bwMode="auto">
          <a:xfrm>
            <a:off x="502920" y="1389888"/>
            <a:ext cx="3575303" cy="5486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941655564" name="Rectangle 9"/>
          <p:cNvSpPr/>
          <p:nvPr/>
        </p:nvSpPr>
        <p:spPr bwMode="auto">
          <a:xfrm>
            <a:off x="667512" y="1609344"/>
            <a:ext cx="402336" cy="402336"/>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1500" b="1" i="0">
                <a:solidFill>
                  <a:srgbClr val="FFFFFF"/>
                </a:solidFill>
                <a:latin typeface="Arial"/>
                <a:ea typeface="Microsoft YaHei"/>
                <a:cs typeface="Microsoft YaHei"/>
              </a:rPr>
              <a:t>K</a:t>
            </a:r>
            <a:endParaRPr/>
          </a:p>
        </p:txBody>
      </p:sp>
      <p:sp>
        <p:nvSpPr>
          <p:cNvPr id="1896204194" name="TextBox 10"/>
          <p:cNvSpPr txBox="1"/>
          <p:nvPr/>
        </p:nvSpPr>
        <p:spPr bwMode="auto">
          <a:xfrm>
            <a:off x="1179576" y="1627632"/>
            <a:ext cx="2743200" cy="219456"/>
          </a:xfrm>
          <a:prstGeom prst="rect">
            <a:avLst/>
          </a:prstGeom>
          <a:noFill/>
        </p:spPr>
        <p:txBody>
          <a:bodyPr wrap="square" lIns="45720" tIns="18288" rIns="45720" bIns="18288">
            <a:spAutoFit/>
          </a:bodyPr>
          <a:lstStyle/>
          <a:p>
            <a:pPr algn="l">
              <a:defRPr/>
            </a:pPr>
            <a:r>
              <a:rPr sz="1100" b="1" i="0">
                <a:solidFill>
                  <a:srgbClr val="31633D"/>
                </a:solidFill>
                <a:latin typeface="Arial"/>
                <a:ea typeface="Microsoft YaHei"/>
                <a:cs typeface="Microsoft YaHei"/>
              </a:rPr>
              <a:t>Ngày đặt cọc</a:t>
            </a:r>
            <a:endParaRPr/>
          </a:p>
        </p:txBody>
      </p:sp>
      <p:sp>
        <p:nvSpPr>
          <p:cNvPr id="1951116420" name="TextBox 11"/>
          <p:cNvSpPr txBox="1"/>
          <p:nvPr/>
        </p:nvSpPr>
        <p:spPr bwMode="auto">
          <a:xfrm>
            <a:off x="1179576" y="1828800"/>
            <a:ext cx="2743200" cy="201168"/>
          </a:xfrm>
          <a:prstGeom prst="rect">
            <a:avLst/>
          </a:prstGeom>
          <a:noFill/>
        </p:spPr>
        <p:txBody>
          <a:bodyPr wrap="square" lIns="45720" tIns="18288" rIns="45720" bIns="18288">
            <a:spAutoFit/>
          </a:bodyPr>
          <a:lstStyle/>
          <a:p>
            <a:pPr algn="l">
              <a:defRPr/>
            </a:pPr>
            <a:r>
              <a:rPr sz="950" b="0" i="0">
                <a:solidFill>
                  <a:srgbClr val="5C6B62"/>
                </a:solidFill>
                <a:latin typeface="Arial"/>
                <a:ea typeface="Microsoft YaHei"/>
                <a:cs typeface="Microsoft YaHei"/>
              </a:rPr>
              <a:t>交定金日期</a:t>
            </a:r>
            <a:endParaRPr/>
          </a:p>
        </p:txBody>
      </p:sp>
      <p:sp>
        <p:nvSpPr>
          <p:cNvPr id="685123250" name="Rectangle 12"/>
          <p:cNvSpPr/>
          <p:nvPr/>
        </p:nvSpPr>
        <p:spPr bwMode="auto">
          <a:xfrm>
            <a:off x="4306824" y="1389888"/>
            <a:ext cx="3575303" cy="84124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080749257" name="Rectangle 13"/>
          <p:cNvSpPr/>
          <p:nvPr/>
        </p:nvSpPr>
        <p:spPr bwMode="auto">
          <a:xfrm>
            <a:off x="4306824" y="1389888"/>
            <a:ext cx="3575303" cy="54864"/>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27496521" name="Rectangle 14"/>
          <p:cNvSpPr/>
          <p:nvPr/>
        </p:nvSpPr>
        <p:spPr bwMode="auto">
          <a:xfrm>
            <a:off x="4471416" y="1609344"/>
            <a:ext cx="402336" cy="402336"/>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1500" b="1" i="0">
                <a:solidFill>
                  <a:srgbClr val="FFFFFF"/>
                </a:solidFill>
                <a:latin typeface="Arial"/>
                <a:ea typeface="Microsoft YaHei"/>
                <a:cs typeface="Microsoft YaHei"/>
              </a:rPr>
              <a:t>L</a:t>
            </a:r>
            <a:endParaRPr/>
          </a:p>
        </p:txBody>
      </p:sp>
      <p:sp>
        <p:nvSpPr>
          <p:cNvPr id="1147929502" name="TextBox 15"/>
          <p:cNvSpPr txBox="1"/>
          <p:nvPr/>
        </p:nvSpPr>
        <p:spPr bwMode="auto">
          <a:xfrm>
            <a:off x="4983480" y="1627632"/>
            <a:ext cx="2743200" cy="219456"/>
          </a:xfrm>
          <a:prstGeom prst="rect">
            <a:avLst/>
          </a:prstGeom>
          <a:noFill/>
        </p:spPr>
        <p:txBody>
          <a:bodyPr wrap="square" lIns="45720" tIns="18288" rIns="45720" bIns="18288">
            <a:spAutoFit/>
          </a:bodyPr>
          <a:lstStyle/>
          <a:p>
            <a:pPr algn="l">
              <a:defRPr/>
            </a:pPr>
            <a:r>
              <a:rPr sz="1100" b="1" i="0">
                <a:solidFill>
                  <a:srgbClr val="31633D"/>
                </a:solidFill>
                <a:latin typeface="Arial"/>
                <a:ea typeface="Microsoft YaHei"/>
                <a:cs typeface="Microsoft YaHei"/>
              </a:rPr>
              <a:t>Ngày nhận kính (thực tế)</a:t>
            </a:r>
            <a:endParaRPr/>
          </a:p>
        </p:txBody>
      </p:sp>
      <p:sp>
        <p:nvSpPr>
          <p:cNvPr id="1798764099" name="TextBox 16"/>
          <p:cNvSpPr txBox="1"/>
          <p:nvPr/>
        </p:nvSpPr>
        <p:spPr bwMode="auto">
          <a:xfrm>
            <a:off x="4983480" y="1828800"/>
            <a:ext cx="2743200" cy="201168"/>
          </a:xfrm>
          <a:prstGeom prst="rect">
            <a:avLst/>
          </a:prstGeom>
          <a:noFill/>
        </p:spPr>
        <p:txBody>
          <a:bodyPr wrap="square" lIns="45720" tIns="18288" rIns="45720" bIns="18288">
            <a:spAutoFit/>
          </a:bodyPr>
          <a:lstStyle/>
          <a:p>
            <a:pPr algn="l">
              <a:defRPr/>
            </a:pPr>
            <a:r>
              <a:rPr sz="950" b="0" i="0">
                <a:solidFill>
                  <a:srgbClr val="5C6B62"/>
                </a:solidFill>
                <a:latin typeface="Arial"/>
                <a:ea typeface="Microsoft YaHei"/>
                <a:cs typeface="Microsoft YaHei"/>
              </a:rPr>
              <a:t>实际取镜日期</a:t>
            </a:r>
            <a:endParaRPr/>
          </a:p>
        </p:txBody>
      </p:sp>
      <p:sp>
        <p:nvSpPr>
          <p:cNvPr id="462799459" name="Rectangle 17"/>
          <p:cNvSpPr/>
          <p:nvPr/>
        </p:nvSpPr>
        <p:spPr bwMode="auto">
          <a:xfrm>
            <a:off x="8110728" y="1389888"/>
            <a:ext cx="3575303" cy="84124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18354798" name="Rectangle 18"/>
          <p:cNvSpPr/>
          <p:nvPr/>
        </p:nvSpPr>
        <p:spPr bwMode="auto">
          <a:xfrm>
            <a:off x="8110728" y="1389888"/>
            <a:ext cx="3575303" cy="54864"/>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995679234" name="Rectangle 19"/>
          <p:cNvSpPr/>
          <p:nvPr/>
        </p:nvSpPr>
        <p:spPr bwMode="auto">
          <a:xfrm>
            <a:off x="8275320" y="1609344"/>
            <a:ext cx="402336" cy="402336"/>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1500" b="1" i="0">
                <a:solidFill>
                  <a:srgbClr val="FFFFFF"/>
                </a:solidFill>
                <a:latin typeface="Arial"/>
                <a:ea typeface="Microsoft YaHei"/>
                <a:cs typeface="Microsoft YaHei"/>
              </a:rPr>
              <a:t>M</a:t>
            </a:r>
            <a:endParaRPr/>
          </a:p>
        </p:txBody>
      </p:sp>
      <p:sp>
        <p:nvSpPr>
          <p:cNvPr id="542537587" name="TextBox 20"/>
          <p:cNvSpPr txBox="1"/>
          <p:nvPr/>
        </p:nvSpPr>
        <p:spPr bwMode="auto">
          <a:xfrm>
            <a:off x="8787384" y="1627632"/>
            <a:ext cx="2743200" cy="219456"/>
          </a:xfrm>
          <a:prstGeom prst="rect">
            <a:avLst/>
          </a:prstGeom>
          <a:noFill/>
        </p:spPr>
        <p:txBody>
          <a:bodyPr wrap="square" lIns="45720" tIns="18288" rIns="45720" bIns="18288">
            <a:spAutoFit/>
          </a:bodyPr>
          <a:lstStyle/>
          <a:p>
            <a:pPr algn="l">
              <a:defRPr/>
            </a:pPr>
            <a:r>
              <a:rPr sz="1100" b="1" i="0">
                <a:solidFill>
                  <a:srgbClr val="31633D"/>
                </a:solidFill>
                <a:latin typeface="Arial"/>
                <a:ea typeface="Microsoft YaHei"/>
                <a:cs typeface="Microsoft YaHei"/>
              </a:rPr>
              <a:t>Ngày hết hạn bảo hành</a:t>
            </a:r>
            <a:endParaRPr/>
          </a:p>
        </p:txBody>
      </p:sp>
      <p:sp>
        <p:nvSpPr>
          <p:cNvPr id="426138879" name="TextBox 21"/>
          <p:cNvSpPr txBox="1"/>
          <p:nvPr/>
        </p:nvSpPr>
        <p:spPr bwMode="auto">
          <a:xfrm>
            <a:off x="8787384" y="1828800"/>
            <a:ext cx="2743200" cy="201168"/>
          </a:xfrm>
          <a:prstGeom prst="rect">
            <a:avLst/>
          </a:prstGeom>
          <a:noFill/>
        </p:spPr>
        <p:txBody>
          <a:bodyPr wrap="square" lIns="45720" tIns="18288" rIns="45720" bIns="18288">
            <a:spAutoFit/>
          </a:bodyPr>
          <a:lstStyle/>
          <a:p>
            <a:pPr algn="l">
              <a:defRPr/>
            </a:pPr>
            <a:r>
              <a:rPr sz="950" b="0" i="0">
                <a:solidFill>
                  <a:srgbClr val="5C6B62"/>
                </a:solidFill>
                <a:latin typeface="Arial"/>
                <a:ea typeface="Microsoft YaHei"/>
                <a:cs typeface="Microsoft YaHei"/>
              </a:rPr>
              <a:t>保修到期日</a:t>
            </a:r>
            <a:endParaRPr/>
          </a:p>
        </p:txBody>
      </p:sp>
      <p:sp>
        <p:nvSpPr>
          <p:cNvPr id="1769717006" name="Rectangle 22"/>
          <p:cNvSpPr/>
          <p:nvPr/>
        </p:nvSpPr>
        <p:spPr bwMode="auto">
          <a:xfrm>
            <a:off x="2537460" y="2432303"/>
            <a:ext cx="7114032" cy="2834640"/>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pic>
        <p:nvPicPr>
          <p:cNvPr id="1164893025" name="Picture 23" descr="tracker_KLM.png"/>
          <p:cNvPicPr>
            <a:picLocks noChangeAspect="1"/>
          </p:cNvPicPr>
          <p:nvPr/>
        </p:nvPicPr>
        <p:blipFill rotWithShape="1">
          <a:blip r:embed="rId3"/>
          <a:stretch/>
        </p:blipFill>
        <p:spPr bwMode="auto">
          <a:xfrm>
            <a:off x="2569464" y="2487168"/>
            <a:ext cx="7049109" cy="2724911"/>
          </a:xfrm>
          <a:prstGeom prst="rect">
            <a:avLst/>
          </a:prstGeom>
        </p:spPr>
      </p:pic>
      <p:sp>
        <p:nvSpPr>
          <p:cNvPr id="2045502558" name="Rectangle 24"/>
          <p:cNvSpPr/>
          <p:nvPr/>
        </p:nvSpPr>
        <p:spPr bwMode="auto">
          <a:xfrm>
            <a:off x="502920" y="5431536"/>
            <a:ext cx="11183112" cy="438912"/>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wrap="square" lIns="146304" tIns="18288" rIns="128016" bIns="18288" rtlCol="0" anchor="ctr"/>
          <a:lstStyle/>
          <a:p>
            <a:pPr algn="l">
              <a:defRPr/>
            </a:pPr>
            <a:r>
              <a:rPr sz="900" b="1" i="0">
                <a:solidFill>
                  <a:srgbClr val="C0392B"/>
                </a:solidFill>
                <a:latin typeface="Arial"/>
                <a:ea typeface="Microsoft YaHei"/>
                <a:cs typeface="Microsoft YaHei"/>
              </a:rPr>
              <a:t>为什么重要：  </a:t>
            </a:r>
            <a:r>
              <a:rPr sz="900" b="0" i="0">
                <a:solidFill>
                  <a:srgbClr val="5C6B62"/>
                </a:solidFill>
                <a:latin typeface="Arial"/>
                <a:ea typeface="Microsoft YaHei"/>
                <a:cs typeface="Microsoft YaHei"/>
              </a:rPr>
              <a:t>上周备注名上的日期与权益信息发出日之间的偏差为 </a:t>
            </a:r>
            <a:r>
              <a:rPr sz="900" b="1" i="0">
                <a:solidFill>
                  <a:srgbClr val="31633D"/>
                </a:solidFill>
                <a:latin typeface="Arial"/>
                <a:ea typeface="Microsoft YaHei"/>
                <a:cs typeface="Microsoft YaHei"/>
              </a:rPr>
              <a:t>CTE-D5 +3 天、NGT +9、CTE-D7 +19、LA +26</a:t>
            </a:r>
            <a:r>
              <a:rPr sz="900" b="0" i="0">
                <a:solidFill>
                  <a:srgbClr val="5C6B62"/>
                </a:solidFill>
                <a:latin typeface="Arial"/>
                <a:ea typeface="Microsoft YaHei"/>
                <a:cs typeface="Microsoft YaHei"/>
              </a:rPr>
              <a:t>。L 列就是填写实际取镜日期的地方。</a:t>
            </a:r>
            <a:endParaRPr/>
          </a:p>
        </p:txBody>
      </p:sp>
      <p:sp>
        <p:nvSpPr>
          <p:cNvPr id="1319187766" name="Rectangle 25"/>
          <p:cNvSpPr/>
          <p:nvPr/>
        </p:nvSpPr>
        <p:spPr bwMode="auto">
          <a:xfrm>
            <a:off x="502920" y="5980176"/>
            <a:ext cx="64008" cy="438912"/>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566878924" name="Rectangle 26"/>
          <p:cNvSpPr/>
          <p:nvPr/>
        </p:nvSpPr>
        <p:spPr bwMode="auto">
          <a:xfrm>
            <a:off x="566928" y="5980176"/>
            <a:ext cx="11119104" cy="438912"/>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46304" tIns="18288" rIns="109728" bIns="18288" rtlCol="0" anchor="ctr"/>
          <a:lstStyle/>
          <a:p>
            <a:pPr algn="l">
              <a:defRPr/>
            </a:pPr>
            <a:r>
              <a:rPr sz="1100" b="1" i="0">
                <a:solidFill>
                  <a:srgbClr val="31633D"/>
                </a:solidFill>
                <a:latin typeface="Arial"/>
                <a:ea typeface="Microsoft YaHei"/>
                <a:cs typeface="Microsoft YaHei"/>
              </a:rPr>
              <a:t>每一行的 K、L、M 都要填 —— 包括几周前就已服务过的客户。</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822100" name="Rectangle 1"/>
          <p:cNvSpPr/>
          <p:nvPr/>
        </p:nvSpPr>
        <p:spPr bwMode="auto">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21523429" name="TextBox 2"/>
          <p:cNvSpPr txBox="1"/>
          <p:nvPr/>
        </p:nvSpPr>
        <p:spPr bwMode="auto">
          <a:xfrm>
            <a:off x="502920" y="228600"/>
            <a:ext cx="9692640" cy="228600"/>
          </a:xfrm>
          <a:prstGeom prst="rect">
            <a:avLst/>
          </a:prstGeom>
          <a:noFill/>
        </p:spPr>
        <p:txBody>
          <a:bodyPr wrap="square" lIns="45720" tIns="18288" rIns="45720" bIns="18288">
            <a:spAutoFit/>
          </a:bodyPr>
          <a:lstStyle/>
          <a:p>
            <a:pPr algn="l">
              <a:defRPr/>
            </a:pPr>
            <a:r>
              <a:rPr sz="950" b="1" i="0">
                <a:solidFill>
                  <a:srgbClr val="2E9C4C"/>
                </a:solidFill>
                <a:latin typeface="Arial"/>
                <a:ea typeface="Microsoft YaHei"/>
                <a:cs typeface="Microsoft YaHei"/>
              </a:rPr>
              <a:t>三、示范话术   |   来自 CTE-D7</a:t>
            </a:r>
            <a:endParaRPr/>
          </a:p>
        </p:txBody>
      </p:sp>
      <p:sp>
        <p:nvSpPr>
          <p:cNvPr id="925650383" name="TextBox 3"/>
          <p:cNvSpPr txBox="1"/>
          <p:nvPr/>
        </p:nvSpPr>
        <p:spPr bwMode="auto">
          <a:xfrm>
            <a:off x="502920" y="493776"/>
            <a:ext cx="11247120" cy="640080"/>
          </a:xfrm>
          <a:prstGeom prst="rect">
            <a:avLst/>
          </a:prstGeom>
          <a:noFill/>
        </p:spPr>
        <p:txBody>
          <a:bodyPr wrap="square" lIns="45720" tIns="18288" rIns="45720" bIns="18288">
            <a:spAutoFit/>
          </a:bodyPr>
          <a:lstStyle/>
          <a:p>
            <a:pPr algn="l">
              <a:defRPr/>
            </a:pPr>
            <a:r>
              <a:rPr sz="2200" b="1" i="0">
                <a:solidFill>
                  <a:srgbClr val="31633D"/>
                </a:solidFill>
                <a:latin typeface="Arial"/>
                <a:ea typeface="Microsoft YaHei"/>
                <a:cs typeface="Microsoft YaHei"/>
              </a:rPr>
              <a:t>值得采用的 CTE-D7 示范话术</a:t>
            </a:r>
            <a:endParaRPr/>
          </a:p>
        </p:txBody>
      </p:sp>
      <p:sp>
        <p:nvSpPr>
          <p:cNvPr id="1863509763" name="Rectangle 4"/>
          <p:cNvSpPr/>
          <p:nvPr/>
        </p:nvSpPr>
        <p:spPr bwMode="auto">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106509664" name="TextBox 5"/>
          <p:cNvSpPr txBox="1"/>
          <p:nvPr/>
        </p:nvSpPr>
        <p:spPr bwMode="auto">
          <a:xfrm>
            <a:off x="502920" y="6455664"/>
            <a:ext cx="5486400" cy="237744"/>
          </a:xfrm>
          <a:prstGeom prst="rect">
            <a:avLst/>
          </a:prstGeom>
          <a:noFill/>
        </p:spPr>
        <p:txBody>
          <a:bodyPr wrap="square" lIns="45720" tIns="18288" rIns="45720" bIns="18288">
            <a:spAutoFit/>
          </a:bodyPr>
          <a:lstStyle/>
          <a:p>
            <a:pPr algn="l">
              <a:defRPr/>
            </a:pPr>
            <a:r>
              <a:rPr sz="800" b="0" i="0">
                <a:solidFill>
                  <a:srgbClr val="5C6B62"/>
                </a:solidFill>
                <a:latin typeface="Arial"/>
                <a:ea typeface="Microsoft YaHei"/>
                <a:cs typeface="Microsoft YaHei"/>
              </a:rPr>
              <a:t>Mắt Sài Gòn  |  视光 DA 培训</a:t>
            </a:r>
            <a:endParaRPr/>
          </a:p>
        </p:txBody>
      </p:sp>
      <p:sp>
        <p:nvSpPr>
          <p:cNvPr id="2091286579" name="TextBox 6"/>
          <p:cNvSpPr txBox="1"/>
          <p:nvPr/>
        </p:nvSpPr>
        <p:spPr bwMode="auto">
          <a:xfrm>
            <a:off x="10972800" y="6455664"/>
            <a:ext cx="713232" cy="237744"/>
          </a:xfrm>
          <a:prstGeom prst="rect">
            <a:avLst/>
          </a:prstGeom>
          <a:noFill/>
        </p:spPr>
        <p:txBody>
          <a:bodyPr wrap="square" lIns="45720" tIns="18288" rIns="45720" bIns="18288">
            <a:spAutoFit/>
          </a:bodyPr>
          <a:lstStyle/>
          <a:p>
            <a:pPr algn="r">
              <a:defRPr/>
            </a:pPr>
            <a:r>
              <a:rPr sz="800" b="1" i="0">
                <a:solidFill>
                  <a:srgbClr val="5C6B62"/>
                </a:solidFill>
                <a:latin typeface="Arial"/>
                <a:ea typeface="Microsoft YaHei"/>
                <a:cs typeface="Microsoft YaHei"/>
              </a:rPr>
              <a:t>5</a:t>
            </a:r>
            <a:endParaRPr/>
          </a:p>
        </p:txBody>
      </p:sp>
      <p:sp>
        <p:nvSpPr>
          <p:cNvPr id="2097677239" name="Rectangle 7"/>
          <p:cNvSpPr/>
          <p:nvPr/>
        </p:nvSpPr>
        <p:spPr bwMode="auto">
          <a:xfrm>
            <a:off x="502920" y="1280160"/>
            <a:ext cx="11183112" cy="310896"/>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18288" rIns="109728" bIns="18288" rtlCol="0" anchor="ctr"/>
          <a:lstStyle/>
          <a:p>
            <a:pPr algn="l">
              <a:defRPr/>
            </a:pPr>
            <a:r>
              <a:rPr sz="950" b="1" i="0">
                <a:solidFill>
                  <a:srgbClr val="2E9C4C"/>
                </a:solidFill>
                <a:latin typeface="Arial"/>
                <a:ea typeface="Microsoft YaHei"/>
                <a:cs typeface="Microsoft YaHei"/>
              </a:rPr>
              <a:t>摘自 CTE-D7 与 MCY 260811（Ngọc Hân 和 Gia Hân 两位小朋友的妈妈）的 Zalo 对话。  </a:t>
            </a:r>
            <a:r>
              <a:rPr sz="950" b="0" i="0">
                <a:solidFill>
                  <a:srgbClr val="5C6B62"/>
                </a:solidFill>
                <a:latin typeface="Arial"/>
                <a:ea typeface="Microsoft YaHei"/>
                <a:cs typeface="Microsoft YaHei"/>
              </a:rPr>
              <a:t>CZ 将两条都列为做得好的地方，并建议推广使用。下方越南语为发给客户的原文，非译文。</a:t>
            </a:r>
            <a:endParaRPr/>
          </a:p>
        </p:txBody>
      </p:sp>
      <p:sp>
        <p:nvSpPr>
          <p:cNvPr id="627235466" name="Rectangle 8"/>
          <p:cNvSpPr/>
          <p:nvPr/>
        </p:nvSpPr>
        <p:spPr bwMode="auto">
          <a:xfrm>
            <a:off x="502920" y="1700784"/>
            <a:ext cx="7589520" cy="292608"/>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18288" bIns="18288" rtlCol="0" anchor="ctr"/>
          <a:lstStyle/>
          <a:p>
            <a:pPr algn="l">
              <a:defRPr/>
            </a:pPr>
            <a:r>
              <a:rPr sz="950" b="1" i="0">
                <a:solidFill>
                  <a:srgbClr val="FFFFFF"/>
                </a:solidFill>
                <a:latin typeface="Arial"/>
                <a:ea typeface="Microsoft YaHei"/>
                <a:cs typeface="Microsoft YaHei"/>
              </a:rPr>
              <a:t>1  ·  眼镜定制进度告知</a:t>
            </a:r>
            <a:r>
              <a:rPr sz="850" b="0" i="0">
                <a:solidFill>
                  <a:srgbClr val="E8F5EC"/>
                </a:solidFill>
                <a:latin typeface="Arial"/>
                <a:ea typeface="Microsoft YaHei"/>
                <a:cs typeface="Microsoft YaHei"/>
              </a:rPr>
              <a:t>     D1 发一次，第 6-7 天再发一次</a:t>
            </a:r>
            <a:endParaRPr/>
          </a:p>
        </p:txBody>
      </p:sp>
      <p:sp>
        <p:nvSpPr>
          <p:cNvPr id="1162439265" name="Rectangle 9"/>
          <p:cNvSpPr/>
          <p:nvPr/>
        </p:nvSpPr>
        <p:spPr bwMode="auto">
          <a:xfrm>
            <a:off x="502920" y="2011680"/>
            <a:ext cx="7589520" cy="157276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lIns="164592" tIns="54864" rIns="164592" bIns="54864" rtlCol="0" anchor="ctr"/>
          <a:lstStyle/>
          <a:p>
            <a:pPr algn="l">
              <a:lnSpc>
                <a:spcPct val="115999"/>
              </a:lnSpc>
              <a:defRPr/>
            </a:pPr>
            <a:r>
              <a:rPr sz="950" b="0" i="0">
                <a:solidFill>
                  <a:srgbClr val="31633D"/>
                </a:solidFill>
                <a:latin typeface="Arial"/>
                <a:ea typeface="Microsoft YaHei"/>
                <a:cs typeface="Microsoft YaHei"/>
              </a:rPr>
              <a:t>“Dạ chào mẹ của 2 bé Ngọc Hân và bé Gia Hân, em xin cập nhật tiến độ: kính của bé đã chính thức vào quy trình đặt riêng dựa trên dữ liệu mắt, độ kính và tình trạng trục nhãn cầu của bé. Tròng KSCT được đặt riêng để phù hợp chính xác với nhu cầu thị giác của bé và hỗ trợ kiểm soát cận thị tốt hơn. Chị yên tâm chờ nhé. Thời gian đặt kính dự kiến khoảng 7-10 ngày, và em sẽ cập nhật định kỳ tiến độ sản xuất cho chị.”</a:t>
            </a:r>
            <a:endParaRPr/>
          </a:p>
        </p:txBody>
      </p:sp>
      <p:sp>
        <p:nvSpPr>
          <p:cNvPr id="1696034423" name="Rectangle 10"/>
          <p:cNvSpPr/>
          <p:nvPr/>
        </p:nvSpPr>
        <p:spPr bwMode="auto">
          <a:xfrm>
            <a:off x="8275320" y="1700784"/>
            <a:ext cx="3410712" cy="292608"/>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18288" bIns="18288" rtlCol="0" anchor="ctr"/>
          <a:lstStyle/>
          <a:p>
            <a:pPr algn="l">
              <a:defRPr/>
            </a:pPr>
            <a:r>
              <a:rPr sz="900" b="1" i="0">
                <a:solidFill>
                  <a:srgbClr val="FFFFFF"/>
                </a:solidFill>
                <a:latin typeface="Arial"/>
                <a:ea typeface="Microsoft YaHei"/>
                <a:cs typeface="Microsoft YaHei"/>
              </a:rPr>
              <a:t>为什么有效</a:t>
            </a:r>
            <a:endParaRPr/>
          </a:p>
        </p:txBody>
      </p:sp>
      <p:sp>
        <p:nvSpPr>
          <p:cNvPr id="524776754" name="Rectangle 11"/>
          <p:cNvSpPr/>
          <p:nvPr/>
        </p:nvSpPr>
        <p:spPr bwMode="auto">
          <a:xfrm>
            <a:off x="8275320" y="2011680"/>
            <a:ext cx="3410712" cy="1572768"/>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838709925" name="TextBox 12"/>
          <p:cNvSpPr txBox="1"/>
          <p:nvPr/>
        </p:nvSpPr>
        <p:spPr bwMode="auto">
          <a:xfrm>
            <a:off x="8421624" y="2084832"/>
            <a:ext cx="3118104" cy="1444752"/>
          </a:xfrm>
          <a:prstGeom prst="rect">
            <a:avLst/>
          </a:prstGeom>
          <a:noFill/>
        </p:spPr>
        <p:txBody>
          <a:bodyPr wrap="square" lIns="45720" tIns="18288" rIns="45720" bIns="18288">
            <a:spAutoFit/>
          </a:bodyPr>
          <a:lstStyle/>
          <a:p>
            <a:pPr algn="l">
              <a:lnSpc>
                <a:spcPct val="108000"/>
              </a:lnSpc>
              <a:spcAft>
                <a:spcPts val="500"/>
              </a:spcAft>
              <a:defRPr/>
            </a:pPr>
            <a:r>
              <a:rPr sz="800" b="0" i="0">
                <a:solidFill>
                  <a:srgbClr val="5C6B62"/>
                </a:solidFill>
                <a:latin typeface="Arial"/>
                <a:ea typeface="Microsoft YaHei"/>
                <a:cs typeface="Microsoft YaHei"/>
              </a:rPr>
              <a:t>✓  </a:t>
            </a:r>
            <a:r>
              <a:rPr sz="800" b="0" i="0">
                <a:solidFill>
                  <a:srgbClr val="5C6B62"/>
                </a:solidFill>
                <a:latin typeface="Arial"/>
                <a:ea typeface="Microsoft YaHei"/>
                <a:cs typeface="Microsoft YaHei"/>
              </a:rPr>
              <a:t>写出两个孩子的名字，谁都不是泛泛而谈</a:t>
            </a:r>
            <a:endParaRPr/>
          </a:p>
          <a:p>
            <a:pPr algn="l">
              <a:lnSpc>
                <a:spcPct val="108000"/>
              </a:lnSpc>
              <a:spcAft>
                <a:spcPts val="500"/>
              </a:spcAft>
              <a:defRPr/>
            </a:pPr>
            <a:r>
              <a:rPr sz="800" b="0" i="0">
                <a:solidFill>
                  <a:srgbClr val="5C6B62"/>
                </a:solidFill>
                <a:latin typeface="Arial"/>
                <a:ea typeface="Microsoft YaHei"/>
                <a:cs typeface="Microsoft YaHei"/>
              </a:rPr>
              <a:t>✓  </a:t>
            </a:r>
            <a:r>
              <a:rPr sz="800" b="0" i="0">
                <a:solidFill>
                  <a:srgbClr val="5C6B62"/>
                </a:solidFill>
                <a:latin typeface="Arial"/>
                <a:ea typeface="Microsoft YaHei"/>
                <a:cs typeface="Microsoft YaHei"/>
              </a:rPr>
              <a:t>讲清镜片为何要定制：眼部数据、度数、眼轴长度</a:t>
            </a:r>
            <a:endParaRPr/>
          </a:p>
          <a:p>
            <a:pPr algn="l">
              <a:lnSpc>
                <a:spcPct val="108000"/>
              </a:lnSpc>
              <a:spcAft>
                <a:spcPts val="500"/>
              </a:spcAft>
              <a:defRPr/>
            </a:pPr>
            <a:r>
              <a:rPr sz="800" b="0" i="0">
                <a:solidFill>
                  <a:srgbClr val="5C6B62"/>
                </a:solidFill>
                <a:latin typeface="Arial"/>
                <a:ea typeface="Microsoft YaHei"/>
                <a:cs typeface="Microsoft YaHei"/>
              </a:rPr>
              <a:t>✓  </a:t>
            </a:r>
            <a:r>
              <a:rPr sz="800" b="0" i="0">
                <a:solidFill>
                  <a:srgbClr val="5C6B62"/>
                </a:solidFill>
                <a:latin typeface="Arial"/>
                <a:ea typeface="Microsoft YaHei"/>
                <a:cs typeface="Microsoft YaHei"/>
              </a:rPr>
              <a:t>给出具体数字 —— 大约 7–10 天</a:t>
            </a:r>
            <a:endParaRPr/>
          </a:p>
          <a:p>
            <a:pPr algn="l">
              <a:lnSpc>
                <a:spcPct val="108000"/>
              </a:lnSpc>
              <a:spcAft>
                <a:spcPts val="500"/>
              </a:spcAft>
              <a:defRPr/>
            </a:pPr>
            <a:r>
              <a:rPr sz="800" b="0" i="0">
                <a:solidFill>
                  <a:srgbClr val="5C6B62"/>
                </a:solidFill>
                <a:latin typeface="Arial"/>
                <a:ea typeface="Microsoft YaHei"/>
                <a:cs typeface="Microsoft YaHei"/>
              </a:rPr>
              <a:t>✓  </a:t>
            </a:r>
            <a:r>
              <a:rPr sz="800" b="0" i="0">
                <a:solidFill>
                  <a:srgbClr val="5C6B62"/>
                </a:solidFill>
                <a:latin typeface="Arial"/>
                <a:ea typeface="Microsoft YaHei"/>
                <a:cs typeface="Microsoft YaHei"/>
              </a:rPr>
              <a:t>承诺定期告知进度，为第 6-7 天那条信息做好铺垫</a:t>
            </a:r>
            <a:endParaRPr/>
          </a:p>
        </p:txBody>
      </p:sp>
      <p:sp>
        <p:nvSpPr>
          <p:cNvPr id="23115302" name="Rectangle 13"/>
          <p:cNvSpPr/>
          <p:nvPr/>
        </p:nvSpPr>
        <p:spPr bwMode="auto">
          <a:xfrm>
            <a:off x="502920" y="3858768"/>
            <a:ext cx="7589520" cy="292608"/>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18288" bIns="18288" rtlCol="0" anchor="ctr"/>
          <a:lstStyle/>
          <a:p>
            <a:pPr algn="l">
              <a:defRPr/>
            </a:pPr>
            <a:r>
              <a:rPr sz="950" b="1" i="0">
                <a:solidFill>
                  <a:srgbClr val="FFFFFF"/>
                </a:solidFill>
                <a:latin typeface="Arial"/>
                <a:ea typeface="Microsoft YaHei"/>
                <a:cs typeface="Microsoft YaHei"/>
              </a:rPr>
              <a:t>2  ·  取镜通知</a:t>
            </a:r>
            <a:r>
              <a:rPr sz="850" b="0" i="0">
                <a:solidFill>
                  <a:srgbClr val="E8F5EC"/>
                </a:solidFill>
                <a:latin typeface="Arial"/>
                <a:ea typeface="Microsoft YaHei"/>
                <a:cs typeface="Microsoft YaHei"/>
              </a:rPr>
              <a:t>     第 6-7 天发出，眼镜一到就发</a:t>
            </a:r>
            <a:endParaRPr/>
          </a:p>
        </p:txBody>
      </p:sp>
      <p:sp>
        <p:nvSpPr>
          <p:cNvPr id="179695164" name="Rectangle 14"/>
          <p:cNvSpPr/>
          <p:nvPr/>
        </p:nvSpPr>
        <p:spPr bwMode="auto">
          <a:xfrm>
            <a:off x="502920" y="4169663"/>
            <a:ext cx="7589520" cy="157276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lIns="164592" tIns="54864" rIns="164592" bIns="54864" rtlCol="0" anchor="ctr"/>
          <a:lstStyle/>
          <a:p>
            <a:pPr algn="l">
              <a:lnSpc>
                <a:spcPct val="115999"/>
              </a:lnSpc>
              <a:defRPr/>
            </a:pPr>
            <a:r>
              <a:rPr sz="950" b="0" i="0">
                <a:solidFill>
                  <a:srgbClr val="31633D"/>
                </a:solidFill>
                <a:latin typeface="Arial"/>
                <a:ea typeface="Microsoft YaHei"/>
                <a:cs typeface="Microsoft YaHei"/>
              </a:rPr>
              <a:t>“Chào mẹ của bé Ngọc Hân và Gia Hân, Kính kiểm soát cận thị của bé đã được gia công theo đơn riêng và hiện đã có tại Phòng khám mắt quốc tế Cao Thắng. Em xin phép hẹn chị thời gian phù hợp để đến nhận kính. Bên em khuyến nghị chị đưa bé đến trực tiếp để bé thử kính, đánh giá mức độ thoải mái và để trung tâm điều chỉnh gọng, hướng dẫn đeo phù hợp, nhằm bảo đảm hiệu quả kiểm soát cận thị tốt nhất. Nếu thuận tiện, chị có thể sắp xếp đến vào ngày trong tuần trong khung giờ 9:00–16:30; thời điểm này lượng khách ít hơn nên bên em có thể hỗ trợ kỹ và đầy đủ hơn.”</a:t>
            </a:r>
            <a:endParaRPr/>
          </a:p>
        </p:txBody>
      </p:sp>
      <p:sp>
        <p:nvSpPr>
          <p:cNvPr id="1924524561" name="Rectangle 15"/>
          <p:cNvSpPr/>
          <p:nvPr/>
        </p:nvSpPr>
        <p:spPr bwMode="auto">
          <a:xfrm>
            <a:off x="8275320" y="3858768"/>
            <a:ext cx="3410712" cy="292608"/>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18288" bIns="18288" rtlCol="0" anchor="ctr"/>
          <a:lstStyle/>
          <a:p>
            <a:pPr algn="l">
              <a:defRPr/>
            </a:pPr>
            <a:r>
              <a:rPr sz="900" b="1" i="0">
                <a:solidFill>
                  <a:srgbClr val="FFFFFF"/>
                </a:solidFill>
                <a:latin typeface="Arial"/>
                <a:ea typeface="Microsoft YaHei"/>
                <a:cs typeface="Microsoft YaHei"/>
              </a:rPr>
              <a:t>为什么有效</a:t>
            </a:r>
            <a:endParaRPr/>
          </a:p>
        </p:txBody>
      </p:sp>
      <p:sp>
        <p:nvSpPr>
          <p:cNvPr id="1573923397" name="Rectangle 16"/>
          <p:cNvSpPr/>
          <p:nvPr/>
        </p:nvSpPr>
        <p:spPr bwMode="auto">
          <a:xfrm>
            <a:off x="8275320" y="4169663"/>
            <a:ext cx="3410712" cy="1572768"/>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352604843" name="TextBox 17"/>
          <p:cNvSpPr txBox="1"/>
          <p:nvPr/>
        </p:nvSpPr>
        <p:spPr bwMode="auto">
          <a:xfrm>
            <a:off x="8421624" y="4242816"/>
            <a:ext cx="3118104" cy="1444752"/>
          </a:xfrm>
          <a:prstGeom prst="rect">
            <a:avLst/>
          </a:prstGeom>
          <a:noFill/>
        </p:spPr>
        <p:txBody>
          <a:bodyPr wrap="square" lIns="45720" tIns="18288" rIns="45720" bIns="18288">
            <a:spAutoFit/>
          </a:bodyPr>
          <a:lstStyle/>
          <a:p>
            <a:pPr algn="l">
              <a:lnSpc>
                <a:spcPct val="108000"/>
              </a:lnSpc>
              <a:spcAft>
                <a:spcPts val="500"/>
              </a:spcAft>
              <a:defRPr/>
            </a:pPr>
            <a:r>
              <a:rPr sz="800" b="0" i="0">
                <a:solidFill>
                  <a:srgbClr val="5C6B62"/>
                </a:solidFill>
                <a:latin typeface="Arial"/>
                <a:ea typeface="Microsoft YaHei"/>
                <a:cs typeface="Microsoft YaHei"/>
              </a:rPr>
              <a:t>✓  </a:t>
            </a:r>
            <a:r>
              <a:rPr sz="800" b="0" i="0">
                <a:solidFill>
                  <a:srgbClr val="5C6B62"/>
                </a:solidFill>
                <a:latin typeface="Arial"/>
                <a:ea typeface="Microsoft YaHei"/>
                <a:cs typeface="Microsoft YaHei"/>
              </a:rPr>
              <a:t>说明眼镜已做好，以及在哪里</a:t>
            </a:r>
            <a:endParaRPr/>
          </a:p>
          <a:p>
            <a:pPr algn="l">
              <a:lnSpc>
                <a:spcPct val="108000"/>
              </a:lnSpc>
              <a:spcAft>
                <a:spcPts val="500"/>
              </a:spcAft>
              <a:defRPr/>
            </a:pPr>
            <a:r>
              <a:rPr sz="800" b="0" i="0">
                <a:solidFill>
                  <a:srgbClr val="5C6B62"/>
                </a:solidFill>
                <a:latin typeface="Arial"/>
                <a:ea typeface="Microsoft YaHei"/>
                <a:cs typeface="Microsoft YaHei"/>
              </a:rPr>
              <a:t>✓  </a:t>
            </a:r>
            <a:r>
              <a:rPr sz="800" b="0" i="0">
                <a:solidFill>
                  <a:srgbClr val="5C6B62"/>
                </a:solidFill>
                <a:latin typeface="Arial"/>
                <a:ea typeface="Microsoft YaHei"/>
                <a:cs typeface="Microsoft YaHei"/>
              </a:rPr>
              <a:t>给出带孩子到店的理由：试戴、舒适度、调整镜架、佩戴指导</a:t>
            </a:r>
            <a:endParaRPr/>
          </a:p>
          <a:p>
            <a:pPr algn="l">
              <a:lnSpc>
                <a:spcPct val="108000"/>
              </a:lnSpc>
              <a:spcAft>
                <a:spcPts val="500"/>
              </a:spcAft>
              <a:defRPr/>
            </a:pPr>
            <a:r>
              <a:rPr sz="800" b="0" i="0">
                <a:solidFill>
                  <a:srgbClr val="5C6B62"/>
                </a:solidFill>
                <a:latin typeface="Arial"/>
                <a:ea typeface="Microsoft YaHei"/>
                <a:cs typeface="Microsoft YaHei"/>
              </a:rPr>
              <a:t>✓  </a:t>
            </a:r>
            <a:r>
              <a:rPr sz="800" b="0" i="0">
                <a:solidFill>
                  <a:srgbClr val="5C6B62"/>
                </a:solidFill>
                <a:latin typeface="Arial"/>
                <a:ea typeface="Microsoft YaHei"/>
                <a:cs typeface="Microsoft YaHei"/>
              </a:rPr>
              <a:t>建议工作日 9:00–16:30 到店，因为客人较少、可以服务得更细</a:t>
            </a:r>
            <a:endParaRPr/>
          </a:p>
        </p:txBody>
      </p:sp>
      <p:sp>
        <p:nvSpPr>
          <p:cNvPr id="1651383332" name="Rectangle 18"/>
          <p:cNvSpPr/>
          <p:nvPr/>
        </p:nvSpPr>
        <p:spPr bwMode="auto">
          <a:xfrm>
            <a:off x="502920" y="6053328"/>
            <a:ext cx="64008" cy="402336"/>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604657338" name="Rectangle 19"/>
          <p:cNvSpPr/>
          <p:nvPr/>
        </p:nvSpPr>
        <p:spPr bwMode="auto">
          <a:xfrm>
            <a:off x="566928" y="6053328"/>
            <a:ext cx="11119104" cy="402336"/>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46304" tIns="18288" rIns="109728" bIns="18288" rtlCol="0" anchor="ctr"/>
          <a:lstStyle/>
          <a:p>
            <a:pPr algn="l">
              <a:defRPr/>
            </a:pPr>
            <a:r>
              <a:rPr sz="1100" b="1" i="0">
                <a:solidFill>
                  <a:srgbClr val="31633D"/>
                </a:solidFill>
                <a:latin typeface="Arial"/>
                <a:ea typeface="Microsoft YaHei"/>
                <a:cs typeface="Microsoft YaHei"/>
              </a:rPr>
              <a:t>这两条请照原文使用。只改客户姓名、产品和天数。</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2863049" name="Rectangle 1"/>
          <p:cNvSpPr/>
          <p:nvPr/>
        </p:nvSpPr>
        <p:spPr bwMode="auto">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366162064" name="TextBox 2"/>
          <p:cNvSpPr txBox="1"/>
          <p:nvPr/>
        </p:nvSpPr>
        <p:spPr bwMode="auto">
          <a:xfrm>
            <a:off x="502920" y="228600"/>
            <a:ext cx="9692640" cy="228600"/>
          </a:xfrm>
          <a:prstGeom prst="rect">
            <a:avLst/>
          </a:prstGeom>
          <a:noFill/>
        </p:spPr>
        <p:txBody>
          <a:bodyPr wrap="square" lIns="45720" tIns="18288" rIns="45720" bIns="18288">
            <a:spAutoFit/>
          </a:bodyPr>
          <a:lstStyle/>
          <a:p>
            <a:pPr algn="l">
              <a:defRPr/>
            </a:pPr>
            <a:r>
              <a:rPr sz="950" b="1" i="0">
                <a:solidFill>
                  <a:srgbClr val="2E9C4C"/>
                </a:solidFill>
                <a:latin typeface="Arial"/>
                <a:ea typeface="Microsoft YaHei"/>
                <a:cs typeface="Microsoft YaHei"/>
              </a:rPr>
              <a:t>四、Ortho-K   |   取镜后的第一周</a:t>
            </a:r>
            <a:endParaRPr/>
          </a:p>
        </p:txBody>
      </p:sp>
      <p:sp>
        <p:nvSpPr>
          <p:cNvPr id="401706469" name="TextBox 3"/>
          <p:cNvSpPr txBox="1"/>
          <p:nvPr/>
        </p:nvSpPr>
        <p:spPr bwMode="auto">
          <a:xfrm>
            <a:off x="502920" y="493776"/>
            <a:ext cx="11247120" cy="640080"/>
          </a:xfrm>
          <a:prstGeom prst="rect">
            <a:avLst/>
          </a:prstGeom>
          <a:noFill/>
        </p:spPr>
        <p:txBody>
          <a:bodyPr wrap="square" lIns="45720" tIns="18288" rIns="45720" bIns="18288">
            <a:spAutoFit/>
          </a:bodyPr>
          <a:lstStyle/>
          <a:p>
            <a:pPr algn="l">
              <a:defRPr/>
            </a:pPr>
            <a:r>
              <a:rPr sz="2200" b="1" i="0">
                <a:solidFill>
                  <a:srgbClr val="31633D"/>
                </a:solidFill>
                <a:latin typeface="Arial"/>
                <a:ea typeface="Microsoft YaHei"/>
                <a:cs typeface="Microsoft YaHei"/>
              </a:rPr>
              <a:t>Ortho-K 第一周需要四次跟进</a:t>
            </a:r>
            <a:endParaRPr/>
          </a:p>
        </p:txBody>
      </p:sp>
      <p:sp>
        <p:nvSpPr>
          <p:cNvPr id="1386074673" name="Rectangle 4"/>
          <p:cNvSpPr/>
          <p:nvPr/>
        </p:nvSpPr>
        <p:spPr bwMode="auto">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343899034" name="TextBox 5"/>
          <p:cNvSpPr txBox="1"/>
          <p:nvPr/>
        </p:nvSpPr>
        <p:spPr bwMode="auto">
          <a:xfrm>
            <a:off x="502920" y="6455664"/>
            <a:ext cx="5486400" cy="237744"/>
          </a:xfrm>
          <a:prstGeom prst="rect">
            <a:avLst/>
          </a:prstGeom>
          <a:noFill/>
        </p:spPr>
        <p:txBody>
          <a:bodyPr wrap="square" lIns="45720" tIns="18288" rIns="45720" bIns="18288">
            <a:spAutoFit/>
          </a:bodyPr>
          <a:lstStyle/>
          <a:p>
            <a:pPr algn="l">
              <a:defRPr/>
            </a:pPr>
            <a:r>
              <a:rPr sz="800" b="0" i="0">
                <a:solidFill>
                  <a:srgbClr val="5C6B62"/>
                </a:solidFill>
                <a:latin typeface="Arial"/>
                <a:ea typeface="Microsoft YaHei"/>
                <a:cs typeface="Microsoft YaHei"/>
              </a:rPr>
              <a:t>Mắt Sài Gòn  |  视光 DA 培训</a:t>
            </a:r>
            <a:endParaRPr/>
          </a:p>
        </p:txBody>
      </p:sp>
      <p:sp>
        <p:nvSpPr>
          <p:cNvPr id="1283684057" name="TextBox 6"/>
          <p:cNvSpPr txBox="1"/>
          <p:nvPr/>
        </p:nvSpPr>
        <p:spPr bwMode="auto">
          <a:xfrm>
            <a:off x="10972800" y="6455664"/>
            <a:ext cx="713232" cy="237744"/>
          </a:xfrm>
          <a:prstGeom prst="rect">
            <a:avLst/>
          </a:prstGeom>
          <a:noFill/>
        </p:spPr>
        <p:txBody>
          <a:bodyPr wrap="square" lIns="45720" tIns="18288" rIns="45720" bIns="18288">
            <a:spAutoFit/>
          </a:bodyPr>
          <a:lstStyle/>
          <a:p>
            <a:pPr algn="r">
              <a:defRPr/>
            </a:pPr>
            <a:r>
              <a:rPr sz="800" b="1" i="0">
                <a:solidFill>
                  <a:srgbClr val="5C6B62"/>
                </a:solidFill>
                <a:latin typeface="Arial"/>
                <a:ea typeface="Microsoft YaHei"/>
                <a:cs typeface="Microsoft YaHei"/>
              </a:rPr>
              <a:t>6</a:t>
            </a:r>
            <a:endParaRPr/>
          </a:p>
        </p:txBody>
      </p:sp>
      <p:sp>
        <p:nvSpPr>
          <p:cNvPr id="963509113" name="TextBox 7"/>
          <p:cNvSpPr txBox="1"/>
          <p:nvPr/>
        </p:nvSpPr>
        <p:spPr bwMode="auto">
          <a:xfrm>
            <a:off x="502920" y="1261872"/>
            <a:ext cx="11183112" cy="219456"/>
          </a:xfrm>
          <a:prstGeom prst="rect">
            <a:avLst/>
          </a:prstGeom>
          <a:noFill/>
        </p:spPr>
        <p:txBody>
          <a:bodyPr wrap="square" lIns="45720" tIns="18288" rIns="45720" bIns="18288">
            <a:spAutoFit/>
          </a:bodyPr>
          <a:lstStyle/>
          <a:p>
            <a:pPr algn="l">
              <a:lnSpc>
                <a:spcPct val="95000"/>
              </a:lnSpc>
              <a:defRPr/>
            </a:pPr>
            <a:r>
              <a:rPr sz="1000" b="0" i="1">
                <a:solidFill>
                  <a:srgbClr val="5C6B62"/>
                </a:solidFill>
                <a:latin typeface="Arial"/>
                <a:ea typeface="Microsoft YaHei"/>
                <a:cs typeface="Microsoft YaHei"/>
              </a:rPr>
              <a:t>CZ 要求客户取镜后的第一周完成两到三次跟进。而必做的跟进节奏实际上要求四次 —— 所以两到三次是底线，不是目标。</a:t>
            </a:r>
            <a:endParaRPr/>
          </a:p>
        </p:txBody>
      </p:sp>
      <p:sp>
        <p:nvSpPr>
          <p:cNvPr id="161943314" name="Rectangle 8"/>
          <p:cNvSpPr/>
          <p:nvPr/>
        </p:nvSpPr>
        <p:spPr bwMode="auto">
          <a:xfrm>
            <a:off x="502920" y="1591056"/>
            <a:ext cx="11183112" cy="310896"/>
          </a:xfrm>
          <a:prstGeom prst="rect">
            <a:avLst/>
          </a:prstGeom>
          <a:solidFill>
            <a:srgbClr val="FDECEA"/>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18288" rIns="109728" bIns="18288" rtlCol="0" anchor="ctr"/>
          <a:lstStyle/>
          <a:p>
            <a:pPr algn="l">
              <a:defRPr/>
            </a:pPr>
            <a:r>
              <a:rPr sz="950" b="1" i="0">
                <a:solidFill>
                  <a:srgbClr val="C0392B"/>
                </a:solidFill>
                <a:latin typeface="Arial"/>
                <a:ea typeface="Microsoft YaHei"/>
                <a:cs typeface="Microsoft YaHei"/>
              </a:rPr>
              <a:t>本周 CTE-D5 被点名：  </a:t>
            </a:r>
            <a:r>
              <a:rPr sz="950" b="0" i="0">
                <a:solidFill>
                  <a:srgbClr val="5C6B62"/>
                </a:solidFill>
                <a:latin typeface="Arial"/>
                <a:ea typeface="Microsoft YaHei"/>
                <a:cs typeface="Microsoft YaHei"/>
              </a:rPr>
              <a:t>Ortho-K 客户的镜片定制信息、取镜后的佩戴回访，以及复查邀约全部缺失。</a:t>
            </a:r>
            <a:endParaRPr/>
          </a:p>
        </p:txBody>
      </p:sp>
      <p:sp>
        <p:nvSpPr>
          <p:cNvPr id="38681136" name="Rectangle 9"/>
          <p:cNvSpPr/>
          <p:nvPr/>
        </p:nvSpPr>
        <p:spPr bwMode="auto">
          <a:xfrm>
            <a:off x="502920" y="2048256"/>
            <a:ext cx="1801367" cy="148132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151448475" name="Rectangle 10"/>
          <p:cNvSpPr/>
          <p:nvPr/>
        </p:nvSpPr>
        <p:spPr bwMode="auto">
          <a:xfrm>
            <a:off x="502920" y="2048256"/>
            <a:ext cx="1801367" cy="27432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950" b="1" i="0">
                <a:solidFill>
                  <a:srgbClr val="FFFFFF"/>
                </a:solidFill>
                <a:latin typeface="Arial"/>
                <a:ea typeface="Microsoft YaHei"/>
                <a:cs typeface="Microsoft YaHei"/>
              </a:rPr>
              <a:t>CD</a:t>
            </a:r>
            <a:endParaRPr/>
          </a:p>
        </p:txBody>
      </p:sp>
      <p:sp>
        <p:nvSpPr>
          <p:cNvPr id="611198093" name="TextBox 11"/>
          <p:cNvSpPr txBox="1"/>
          <p:nvPr/>
        </p:nvSpPr>
        <p:spPr bwMode="auto">
          <a:xfrm>
            <a:off x="521208" y="2359152"/>
            <a:ext cx="1764792" cy="182880"/>
          </a:xfrm>
          <a:prstGeom prst="rect">
            <a:avLst/>
          </a:prstGeom>
          <a:noFill/>
        </p:spPr>
        <p:txBody>
          <a:bodyPr wrap="square" lIns="45720" tIns="18288" rIns="45720" bIns="18288">
            <a:spAutoFit/>
          </a:bodyPr>
          <a:lstStyle/>
          <a:p>
            <a:pPr algn="ctr">
              <a:defRPr/>
            </a:pPr>
            <a:r>
              <a:rPr sz="750" b="1" i="0">
                <a:solidFill>
                  <a:srgbClr val="2E9C4C"/>
                </a:solidFill>
                <a:latin typeface="Arial"/>
                <a:ea typeface="Microsoft YaHei"/>
                <a:cs typeface="Microsoft YaHei"/>
              </a:rPr>
              <a:t>取镜当天</a:t>
            </a:r>
            <a:endParaRPr/>
          </a:p>
        </p:txBody>
      </p:sp>
      <p:sp>
        <p:nvSpPr>
          <p:cNvPr id="1919179796" name="TextBox 12"/>
          <p:cNvSpPr txBox="1"/>
          <p:nvPr/>
        </p:nvSpPr>
        <p:spPr bwMode="auto">
          <a:xfrm>
            <a:off x="612648" y="2560320"/>
            <a:ext cx="1581912" cy="877824"/>
          </a:xfrm>
          <a:prstGeom prst="rect">
            <a:avLst/>
          </a:prstGeom>
          <a:noFill/>
        </p:spPr>
        <p:txBody>
          <a:bodyPr wrap="square" lIns="45720" tIns="18288" rIns="45720" bIns="18288">
            <a:spAutoFit/>
          </a:bodyPr>
          <a:lstStyle/>
          <a:p>
            <a:pPr algn="l">
              <a:lnSpc>
                <a:spcPct val="110000"/>
              </a:lnSpc>
              <a:defRPr/>
            </a:pPr>
            <a:r>
              <a:rPr sz="800" b="0" i="0">
                <a:solidFill>
                  <a:srgbClr val="5C6B62"/>
                </a:solidFill>
                <a:latin typeface="Arial"/>
                <a:ea typeface="Microsoft YaHei"/>
                <a:cs typeface="Microsoft YaHei"/>
              </a:rPr>
              <a:t>先发使用说明，家长回复后发会员权益，然后提出转介绍</a:t>
            </a:r>
            <a:endParaRPr/>
          </a:p>
        </p:txBody>
      </p:sp>
      <p:sp>
        <p:nvSpPr>
          <p:cNvPr id="300854873" name="Rectangle 13"/>
          <p:cNvSpPr/>
          <p:nvPr/>
        </p:nvSpPr>
        <p:spPr bwMode="auto">
          <a:xfrm>
            <a:off x="2386584" y="2048256"/>
            <a:ext cx="1801367" cy="148132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558609317" name="Rectangle 14"/>
          <p:cNvSpPr/>
          <p:nvPr/>
        </p:nvSpPr>
        <p:spPr bwMode="auto">
          <a:xfrm>
            <a:off x="2386584" y="2048256"/>
            <a:ext cx="1801367" cy="274320"/>
          </a:xfrm>
          <a:prstGeom prst="rect">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950" b="1" i="0">
                <a:solidFill>
                  <a:srgbClr val="FFFFFF"/>
                </a:solidFill>
                <a:latin typeface="Arial"/>
                <a:ea typeface="Microsoft YaHei"/>
                <a:cs typeface="Microsoft YaHei"/>
              </a:rPr>
              <a:t>CDN</a:t>
            </a:r>
            <a:endParaRPr/>
          </a:p>
        </p:txBody>
      </p:sp>
      <p:sp>
        <p:nvSpPr>
          <p:cNvPr id="1388480215" name="TextBox 15"/>
          <p:cNvSpPr txBox="1"/>
          <p:nvPr/>
        </p:nvSpPr>
        <p:spPr bwMode="auto">
          <a:xfrm>
            <a:off x="2404872" y="2359152"/>
            <a:ext cx="1764792" cy="182880"/>
          </a:xfrm>
          <a:prstGeom prst="rect">
            <a:avLst/>
          </a:prstGeom>
          <a:noFill/>
        </p:spPr>
        <p:txBody>
          <a:bodyPr wrap="square" lIns="45720" tIns="18288" rIns="45720" bIns="18288">
            <a:spAutoFit/>
          </a:bodyPr>
          <a:lstStyle/>
          <a:p>
            <a:pPr algn="ctr">
              <a:defRPr/>
            </a:pPr>
            <a:r>
              <a:rPr sz="750" b="1" i="0">
                <a:solidFill>
                  <a:srgbClr val="5B2C6F"/>
                </a:solidFill>
                <a:latin typeface="Arial"/>
                <a:ea typeface="Microsoft YaHei"/>
                <a:cs typeface="Microsoft YaHei"/>
              </a:rPr>
              <a:t>取镜当晚</a:t>
            </a:r>
            <a:endParaRPr/>
          </a:p>
        </p:txBody>
      </p:sp>
      <p:sp>
        <p:nvSpPr>
          <p:cNvPr id="778178520" name="TextBox 16"/>
          <p:cNvSpPr txBox="1"/>
          <p:nvPr/>
        </p:nvSpPr>
        <p:spPr bwMode="auto">
          <a:xfrm>
            <a:off x="2496312" y="2560320"/>
            <a:ext cx="1581912" cy="877824"/>
          </a:xfrm>
          <a:prstGeom prst="rect">
            <a:avLst/>
          </a:prstGeom>
          <a:noFill/>
        </p:spPr>
        <p:txBody>
          <a:bodyPr wrap="square" lIns="45720" tIns="18288" rIns="45720" bIns="18288">
            <a:spAutoFit/>
          </a:bodyPr>
          <a:lstStyle/>
          <a:p>
            <a:pPr algn="l">
              <a:lnSpc>
                <a:spcPct val="110000"/>
              </a:lnSpc>
              <a:defRPr/>
            </a:pPr>
            <a:r>
              <a:rPr sz="800" b="0" i="0">
                <a:solidFill>
                  <a:srgbClr val="5C6B62"/>
                </a:solidFill>
                <a:latin typeface="Arial"/>
                <a:ea typeface="Microsoft YaHei"/>
                <a:cs typeface="Microsoft YaHei"/>
              </a:rPr>
              <a:t>询问 Ortho-K 首次佩戴情况。镜片不贴合时协助调整</a:t>
            </a:r>
            <a:endParaRPr/>
          </a:p>
        </p:txBody>
      </p:sp>
      <p:sp>
        <p:nvSpPr>
          <p:cNvPr id="1021143438" name="Rectangle 17"/>
          <p:cNvSpPr/>
          <p:nvPr/>
        </p:nvSpPr>
        <p:spPr bwMode="auto">
          <a:xfrm>
            <a:off x="2496312" y="3273552"/>
            <a:ext cx="1581912" cy="201168"/>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650" b="1" i="0">
                <a:solidFill>
                  <a:srgbClr val="31633D"/>
                </a:solidFill>
                <a:latin typeface="Arial"/>
                <a:ea typeface="Microsoft YaHei"/>
                <a:cs typeface="Microsoft YaHei"/>
              </a:rPr>
              <a:t>第一周</a:t>
            </a:r>
            <a:endParaRPr/>
          </a:p>
        </p:txBody>
      </p:sp>
      <p:sp>
        <p:nvSpPr>
          <p:cNvPr id="910860333" name="Rectangle 18"/>
          <p:cNvSpPr/>
          <p:nvPr/>
        </p:nvSpPr>
        <p:spPr bwMode="auto">
          <a:xfrm>
            <a:off x="4270248" y="2048256"/>
            <a:ext cx="1801367" cy="148132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063123356" name="Rectangle 19"/>
          <p:cNvSpPr/>
          <p:nvPr/>
        </p:nvSpPr>
        <p:spPr bwMode="auto">
          <a:xfrm>
            <a:off x="4270248" y="2048256"/>
            <a:ext cx="1801367" cy="274320"/>
          </a:xfrm>
          <a:prstGeom prst="rect">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950" b="1" i="0">
                <a:solidFill>
                  <a:srgbClr val="FFFFFF"/>
                </a:solidFill>
                <a:latin typeface="Arial"/>
                <a:ea typeface="Microsoft YaHei"/>
                <a:cs typeface="Microsoft YaHei"/>
              </a:rPr>
              <a:t>CD+1</a:t>
            </a:r>
            <a:endParaRPr/>
          </a:p>
        </p:txBody>
      </p:sp>
      <p:sp>
        <p:nvSpPr>
          <p:cNvPr id="316663885" name="TextBox 20"/>
          <p:cNvSpPr txBox="1"/>
          <p:nvPr/>
        </p:nvSpPr>
        <p:spPr bwMode="auto">
          <a:xfrm>
            <a:off x="4288536" y="2359152"/>
            <a:ext cx="1764792" cy="182880"/>
          </a:xfrm>
          <a:prstGeom prst="rect">
            <a:avLst/>
          </a:prstGeom>
          <a:noFill/>
        </p:spPr>
        <p:txBody>
          <a:bodyPr wrap="square" lIns="45720" tIns="18288" rIns="45720" bIns="18288">
            <a:spAutoFit/>
          </a:bodyPr>
          <a:lstStyle/>
          <a:p>
            <a:pPr algn="ctr">
              <a:defRPr/>
            </a:pPr>
            <a:r>
              <a:rPr sz="750" b="1" i="0">
                <a:solidFill>
                  <a:srgbClr val="5B2C6F"/>
                </a:solidFill>
                <a:latin typeface="Arial"/>
                <a:ea typeface="Microsoft YaHei"/>
                <a:cs typeface="Microsoft YaHei"/>
              </a:rPr>
              <a:t>次日</a:t>
            </a:r>
            <a:endParaRPr/>
          </a:p>
        </p:txBody>
      </p:sp>
      <p:sp>
        <p:nvSpPr>
          <p:cNvPr id="1640915593" name="TextBox 21"/>
          <p:cNvSpPr txBox="1"/>
          <p:nvPr/>
        </p:nvSpPr>
        <p:spPr bwMode="auto">
          <a:xfrm>
            <a:off x="4379976" y="2560320"/>
            <a:ext cx="1581912" cy="877824"/>
          </a:xfrm>
          <a:prstGeom prst="rect">
            <a:avLst/>
          </a:prstGeom>
          <a:noFill/>
        </p:spPr>
        <p:txBody>
          <a:bodyPr wrap="square" lIns="45720" tIns="18288" rIns="45720" bIns="18288">
            <a:spAutoFit/>
          </a:bodyPr>
          <a:lstStyle/>
          <a:p>
            <a:pPr algn="l">
              <a:lnSpc>
                <a:spcPct val="110000"/>
              </a:lnSpc>
              <a:defRPr/>
            </a:pPr>
            <a:r>
              <a:rPr sz="800" b="0" i="0">
                <a:solidFill>
                  <a:srgbClr val="5C6B62"/>
                </a:solidFill>
                <a:latin typeface="Arial"/>
                <a:ea typeface="Microsoft YaHei"/>
                <a:cs typeface="Microsoft YaHei"/>
              </a:rPr>
              <a:t>了解第一晚的佩戴情况。提出转介绍</a:t>
            </a:r>
            <a:endParaRPr/>
          </a:p>
        </p:txBody>
      </p:sp>
      <p:sp>
        <p:nvSpPr>
          <p:cNvPr id="1347732851" name="Rectangle 22"/>
          <p:cNvSpPr/>
          <p:nvPr/>
        </p:nvSpPr>
        <p:spPr bwMode="auto">
          <a:xfrm>
            <a:off x="4379976" y="3273552"/>
            <a:ext cx="1581912" cy="201168"/>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650" b="1" i="0">
                <a:solidFill>
                  <a:srgbClr val="31633D"/>
                </a:solidFill>
                <a:latin typeface="Arial"/>
                <a:ea typeface="Microsoft YaHei"/>
                <a:cs typeface="Microsoft YaHei"/>
              </a:rPr>
              <a:t>第一周</a:t>
            </a:r>
            <a:endParaRPr/>
          </a:p>
        </p:txBody>
      </p:sp>
      <p:sp>
        <p:nvSpPr>
          <p:cNvPr id="1861919110" name="Rectangle 23"/>
          <p:cNvSpPr/>
          <p:nvPr/>
        </p:nvSpPr>
        <p:spPr bwMode="auto">
          <a:xfrm>
            <a:off x="6153912" y="2048256"/>
            <a:ext cx="1801367" cy="148132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616038916" name="Rectangle 24"/>
          <p:cNvSpPr/>
          <p:nvPr/>
        </p:nvSpPr>
        <p:spPr bwMode="auto">
          <a:xfrm>
            <a:off x="6153912" y="2048256"/>
            <a:ext cx="1801367" cy="274320"/>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950" b="1" i="0">
                <a:solidFill>
                  <a:srgbClr val="FFFFFF"/>
                </a:solidFill>
                <a:latin typeface="Arial"/>
                <a:ea typeface="Microsoft YaHei"/>
                <a:cs typeface="Microsoft YaHei"/>
              </a:rPr>
              <a:t>CD+3-5</a:t>
            </a:r>
            <a:endParaRPr/>
          </a:p>
        </p:txBody>
      </p:sp>
      <p:sp>
        <p:nvSpPr>
          <p:cNvPr id="1171661523" name="TextBox 25"/>
          <p:cNvSpPr txBox="1"/>
          <p:nvPr/>
        </p:nvSpPr>
        <p:spPr bwMode="auto">
          <a:xfrm>
            <a:off x="6172200" y="2359152"/>
            <a:ext cx="1764792" cy="182880"/>
          </a:xfrm>
          <a:prstGeom prst="rect">
            <a:avLst/>
          </a:prstGeom>
          <a:noFill/>
        </p:spPr>
        <p:txBody>
          <a:bodyPr wrap="square" lIns="45720" tIns="18288" rIns="45720" bIns="18288">
            <a:spAutoFit/>
          </a:bodyPr>
          <a:lstStyle/>
          <a:p>
            <a:pPr algn="ctr">
              <a:defRPr/>
            </a:pPr>
            <a:r>
              <a:rPr sz="750" b="1" i="0">
                <a:solidFill>
                  <a:srgbClr val="0C989A"/>
                </a:solidFill>
                <a:latin typeface="Arial"/>
                <a:ea typeface="Microsoft YaHei"/>
                <a:cs typeface="Microsoft YaHei"/>
              </a:rPr>
              <a:t>关怀回访</a:t>
            </a:r>
            <a:endParaRPr/>
          </a:p>
        </p:txBody>
      </p:sp>
      <p:sp>
        <p:nvSpPr>
          <p:cNvPr id="914018527" name="TextBox 26"/>
          <p:cNvSpPr txBox="1"/>
          <p:nvPr/>
        </p:nvSpPr>
        <p:spPr bwMode="auto">
          <a:xfrm>
            <a:off x="6263640" y="2560320"/>
            <a:ext cx="1581912" cy="877824"/>
          </a:xfrm>
          <a:prstGeom prst="rect">
            <a:avLst/>
          </a:prstGeom>
          <a:noFill/>
        </p:spPr>
        <p:txBody>
          <a:bodyPr wrap="square" lIns="45720" tIns="18288" rIns="45720" bIns="18288">
            <a:spAutoFit/>
          </a:bodyPr>
          <a:lstStyle/>
          <a:p>
            <a:pPr algn="l">
              <a:lnSpc>
                <a:spcPct val="110000"/>
              </a:lnSpc>
              <a:defRPr/>
            </a:pPr>
            <a:r>
              <a:rPr sz="800" b="0" i="0">
                <a:solidFill>
                  <a:srgbClr val="5C6B62"/>
                </a:solidFill>
                <a:latin typeface="Arial"/>
                <a:ea typeface="Microsoft YaHei"/>
                <a:cs typeface="Microsoft YaHei"/>
              </a:rPr>
              <a:t>询问孩子的适应情况，客户回复后提出转介绍</a:t>
            </a:r>
            <a:endParaRPr/>
          </a:p>
        </p:txBody>
      </p:sp>
      <p:sp>
        <p:nvSpPr>
          <p:cNvPr id="571501100" name="Rectangle 27"/>
          <p:cNvSpPr/>
          <p:nvPr/>
        </p:nvSpPr>
        <p:spPr bwMode="auto">
          <a:xfrm>
            <a:off x="6263640" y="3273552"/>
            <a:ext cx="1581912" cy="201168"/>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650" b="1" i="0">
                <a:solidFill>
                  <a:srgbClr val="31633D"/>
                </a:solidFill>
                <a:latin typeface="Arial"/>
                <a:ea typeface="Microsoft YaHei"/>
                <a:cs typeface="Microsoft YaHei"/>
              </a:rPr>
              <a:t>第一周</a:t>
            </a:r>
            <a:endParaRPr/>
          </a:p>
        </p:txBody>
      </p:sp>
      <p:sp>
        <p:nvSpPr>
          <p:cNvPr id="1467153772" name="Rectangle 28"/>
          <p:cNvSpPr/>
          <p:nvPr/>
        </p:nvSpPr>
        <p:spPr bwMode="auto">
          <a:xfrm>
            <a:off x="8037576" y="2048256"/>
            <a:ext cx="1801367" cy="148132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787355459" name="Rectangle 29"/>
          <p:cNvSpPr/>
          <p:nvPr/>
        </p:nvSpPr>
        <p:spPr bwMode="auto">
          <a:xfrm>
            <a:off x="8037576" y="2048256"/>
            <a:ext cx="1801367" cy="274320"/>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950" b="1" i="0">
                <a:solidFill>
                  <a:srgbClr val="FFFFFF"/>
                </a:solidFill>
                <a:latin typeface="Arial"/>
                <a:ea typeface="Microsoft YaHei"/>
                <a:cs typeface="Microsoft YaHei"/>
              </a:rPr>
              <a:t>CD+7</a:t>
            </a:r>
            <a:endParaRPr/>
          </a:p>
        </p:txBody>
      </p:sp>
      <p:sp>
        <p:nvSpPr>
          <p:cNvPr id="1650261574" name="TextBox 30"/>
          <p:cNvSpPr txBox="1"/>
          <p:nvPr/>
        </p:nvSpPr>
        <p:spPr bwMode="auto">
          <a:xfrm>
            <a:off x="8055864" y="2359152"/>
            <a:ext cx="1764792" cy="182880"/>
          </a:xfrm>
          <a:prstGeom prst="rect">
            <a:avLst/>
          </a:prstGeom>
          <a:noFill/>
        </p:spPr>
        <p:txBody>
          <a:bodyPr wrap="square" lIns="45720" tIns="18288" rIns="45720" bIns="18288">
            <a:spAutoFit/>
          </a:bodyPr>
          <a:lstStyle/>
          <a:p>
            <a:pPr algn="ctr">
              <a:defRPr/>
            </a:pPr>
            <a:r>
              <a:rPr sz="750" b="1" i="0">
                <a:solidFill>
                  <a:srgbClr val="0C989A"/>
                </a:solidFill>
                <a:latin typeface="Arial"/>
                <a:ea typeface="Microsoft YaHei"/>
                <a:cs typeface="Microsoft YaHei"/>
              </a:rPr>
              <a:t>佩戴情况回访</a:t>
            </a:r>
            <a:endParaRPr/>
          </a:p>
        </p:txBody>
      </p:sp>
      <p:sp>
        <p:nvSpPr>
          <p:cNvPr id="1792804063" name="TextBox 31"/>
          <p:cNvSpPr txBox="1"/>
          <p:nvPr/>
        </p:nvSpPr>
        <p:spPr bwMode="auto">
          <a:xfrm>
            <a:off x="8147304" y="2560320"/>
            <a:ext cx="1581912" cy="877824"/>
          </a:xfrm>
          <a:prstGeom prst="rect">
            <a:avLst/>
          </a:prstGeom>
          <a:noFill/>
        </p:spPr>
        <p:txBody>
          <a:bodyPr wrap="square" lIns="45720" tIns="18288" rIns="45720" bIns="18288">
            <a:spAutoFit/>
          </a:bodyPr>
          <a:lstStyle/>
          <a:p>
            <a:pPr algn="l">
              <a:lnSpc>
                <a:spcPct val="110000"/>
              </a:lnSpc>
              <a:defRPr/>
            </a:pPr>
            <a:r>
              <a:rPr sz="800" b="0" i="0">
                <a:solidFill>
                  <a:srgbClr val="5C6B62"/>
                </a:solidFill>
                <a:latin typeface="Arial"/>
                <a:ea typeface="Microsoft YaHei"/>
                <a:cs typeface="Microsoft YaHei"/>
              </a:rPr>
              <a:t>预约复查时间。发会员权益。提出转介绍</a:t>
            </a:r>
            <a:endParaRPr/>
          </a:p>
        </p:txBody>
      </p:sp>
      <p:sp>
        <p:nvSpPr>
          <p:cNvPr id="1788536106" name="Rectangle 32"/>
          <p:cNvSpPr/>
          <p:nvPr/>
        </p:nvSpPr>
        <p:spPr bwMode="auto">
          <a:xfrm>
            <a:off x="8147304" y="3273552"/>
            <a:ext cx="1581912" cy="201168"/>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650" b="1" i="0">
                <a:solidFill>
                  <a:srgbClr val="31633D"/>
                </a:solidFill>
                <a:latin typeface="Arial"/>
                <a:ea typeface="Microsoft YaHei"/>
                <a:cs typeface="Microsoft YaHei"/>
              </a:rPr>
              <a:t>第一周</a:t>
            </a:r>
            <a:endParaRPr/>
          </a:p>
        </p:txBody>
      </p:sp>
      <p:sp>
        <p:nvSpPr>
          <p:cNvPr id="1865851790" name="Rectangle 33"/>
          <p:cNvSpPr/>
          <p:nvPr/>
        </p:nvSpPr>
        <p:spPr bwMode="auto">
          <a:xfrm>
            <a:off x="9921240" y="2048256"/>
            <a:ext cx="1801367" cy="148132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11627000" name="Rectangle 34"/>
          <p:cNvSpPr/>
          <p:nvPr/>
        </p:nvSpPr>
        <p:spPr bwMode="auto">
          <a:xfrm>
            <a:off x="9921240" y="2048256"/>
            <a:ext cx="1801367" cy="274320"/>
          </a:xfrm>
          <a:prstGeom prst="rect">
            <a:avLst/>
          </a:prstGeom>
          <a:solidFill>
            <a:srgbClr val="B9770B"/>
          </a:solidFill>
          <a:ln>
            <a:noFill/>
          </a:ln>
          <a:effectLst/>
        </p:spPr>
        <p:style>
          <a:lnRef idx="1">
            <a:schemeClr val="accent1"/>
          </a:lnRef>
          <a:fillRef idx="3">
            <a:schemeClr val="accent1"/>
          </a:fillRef>
          <a:effectRef idx="0">
            <a:schemeClr val="accent1"/>
          </a:effectRef>
          <a:fontRef idx="minor">
            <a:schemeClr val="lt1"/>
          </a:fontRef>
        </p:style>
        <p:txBody>
          <a:bodyPr wrap="square" lIns="18288" tIns="0" rIns="18288" bIns="0" rtlCol="0" anchor="ctr"/>
          <a:lstStyle/>
          <a:p>
            <a:pPr algn="ctr">
              <a:defRPr/>
            </a:pPr>
            <a:r>
              <a:rPr sz="950" b="1" i="0">
                <a:solidFill>
                  <a:srgbClr val="FFFFFF"/>
                </a:solidFill>
                <a:latin typeface="Arial"/>
                <a:ea typeface="Microsoft YaHei"/>
                <a:cs typeface="Microsoft YaHei"/>
              </a:rPr>
              <a:t>CD+30</a:t>
            </a:r>
            <a:endParaRPr/>
          </a:p>
        </p:txBody>
      </p:sp>
      <p:sp>
        <p:nvSpPr>
          <p:cNvPr id="687521574" name="TextBox 35"/>
          <p:cNvSpPr txBox="1"/>
          <p:nvPr/>
        </p:nvSpPr>
        <p:spPr bwMode="auto">
          <a:xfrm>
            <a:off x="9939528" y="2359152"/>
            <a:ext cx="1764792" cy="182880"/>
          </a:xfrm>
          <a:prstGeom prst="rect">
            <a:avLst/>
          </a:prstGeom>
          <a:noFill/>
        </p:spPr>
        <p:txBody>
          <a:bodyPr wrap="square" lIns="45720" tIns="18288" rIns="45720" bIns="18288">
            <a:spAutoFit/>
          </a:bodyPr>
          <a:lstStyle/>
          <a:p>
            <a:pPr algn="ctr">
              <a:defRPr/>
            </a:pPr>
            <a:r>
              <a:rPr sz="750" b="1" i="0">
                <a:solidFill>
                  <a:srgbClr val="B9770B"/>
                </a:solidFill>
                <a:latin typeface="Arial"/>
                <a:ea typeface="Microsoft YaHei"/>
                <a:cs typeface="Microsoft YaHei"/>
              </a:rPr>
              <a:t>佩戴情况复盘</a:t>
            </a:r>
            <a:endParaRPr/>
          </a:p>
        </p:txBody>
      </p:sp>
      <p:sp>
        <p:nvSpPr>
          <p:cNvPr id="379392631" name="TextBox 36"/>
          <p:cNvSpPr txBox="1"/>
          <p:nvPr/>
        </p:nvSpPr>
        <p:spPr bwMode="auto">
          <a:xfrm>
            <a:off x="10030968" y="2560320"/>
            <a:ext cx="1581912" cy="877824"/>
          </a:xfrm>
          <a:prstGeom prst="rect">
            <a:avLst/>
          </a:prstGeom>
          <a:noFill/>
        </p:spPr>
        <p:txBody>
          <a:bodyPr wrap="square" lIns="45720" tIns="18288" rIns="45720" bIns="18288">
            <a:spAutoFit/>
          </a:bodyPr>
          <a:lstStyle/>
          <a:p>
            <a:pPr algn="l">
              <a:lnSpc>
                <a:spcPct val="110000"/>
              </a:lnSpc>
              <a:defRPr/>
            </a:pPr>
            <a:r>
              <a:rPr sz="800" b="0" i="0">
                <a:solidFill>
                  <a:srgbClr val="5C6B62"/>
                </a:solidFill>
                <a:latin typeface="Arial"/>
                <a:ea typeface="Microsoft YaHei"/>
                <a:cs typeface="Microsoft YaHei"/>
              </a:rPr>
              <a:t>预约复查。提醒每周佩戴 ≥ 6 次。发会员权益</a:t>
            </a:r>
            <a:endParaRPr/>
          </a:p>
        </p:txBody>
      </p:sp>
      <p:sp>
        <p:nvSpPr>
          <p:cNvPr id="1641389969" name="Rectangle 37"/>
          <p:cNvSpPr/>
          <p:nvPr/>
        </p:nvSpPr>
        <p:spPr bwMode="auto">
          <a:xfrm>
            <a:off x="502920" y="3694176"/>
            <a:ext cx="5486400" cy="100584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929235274" name="TextBox 38"/>
          <p:cNvSpPr txBox="1"/>
          <p:nvPr/>
        </p:nvSpPr>
        <p:spPr bwMode="auto">
          <a:xfrm>
            <a:off x="649224" y="3785615"/>
            <a:ext cx="5193792" cy="201168"/>
          </a:xfrm>
          <a:prstGeom prst="rect">
            <a:avLst/>
          </a:prstGeom>
          <a:noFill/>
        </p:spPr>
        <p:txBody>
          <a:bodyPr wrap="square" lIns="45720" tIns="18288" rIns="45720" bIns="18288">
            <a:spAutoFit/>
          </a:bodyPr>
          <a:lstStyle/>
          <a:p>
            <a:pPr algn="l">
              <a:defRPr/>
            </a:pPr>
            <a:r>
              <a:rPr sz="950" b="1" i="0">
                <a:solidFill>
                  <a:srgbClr val="31633D"/>
                </a:solidFill>
                <a:latin typeface="Arial"/>
                <a:ea typeface="Microsoft YaHei"/>
                <a:cs typeface="Microsoft YaHei"/>
              </a:rPr>
              <a:t>Ortho-K 比框架眼镜多出来的节点</a:t>
            </a:r>
            <a:endParaRPr/>
          </a:p>
        </p:txBody>
      </p:sp>
      <p:sp>
        <p:nvSpPr>
          <p:cNvPr id="353873515" name="TextBox 39"/>
          <p:cNvSpPr txBox="1"/>
          <p:nvPr/>
        </p:nvSpPr>
        <p:spPr bwMode="auto">
          <a:xfrm>
            <a:off x="649224" y="3986784"/>
            <a:ext cx="5193792" cy="640080"/>
          </a:xfrm>
          <a:prstGeom prst="rect">
            <a:avLst/>
          </a:prstGeom>
          <a:noFill/>
        </p:spPr>
        <p:txBody>
          <a:bodyPr wrap="square" lIns="45720" tIns="18288" rIns="45720" bIns="18288">
            <a:spAutoFit/>
          </a:bodyPr>
          <a:lstStyle/>
          <a:p>
            <a:pPr algn="l">
              <a:lnSpc>
                <a:spcPct val="110000"/>
              </a:lnSpc>
              <a:defRPr/>
            </a:pPr>
            <a:r>
              <a:rPr sz="850" b="0" i="0">
                <a:solidFill>
                  <a:srgbClr val="5C6B62"/>
                </a:solidFill>
                <a:latin typeface="Arial"/>
                <a:ea typeface="Microsoft YaHei"/>
                <a:cs typeface="Microsoft YaHei"/>
              </a:rPr>
              <a:t>CDN 和 CD+1 只适用于 Ortho-K。孩子第一次整夜佩戴硬性镜片，当晚要问一次，第二天早上再问一次。</a:t>
            </a:r>
            <a:endParaRPr/>
          </a:p>
        </p:txBody>
      </p:sp>
      <p:sp>
        <p:nvSpPr>
          <p:cNvPr id="163710535" name="Rectangle 40"/>
          <p:cNvSpPr/>
          <p:nvPr/>
        </p:nvSpPr>
        <p:spPr bwMode="auto">
          <a:xfrm>
            <a:off x="6199632" y="3694176"/>
            <a:ext cx="5486400" cy="1005840"/>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520492658" name="TextBox 41"/>
          <p:cNvSpPr txBox="1"/>
          <p:nvPr/>
        </p:nvSpPr>
        <p:spPr bwMode="auto">
          <a:xfrm>
            <a:off x="6345936" y="3785615"/>
            <a:ext cx="5193792" cy="201168"/>
          </a:xfrm>
          <a:prstGeom prst="rect">
            <a:avLst/>
          </a:prstGeom>
          <a:noFill/>
        </p:spPr>
        <p:txBody>
          <a:bodyPr wrap="square" lIns="45720" tIns="18288" rIns="45720" bIns="18288">
            <a:spAutoFit/>
          </a:bodyPr>
          <a:lstStyle/>
          <a:p>
            <a:pPr algn="l">
              <a:defRPr/>
            </a:pPr>
            <a:r>
              <a:rPr sz="950" b="1" i="0">
                <a:solidFill>
                  <a:srgbClr val="31633D"/>
                </a:solidFill>
                <a:latin typeface="Arial"/>
                <a:ea typeface="Microsoft YaHei"/>
                <a:cs typeface="Microsoft YaHei"/>
              </a:rPr>
              <a:t>CZ 所说的“第一周两到三次”落在哪里</a:t>
            </a:r>
            <a:endParaRPr/>
          </a:p>
        </p:txBody>
      </p:sp>
      <p:sp>
        <p:nvSpPr>
          <p:cNvPr id="1704272355" name="TextBox 42"/>
          <p:cNvSpPr txBox="1"/>
          <p:nvPr/>
        </p:nvSpPr>
        <p:spPr bwMode="auto">
          <a:xfrm>
            <a:off x="6345936" y="3986784"/>
            <a:ext cx="5193792" cy="640080"/>
          </a:xfrm>
          <a:prstGeom prst="rect">
            <a:avLst/>
          </a:prstGeom>
          <a:noFill/>
        </p:spPr>
        <p:txBody>
          <a:bodyPr wrap="square" lIns="45720" tIns="18288" rIns="45720" bIns="18288">
            <a:spAutoFit/>
          </a:bodyPr>
          <a:lstStyle/>
          <a:p>
            <a:pPr algn="l">
              <a:lnSpc>
                <a:spcPct val="110000"/>
              </a:lnSpc>
              <a:defRPr/>
            </a:pPr>
            <a:r>
              <a:rPr sz="850" b="0" i="0">
                <a:solidFill>
                  <a:srgbClr val="5C6B62"/>
                </a:solidFill>
                <a:latin typeface="Arial"/>
                <a:ea typeface="Microsoft YaHei"/>
                <a:cs typeface="Microsoft YaHei"/>
              </a:rPr>
              <a:t>CDN、CD+1、CD+3-5 和 CD+7 都落在取镜后的第一周内。做到其中两到三次是 CZ 要求的最低标准。CTE-D5 是被点名缺失这些节点的门店。</a:t>
            </a:r>
            <a:endParaRPr/>
          </a:p>
        </p:txBody>
      </p:sp>
      <p:sp>
        <p:nvSpPr>
          <p:cNvPr id="343042412" name="Rectangle 43"/>
          <p:cNvSpPr/>
          <p:nvPr/>
        </p:nvSpPr>
        <p:spPr bwMode="auto">
          <a:xfrm>
            <a:off x="502920" y="4864607"/>
            <a:ext cx="11183112" cy="51206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wrap="square" lIns="146304" tIns="18288" rIns="128016" bIns="18288" rtlCol="0" anchor="ctr"/>
          <a:lstStyle/>
          <a:p>
            <a:pPr algn="l">
              <a:defRPr/>
            </a:pPr>
            <a:r>
              <a:rPr sz="900" b="1" i="0">
                <a:solidFill>
                  <a:srgbClr val="C0392B"/>
                </a:solidFill>
                <a:latin typeface="Arial"/>
                <a:ea typeface="Microsoft YaHei"/>
                <a:cs typeface="Microsoft YaHei"/>
              </a:rPr>
              <a:t>待核实事项：  </a:t>
            </a:r>
            <a:r>
              <a:rPr sz="900" b="0" i="0">
                <a:solidFill>
                  <a:srgbClr val="5C6B62"/>
                </a:solidFill>
                <a:latin typeface="Arial"/>
                <a:ea typeface="Microsoft YaHei"/>
                <a:cs typeface="Microsoft YaHei"/>
              </a:rPr>
              <a:t>CTE-D7 曾告知客户 Ortho-K 镜片可使用 2–2.5 年。CZ 要求在向其他家长重复这一说法之前先核实清楚。</a:t>
            </a:r>
            <a:endParaRPr/>
          </a:p>
        </p:txBody>
      </p:sp>
      <p:sp>
        <p:nvSpPr>
          <p:cNvPr id="1740490674" name="Rectangle 44"/>
          <p:cNvSpPr/>
          <p:nvPr/>
        </p:nvSpPr>
        <p:spPr bwMode="auto">
          <a:xfrm>
            <a:off x="502920" y="5669280"/>
            <a:ext cx="64008" cy="45720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812796493" name="Rectangle 45"/>
          <p:cNvSpPr/>
          <p:nvPr/>
        </p:nvSpPr>
        <p:spPr bwMode="auto">
          <a:xfrm>
            <a:off x="566928" y="5669280"/>
            <a:ext cx="11119104"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46304" tIns="18288" rIns="109728" bIns="18288" rtlCol="0" anchor="ctr"/>
          <a:lstStyle/>
          <a:p>
            <a:pPr algn="l">
              <a:defRPr/>
            </a:pPr>
            <a:r>
              <a:rPr sz="1100" b="1" i="0">
                <a:solidFill>
                  <a:srgbClr val="31633D"/>
                </a:solidFill>
                <a:latin typeface="Arial"/>
                <a:ea typeface="Microsoft YaHei"/>
                <a:cs typeface="Microsoft YaHei"/>
              </a:rPr>
              <a:t>Ortho-K 不是换个名字的框架眼镜。仅第一周就有四次跟进。</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605457" name="Rectangle 1"/>
          <p:cNvSpPr/>
          <p:nvPr/>
        </p:nvSpPr>
        <p:spPr bwMode="auto">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647467163" name="TextBox 2"/>
          <p:cNvSpPr txBox="1"/>
          <p:nvPr/>
        </p:nvSpPr>
        <p:spPr bwMode="auto">
          <a:xfrm>
            <a:off x="502920" y="228600"/>
            <a:ext cx="9692640" cy="228600"/>
          </a:xfrm>
          <a:prstGeom prst="rect">
            <a:avLst/>
          </a:prstGeom>
          <a:noFill/>
        </p:spPr>
        <p:txBody>
          <a:bodyPr wrap="square" lIns="45720" tIns="18288" rIns="45720" bIns="18288">
            <a:spAutoFit/>
          </a:bodyPr>
          <a:lstStyle/>
          <a:p>
            <a:pPr algn="l">
              <a:defRPr/>
            </a:pPr>
            <a:r>
              <a:rPr sz="950" b="1" i="0">
                <a:solidFill>
                  <a:srgbClr val="2E9C4C"/>
                </a:solidFill>
                <a:latin typeface="Arial"/>
                <a:ea typeface="Microsoft YaHei"/>
                <a:cs typeface="Microsoft YaHei"/>
              </a:rPr>
              <a:t>五、CZ Zalo 复盘   |   各门店  ·  1 / 2</a:t>
            </a:r>
            <a:endParaRPr/>
          </a:p>
        </p:txBody>
      </p:sp>
      <p:sp>
        <p:nvSpPr>
          <p:cNvPr id="583748465" name="TextBox 3"/>
          <p:cNvSpPr txBox="1"/>
          <p:nvPr/>
        </p:nvSpPr>
        <p:spPr bwMode="auto">
          <a:xfrm>
            <a:off x="502920" y="493776"/>
            <a:ext cx="11247120" cy="640080"/>
          </a:xfrm>
          <a:prstGeom prst="rect">
            <a:avLst/>
          </a:prstGeom>
          <a:noFill/>
        </p:spPr>
        <p:txBody>
          <a:bodyPr wrap="square" lIns="45720" tIns="18288" rIns="45720" bIns="18288">
            <a:spAutoFit/>
          </a:bodyPr>
          <a:lstStyle/>
          <a:p>
            <a:pPr algn="l">
              <a:defRPr/>
            </a:pPr>
            <a:r>
              <a:rPr sz="2200" b="1" i="0">
                <a:solidFill>
                  <a:srgbClr val="31633D"/>
                </a:solidFill>
                <a:latin typeface="Arial"/>
                <a:ea typeface="Microsoft YaHei"/>
                <a:cs typeface="Microsoft YaHei"/>
              </a:rPr>
              <a:t>CTE-D5、CTE-D7 与 NGT</a:t>
            </a:r>
            <a:endParaRPr/>
          </a:p>
        </p:txBody>
      </p:sp>
      <p:sp>
        <p:nvSpPr>
          <p:cNvPr id="1314760417" name="Rectangle 4"/>
          <p:cNvSpPr/>
          <p:nvPr/>
        </p:nvSpPr>
        <p:spPr bwMode="auto">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680949106" name="TextBox 5"/>
          <p:cNvSpPr txBox="1"/>
          <p:nvPr/>
        </p:nvSpPr>
        <p:spPr bwMode="auto">
          <a:xfrm>
            <a:off x="502920" y="6455664"/>
            <a:ext cx="5486400" cy="237744"/>
          </a:xfrm>
          <a:prstGeom prst="rect">
            <a:avLst/>
          </a:prstGeom>
          <a:noFill/>
        </p:spPr>
        <p:txBody>
          <a:bodyPr wrap="square" lIns="45720" tIns="18288" rIns="45720" bIns="18288">
            <a:spAutoFit/>
          </a:bodyPr>
          <a:lstStyle/>
          <a:p>
            <a:pPr algn="l">
              <a:defRPr/>
            </a:pPr>
            <a:r>
              <a:rPr sz="800" b="0" i="0">
                <a:solidFill>
                  <a:srgbClr val="5C6B62"/>
                </a:solidFill>
                <a:latin typeface="Arial"/>
                <a:ea typeface="Microsoft YaHei"/>
                <a:cs typeface="Microsoft YaHei"/>
              </a:rPr>
              <a:t>Mắt Sài Gòn  |  视光 DA 培训</a:t>
            </a:r>
            <a:endParaRPr/>
          </a:p>
        </p:txBody>
      </p:sp>
      <p:sp>
        <p:nvSpPr>
          <p:cNvPr id="1654227405" name="TextBox 6"/>
          <p:cNvSpPr txBox="1"/>
          <p:nvPr/>
        </p:nvSpPr>
        <p:spPr bwMode="auto">
          <a:xfrm>
            <a:off x="10972800" y="6455664"/>
            <a:ext cx="713232" cy="237744"/>
          </a:xfrm>
          <a:prstGeom prst="rect">
            <a:avLst/>
          </a:prstGeom>
          <a:noFill/>
        </p:spPr>
        <p:txBody>
          <a:bodyPr wrap="square" lIns="45720" tIns="18288" rIns="45720" bIns="18288">
            <a:spAutoFit/>
          </a:bodyPr>
          <a:lstStyle/>
          <a:p>
            <a:pPr algn="r">
              <a:defRPr/>
            </a:pPr>
            <a:r>
              <a:rPr sz="800" b="1" i="0">
                <a:solidFill>
                  <a:srgbClr val="5C6B62"/>
                </a:solidFill>
                <a:latin typeface="Arial"/>
                <a:ea typeface="Microsoft YaHei"/>
                <a:cs typeface="Microsoft YaHei"/>
              </a:rPr>
              <a:t>7</a:t>
            </a:r>
            <a:endParaRPr/>
          </a:p>
        </p:txBody>
      </p:sp>
      <p:sp>
        <p:nvSpPr>
          <p:cNvPr id="544145142" name="TextBox 7"/>
          <p:cNvSpPr txBox="1"/>
          <p:nvPr/>
        </p:nvSpPr>
        <p:spPr bwMode="auto">
          <a:xfrm>
            <a:off x="502920" y="1261872"/>
            <a:ext cx="11183112" cy="219456"/>
          </a:xfrm>
          <a:prstGeom prst="rect">
            <a:avLst/>
          </a:prstGeom>
          <a:noFill/>
        </p:spPr>
        <p:txBody>
          <a:bodyPr wrap="square" lIns="45720" tIns="18288" rIns="45720" bIns="18288">
            <a:spAutoFit/>
          </a:bodyPr>
          <a:lstStyle/>
          <a:p>
            <a:pPr algn="l">
              <a:lnSpc>
                <a:spcPct val="95000"/>
              </a:lnSpc>
              <a:defRPr/>
            </a:pPr>
            <a:r>
              <a:rPr sz="1000" b="0" i="1">
                <a:solidFill>
                  <a:srgbClr val="5C6B62"/>
                </a:solidFill>
                <a:latin typeface="Arial"/>
                <a:ea typeface="Microsoft YaHei"/>
                <a:cs typeface="Microsoft YaHei"/>
              </a:rPr>
              <a:t>CTE-D7 产出了我们将要采用的话术，NGT 也有了进展。CTE-D5 是唯一与上周结论相同的门店，而且现在还加上了 Ortho-K 的问题。</a:t>
            </a:r>
            <a:endParaRPr/>
          </a:p>
        </p:txBody>
      </p:sp>
      <p:sp>
        <p:nvSpPr>
          <p:cNvPr id="1402459837" name="Rectangle 8"/>
          <p:cNvSpPr/>
          <p:nvPr/>
        </p:nvSpPr>
        <p:spPr bwMode="auto">
          <a:xfrm>
            <a:off x="502920" y="1591056"/>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323746118" name="Rectangle 9"/>
          <p:cNvSpPr/>
          <p:nvPr/>
        </p:nvSpPr>
        <p:spPr bwMode="auto">
          <a:xfrm>
            <a:off x="502920" y="1591056"/>
            <a:ext cx="54864" cy="132588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790560996" name="TextBox 10"/>
          <p:cNvSpPr txBox="1"/>
          <p:nvPr/>
        </p:nvSpPr>
        <p:spPr bwMode="auto">
          <a:xfrm>
            <a:off x="694944" y="1673352"/>
            <a:ext cx="1783080" cy="256032"/>
          </a:xfrm>
          <a:prstGeom prst="rect">
            <a:avLst/>
          </a:prstGeom>
          <a:noFill/>
        </p:spPr>
        <p:txBody>
          <a:bodyPr wrap="square" lIns="45720" tIns="18288" rIns="45720" bIns="18288">
            <a:spAutoFit/>
          </a:bodyPr>
          <a:lstStyle/>
          <a:p>
            <a:pPr algn="l">
              <a:defRPr/>
            </a:pPr>
            <a:r>
              <a:rPr sz="1400" b="1" i="0">
                <a:solidFill>
                  <a:srgbClr val="31633D"/>
                </a:solidFill>
                <a:latin typeface="Arial"/>
                <a:ea typeface="Microsoft YaHei"/>
                <a:cs typeface="Microsoft YaHei"/>
              </a:rPr>
              <a:t>CTE-D5</a:t>
            </a:r>
            <a:endParaRPr/>
          </a:p>
        </p:txBody>
      </p:sp>
      <p:sp>
        <p:nvSpPr>
          <p:cNvPr id="744978070" name="TextBox 11"/>
          <p:cNvSpPr txBox="1"/>
          <p:nvPr/>
        </p:nvSpPr>
        <p:spPr bwMode="auto">
          <a:xfrm>
            <a:off x="694944" y="1929384"/>
            <a:ext cx="1783080" cy="384048"/>
          </a:xfrm>
          <a:prstGeom prst="rect">
            <a:avLst/>
          </a:prstGeom>
          <a:noFill/>
        </p:spPr>
        <p:txBody>
          <a:bodyPr wrap="square" lIns="45720" tIns="18288" rIns="45720" bIns="18288">
            <a:spAutoFit/>
          </a:bodyPr>
          <a:lstStyle/>
          <a:p>
            <a:pPr algn="l">
              <a:lnSpc>
                <a:spcPct val="104000"/>
              </a:lnSpc>
              <a:defRPr/>
            </a:pPr>
            <a:r>
              <a:rPr sz="800" b="1" i="0">
                <a:solidFill>
                  <a:srgbClr val="C0392B"/>
                </a:solidFill>
                <a:latin typeface="Arial"/>
                <a:ea typeface="Microsoft YaHei"/>
                <a:cs typeface="Microsoft YaHei"/>
              </a:rPr>
              <a:t>没有变化 —— 仍然只有权益，之后什么都没有</a:t>
            </a:r>
            <a:endParaRPr/>
          </a:p>
        </p:txBody>
      </p:sp>
      <p:sp>
        <p:nvSpPr>
          <p:cNvPr id="385657257" name="Rectangle 12"/>
          <p:cNvSpPr/>
          <p:nvPr/>
        </p:nvSpPr>
        <p:spPr bwMode="auto">
          <a:xfrm>
            <a:off x="694944" y="2395728"/>
            <a:ext cx="1645920" cy="36576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18288" rIns="54864" bIns="18288" rtlCol="0" anchor="ctr"/>
          <a:lstStyle/>
          <a:p>
            <a:pPr algn="l">
              <a:spcAft>
                <a:spcPts val="100"/>
              </a:spcAft>
              <a:defRPr/>
            </a:pPr>
            <a:r>
              <a:rPr sz="650" b="1" i="0">
                <a:solidFill>
                  <a:srgbClr val="2E9C4C"/>
                </a:solidFill>
                <a:latin typeface="Arial"/>
                <a:ea typeface="Microsoft YaHei"/>
                <a:cs typeface="Microsoft YaHei"/>
              </a:rPr>
              <a:t>较上周</a:t>
            </a:r>
            <a:endParaRPr/>
          </a:p>
          <a:p>
            <a:pPr algn="l">
              <a:lnSpc>
                <a:spcPct val="104000"/>
              </a:lnSpc>
              <a:defRPr/>
            </a:pPr>
            <a:r>
              <a:rPr sz="700" b="0" i="0">
                <a:solidFill>
                  <a:srgbClr val="5C6B62"/>
                </a:solidFill>
                <a:latin typeface="Arial"/>
                <a:ea typeface="Microsoft YaHei"/>
                <a:cs typeface="Microsoft YaHei"/>
              </a:rPr>
              <a:t>与上周结论相同</a:t>
            </a:r>
            <a:endParaRPr/>
          </a:p>
        </p:txBody>
      </p:sp>
      <p:sp>
        <p:nvSpPr>
          <p:cNvPr id="1471736238" name="Rectangle 13"/>
          <p:cNvSpPr/>
          <p:nvPr/>
        </p:nvSpPr>
        <p:spPr bwMode="auto">
          <a:xfrm>
            <a:off x="2505456"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30694716" name="TextBox 14"/>
          <p:cNvSpPr txBox="1"/>
          <p:nvPr/>
        </p:nvSpPr>
        <p:spPr bwMode="auto">
          <a:xfrm>
            <a:off x="2670048" y="1682496"/>
            <a:ext cx="4023360" cy="164592"/>
          </a:xfrm>
          <a:prstGeom prst="rect">
            <a:avLst/>
          </a:prstGeom>
          <a:noFill/>
        </p:spPr>
        <p:txBody>
          <a:bodyPr wrap="square" lIns="45720" tIns="18288" rIns="45720" bIns="18288">
            <a:spAutoFit/>
          </a:bodyPr>
          <a:lstStyle/>
          <a:p>
            <a:pPr algn="l">
              <a:defRPr/>
            </a:pPr>
            <a:r>
              <a:rPr sz="800" b="1" i="0">
                <a:solidFill>
                  <a:srgbClr val="2E9C4C"/>
                </a:solidFill>
                <a:latin typeface="Arial"/>
                <a:ea typeface="Microsoft YaHei"/>
                <a:cs typeface="Microsoft YaHei"/>
              </a:rPr>
              <a:t>做得好的地方</a:t>
            </a:r>
            <a:endParaRPr/>
          </a:p>
        </p:txBody>
      </p:sp>
      <p:sp>
        <p:nvSpPr>
          <p:cNvPr id="1993791425" name="TextBox 15"/>
          <p:cNvSpPr txBox="1"/>
          <p:nvPr/>
        </p:nvSpPr>
        <p:spPr bwMode="auto">
          <a:xfrm>
            <a:off x="2670048" y="1856231"/>
            <a:ext cx="402336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Zalo 上的客户备注整体上是准确的。</a:t>
            </a:r>
            <a:endParaRPr/>
          </a:p>
        </p:txBody>
      </p:sp>
      <p:sp>
        <p:nvSpPr>
          <p:cNvPr id="1929127394" name="Rectangle 16"/>
          <p:cNvSpPr/>
          <p:nvPr/>
        </p:nvSpPr>
        <p:spPr bwMode="auto">
          <a:xfrm>
            <a:off x="6821424"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179899200" name="TextBox 17"/>
          <p:cNvSpPr txBox="1"/>
          <p:nvPr/>
        </p:nvSpPr>
        <p:spPr bwMode="auto">
          <a:xfrm>
            <a:off x="6967728" y="1682496"/>
            <a:ext cx="4663440" cy="164592"/>
          </a:xfrm>
          <a:prstGeom prst="rect">
            <a:avLst/>
          </a:prstGeom>
          <a:noFill/>
        </p:spPr>
        <p:txBody>
          <a:bodyPr wrap="square" lIns="45720" tIns="18288" rIns="45720" bIns="18288">
            <a:spAutoFit/>
          </a:bodyPr>
          <a:lstStyle/>
          <a:p>
            <a:pPr algn="l">
              <a:defRPr/>
            </a:pPr>
            <a:r>
              <a:rPr sz="800" b="1" i="0">
                <a:solidFill>
                  <a:srgbClr val="B9770B"/>
                </a:solidFill>
                <a:latin typeface="Arial"/>
                <a:ea typeface="Microsoft YaHei"/>
                <a:cs typeface="Microsoft YaHei"/>
              </a:rPr>
              <a:t>需要改进的地方</a:t>
            </a:r>
            <a:endParaRPr/>
          </a:p>
        </p:txBody>
      </p:sp>
      <p:sp>
        <p:nvSpPr>
          <p:cNvPr id="447602105" name="TextBox 18"/>
          <p:cNvSpPr txBox="1"/>
          <p:nvPr/>
        </p:nvSpPr>
        <p:spPr bwMode="auto">
          <a:xfrm>
            <a:off x="6967728" y="1856231"/>
            <a:ext cx="466344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对大多数客户来说，会员权益信息之后就再没有任何沟通。</a:t>
            </a:r>
            <a:endParaRPr/>
          </a:p>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极少有客户收到询问戴镜情况的跟进。这类跟进需要增加。</a:t>
            </a:r>
            <a:endParaRPr/>
          </a:p>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Ortho-K 客户没有得到足够关注 —— 镜片定制信息、取镜后的佩戴回访和复查邀约全部缺失。</a:t>
            </a:r>
            <a:endParaRPr/>
          </a:p>
        </p:txBody>
      </p:sp>
      <p:sp>
        <p:nvSpPr>
          <p:cNvPr id="1657543354" name="Rectangle 19"/>
          <p:cNvSpPr/>
          <p:nvPr/>
        </p:nvSpPr>
        <p:spPr bwMode="auto">
          <a:xfrm>
            <a:off x="502920" y="3026663"/>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303207745" name="Rectangle 20"/>
          <p:cNvSpPr/>
          <p:nvPr/>
        </p:nvSpPr>
        <p:spPr bwMode="auto">
          <a:xfrm>
            <a:off x="502920" y="3026663"/>
            <a:ext cx="54864" cy="132588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803711528" name="TextBox 21"/>
          <p:cNvSpPr txBox="1"/>
          <p:nvPr/>
        </p:nvSpPr>
        <p:spPr bwMode="auto">
          <a:xfrm>
            <a:off x="694944" y="3108959"/>
            <a:ext cx="1783080" cy="256032"/>
          </a:xfrm>
          <a:prstGeom prst="rect">
            <a:avLst/>
          </a:prstGeom>
          <a:noFill/>
        </p:spPr>
        <p:txBody>
          <a:bodyPr wrap="square" lIns="45720" tIns="18288" rIns="45720" bIns="18288">
            <a:spAutoFit/>
          </a:bodyPr>
          <a:lstStyle/>
          <a:p>
            <a:pPr algn="l">
              <a:defRPr/>
            </a:pPr>
            <a:r>
              <a:rPr sz="1400" b="1" i="0">
                <a:solidFill>
                  <a:srgbClr val="31633D"/>
                </a:solidFill>
                <a:latin typeface="Arial"/>
                <a:ea typeface="Microsoft YaHei"/>
                <a:cs typeface="Microsoft YaHei"/>
              </a:rPr>
              <a:t>CTE-D7</a:t>
            </a:r>
            <a:endParaRPr/>
          </a:p>
        </p:txBody>
      </p:sp>
      <p:sp>
        <p:nvSpPr>
          <p:cNvPr id="1749739676" name="TextBox 22"/>
          <p:cNvSpPr txBox="1"/>
          <p:nvPr/>
        </p:nvSpPr>
        <p:spPr bwMode="auto">
          <a:xfrm>
            <a:off x="694944" y="3364991"/>
            <a:ext cx="1783080" cy="384048"/>
          </a:xfrm>
          <a:prstGeom prst="rect">
            <a:avLst/>
          </a:prstGeom>
          <a:noFill/>
        </p:spPr>
        <p:txBody>
          <a:bodyPr wrap="square" lIns="45720" tIns="18288" rIns="45720" bIns="18288">
            <a:spAutoFit/>
          </a:bodyPr>
          <a:lstStyle/>
          <a:p>
            <a:pPr algn="l">
              <a:lnSpc>
                <a:spcPct val="104000"/>
              </a:lnSpc>
              <a:defRPr/>
            </a:pPr>
            <a:r>
              <a:rPr sz="800" b="1" i="0">
                <a:solidFill>
                  <a:srgbClr val="2E9C4C"/>
                </a:solidFill>
                <a:latin typeface="Arial"/>
                <a:ea typeface="Microsoft YaHei"/>
                <a:cs typeface="Microsoft YaHei"/>
              </a:rPr>
              <a:t>两条信息被建议推广使用</a:t>
            </a:r>
            <a:endParaRPr/>
          </a:p>
        </p:txBody>
      </p:sp>
      <p:sp>
        <p:nvSpPr>
          <p:cNvPr id="635549139" name="Rectangle 23"/>
          <p:cNvSpPr/>
          <p:nvPr/>
        </p:nvSpPr>
        <p:spPr bwMode="auto">
          <a:xfrm>
            <a:off x="694944" y="3831335"/>
            <a:ext cx="1645920" cy="36576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18288" rIns="54864" bIns="18288" rtlCol="0" anchor="ctr"/>
          <a:lstStyle/>
          <a:p>
            <a:pPr algn="l">
              <a:spcAft>
                <a:spcPts val="100"/>
              </a:spcAft>
              <a:defRPr/>
            </a:pPr>
            <a:r>
              <a:rPr sz="650" b="1" i="0">
                <a:solidFill>
                  <a:srgbClr val="2E9C4C"/>
                </a:solidFill>
                <a:latin typeface="Arial"/>
                <a:ea typeface="Microsoft YaHei"/>
                <a:cs typeface="Microsoft YaHei"/>
              </a:rPr>
              <a:t>较上周</a:t>
            </a:r>
            <a:endParaRPr/>
          </a:p>
          <a:p>
            <a:pPr algn="l">
              <a:lnSpc>
                <a:spcPct val="104000"/>
              </a:lnSpc>
              <a:defRPr/>
            </a:pPr>
            <a:r>
              <a:rPr sz="700" b="0" i="0">
                <a:solidFill>
                  <a:srgbClr val="5C6B62"/>
                </a:solidFill>
                <a:latin typeface="Arial"/>
                <a:ea typeface="Microsoft YaHei"/>
                <a:cs typeface="Microsoft YaHei"/>
              </a:rPr>
              <a:t>两条话术获推荐</a:t>
            </a:r>
            <a:endParaRPr/>
          </a:p>
        </p:txBody>
      </p:sp>
      <p:sp>
        <p:nvSpPr>
          <p:cNvPr id="709162856" name="Rectangle 24"/>
          <p:cNvSpPr/>
          <p:nvPr/>
        </p:nvSpPr>
        <p:spPr bwMode="auto">
          <a:xfrm>
            <a:off x="2505456" y="3118103"/>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799866887" name="TextBox 25"/>
          <p:cNvSpPr txBox="1"/>
          <p:nvPr/>
        </p:nvSpPr>
        <p:spPr bwMode="auto">
          <a:xfrm>
            <a:off x="2670048" y="3118103"/>
            <a:ext cx="4023360" cy="164592"/>
          </a:xfrm>
          <a:prstGeom prst="rect">
            <a:avLst/>
          </a:prstGeom>
          <a:noFill/>
        </p:spPr>
        <p:txBody>
          <a:bodyPr wrap="square" lIns="45720" tIns="18288" rIns="45720" bIns="18288">
            <a:spAutoFit/>
          </a:bodyPr>
          <a:lstStyle/>
          <a:p>
            <a:pPr algn="l">
              <a:defRPr/>
            </a:pPr>
            <a:r>
              <a:rPr sz="800" b="1" i="0">
                <a:solidFill>
                  <a:srgbClr val="2E9C4C"/>
                </a:solidFill>
                <a:latin typeface="Arial"/>
                <a:ea typeface="Microsoft YaHei"/>
                <a:cs typeface="Microsoft YaHei"/>
              </a:rPr>
              <a:t>做得好的地方</a:t>
            </a:r>
            <a:endParaRPr/>
          </a:p>
        </p:txBody>
      </p:sp>
      <p:sp>
        <p:nvSpPr>
          <p:cNvPr id="1417510886" name="TextBox 26"/>
          <p:cNvSpPr txBox="1"/>
          <p:nvPr/>
        </p:nvSpPr>
        <p:spPr bwMode="auto">
          <a:xfrm>
            <a:off x="2670048" y="3291839"/>
            <a:ext cx="402336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眼镜定制进度告知做得好，建议推广使用 —— 第 5 页。</a:t>
            </a:r>
            <a:endParaRPr/>
          </a:p>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取镜通知同样做得好，建议推广使用 —— 第 5 页。</a:t>
            </a:r>
            <a:endParaRPr/>
          </a:p>
        </p:txBody>
      </p:sp>
      <p:sp>
        <p:nvSpPr>
          <p:cNvPr id="501020363" name="Rectangle 27"/>
          <p:cNvSpPr/>
          <p:nvPr/>
        </p:nvSpPr>
        <p:spPr bwMode="auto">
          <a:xfrm>
            <a:off x="6821424" y="3118103"/>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973098180" name="TextBox 28"/>
          <p:cNvSpPr txBox="1"/>
          <p:nvPr/>
        </p:nvSpPr>
        <p:spPr bwMode="auto">
          <a:xfrm>
            <a:off x="6967728" y="3118103"/>
            <a:ext cx="4663440" cy="164592"/>
          </a:xfrm>
          <a:prstGeom prst="rect">
            <a:avLst/>
          </a:prstGeom>
          <a:noFill/>
        </p:spPr>
        <p:txBody>
          <a:bodyPr wrap="square" lIns="45720" tIns="18288" rIns="45720" bIns="18288">
            <a:spAutoFit/>
          </a:bodyPr>
          <a:lstStyle/>
          <a:p>
            <a:pPr algn="l">
              <a:defRPr/>
            </a:pPr>
            <a:r>
              <a:rPr sz="800" b="1" i="0">
                <a:solidFill>
                  <a:srgbClr val="B9770B"/>
                </a:solidFill>
                <a:latin typeface="Arial"/>
                <a:ea typeface="Microsoft YaHei"/>
                <a:cs typeface="Microsoft YaHei"/>
              </a:rPr>
              <a:t>需要改进的地方</a:t>
            </a:r>
            <a:endParaRPr/>
          </a:p>
        </p:txBody>
      </p:sp>
      <p:sp>
        <p:nvSpPr>
          <p:cNvPr id="131697555" name="TextBox 29"/>
          <p:cNvSpPr txBox="1"/>
          <p:nvPr/>
        </p:nvSpPr>
        <p:spPr bwMode="auto">
          <a:xfrm>
            <a:off x="6967728" y="3291839"/>
            <a:ext cx="466344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会员权益信息要在客户取镜当天发出。</a:t>
            </a:r>
            <a:endParaRPr/>
          </a:p>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CD7 和 CD14–CD30 都要回访孩子的戴镜情况。这能建立家长的信任，也能提高回复率。</a:t>
            </a:r>
            <a:endParaRPr/>
          </a:p>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曾告知客户 Ortho-K 镜片可用 2–2.5 年。请核实这一说法。</a:t>
            </a:r>
            <a:endParaRPr/>
          </a:p>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对愿意交流的客户使用简化版转介绍话术；有会员转介绍时，自己把新客户的信息记下来。</a:t>
            </a:r>
            <a:endParaRPr/>
          </a:p>
        </p:txBody>
      </p:sp>
      <p:sp>
        <p:nvSpPr>
          <p:cNvPr id="685839397" name="Rectangle 30"/>
          <p:cNvSpPr/>
          <p:nvPr/>
        </p:nvSpPr>
        <p:spPr bwMode="auto">
          <a:xfrm>
            <a:off x="502920" y="4462271"/>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426509950" name="Rectangle 31"/>
          <p:cNvSpPr/>
          <p:nvPr/>
        </p:nvSpPr>
        <p:spPr bwMode="auto">
          <a:xfrm>
            <a:off x="502920" y="4462271"/>
            <a:ext cx="54864" cy="1325880"/>
          </a:xfrm>
          <a:prstGeom prst="rect">
            <a:avLst/>
          </a:prstGeom>
          <a:solidFill>
            <a:srgbClr val="B9770B"/>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942265423" name="TextBox 32"/>
          <p:cNvSpPr txBox="1"/>
          <p:nvPr/>
        </p:nvSpPr>
        <p:spPr bwMode="auto">
          <a:xfrm>
            <a:off x="694944" y="4544567"/>
            <a:ext cx="1783080" cy="256032"/>
          </a:xfrm>
          <a:prstGeom prst="rect">
            <a:avLst/>
          </a:prstGeom>
          <a:noFill/>
        </p:spPr>
        <p:txBody>
          <a:bodyPr wrap="square" lIns="45720" tIns="18288" rIns="45720" bIns="18288">
            <a:spAutoFit/>
          </a:bodyPr>
          <a:lstStyle/>
          <a:p>
            <a:pPr algn="l">
              <a:defRPr/>
            </a:pPr>
            <a:r>
              <a:rPr sz="1400" b="1" i="0">
                <a:solidFill>
                  <a:srgbClr val="31633D"/>
                </a:solidFill>
                <a:latin typeface="Arial"/>
                <a:ea typeface="Microsoft YaHei"/>
                <a:cs typeface="Microsoft YaHei"/>
              </a:rPr>
              <a:t>NGT</a:t>
            </a:r>
            <a:endParaRPr/>
          </a:p>
        </p:txBody>
      </p:sp>
      <p:sp>
        <p:nvSpPr>
          <p:cNvPr id="1333236480" name="TextBox 33"/>
          <p:cNvSpPr txBox="1"/>
          <p:nvPr/>
        </p:nvSpPr>
        <p:spPr bwMode="auto">
          <a:xfrm>
            <a:off x="694944" y="4800599"/>
            <a:ext cx="1783080" cy="384048"/>
          </a:xfrm>
          <a:prstGeom prst="rect">
            <a:avLst/>
          </a:prstGeom>
          <a:noFill/>
        </p:spPr>
        <p:txBody>
          <a:bodyPr wrap="square" lIns="45720" tIns="18288" rIns="45720" bIns="18288">
            <a:spAutoFit/>
          </a:bodyPr>
          <a:lstStyle/>
          <a:p>
            <a:pPr algn="l">
              <a:lnSpc>
                <a:spcPct val="104000"/>
              </a:lnSpc>
              <a:defRPr/>
            </a:pPr>
            <a:r>
              <a:rPr sz="800" b="1" i="0">
                <a:solidFill>
                  <a:srgbClr val="B9770B"/>
                </a:solidFill>
                <a:latin typeface="Arial"/>
                <a:ea typeface="Microsoft YaHei"/>
                <a:cs typeface="Microsoft YaHei"/>
              </a:rPr>
              <a:t>定制与取镜环节有改进</a:t>
            </a:r>
            <a:endParaRPr/>
          </a:p>
        </p:txBody>
      </p:sp>
      <p:sp>
        <p:nvSpPr>
          <p:cNvPr id="869730184" name="Rectangle 34"/>
          <p:cNvSpPr/>
          <p:nvPr/>
        </p:nvSpPr>
        <p:spPr bwMode="auto">
          <a:xfrm>
            <a:off x="694944" y="5266943"/>
            <a:ext cx="1645920" cy="36576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18288" rIns="54864" bIns="18288" rtlCol="0" anchor="ctr"/>
          <a:lstStyle/>
          <a:p>
            <a:pPr algn="l">
              <a:spcAft>
                <a:spcPts val="100"/>
              </a:spcAft>
              <a:defRPr/>
            </a:pPr>
            <a:r>
              <a:rPr sz="650" b="1" i="0">
                <a:solidFill>
                  <a:srgbClr val="2E9C4C"/>
                </a:solidFill>
                <a:latin typeface="Arial"/>
                <a:ea typeface="Microsoft YaHei"/>
                <a:cs typeface="Microsoft YaHei"/>
              </a:rPr>
              <a:t>较上周</a:t>
            </a:r>
            <a:endParaRPr/>
          </a:p>
          <a:p>
            <a:pPr algn="l">
              <a:lnSpc>
                <a:spcPct val="104000"/>
              </a:lnSpc>
              <a:defRPr/>
            </a:pPr>
            <a:r>
              <a:rPr sz="700" b="0" i="0">
                <a:solidFill>
                  <a:srgbClr val="5C6B62"/>
                </a:solidFill>
                <a:latin typeface="Arial"/>
                <a:ea typeface="Microsoft YaHei"/>
                <a:cs typeface="Microsoft YaHei"/>
              </a:rPr>
              <a:t>有改进，内容仍偏薄</a:t>
            </a:r>
            <a:endParaRPr/>
          </a:p>
        </p:txBody>
      </p:sp>
      <p:sp>
        <p:nvSpPr>
          <p:cNvPr id="337915766" name="Rectangle 35"/>
          <p:cNvSpPr/>
          <p:nvPr/>
        </p:nvSpPr>
        <p:spPr bwMode="auto">
          <a:xfrm>
            <a:off x="2505456" y="4553711"/>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668567425" name="TextBox 36"/>
          <p:cNvSpPr txBox="1"/>
          <p:nvPr/>
        </p:nvSpPr>
        <p:spPr bwMode="auto">
          <a:xfrm>
            <a:off x="2670048" y="4553711"/>
            <a:ext cx="4023360" cy="164592"/>
          </a:xfrm>
          <a:prstGeom prst="rect">
            <a:avLst/>
          </a:prstGeom>
          <a:noFill/>
        </p:spPr>
        <p:txBody>
          <a:bodyPr wrap="square" lIns="45720" tIns="18288" rIns="45720" bIns="18288">
            <a:spAutoFit/>
          </a:bodyPr>
          <a:lstStyle/>
          <a:p>
            <a:pPr algn="l">
              <a:defRPr/>
            </a:pPr>
            <a:r>
              <a:rPr sz="800" b="1" i="0">
                <a:solidFill>
                  <a:srgbClr val="2E9C4C"/>
                </a:solidFill>
                <a:latin typeface="Arial"/>
                <a:ea typeface="Microsoft YaHei"/>
                <a:cs typeface="Microsoft YaHei"/>
              </a:rPr>
              <a:t>做得好的地方</a:t>
            </a:r>
            <a:endParaRPr/>
          </a:p>
        </p:txBody>
      </p:sp>
      <p:sp>
        <p:nvSpPr>
          <p:cNvPr id="850753702" name="TextBox 37"/>
          <p:cNvSpPr txBox="1"/>
          <p:nvPr/>
        </p:nvSpPr>
        <p:spPr bwMode="auto">
          <a:xfrm>
            <a:off x="2670048" y="4727447"/>
            <a:ext cx="402336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已有关于眼镜定制和取镜的沟通，但信息内容仍需改进。</a:t>
            </a:r>
            <a:endParaRPr/>
          </a:p>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Zalo 对话中出现了针对客户改写信息的情况。这很好。</a:t>
            </a:r>
            <a:endParaRPr/>
          </a:p>
        </p:txBody>
      </p:sp>
      <p:sp>
        <p:nvSpPr>
          <p:cNvPr id="1561494363" name="Rectangle 38"/>
          <p:cNvSpPr/>
          <p:nvPr/>
        </p:nvSpPr>
        <p:spPr bwMode="auto">
          <a:xfrm>
            <a:off x="6821424" y="4553711"/>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385529625" name="TextBox 39"/>
          <p:cNvSpPr txBox="1"/>
          <p:nvPr/>
        </p:nvSpPr>
        <p:spPr bwMode="auto">
          <a:xfrm>
            <a:off x="6967728" y="4553711"/>
            <a:ext cx="4663440" cy="164592"/>
          </a:xfrm>
          <a:prstGeom prst="rect">
            <a:avLst/>
          </a:prstGeom>
          <a:noFill/>
        </p:spPr>
        <p:txBody>
          <a:bodyPr wrap="square" lIns="45720" tIns="18288" rIns="45720" bIns="18288">
            <a:spAutoFit/>
          </a:bodyPr>
          <a:lstStyle/>
          <a:p>
            <a:pPr algn="l">
              <a:defRPr/>
            </a:pPr>
            <a:r>
              <a:rPr sz="800" b="1" i="0">
                <a:solidFill>
                  <a:srgbClr val="B9770B"/>
                </a:solidFill>
                <a:latin typeface="Arial"/>
                <a:ea typeface="Microsoft YaHei"/>
                <a:cs typeface="Microsoft YaHei"/>
              </a:rPr>
              <a:t>需要改进的地方</a:t>
            </a:r>
            <a:endParaRPr/>
          </a:p>
        </p:txBody>
      </p:sp>
      <p:sp>
        <p:nvSpPr>
          <p:cNvPr id="2103840603" name="TextBox 40"/>
          <p:cNvSpPr txBox="1"/>
          <p:nvPr/>
        </p:nvSpPr>
        <p:spPr bwMode="auto">
          <a:xfrm>
            <a:off x="6967728" y="4727447"/>
            <a:ext cx="466344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CD7 与 CD30 跟进没有覆盖全部客户。备注名上写着同一个日期的客户，有的收到了跟进，有的没有。需要一套有系统的做法。</a:t>
            </a:r>
            <a:endParaRPr/>
          </a:p>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继续使用简化版转介绍话术，鼓励会员介绍新客户。</a:t>
            </a:r>
            <a:endParaRPr/>
          </a:p>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很多案例的 Zalo 备注名日期不正确。</a:t>
            </a:r>
            <a:endParaRPr/>
          </a:p>
        </p:txBody>
      </p:sp>
      <p:sp>
        <p:nvSpPr>
          <p:cNvPr id="840977544" name="Rectangle 41"/>
          <p:cNvSpPr/>
          <p:nvPr/>
        </p:nvSpPr>
        <p:spPr bwMode="auto">
          <a:xfrm>
            <a:off x="502920" y="5888736"/>
            <a:ext cx="64008" cy="45720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868107886" name="Rectangle 42"/>
          <p:cNvSpPr/>
          <p:nvPr/>
        </p:nvSpPr>
        <p:spPr bwMode="auto">
          <a:xfrm>
            <a:off x="566928" y="5888736"/>
            <a:ext cx="11119104"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46304" tIns="18288" rIns="109728" bIns="18288" rtlCol="0" anchor="ctr"/>
          <a:lstStyle/>
          <a:p>
            <a:pPr algn="l">
              <a:defRPr/>
            </a:pPr>
            <a:r>
              <a:rPr sz="1150" b="1" i="0">
                <a:solidFill>
                  <a:srgbClr val="31633D"/>
                </a:solidFill>
                <a:latin typeface="Arial"/>
                <a:ea typeface="Microsoft YaHei"/>
                <a:cs typeface="Microsoft YaHei"/>
              </a:rPr>
              <a:t>CTE-D7 是模板。CTE-D5 是还没开始做的那一家。</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83581694" name="Rectangle 1"/>
          <p:cNvSpPr/>
          <p:nvPr/>
        </p:nvSpPr>
        <p:spPr bwMode="auto">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419584188" name="TextBox 2"/>
          <p:cNvSpPr txBox="1"/>
          <p:nvPr/>
        </p:nvSpPr>
        <p:spPr bwMode="auto">
          <a:xfrm>
            <a:off x="502920" y="228600"/>
            <a:ext cx="9692640" cy="228600"/>
          </a:xfrm>
          <a:prstGeom prst="rect">
            <a:avLst/>
          </a:prstGeom>
          <a:noFill/>
        </p:spPr>
        <p:txBody>
          <a:bodyPr wrap="square" lIns="45720" tIns="18288" rIns="45720" bIns="18288">
            <a:spAutoFit/>
          </a:bodyPr>
          <a:lstStyle/>
          <a:p>
            <a:pPr algn="l">
              <a:defRPr/>
            </a:pPr>
            <a:r>
              <a:rPr sz="950" b="1" i="0">
                <a:solidFill>
                  <a:srgbClr val="2E9C4C"/>
                </a:solidFill>
                <a:latin typeface="Arial"/>
                <a:ea typeface="Microsoft YaHei"/>
                <a:cs typeface="Microsoft YaHei"/>
              </a:rPr>
              <a:t>五、CZ Zalo 复盘   |   各门店  ·  2 / 2</a:t>
            </a:r>
            <a:endParaRPr/>
          </a:p>
        </p:txBody>
      </p:sp>
      <p:sp>
        <p:nvSpPr>
          <p:cNvPr id="1545932606" name="TextBox 3"/>
          <p:cNvSpPr txBox="1"/>
          <p:nvPr/>
        </p:nvSpPr>
        <p:spPr bwMode="auto">
          <a:xfrm>
            <a:off x="502920" y="493776"/>
            <a:ext cx="11247120" cy="640080"/>
          </a:xfrm>
          <a:prstGeom prst="rect">
            <a:avLst/>
          </a:prstGeom>
          <a:noFill/>
        </p:spPr>
        <p:txBody>
          <a:bodyPr wrap="square" lIns="45720" tIns="18288" rIns="45720" bIns="18288">
            <a:spAutoFit/>
          </a:bodyPr>
          <a:lstStyle/>
          <a:p>
            <a:pPr algn="l">
              <a:defRPr/>
            </a:pPr>
            <a:r>
              <a:rPr sz="2200" b="1" i="0">
                <a:solidFill>
                  <a:srgbClr val="31633D"/>
                </a:solidFill>
                <a:latin typeface="Arial"/>
                <a:ea typeface="Microsoft YaHei"/>
                <a:cs typeface="Microsoft YaHei"/>
              </a:rPr>
              <a:t>LA 与 SH (Song Han)</a:t>
            </a:r>
            <a:endParaRPr/>
          </a:p>
        </p:txBody>
      </p:sp>
      <p:sp>
        <p:nvSpPr>
          <p:cNvPr id="608988383" name="Rectangle 4"/>
          <p:cNvSpPr/>
          <p:nvPr/>
        </p:nvSpPr>
        <p:spPr bwMode="auto">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811932885" name="TextBox 5"/>
          <p:cNvSpPr txBox="1"/>
          <p:nvPr/>
        </p:nvSpPr>
        <p:spPr bwMode="auto">
          <a:xfrm>
            <a:off x="502920" y="6455664"/>
            <a:ext cx="5486400" cy="237744"/>
          </a:xfrm>
          <a:prstGeom prst="rect">
            <a:avLst/>
          </a:prstGeom>
          <a:noFill/>
        </p:spPr>
        <p:txBody>
          <a:bodyPr wrap="square" lIns="45720" tIns="18288" rIns="45720" bIns="18288">
            <a:spAutoFit/>
          </a:bodyPr>
          <a:lstStyle/>
          <a:p>
            <a:pPr algn="l">
              <a:defRPr/>
            </a:pPr>
            <a:r>
              <a:rPr sz="800" b="0" i="0">
                <a:solidFill>
                  <a:srgbClr val="5C6B62"/>
                </a:solidFill>
                <a:latin typeface="Arial"/>
                <a:ea typeface="Microsoft YaHei"/>
                <a:cs typeface="Microsoft YaHei"/>
              </a:rPr>
              <a:t>Mắt Sài Gòn  |  视光 DA 培训</a:t>
            </a:r>
            <a:endParaRPr/>
          </a:p>
        </p:txBody>
      </p:sp>
      <p:sp>
        <p:nvSpPr>
          <p:cNvPr id="327420608" name="TextBox 6"/>
          <p:cNvSpPr txBox="1"/>
          <p:nvPr/>
        </p:nvSpPr>
        <p:spPr bwMode="auto">
          <a:xfrm>
            <a:off x="10972800" y="6455664"/>
            <a:ext cx="713232" cy="237744"/>
          </a:xfrm>
          <a:prstGeom prst="rect">
            <a:avLst/>
          </a:prstGeom>
          <a:noFill/>
        </p:spPr>
        <p:txBody>
          <a:bodyPr wrap="square" lIns="45720" tIns="18288" rIns="45720" bIns="18288">
            <a:spAutoFit/>
          </a:bodyPr>
          <a:lstStyle/>
          <a:p>
            <a:pPr algn="r">
              <a:defRPr/>
            </a:pPr>
            <a:r>
              <a:rPr sz="800" b="1" i="0">
                <a:solidFill>
                  <a:srgbClr val="5C6B62"/>
                </a:solidFill>
                <a:latin typeface="Arial"/>
                <a:ea typeface="Microsoft YaHei"/>
                <a:cs typeface="Microsoft YaHei"/>
              </a:rPr>
              <a:t>8</a:t>
            </a:r>
            <a:endParaRPr/>
          </a:p>
        </p:txBody>
      </p:sp>
      <p:sp>
        <p:nvSpPr>
          <p:cNvPr id="368439190" name="TextBox 7"/>
          <p:cNvSpPr txBox="1"/>
          <p:nvPr/>
        </p:nvSpPr>
        <p:spPr bwMode="auto">
          <a:xfrm>
            <a:off x="502920" y="1261872"/>
            <a:ext cx="11183112" cy="219456"/>
          </a:xfrm>
          <a:prstGeom prst="rect">
            <a:avLst/>
          </a:prstGeom>
          <a:noFill/>
        </p:spPr>
        <p:txBody>
          <a:bodyPr wrap="square" lIns="45720" tIns="18288" rIns="45720" bIns="18288">
            <a:spAutoFit/>
          </a:bodyPr>
          <a:lstStyle/>
          <a:p>
            <a:pPr algn="l">
              <a:lnSpc>
                <a:spcPct val="95000"/>
              </a:lnSpc>
              <a:defRPr/>
            </a:pPr>
            <a:r>
              <a:rPr sz="1000" b="0" i="1">
                <a:solidFill>
                  <a:srgbClr val="5C6B62"/>
                </a:solidFill>
                <a:latin typeface="Arial"/>
                <a:ea typeface="Microsoft YaHei"/>
                <a:cs typeface="Microsoft YaHei"/>
              </a:rPr>
              <a:t>SH 是本周进步最大的门店，而这直接来自上周的培训。LA 一直能把客户请回来，但在该提出转介绍的地方却在推销套餐。</a:t>
            </a:r>
            <a:endParaRPr/>
          </a:p>
        </p:txBody>
      </p:sp>
      <p:sp>
        <p:nvSpPr>
          <p:cNvPr id="7841666" name="Rectangle 8"/>
          <p:cNvSpPr/>
          <p:nvPr/>
        </p:nvSpPr>
        <p:spPr bwMode="auto">
          <a:xfrm>
            <a:off x="502920" y="1591056"/>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302328447" name="Rectangle 9"/>
          <p:cNvSpPr/>
          <p:nvPr/>
        </p:nvSpPr>
        <p:spPr bwMode="auto">
          <a:xfrm>
            <a:off x="502920" y="1591056"/>
            <a:ext cx="54864" cy="132588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612233961" name="TextBox 10"/>
          <p:cNvSpPr txBox="1"/>
          <p:nvPr/>
        </p:nvSpPr>
        <p:spPr bwMode="auto">
          <a:xfrm>
            <a:off x="694944" y="1673352"/>
            <a:ext cx="1783080" cy="256032"/>
          </a:xfrm>
          <a:prstGeom prst="rect">
            <a:avLst/>
          </a:prstGeom>
          <a:noFill/>
        </p:spPr>
        <p:txBody>
          <a:bodyPr wrap="square" lIns="45720" tIns="18288" rIns="45720" bIns="18288">
            <a:spAutoFit/>
          </a:bodyPr>
          <a:lstStyle/>
          <a:p>
            <a:pPr algn="l">
              <a:defRPr/>
            </a:pPr>
            <a:r>
              <a:rPr sz="1400" b="1" i="0">
                <a:solidFill>
                  <a:srgbClr val="31633D"/>
                </a:solidFill>
                <a:latin typeface="Arial"/>
                <a:ea typeface="Microsoft YaHei"/>
                <a:cs typeface="Microsoft YaHei"/>
              </a:rPr>
              <a:t>LA</a:t>
            </a:r>
            <a:endParaRPr/>
          </a:p>
        </p:txBody>
      </p:sp>
      <p:sp>
        <p:nvSpPr>
          <p:cNvPr id="1901547127" name="TextBox 11"/>
          <p:cNvSpPr txBox="1"/>
          <p:nvPr/>
        </p:nvSpPr>
        <p:spPr bwMode="auto">
          <a:xfrm>
            <a:off x="694944" y="1929384"/>
            <a:ext cx="1783080" cy="384048"/>
          </a:xfrm>
          <a:prstGeom prst="rect">
            <a:avLst/>
          </a:prstGeom>
          <a:noFill/>
        </p:spPr>
        <p:txBody>
          <a:bodyPr wrap="square" lIns="45720" tIns="18288" rIns="45720" bIns="18288">
            <a:spAutoFit/>
          </a:bodyPr>
          <a:lstStyle/>
          <a:p>
            <a:pPr algn="l">
              <a:lnSpc>
                <a:spcPct val="104000"/>
              </a:lnSpc>
              <a:defRPr/>
            </a:pPr>
            <a:r>
              <a:rPr sz="800" b="1" i="0">
                <a:solidFill>
                  <a:srgbClr val="2E9C4C"/>
                </a:solidFill>
                <a:latin typeface="Arial"/>
                <a:ea typeface="Microsoft YaHei"/>
                <a:cs typeface="Microsoft YaHei"/>
              </a:rPr>
              <a:t>召回客户做得好，转介绍开口偏少</a:t>
            </a:r>
            <a:endParaRPr/>
          </a:p>
        </p:txBody>
      </p:sp>
      <p:sp>
        <p:nvSpPr>
          <p:cNvPr id="858237817" name="Rectangle 12"/>
          <p:cNvSpPr/>
          <p:nvPr/>
        </p:nvSpPr>
        <p:spPr bwMode="auto">
          <a:xfrm>
            <a:off x="694944" y="2395728"/>
            <a:ext cx="1645920" cy="36576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18288" rIns="54864" bIns="18288" rtlCol="0" anchor="ctr"/>
          <a:lstStyle/>
          <a:p>
            <a:pPr algn="l">
              <a:spcAft>
                <a:spcPts val="100"/>
              </a:spcAft>
              <a:defRPr/>
            </a:pPr>
            <a:r>
              <a:rPr sz="650" b="1" i="0">
                <a:solidFill>
                  <a:srgbClr val="2E9C4C"/>
                </a:solidFill>
                <a:latin typeface="Arial"/>
                <a:ea typeface="Microsoft YaHei"/>
                <a:cs typeface="Microsoft YaHei"/>
              </a:rPr>
              <a:t>较上周</a:t>
            </a:r>
            <a:endParaRPr/>
          </a:p>
          <a:p>
            <a:pPr algn="l">
              <a:lnSpc>
                <a:spcPct val="104000"/>
              </a:lnSpc>
              <a:defRPr/>
            </a:pPr>
            <a:r>
              <a:rPr sz="700" b="0" i="0">
                <a:solidFill>
                  <a:srgbClr val="5C6B62"/>
                </a:solidFill>
                <a:latin typeface="Arial"/>
                <a:ea typeface="Microsoft YaHei"/>
                <a:cs typeface="Microsoft YaHei"/>
              </a:rPr>
              <a:t>与上周同样的日期偏差</a:t>
            </a:r>
            <a:endParaRPr/>
          </a:p>
        </p:txBody>
      </p:sp>
      <p:sp>
        <p:nvSpPr>
          <p:cNvPr id="2077558476" name="Rectangle 13"/>
          <p:cNvSpPr/>
          <p:nvPr/>
        </p:nvSpPr>
        <p:spPr bwMode="auto">
          <a:xfrm>
            <a:off x="2505456"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713134156" name="TextBox 14"/>
          <p:cNvSpPr txBox="1"/>
          <p:nvPr/>
        </p:nvSpPr>
        <p:spPr bwMode="auto">
          <a:xfrm>
            <a:off x="2670048" y="1682496"/>
            <a:ext cx="4023360" cy="164592"/>
          </a:xfrm>
          <a:prstGeom prst="rect">
            <a:avLst/>
          </a:prstGeom>
          <a:noFill/>
        </p:spPr>
        <p:txBody>
          <a:bodyPr wrap="square" lIns="45720" tIns="18288" rIns="45720" bIns="18288">
            <a:spAutoFit/>
          </a:bodyPr>
          <a:lstStyle/>
          <a:p>
            <a:pPr algn="l">
              <a:defRPr/>
            </a:pPr>
            <a:r>
              <a:rPr sz="800" b="1" i="0">
                <a:solidFill>
                  <a:srgbClr val="2E9C4C"/>
                </a:solidFill>
                <a:latin typeface="Arial"/>
                <a:ea typeface="Microsoft YaHei"/>
                <a:cs typeface="Microsoft YaHei"/>
              </a:rPr>
              <a:t>做得好的地方</a:t>
            </a:r>
            <a:endParaRPr/>
          </a:p>
        </p:txBody>
      </p:sp>
      <p:sp>
        <p:nvSpPr>
          <p:cNvPr id="1551179618" name="TextBox 15"/>
          <p:cNvSpPr txBox="1"/>
          <p:nvPr/>
        </p:nvSpPr>
        <p:spPr bwMode="auto">
          <a:xfrm>
            <a:off x="2670048" y="1856231"/>
            <a:ext cx="402336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较早期的客户正被邀约回店复查。这很好。</a:t>
            </a:r>
            <a:endParaRPr/>
          </a:p>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MC 眼镜客户收到了每月免费复查的提醒，并被鼓励回到门店。</a:t>
            </a:r>
            <a:endParaRPr/>
          </a:p>
        </p:txBody>
      </p:sp>
      <p:sp>
        <p:nvSpPr>
          <p:cNvPr id="1465428636" name="Rectangle 16"/>
          <p:cNvSpPr/>
          <p:nvPr/>
        </p:nvSpPr>
        <p:spPr bwMode="auto">
          <a:xfrm>
            <a:off x="6821424"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981246916" name="TextBox 17"/>
          <p:cNvSpPr txBox="1"/>
          <p:nvPr/>
        </p:nvSpPr>
        <p:spPr bwMode="auto">
          <a:xfrm>
            <a:off x="6967728" y="1682496"/>
            <a:ext cx="4663440" cy="164592"/>
          </a:xfrm>
          <a:prstGeom prst="rect">
            <a:avLst/>
          </a:prstGeom>
          <a:noFill/>
        </p:spPr>
        <p:txBody>
          <a:bodyPr wrap="square" lIns="45720" tIns="18288" rIns="45720" bIns="18288">
            <a:spAutoFit/>
          </a:bodyPr>
          <a:lstStyle/>
          <a:p>
            <a:pPr algn="l">
              <a:defRPr/>
            </a:pPr>
            <a:r>
              <a:rPr sz="800" b="1" i="0">
                <a:solidFill>
                  <a:srgbClr val="B9770B"/>
                </a:solidFill>
                <a:latin typeface="Arial"/>
                <a:ea typeface="Microsoft YaHei"/>
                <a:cs typeface="Microsoft YaHei"/>
              </a:rPr>
              <a:t>需要改进的地方</a:t>
            </a:r>
            <a:endParaRPr/>
          </a:p>
        </p:txBody>
      </p:sp>
      <p:sp>
        <p:nvSpPr>
          <p:cNvPr id="147559689" name="TextBox 18"/>
          <p:cNvSpPr txBox="1"/>
          <p:nvPr/>
        </p:nvSpPr>
        <p:spPr bwMode="auto">
          <a:xfrm>
            <a:off x="6967728" y="1856231"/>
            <a:ext cx="466344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老客户的 Zalo 备注名里缺少首次配镜日期，应当补上。</a:t>
            </a:r>
            <a:endParaRPr/>
          </a:p>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减少推销复查套餐的信息，增加简化版会员转介绍话术的使用。</a:t>
            </a:r>
            <a:endParaRPr/>
          </a:p>
        </p:txBody>
      </p:sp>
      <p:sp>
        <p:nvSpPr>
          <p:cNvPr id="1929605070" name="Rectangle 19"/>
          <p:cNvSpPr/>
          <p:nvPr/>
        </p:nvSpPr>
        <p:spPr bwMode="auto">
          <a:xfrm>
            <a:off x="502920" y="3026664"/>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95600748" name="Rectangle 20"/>
          <p:cNvSpPr/>
          <p:nvPr/>
        </p:nvSpPr>
        <p:spPr bwMode="auto">
          <a:xfrm>
            <a:off x="502920" y="3026664"/>
            <a:ext cx="54864" cy="132588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903723763" name="TextBox 21"/>
          <p:cNvSpPr txBox="1"/>
          <p:nvPr/>
        </p:nvSpPr>
        <p:spPr bwMode="auto">
          <a:xfrm>
            <a:off x="694944" y="3108960"/>
            <a:ext cx="1783080" cy="256032"/>
          </a:xfrm>
          <a:prstGeom prst="rect">
            <a:avLst/>
          </a:prstGeom>
          <a:noFill/>
        </p:spPr>
        <p:txBody>
          <a:bodyPr wrap="square" lIns="45720" tIns="18288" rIns="45720" bIns="18288">
            <a:spAutoFit/>
          </a:bodyPr>
          <a:lstStyle/>
          <a:p>
            <a:pPr algn="l">
              <a:defRPr/>
            </a:pPr>
            <a:r>
              <a:rPr sz="1400" b="1" i="0">
                <a:solidFill>
                  <a:srgbClr val="31633D"/>
                </a:solidFill>
                <a:latin typeface="Arial"/>
                <a:ea typeface="Microsoft YaHei"/>
                <a:cs typeface="Microsoft YaHei"/>
              </a:rPr>
              <a:t>SH</a:t>
            </a:r>
            <a:endParaRPr/>
          </a:p>
        </p:txBody>
      </p:sp>
      <p:sp>
        <p:nvSpPr>
          <p:cNvPr id="822711482" name="TextBox 22"/>
          <p:cNvSpPr txBox="1"/>
          <p:nvPr/>
        </p:nvSpPr>
        <p:spPr bwMode="auto">
          <a:xfrm>
            <a:off x="694944" y="3364992"/>
            <a:ext cx="1783080" cy="384048"/>
          </a:xfrm>
          <a:prstGeom prst="rect">
            <a:avLst/>
          </a:prstGeom>
          <a:noFill/>
        </p:spPr>
        <p:txBody>
          <a:bodyPr wrap="square" lIns="45720" tIns="18288" rIns="45720" bIns="18288">
            <a:spAutoFit/>
          </a:bodyPr>
          <a:lstStyle/>
          <a:p>
            <a:pPr algn="l">
              <a:lnSpc>
                <a:spcPct val="104000"/>
              </a:lnSpc>
              <a:defRPr/>
            </a:pPr>
            <a:r>
              <a:rPr sz="800" b="1" i="0">
                <a:solidFill>
                  <a:srgbClr val="2E9C4C"/>
                </a:solidFill>
                <a:latin typeface="Arial"/>
                <a:ea typeface="Microsoft YaHei"/>
                <a:cs typeface="Microsoft YaHei"/>
              </a:rPr>
              <a:t>五家门店中进步最大的一家</a:t>
            </a:r>
            <a:endParaRPr/>
          </a:p>
        </p:txBody>
      </p:sp>
      <p:sp>
        <p:nvSpPr>
          <p:cNvPr id="1087664204" name="Rectangle 23"/>
          <p:cNvSpPr/>
          <p:nvPr/>
        </p:nvSpPr>
        <p:spPr bwMode="auto">
          <a:xfrm>
            <a:off x="694944" y="3831336"/>
            <a:ext cx="1645920" cy="36576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18288" rIns="54864" bIns="18288" rtlCol="0" anchor="ctr"/>
          <a:lstStyle/>
          <a:p>
            <a:pPr algn="l">
              <a:spcAft>
                <a:spcPts val="100"/>
              </a:spcAft>
              <a:defRPr/>
            </a:pPr>
            <a:r>
              <a:rPr sz="650" b="1" i="0">
                <a:solidFill>
                  <a:srgbClr val="2E9C4C"/>
                </a:solidFill>
                <a:latin typeface="Arial"/>
                <a:ea typeface="Microsoft YaHei"/>
                <a:cs typeface="Microsoft YaHei"/>
              </a:rPr>
              <a:t>较上周</a:t>
            </a:r>
            <a:endParaRPr/>
          </a:p>
          <a:p>
            <a:pPr algn="l">
              <a:lnSpc>
                <a:spcPct val="104000"/>
              </a:lnSpc>
              <a:defRPr/>
            </a:pPr>
            <a:r>
              <a:rPr sz="700" b="0" i="0">
                <a:solidFill>
                  <a:srgbClr val="5C6B62"/>
                </a:solidFill>
                <a:latin typeface="Arial"/>
                <a:ea typeface="Microsoft YaHei"/>
                <a:cs typeface="Microsoft YaHei"/>
              </a:rPr>
              <a:t>落实了上周的要求</a:t>
            </a:r>
            <a:endParaRPr/>
          </a:p>
        </p:txBody>
      </p:sp>
      <p:sp>
        <p:nvSpPr>
          <p:cNvPr id="131560523" name="Rectangle 24"/>
          <p:cNvSpPr/>
          <p:nvPr/>
        </p:nvSpPr>
        <p:spPr bwMode="auto">
          <a:xfrm>
            <a:off x="2505456" y="3118104"/>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459988542" name="TextBox 25"/>
          <p:cNvSpPr txBox="1"/>
          <p:nvPr/>
        </p:nvSpPr>
        <p:spPr bwMode="auto">
          <a:xfrm>
            <a:off x="2670048" y="3118104"/>
            <a:ext cx="4023360" cy="164592"/>
          </a:xfrm>
          <a:prstGeom prst="rect">
            <a:avLst/>
          </a:prstGeom>
          <a:noFill/>
        </p:spPr>
        <p:txBody>
          <a:bodyPr wrap="square" lIns="45720" tIns="18288" rIns="45720" bIns="18288">
            <a:spAutoFit/>
          </a:bodyPr>
          <a:lstStyle/>
          <a:p>
            <a:pPr algn="l">
              <a:defRPr/>
            </a:pPr>
            <a:r>
              <a:rPr sz="800" b="1" i="0">
                <a:solidFill>
                  <a:srgbClr val="2E9C4C"/>
                </a:solidFill>
                <a:latin typeface="Arial"/>
                <a:ea typeface="Microsoft YaHei"/>
                <a:cs typeface="Microsoft YaHei"/>
              </a:rPr>
              <a:t>做得好的地方</a:t>
            </a:r>
            <a:endParaRPr/>
          </a:p>
        </p:txBody>
      </p:sp>
      <p:sp>
        <p:nvSpPr>
          <p:cNvPr id="922228964" name="TextBox 26"/>
          <p:cNvSpPr txBox="1"/>
          <p:nvPr/>
        </p:nvSpPr>
        <p:spPr bwMode="auto">
          <a:xfrm>
            <a:off x="2670048" y="3291840"/>
            <a:ext cx="402336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Zalo 上的客户姓名现在带有备注 —— 培训后的一大改进。请对每一位配镜客户都套用规定的备注名格式。</a:t>
            </a:r>
            <a:endParaRPr/>
          </a:p>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部分客户已收到眼镜定制和取镜信息，这同样是积极的改进。</a:t>
            </a:r>
            <a:endParaRPr/>
          </a:p>
        </p:txBody>
      </p:sp>
      <p:sp>
        <p:nvSpPr>
          <p:cNvPr id="701455877" name="Rectangle 27"/>
          <p:cNvSpPr/>
          <p:nvPr/>
        </p:nvSpPr>
        <p:spPr bwMode="auto">
          <a:xfrm>
            <a:off x="6821424" y="3118104"/>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103077086" name="TextBox 28"/>
          <p:cNvSpPr txBox="1"/>
          <p:nvPr/>
        </p:nvSpPr>
        <p:spPr bwMode="auto">
          <a:xfrm>
            <a:off x="6967728" y="3118104"/>
            <a:ext cx="4663440" cy="164592"/>
          </a:xfrm>
          <a:prstGeom prst="rect">
            <a:avLst/>
          </a:prstGeom>
          <a:noFill/>
        </p:spPr>
        <p:txBody>
          <a:bodyPr wrap="square" lIns="45720" tIns="18288" rIns="45720" bIns="18288">
            <a:spAutoFit/>
          </a:bodyPr>
          <a:lstStyle/>
          <a:p>
            <a:pPr algn="l">
              <a:defRPr/>
            </a:pPr>
            <a:r>
              <a:rPr sz="800" b="1" i="0">
                <a:solidFill>
                  <a:srgbClr val="B9770B"/>
                </a:solidFill>
                <a:latin typeface="Arial"/>
                <a:ea typeface="Microsoft YaHei"/>
                <a:cs typeface="Microsoft YaHei"/>
              </a:rPr>
              <a:t>需要改进的地方</a:t>
            </a:r>
            <a:endParaRPr/>
          </a:p>
        </p:txBody>
      </p:sp>
      <p:sp>
        <p:nvSpPr>
          <p:cNvPr id="1129371238" name="TextBox 29"/>
          <p:cNvSpPr txBox="1"/>
          <p:nvPr/>
        </p:nvSpPr>
        <p:spPr bwMode="auto">
          <a:xfrm>
            <a:off x="6967728" y="3291840"/>
            <a:ext cx="4663440" cy="960119"/>
          </a:xfrm>
          <a:prstGeom prst="rect">
            <a:avLst/>
          </a:prstGeom>
          <a:noFill/>
        </p:spPr>
        <p:txBody>
          <a:bodyPr wrap="square" lIns="45720" tIns="18288" rIns="45720" bIns="18288">
            <a:spAutoFit/>
          </a:bodyPr>
          <a:lstStyle/>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确保所有客户都收到定制进度告知和取镜通知。</a:t>
            </a:r>
            <a:endParaRPr/>
          </a:p>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取镜当天发出会员权益，随后按时发出 CD7 信息，回访客户的戴镜情况。</a:t>
            </a:r>
            <a:endParaRPr/>
          </a:p>
          <a:p>
            <a:pPr algn="l">
              <a:lnSpc>
                <a:spcPct val="106000"/>
              </a:lnSpc>
              <a:spcAft>
                <a:spcPts val="350"/>
              </a:spcAft>
              <a:defRPr/>
            </a:pPr>
            <a:r>
              <a:rPr sz="850" b="0" i="0">
                <a:solidFill>
                  <a:srgbClr val="5C6B62"/>
                </a:solidFill>
                <a:latin typeface="Arial"/>
                <a:ea typeface="Microsoft YaHei"/>
                <a:cs typeface="Microsoft YaHei"/>
              </a:rPr>
              <a:t>▪  </a:t>
            </a:r>
            <a:r>
              <a:rPr sz="850" b="0" i="0">
                <a:solidFill>
                  <a:srgbClr val="5C6B62"/>
                </a:solidFill>
                <a:latin typeface="Arial"/>
                <a:ea typeface="Microsoft YaHei"/>
                <a:cs typeface="Microsoft YaHei"/>
              </a:rPr>
              <a:t>相关信息尚未录入 CRM 表单。请补充录入，便于追踪。</a:t>
            </a:r>
            <a:endParaRPr/>
          </a:p>
        </p:txBody>
      </p:sp>
      <p:sp>
        <p:nvSpPr>
          <p:cNvPr id="1754126915" name="Rectangle 30"/>
          <p:cNvSpPr/>
          <p:nvPr/>
        </p:nvSpPr>
        <p:spPr bwMode="auto">
          <a:xfrm>
            <a:off x="502920" y="4517136"/>
            <a:ext cx="11183112" cy="292608"/>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18288" rIns="109728" bIns="18288" rtlCol="0" anchor="ctr"/>
          <a:lstStyle/>
          <a:p>
            <a:pPr algn="l">
              <a:defRPr/>
            </a:pPr>
            <a:r>
              <a:rPr sz="950" b="1" i="0">
                <a:solidFill>
                  <a:srgbClr val="FFFFFF"/>
                </a:solidFill>
                <a:latin typeface="Arial"/>
                <a:ea typeface="Microsoft YaHei"/>
                <a:cs typeface="Microsoft YaHei"/>
              </a:rPr>
              <a:t>本周 SH 证明了什么</a:t>
            </a:r>
            <a:endParaRPr/>
          </a:p>
        </p:txBody>
      </p:sp>
      <p:sp>
        <p:nvSpPr>
          <p:cNvPr id="757025832" name="Rectangle 31"/>
          <p:cNvSpPr/>
          <p:nvPr/>
        </p:nvSpPr>
        <p:spPr bwMode="auto">
          <a:xfrm>
            <a:off x="502920" y="4846320"/>
            <a:ext cx="5486400" cy="8778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503573284" name="TextBox 32"/>
          <p:cNvSpPr txBox="1"/>
          <p:nvPr/>
        </p:nvSpPr>
        <p:spPr bwMode="auto">
          <a:xfrm>
            <a:off x="649224" y="4919471"/>
            <a:ext cx="5212080" cy="182880"/>
          </a:xfrm>
          <a:prstGeom prst="rect">
            <a:avLst/>
          </a:prstGeom>
          <a:noFill/>
        </p:spPr>
        <p:txBody>
          <a:bodyPr wrap="square" lIns="45720" tIns="18288" rIns="45720" bIns="18288">
            <a:spAutoFit/>
          </a:bodyPr>
          <a:lstStyle/>
          <a:p>
            <a:pPr algn="l">
              <a:defRPr/>
            </a:pPr>
            <a:r>
              <a:rPr sz="900" b="1" i="0">
                <a:solidFill>
                  <a:srgbClr val="31633D"/>
                </a:solidFill>
                <a:latin typeface="Arial"/>
                <a:ea typeface="Microsoft YaHei"/>
                <a:cs typeface="Microsoft YaHei"/>
              </a:rPr>
              <a:t>备注名格式就是唯一的卡点</a:t>
            </a:r>
            <a:endParaRPr/>
          </a:p>
        </p:txBody>
      </p:sp>
      <p:sp>
        <p:nvSpPr>
          <p:cNvPr id="1634294779" name="TextBox 33"/>
          <p:cNvSpPr txBox="1"/>
          <p:nvPr/>
        </p:nvSpPr>
        <p:spPr bwMode="auto">
          <a:xfrm>
            <a:off x="649224" y="5102352"/>
            <a:ext cx="5212080" cy="566928"/>
          </a:xfrm>
          <a:prstGeom prst="rect">
            <a:avLst/>
          </a:prstGeom>
          <a:noFill/>
        </p:spPr>
        <p:txBody>
          <a:bodyPr wrap="square" lIns="45720" tIns="18288" rIns="45720" bIns="18288">
            <a:spAutoFit/>
          </a:bodyPr>
          <a:lstStyle/>
          <a:p>
            <a:pPr algn="l">
              <a:lnSpc>
                <a:spcPct val="108000"/>
              </a:lnSpc>
              <a:defRPr/>
            </a:pPr>
            <a:r>
              <a:rPr sz="800" b="0" i="0">
                <a:solidFill>
                  <a:srgbClr val="5C6B62"/>
                </a:solidFill>
                <a:latin typeface="Arial"/>
                <a:ea typeface="Microsoft YaHei"/>
                <a:cs typeface="Microsoft YaHei"/>
              </a:rPr>
              <a:t>上周 SH 只有一条预约信息，联系人姓名没有产品代码、没有日期、也没有孩子姓名 —— 什么都无法安排、也无法统计。现在姓名已带备注，定制和取镜信息也开始出现了。</a:t>
            </a:r>
            <a:endParaRPr/>
          </a:p>
        </p:txBody>
      </p:sp>
      <p:sp>
        <p:nvSpPr>
          <p:cNvPr id="1006203616" name="Rectangle 34"/>
          <p:cNvSpPr/>
          <p:nvPr/>
        </p:nvSpPr>
        <p:spPr bwMode="auto">
          <a:xfrm>
            <a:off x="6199632" y="4846320"/>
            <a:ext cx="5486400" cy="877824"/>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936907128" name="TextBox 35"/>
          <p:cNvSpPr txBox="1"/>
          <p:nvPr/>
        </p:nvSpPr>
        <p:spPr bwMode="auto">
          <a:xfrm>
            <a:off x="6345936" y="4919471"/>
            <a:ext cx="5212080" cy="182880"/>
          </a:xfrm>
          <a:prstGeom prst="rect">
            <a:avLst/>
          </a:prstGeom>
          <a:noFill/>
        </p:spPr>
        <p:txBody>
          <a:bodyPr wrap="square" lIns="45720" tIns="18288" rIns="45720" bIns="18288">
            <a:spAutoFit/>
          </a:bodyPr>
          <a:lstStyle/>
          <a:p>
            <a:pPr algn="l">
              <a:defRPr/>
            </a:pPr>
            <a:r>
              <a:rPr sz="900" b="1" i="0">
                <a:solidFill>
                  <a:srgbClr val="31633D"/>
                </a:solidFill>
                <a:latin typeface="Arial"/>
                <a:ea typeface="Microsoft YaHei"/>
                <a:cs typeface="Microsoft YaHei"/>
              </a:rPr>
              <a:t>SH 还缺什么</a:t>
            </a:r>
            <a:endParaRPr/>
          </a:p>
        </p:txBody>
      </p:sp>
      <p:sp>
        <p:nvSpPr>
          <p:cNvPr id="1919818657" name="TextBox 36"/>
          <p:cNvSpPr txBox="1"/>
          <p:nvPr/>
        </p:nvSpPr>
        <p:spPr bwMode="auto">
          <a:xfrm>
            <a:off x="6345936" y="5102352"/>
            <a:ext cx="5212080" cy="566928"/>
          </a:xfrm>
          <a:prstGeom prst="rect">
            <a:avLst/>
          </a:prstGeom>
          <a:noFill/>
        </p:spPr>
        <p:txBody>
          <a:bodyPr wrap="square" lIns="45720" tIns="18288" rIns="45720" bIns="18288">
            <a:spAutoFit/>
          </a:bodyPr>
          <a:lstStyle/>
          <a:p>
            <a:pPr algn="l">
              <a:lnSpc>
                <a:spcPct val="108000"/>
              </a:lnSpc>
              <a:defRPr/>
            </a:pPr>
            <a:r>
              <a:rPr sz="800" b="0" i="0">
                <a:solidFill>
                  <a:srgbClr val="5C6B62"/>
                </a:solidFill>
                <a:latin typeface="Arial"/>
                <a:ea typeface="Microsoft YaHei"/>
                <a:cs typeface="Microsoft YaHei"/>
              </a:rPr>
              <a:t>覆盖面。只有部分客户收到定制和取镜信息，并非全部。权益仍需在取镜当天发出，并在之后补上 CD7。另外信息也还没录入 CRM 表单。</a:t>
            </a:r>
            <a:endParaRPr/>
          </a:p>
        </p:txBody>
      </p:sp>
      <p:sp>
        <p:nvSpPr>
          <p:cNvPr id="1875341526" name="Rectangle 37"/>
          <p:cNvSpPr/>
          <p:nvPr/>
        </p:nvSpPr>
        <p:spPr bwMode="auto">
          <a:xfrm>
            <a:off x="502920" y="5888736"/>
            <a:ext cx="64008" cy="45720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768986827" name="Rectangle 38"/>
          <p:cNvSpPr/>
          <p:nvPr/>
        </p:nvSpPr>
        <p:spPr bwMode="auto">
          <a:xfrm>
            <a:off x="566928" y="5888736"/>
            <a:ext cx="11119104"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46304" tIns="18288" rIns="109728" bIns="18288" rtlCol="0" anchor="ctr"/>
          <a:lstStyle/>
          <a:p>
            <a:pPr algn="l">
              <a:defRPr/>
            </a:pPr>
            <a:r>
              <a:rPr sz="1150" b="1" i="0">
                <a:solidFill>
                  <a:srgbClr val="31633D"/>
                </a:solidFill>
                <a:latin typeface="Arial"/>
                <a:ea typeface="Microsoft YaHei"/>
                <a:cs typeface="Microsoft YaHei"/>
              </a:rPr>
              <a:t>只用一周套用备注名格式，SH 就从无法统计变成了正在进步。</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8733585" name="Rectangle 1"/>
          <p:cNvSpPr/>
          <p:nvPr/>
        </p:nvSpPr>
        <p:spPr bwMode="auto">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091333364" name="TextBox 2"/>
          <p:cNvSpPr txBox="1"/>
          <p:nvPr/>
        </p:nvSpPr>
        <p:spPr bwMode="auto">
          <a:xfrm>
            <a:off x="502920" y="228600"/>
            <a:ext cx="9692640" cy="228600"/>
          </a:xfrm>
          <a:prstGeom prst="rect">
            <a:avLst/>
          </a:prstGeom>
          <a:noFill/>
        </p:spPr>
        <p:txBody>
          <a:bodyPr wrap="square" lIns="45720" tIns="18288" rIns="45720" bIns="18288">
            <a:spAutoFit/>
          </a:bodyPr>
          <a:lstStyle/>
          <a:p>
            <a:pPr algn="l">
              <a:defRPr/>
            </a:pPr>
            <a:r>
              <a:rPr sz="950" b="1" i="0">
                <a:solidFill>
                  <a:srgbClr val="2E9C4C"/>
                </a:solidFill>
                <a:latin typeface="Arial"/>
                <a:ea typeface="Microsoft YaHei"/>
                <a:cs typeface="Microsoft YaHei"/>
              </a:rPr>
              <a:t>六、下一步行动   |   培训重点</a:t>
            </a:r>
            <a:endParaRPr/>
          </a:p>
        </p:txBody>
      </p:sp>
      <p:sp>
        <p:nvSpPr>
          <p:cNvPr id="504846158" name="TextBox 3"/>
          <p:cNvSpPr txBox="1"/>
          <p:nvPr/>
        </p:nvSpPr>
        <p:spPr bwMode="auto">
          <a:xfrm>
            <a:off x="502920" y="493776"/>
            <a:ext cx="11247120" cy="640080"/>
          </a:xfrm>
          <a:prstGeom prst="rect">
            <a:avLst/>
          </a:prstGeom>
          <a:noFill/>
        </p:spPr>
        <p:txBody>
          <a:bodyPr wrap="square" lIns="45720" tIns="18288" rIns="45720" bIns="18288">
            <a:spAutoFit/>
          </a:bodyPr>
          <a:lstStyle/>
          <a:p>
            <a:pPr algn="l">
              <a:defRPr/>
            </a:pPr>
            <a:r>
              <a:rPr sz="2200" b="1" i="0">
                <a:solidFill>
                  <a:srgbClr val="31633D"/>
                </a:solidFill>
                <a:latin typeface="Arial"/>
                <a:ea typeface="Microsoft YaHei"/>
                <a:cs typeface="Microsoft YaHei"/>
              </a:rPr>
              <a:t>本周三项重点</a:t>
            </a:r>
            <a:endParaRPr/>
          </a:p>
        </p:txBody>
      </p:sp>
      <p:sp>
        <p:nvSpPr>
          <p:cNvPr id="763726846" name="Rectangle 4"/>
          <p:cNvSpPr/>
          <p:nvPr/>
        </p:nvSpPr>
        <p:spPr bwMode="auto">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923587755" name="TextBox 5"/>
          <p:cNvSpPr txBox="1"/>
          <p:nvPr/>
        </p:nvSpPr>
        <p:spPr bwMode="auto">
          <a:xfrm>
            <a:off x="502920" y="6455664"/>
            <a:ext cx="5486400" cy="237744"/>
          </a:xfrm>
          <a:prstGeom prst="rect">
            <a:avLst/>
          </a:prstGeom>
          <a:noFill/>
        </p:spPr>
        <p:txBody>
          <a:bodyPr wrap="square" lIns="45720" tIns="18288" rIns="45720" bIns="18288">
            <a:spAutoFit/>
          </a:bodyPr>
          <a:lstStyle/>
          <a:p>
            <a:pPr algn="l">
              <a:defRPr/>
            </a:pPr>
            <a:r>
              <a:rPr sz="800" b="0" i="0">
                <a:solidFill>
                  <a:srgbClr val="5C6B62"/>
                </a:solidFill>
                <a:latin typeface="Arial"/>
                <a:ea typeface="Microsoft YaHei"/>
                <a:cs typeface="Microsoft YaHei"/>
              </a:rPr>
              <a:t>Mắt Sài Gòn  |  视光 DA 培训</a:t>
            </a:r>
            <a:endParaRPr/>
          </a:p>
        </p:txBody>
      </p:sp>
      <p:sp>
        <p:nvSpPr>
          <p:cNvPr id="1625955304" name="TextBox 6"/>
          <p:cNvSpPr txBox="1"/>
          <p:nvPr/>
        </p:nvSpPr>
        <p:spPr bwMode="auto">
          <a:xfrm>
            <a:off x="10972800" y="6455664"/>
            <a:ext cx="713232" cy="237744"/>
          </a:xfrm>
          <a:prstGeom prst="rect">
            <a:avLst/>
          </a:prstGeom>
          <a:noFill/>
        </p:spPr>
        <p:txBody>
          <a:bodyPr wrap="square" lIns="45720" tIns="18288" rIns="45720" bIns="18288">
            <a:spAutoFit/>
          </a:bodyPr>
          <a:lstStyle/>
          <a:p>
            <a:pPr algn="r">
              <a:defRPr/>
            </a:pPr>
            <a:r>
              <a:rPr sz="800" b="1" i="0">
                <a:solidFill>
                  <a:srgbClr val="5C6B62"/>
                </a:solidFill>
                <a:latin typeface="Arial"/>
                <a:ea typeface="Microsoft YaHei"/>
                <a:cs typeface="Microsoft YaHei"/>
              </a:rPr>
              <a:t>9</a:t>
            </a:r>
            <a:endParaRPr/>
          </a:p>
        </p:txBody>
      </p:sp>
      <p:sp>
        <p:nvSpPr>
          <p:cNvPr id="1315376992" name="Rectangle 7"/>
          <p:cNvSpPr/>
          <p:nvPr/>
        </p:nvSpPr>
        <p:spPr bwMode="auto">
          <a:xfrm>
            <a:off x="502920" y="1353312"/>
            <a:ext cx="3575303" cy="393192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861110688" name="Rectangle 8"/>
          <p:cNvSpPr/>
          <p:nvPr/>
        </p:nvSpPr>
        <p:spPr bwMode="auto">
          <a:xfrm>
            <a:off x="502920" y="1353312"/>
            <a:ext cx="3575303" cy="5486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653534833" name="Oval 9"/>
          <p:cNvSpPr/>
          <p:nvPr/>
        </p:nvSpPr>
        <p:spPr bwMode="auto">
          <a:xfrm>
            <a:off x="649224" y="1536192"/>
            <a:ext cx="292608" cy="292608"/>
          </a:xfrm>
          <a:prstGeom prst="ellipse">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1100" b="1" i="0">
                <a:solidFill>
                  <a:srgbClr val="FFFFFF"/>
                </a:solidFill>
                <a:latin typeface="Arial"/>
                <a:ea typeface="Microsoft YaHei"/>
                <a:cs typeface="Microsoft YaHei"/>
              </a:rPr>
              <a:t>1</a:t>
            </a:r>
            <a:endParaRPr/>
          </a:p>
        </p:txBody>
      </p:sp>
      <p:sp>
        <p:nvSpPr>
          <p:cNvPr id="157351274" name="TextBox 10"/>
          <p:cNvSpPr txBox="1"/>
          <p:nvPr/>
        </p:nvSpPr>
        <p:spPr bwMode="auto">
          <a:xfrm>
            <a:off x="1014984" y="1499616"/>
            <a:ext cx="2916936" cy="475488"/>
          </a:xfrm>
          <a:prstGeom prst="rect">
            <a:avLst/>
          </a:prstGeom>
          <a:noFill/>
        </p:spPr>
        <p:txBody>
          <a:bodyPr wrap="square" lIns="45720" tIns="18288" rIns="45720" bIns="18288">
            <a:spAutoFit/>
          </a:bodyPr>
          <a:lstStyle/>
          <a:p>
            <a:pPr algn="l">
              <a:lnSpc>
                <a:spcPct val="102000"/>
              </a:lnSpc>
              <a:defRPr/>
            </a:pPr>
            <a:r>
              <a:rPr sz="1150" b="1" i="0">
                <a:solidFill>
                  <a:srgbClr val="31633D"/>
                </a:solidFill>
                <a:latin typeface="Arial"/>
                <a:ea typeface="Microsoft YaHei"/>
                <a:cs typeface="Microsoft YaHei"/>
              </a:rPr>
              <a:t>把新增三列填满</a:t>
            </a:r>
            <a:endParaRPr/>
          </a:p>
          <a:p>
            <a:pPr algn="l">
              <a:lnSpc>
                <a:spcPct val="102000"/>
              </a:lnSpc>
              <a:defRPr/>
            </a:pPr>
            <a:r>
              <a:rPr sz="1150" b="1" i="0">
                <a:solidFill>
                  <a:srgbClr val="31633D"/>
                </a:solidFill>
                <a:latin typeface="Arial"/>
                <a:ea typeface="Microsoft YaHei"/>
                <a:cs typeface="Microsoft YaHei"/>
              </a:rPr>
              <a:t>每一行都要填</a:t>
            </a:r>
            <a:endParaRPr/>
          </a:p>
        </p:txBody>
      </p:sp>
      <p:sp>
        <p:nvSpPr>
          <p:cNvPr id="909198164" name="Rectangle 11"/>
          <p:cNvSpPr/>
          <p:nvPr/>
        </p:nvSpPr>
        <p:spPr bwMode="auto">
          <a:xfrm>
            <a:off x="649224" y="2066543"/>
            <a:ext cx="3282696" cy="9144"/>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478539842" name="TextBox 12"/>
          <p:cNvSpPr txBox="1"/>
          <p:nvPr/>
        </p:nvSpPr>
        <p:spPr bwMode="auto">
          <a:xfrm>
            <a:off x="649224" y="2157984"/>
            <a:ext cx="3282696" cy="1920240"/>
          </a:xfrm>
          <a:prstGeom prst="rect">
            <a:avLst/>
          </a:prstGeom>
          <a:noFill/>
        </p:spPr>
        <p:txBody>
          <a:bodyPr wrap="square" lIns="45720" tIns="18288" rIns="45720" bIns="18288">
            <a:spAutoFit/>
          </a:bodyPr>
          <a:lstStyle/>
          <a:p>
            <a:pPr algn="l">
              <a:lnSpc>
                <a:spcPct val="106000"/>
              </a:lnSpc>
              <a:spcAft>
                <a:spcPts val="400"/>
              </a:spcAft>
              <a:defRPr/>
            </a:pPr>
            <a:r>
              <a:rPr sz="900" b="0" i="0">
                <a:solidFill>
                  <a:srgbClr val="5C6B62"/>
                </a:solidFill>
                <a:latin typeface="Arial"/>
                <a:ea typeface="Microsoft YaHei"/>
                <a:cs typeface="Microsoft YaHei"/>
              </a:rPr>
              <a:t>▪  </a:t>
            </a:r>
            <a:r>
              <a:rPr sz="900" b="0" i="0">
                <a:solidFill>
                  <a:srgbClr val="5C6B62"/>
                </a:solidFill>
                <a:latin typeface="Arial"/>
                <a:ea typeface="Microsoft YaHei"/>
                <a:cs typeface="Microsoft YaHei"/>
              </a:rPr>
              <a:t>K 交定金日期、L 实际取镜日期、M 保修到期日</a:t>
            </a:r>
            <a:endParaRPr/>
          </a:p>
          <a:p>
            <a:pPr algn="l">
              <a:lnSpc>
                <a:spcPct val="106000"/>
              </a:lnSpc>
              <a:spcAft>
                <a:spcPts val="400"/>
              </a:spcAft>
              <a:defRPr/>
            </a:pPr>
            <a:r>
              <a:rPr sz="900" b="0" i="0">
                <a:solidFill>
                  <a:srgbClr val="5C6B62"/>
                </a:solidFill>
                <a:latin typeface="Arial"/>
                <a:ea typeface="Microsoft YaHei"/>
                <a:cs typeface="Microsoft YaHei"/>
              </a:rPr>
              <a:t>▪  </a:t>
            </a:r>
            <a:r>
              <a:rPr sz="900" b="0" i="0">
                <a:solidFill>
                  <a:srgbClr val="5C6B62"/>
                </a:solidFill>
                <a:latin typeface="Arial"/>
                <a:ea typeface="Microsoft YaHei"/>
                <a:cs typeface="Microsoft YaHei"/>
              </a:rPr>
              <a:t>回头把几周前服务过的客户也补齐，不只是新客户</a:t>
            </a:r>
            <a:endParaRPr/>
          </a:p>
          <a:p>
            <a:pPr algn="l">
              <a:lnSpc>
                <a:spcPct val="106000"/>
              </a:lnSpc>
              <a:spcAft>
                <a:spcPts val="400"/>
              </a:spcAft>
              <a:defRPr/>
            </a:pPr>
            <a:r>
              <a:rPr sz="900" b="0" i="0">
                <a:solidFill>
                  <a:srgbClr val="5C6B62"/>
                </a:solidFill>
                <a:latin typeface="Arial"/>
                <a:ea typeface="Microsoft YaHei"/>
                <a:cs typeface="Microsoft YaHei"/>
              </a:rPr>
              <a:t>▪  </a:t>
            </a:r>
            <a:r>
              <a:rPr sz="900" b="0" i="0">
                <a:solidFill>
                  <a:srgbClr val="5C6B62"/>
                </a:solidFill>
                <a:latin typeface="Arial"/>
                <a:ea typeface="Microsoft YaHei"/>
                <a:cs typeface="Microsoft YaHei"/>
              </a:rPr>
              <a:t>每个孩子一行 —— 两个孩子就是两套日期</a:t>
            </a:r>
            <a:endParaRPr/>
          </a:p>
          <a:p>
            <a:pPr algn="l">
              <a:lnSpc>
                <a:spcPct val="106000"/>
              </a:lnSpc>
              <a:spcAft>
                <a:spcPts val="400"/>
              </a:spcAft>
              <a:defRPr/>
            </a:pPr>
            <a:r>
              <a:rPr sz="900" b="0" i="0">
                <a:solidFill>
                  <a:srgbClr val="5C6B62"/>
                </a:solidFill>
                <a:latin typeface="Arial"/>
                <a:ea typeface="Microsoft YaHei"/>
                <a:cs typeface="Microsoft YaHei"/>
              </a:rPr>
              <a:t>▪  </a:t>
            </a:r>
            <a:r>
              <a:rPr sz="900" b="0" i="0">
                <a:solidFill>
                  <a:srgbClr val="5C6B62"/>
                </a:solidFill>
                <a:latin typeface="Arial"/>
                <a:ea typeface="Microsoft YaHei"/>
                <a:cs typeface="Microsoft YaHei"/>
              </a:rPr>
              <a:t>L 列填的是实际取镜日期，不是下单日期</a:t>
            </a:r>
            <a:endParaRPr/>
          </a:p>
          <a:p>
            <a:pPr algn="l">
              <a:lnSpc>
                <a:spcPct val="106000"/>
              </a:lnSpc>
              <a:spcAft>
                <a:spcPts val="400"/>
              </a:spcAft>
              <a:defRPr/>
            </a:pPr>
            <a:r>
              <a:rPr sz="900" b="0" i="0">
                <a:solidFill>
                  <a:srgbClr val="5C6B62"/>
                </a:solidFill>
                <a:latin typeface="Arial"/>
                <a:ea typeface="Microsoft YaHei"/>
                <a:cs typeface="Microsoft YaHei"/>
              </a:rPr>
              <a:t>▪  </a:t>
            </a:r>
            <a:r>
              <a:rPr sz="900" b="0" i="0">
                <a:solidFill>
                  <a:srgbClr val="5C6B62"/>
                </a:solidFill>
                <a:latin typeface="Arial"/>
                <a:ea typeface="Microsoft YaHei"/>
                <a:cs typeface="Microsoft YaHei"/>
              </a:rPr>
              <a:t>这件事没做完之前，追踪表上的任何数据都不可信</a:t>
            </a:r>
            <a:endParaRPr/>
          </a:p>
        </p:txBody>
      </p:sp>
      <p:sp>
        <p:nvSpPr>
          <p:cNvPr id="221633577" name="Rectangle 13"/>
          <p:cNvSpPr/>
          <p:nvPr/>
        </p:nvSpPr>
        <p:spPr bwMode="auto">
          <a:xfrm>
            <a:off x="649224" y="4224528"/>
            <a:ext cx="3282696" cy="9144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36576" rIns="128016" bIns="36576" rtlCol="0" anchor="ctr"/>
          <a:lstStyle/>
          <a:p>
            <a:pPr algn="l">
              <a:lnSpc>
                <a:spcPct val="110000"/>
              </a:lnSpc>
              <a:defRPr/>
            </a:pPr>
            <a:r>
              <a:rPr sz="950" b="1" i="0">
                <a:solidFill>
                  <a:srgbClr val="31633D"/>
                </a:solidFill>
                <a:latin typeface="Arial"/>
                <a:ea typeface="Microsoft YaHei"/>
                <a:cs typeface="Microsoft YaHei"/>
              </a:rPr>
              <a:t>列是空的，追踪表就是空的。</a:t>
            </a:r>
            <a:endParaRPr/>
          </a:p>
        </p:txBody>
      </p:sp>
      <p:sp>
        <p:nvSpPr>
          <p:cNvPr id="961743745" name="Rectangle 14"/>
          <p:cNvSpPr/>
          <p:nvPr/>
        </p:nvSpPr>
        <p:spPr bwMode="auto">
          <a:xfrm>
            <a:off x="4306824" y="1353312"/>
            <a:ext cx="3575303" cy="393192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7090250" name="Rectangle 15"/>
          <p:cNvSpPr/>
          <p:nvPr/>
        </p:nvSpPr>
        <p:spPr bwMode="auto">
          <a:xfrm>
            <a:off x="4306824" y="1353312"/>
            <a:ext cx="3575303" cy="54864"/>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2127795005" name="Oval 16"/>
          <p:cNvSpPr/>
          <p:nvPr/>
        </p:nvSpPr>
        <p:spPr bwMode="auto">
          <a:xfrm>
            <a:off x="4453128" y="1536192"/>
            <a:ext cx="292608" cy="292608"/>
          </a:xfrm>
          <a:prstGeom prst="ellipse">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1100" b="1" i="0">
                <a:solidFill>
                  <a:srgbClr val="FFFFFF"/>
                </a:solidFill>
                <a:latin typeface="Arial"/>
                <a:ea typeface="Microsoft YaHei"/>
                <a:cs typeface="Microsoft YaHei"/>
              </a:rPr>
              <a:t>2</a:t>
            </a:r>
            <a:endParaRPr/>
          </a:p>
        </p:txBody>
      </p:sp>
      <p:sp>
        <p:nvSpPr>
          <p:cNvPr id="1588068081" name="TextBox 17"/>
          <p:cNvSpPr txBox="1"/>
          <p:nvPr/>
        </p:nvSpPr>
        <p:spPr bwMode="auto">
          <a:xfrm>
            <a:off x="4818888" y="1499616"/>
            <a:ext cx="2916936" cy="475488"/>
          </a:xfrm>
          <a:prstGeom prst="rect">
            <a:avLst/>
          </a:prstGeom>
          <a:noFill/>
        </p:spPr>
        <p:txBody>
          <a:bodyPr wrap="square" lIns="45720" tIns="18288" rIns="45720" bIns="18288">
            <a:spAutoFit/>
          </a:bodyPr>
          <a:lstStyle/>
          <a:p>
            <a:pPr algn="l">
              <a:lnSpc>
                <a:spcPct val="102000"/>
              </a:lnSpc>
              <a:defRPr/>
            </a:pPr>
            <a:r>
              <a:rPr sz="1150" b="1" i="0">
                <a:solidFill>
                  <a:srgbClr val="31633D"/>
                </a:solidFill>
                <a:latin typeface="Arial"/>
                <a:ea typeface="Microsoft YaHei"/>
                <a:cs typeface="Microsoft YaHei"/>
              </a:rPr>
              <a:t>CD7 与 CD30</a:t>
            </a:r>
            <a:endParaRPr/>
          </a:p>
          <a:p>
            <a:pPr algn="l">
              <a:lnSpc>
                <a:spcPct val="102000"/>
              </a:lnSpc>
              <a:defRPr/>
            </a:pPr>
            <a:r>
              <a:rPr sz="1150" b="1" i="0">
                <a:solidFill>
                  <a:srgbClr val="31633D"/>
                </a:solidFill>
                <a:latin typeface="Arial"/>
                <a:ea typeface="Microsoft YaHei"/>
                <a:cs typeface="Microsoft YaHei"/>
              </a:rPr>
              <a:t>每一位客户都要做</a:t>
            </a:r>
            <a:endParaRPr/>
          </a:p>
        </p:txBody>
      </p:sp>
      <p:sp>
        <p:nvSpPr>
          <p:cNvPr id="314567500" name="Rectangle 18"/>
          <p:cNvSpPr/>
          <p:nvPr/>
        </p:nvSpPr>
        <p:spPr bwMode="auto">
          <a:xfrm>
            <a:off x="4453128" y="2066543"/>
            <a:ext cx="3282696" cy="9144"/>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442225586" name="TextBox 19"/>
          <p:cNvSpPr txBox="1"/>
          <p:nvPr/>
        </p:nvSpPr>
        <p:spPr bwMode="auto">
          <a:xfrm>
            <a:off x="4453128" y="2157984"/>
            <a:ext cx="3282696" cy="1920240"/>
          </a:xfrm>
          <a:prstGeom prst="rect">
            <a:avLst/>
          </a:prstGeom>
          <a:noFill/>
        </p:spPr>
        <p:txBody>
          <a:bodyPr wrap="square" lIns="45720" tIns="18288" rIns="45720" bIns="18288">
            <a:spAutoFit/>
          </a:bodyPr>
          <a:lstStyle/>
          <a:p>
            <a:pPr algn="l">
              <a:lnSpc>
                <a:spcPct val="106000"/>
              </a:lnSpc>
              <a:spcAft>
                <a:spcPts val="400"/>
              </a:spcAft>
              <a:defRPr/>
            </a:pPr>
            <a:r>
              <a:rPr sz="900" b="0" i="0">
                <a:solidFill>
                  <a:srgbClr val="5C6B62"/>
                </a:solidFill>
                <a:latin typeface="Arial"/>
                <a:ea typeface="Microsoft YaHei"/>
                <a:cs typeface="Microsoft YaHei"/>
              </a:rPr>
              <a:t>▪  </a:t>
            </a:r>
            <a:r>
              <a:rPr sz="900" b="0" i="0">
                <a:solidFill>
                  <a:srgbClr val="5C6B62"/>
                </a:solidFill>
                <a:latin typeface="Arial"/>
                <a:ea typeface="Microsoft YaHei"/>
                <a:cs typeface="Microsoft YaHei"/>
              </a:rPr>
              <a:t>本周再次被列为共同问题</a:t>
            </a:r>
            <a:endParaRPr/>
          </a:p>
          <a:p>
            <a:pPr algn="l">
              <a:lnSpc>
                <a:spcPct val="106000"/>
              </a:lnSpc>
              <a:spcAft>
                <a:spcPts val="400"/>
              </a:spcAft>
              <a:defRPr/>
            </a:pPr>
            <a:r>
              <a:rPr sz="900" b="0" i="0">
                <a:solidFill>
                  <a:srgbClr val="5C6B62"/>
                </a:solidFill>
                <a:latin typeface="Arial"/>
                <a:ea typeface="Microsoft YaHei"/>
                <a:cs typeface="Microsoft YaHei"/>
              </a:rPr>
              <a:t>▪  </a:t>
            </a:r>
            <a:r>
              <a:rPr sz="900" b="0" i="0">
                <a:solidFill>
                  <a:srgbClr val="5C6B62"/>
                </a:solidFill>
                <a:latin typeface="Arial"/>
                <a:ea typeface="Microsoft YaHei"/>
                <a:cs typeface="Microsoft YaHei"/>
              </a:rPr>
              <a:t>不能同一个日期，这个客户发、那个客户不发</a:t>
            </a:r>
            <a:endParaRPr/>
          </a:p>
          <a:p>
            <a:pPr algn="l">
              <a:lnSpc>
                <a:spcPct val="106000"/>
              </a:lnSpc>
              <a:spcAft>
                <a:spcPts val="400"/>
              </a:spcAft>
              <a:defRPr/>
            </a:pPr>
            <a:r>
              <a:rPr sz="900" b="0" i="0">
                <a:solidFill>
                  <a:srgbClr val="5C6B62"/>
                </a:solidFill>
                <a:latin typeface="Arial"/>
                <a:ea typeface="Microsoft YaHei"/>
                <a:cs typeface="Microsoft YaHei"/>
              </a:rPr>
              <a:t>▪  </a:t>
            </a:r>
            <a:r>
              <a:rPr sz="900" b="0" i="0">
                <a:solidFill>
                  <a:srgbClr val="5C6B62"/>
                </a:solidFill>
                <a:latin typeface="Arial"/>
                <a:ea typeface="Microsoft YaHei"/>
                <a:cs typeface="Microsoft YaHei"/>
              </a:rPr>
              <a:t>CD7：回访孩子的戴镜情况</a:t>
            </a:r>
            <a:endParaRPr/>
          </a:p>
          <a:p>
            <a:pPr algn="l">
              <a:lnSpc>
                <a:spcPct val="106000"/>
              </a:lnSpc>
              <a:spcAft>
                <a:spcPts val="400"/>
              </a:spcAft>
              <a:defRPr/>
            </a:pPr>
            <a:r>
              <a:rPr sz="900" b="0" i="0">
                <a:solidFill>
                  <a:srgbClr val="5C6B62"/>
                </a:solidFill>
                <a:latin typeface="Arial"/>
                <a:ea typeface="Microsoft YaHei"/>
                <a:cs typeface="Microsoft YaHei"/>
              </a:rPr>
              <a:t>▪  </a:t>
            </a:r>
            <a:r>
              <a:rPr sz="900" b="0" i="0">
                <a:solidFill>
                  <a:srgbClr val="5C6B62"/>
                </a:solidFill>
                <a:latin typeface="Arial"/>
                <a:ea typeface="Microsoft YaHei"/>
                <a:cs typeface="Microsoft YaHei"/>
              </a:rPr>
              <a:t>CD14 至 CD30：再回访一次，并发送科普内容</a:t>
            </a:r>
            <a:endParaRPr/>
          </a:p>
          <a:p>
            <a:pPr algn="l">
              <a:lnSpc>
                <a:spcPct val="106000"/>
              </a:lnSpc>
              <a:spcAft>
                <a:spcPts val="400"/>
              </a:spcAft>
              <a:defRPr/>
            </a:pPr>
            <a:r>
              <a:rPr sz="900" b="0" i="0">
                <a:solidFill>
                  <a:srgbClr val="5C6B62"/>
                </a:solidFill>
                <a:latin typeface="Arial"/>
                <a:ea typeface="Microsoft YaHei"/>
                <a:cs typeface="Microsoft YaHei"/>
              </a:rPr>
              <a:t>▪  </a:t>
            </a:r>
            <a:r>
              <a:rPr sz="900" b="0" i="0">
                <a:solidFill>
                  <a:srgbClr val="5C6B62"/>
                </a:solidFill>
                <a:latin typeface="Arial"/>
                <a:ea typeface="Microsoft YaHei"/>
                <a:cs typeface="Microsoft YaHei"/>
              </a:rPr>
              <a:t>要形成可重复的固定动作，而不是每次临时判断</a:t>
            </a:r>
            <a:endParaRPr/>
          </a:p>
        </p:txBody>
      </p:sp>
      <p:sp>
        <p:nvSpPr>
          <p:cNvPr id="1892179387" name="Rectangle 20"/>
          <p:cNvSpPr/>
          <p:nvPr/>
        </p:nvSpPr>
        <p:spPr bwMode="auto">
          <a:xfrm>
            <a:off x="4453128" y="4224528"/>
            <a:ext cx="3282696" cy="914400"/>
          </a:xfrm>
          <a:prstGeom prst="rect">
            <a:avLst/>
          </a:prstGeom>
          <a:solidFill>
            <a:srgbClr val="E4F3F3"/>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36576" rIns="128016" bIns="36576" rtlCol="0" anchor="ctr"/>
          <a:lstStyle/>
          <a:p>
            <a:pPr algn="l">
              <a:lnSpc>
                <a:spcPct val="110000"/>
              </a:lnSpc>
              <a:defRPr/>
            </a:pPr>
            <a:r>
              <a:rPr sz="950" b="1" i="0">
                <a:solidFill>
                  <a:srgbClr val="31633D"/>
                </a:solidFill>
                <a:latin typeface="Arial"/>
                <a:ea typeface="Microsoft YaHei"/>
                <a:cs typeface="Microsoft YaHei"/>
              </a:rPr>
              <a:t>同一个日期，同样的服务，对每一位客户。</a:t>
            </a:r>
            <a:endParaRPr/>
          </a:p>
        </p:txBody>
      </p:sp>
      <p:sp>
        <p:nvSpPr>
          <p:cNvPr id="2108529200" name="Rectangle 21"/>
          <p:cNvSpPr/>
          <p:nvPr/>
        </p:nvSpPr>
        <p:spPr bwMode="auto">
          <a:xfrm>
            <a:off x="8110727" y="1353312"/>
            <a:ext cx="3575303" cy="393192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1781461670" name="Rectangle 22"/>
          <p:cNvSpPr/>
          <p:nvPr/>
        </p:nvSpPr>
        <p:spPr bwMode="auto">
          <a:xfrm>
            <a:off x="8110727" y="1353312"/>
            <a:ext cx="3575303" cy="54864"/>
          </a:xfrm>
          <a:prstGeom prst="rect">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567107483" name="Oval 23"/>
          <p:cNvSpPr/>
          <p:nvPr/>
        </p:nvSpPr>
        <p:spPr bwMode="auto">
          <a:xfrm>
            <a:off x="8257031" y="1536192"/>
            <a:ext cx="292608" cy="292608"/>
          </a:xfrm>
          <a:prstGeom prst="ellipse">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wrap="square" lIns="9144" tIns="9144" rIns="9144" bIns="9144" rtlCol="0" anchor="ctr"/>
          <a:lstStyle/>
          <a:p>
            <a:pPr algn="ctr">
              <a:defRPr/>
            </a:pPr>
            <a:r>
              <a:rPr sz="1100" b="1" i="0">
                <a:solidFill>
                  <a:srgbClr val="FFFFFF"/>
                </a:solidFill>
                <a:latin typeface="Arial"/>
                <a:ea typeface="Microsoft YaHei"/>
                <a:cs typeface="Microsoft YaHei"/>
              </a:rPr>
              <a:t>3</a:t>
            </a:r>
            <a:endParaRPr/>
          </a:p>
        </p:txBody>
      </p:sp>
      <p:sp>
        <p:nvSpPr>
          <p:cNvPr id="412128953" name="TextBox 24"/>
          <p:cNvSpPr txBox="1"/>
          <p:nvPr/>
        </p:nvSpPr>
        <p:spPr bwMode="auto">
          <a:xfrm>
            <a:off x="8622792" y="1499616"/>
            <a:ext cx="2916936" cy="475488"/>
          </a:xfrm>
          <a:prstGeom prst="rect">
            <a:avLst/>
          </a:prstGeom>
          <a:noFill/>
        </p:spPr>
        <p:txBody>
          <a:bodyPr wrap="square" lIns="45720" tIns="18288" rIns="45720" bIns="18288">
            <a:spAutoFit/>
          </a:bodyPr>
          <a:lstStyle/>
          <a:p>
            <a:pPr algn="l">
              <a:lnSpc>
                <a:spcPct val="102000"/>
              </a:lnSpc>
              <a:defRPr/>
            </a:pPr>
            <a:r>
              <a:rPr sz="1150" b="1" i="0">
                <a:solidFill>
                  <a:srgbClr val="31633D"/>
                </a:solidFill>
                <a:latin typeface="Arial"/>
                <a:ea typeface="Microsoft YaHei"/>
                <a:cs typeface="Microsoft YaHei"/>
              </a:rPr>
              <a:t>Ortho-K</a:t>
            </a:r>
            <a:endParaRPr/>
          </a:p>
          <a:p>
            <a:pPr algn="l">
              <a:lnSpc>
                <a:spcPct val="102000"/>
              </a:lnSpc>
              <a:defRPr/>
            </a:pPr>
            <a:r>
              <a:rPr sz="1150" b="1" i="0">
                <a:solidFill>
                  <a:srgbClr val="31633D"/>
                </a:solidFill>
                <a:latin typeface="Arial"/>
                <a:ea typeface="Microsoft YaHei"/>
                <a:cs typeface="Microsoft YaHei"/>
              </a:rPr>
              <a:t>第一周</a:t>
            </a:r>
            <a:endParaRPr/>
          </a:p>
        </p:txBody>
      </p:sp>
      <p:sp>
        <p:nvSpPr>
          <p:cNvPr id="110715254" name="Rectangle 25"/>
          <p:cNvSpPr/>
          <p:nvPr/>
        </p:nvSpPr>
        <p:spPr bwMode="auto">
          <a:xfrm>
            <a:off x="8257031" y="2066543"/>
            <a:ext cx="3282696" cy="9144"/>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wrap="square" tIns="27432" bIns="27432" rtlCol="0" anchor="ctr"/>
          <a:lstStyle/>
          <a:p>
            <a:pPr algn="ctr">
              <a:defRPr/>
            </a:pPr>
            <a:endParaRPr/>
          </a:p>
        </p:txBody>
      </p:sp>
      <p:sp>
        <p:nvSpPr>
          <p:cNvPr id="977987283" name="TextBox 26"/>
          <p:cNvSpPr txBox="1"/>
          <p:nvPr/>
        </p:nvSpPr>
        <p:spPr bwMode="auto">
          <a:xfrm>
            <a:off x="8257031" y="2157984"/>
            <a:ext cx="3282696" cy="1920240"/>
          </a:xfrm>
          <a:prstGeom prst="rect">
            <a:avLst/>
          </a:prstGeom>
          <a:noFill/>
        </p:spPr>
        <p:txBody>
          <a:bodyPr wrap="square" lIns="45720" tIns="18288" rIns="45720" bIns="18288">
            <a:spAutoFit/>
          </a:bodyPr>
          <a:lstStyle/>
          <a:p>
            <a:pPr algn="l">
              <a:lnSpc>
                <a:spcPct val="106000"/>
              </a:lnSpc>
              <a:spcAft>
                <a:spcPts val="400"/>
              </a:spcAft>
              <a:defRPr/>
            </a:pPr>
            <a:r>
              <a:rPr sz="900" b="0" i="0">
                <a:solidFill>
                  <a:srgbClr val="5C6B62"/>
                </a:solidFill>
                <a:latin typeface="Arial"/>
                <a:ea typeface="Microsoft YaHei"/>
                <a:cs typeface="Microsoft YaHei"/>
              </a:rPr>
              <a:t>▪  </a:t>
            </a:r>
            <a:r>
              <a:rPr sz="900" b="0" i="0">
                <a:solidFill>
                  <a:srgbClr val="5C6B62"/>
                </a:solidFill>
                <a:latin typeface="Arial"/>
                <a:ea typeface="Microsoft YaHei"/>
                <a:cs typeface="Microsoft YaHei"/>
              </a:rPr>
              <a:t>取镜后第一周完成两到三次跟进</a:t>
            </a:r>
            <a:endParaRPr/>
          </a:p>
          <a:p>
            <a:pPr algn="l">
              <a:lnSpc>
                <a:spcPct val="106000"/>
              </a:lnSpc>
              <a:spcAft>
                <a:spcPts val="400"/>
              </a:spcAft>
              <a:defRPr/>
            </a:pPr>
            <a:r>
              <a:rPr sz="900" b="0" i="0">
                <a:solidFill>
                  <a:srgbClr val="5C6B62"/>
                </a:solidFill>
                <a:latin typeface="Arial"/>
                <a:ea typeface="Microsoft YaHei"/>
                <a:cs typeface="Microsoft YaHei"/>
              </a:rPr>
              <a:t>▪  </a:t>
            </a:r>
            <a:r>
              <a:rPr sz="900" b="0" i="0">
                <a:solidFill>
                  <a:srgbClr val="5C6B62"/>
                </a:solidFill>
                <a:latin typeface="Arial"/>
                <a:ea typeface="Microsoft YaHei"/>
                <a:cs typeface="Microsoft YaHei"/>
              </a:rPr>
              <a:t>CDN 当晚发，CD+1 第二天早上发</a:t>
            </a:r>
            <a:endParaRPr/>
          </a:p>
          <a:p>
            <a:pPr algn="l">
              <a:lnSpc>
                <a:spcPct val="106000"/>
              </a:lnSpc>
              <a:spcAft>
                <a:spcPts val="400"/>
              </a:spcAft>
              <a:defRPr/>
            </a:pPr>
            <a:r>
              <a:rPr sz="900" b="0" i="0">
                <a:solidFill>
                  <a:srgbClr val="5C6B62"/>
                </a:solidFill>
                <a:latin typeface="Arial"/>
                <a:ea typeface="Microsoft YaHei"/>
                <a:cs typeface="Microsoft YaHei"/>
              </a:rPr>
              <a:t>▪  </a:t>
            </a:r>
            <a:r>
              <a:rPr sz="900" b="0" i="0">
                <a:solidFill>
                  <a:srgbClr val="5C6B62"/>
                </a:solidFill>
                <a:latin typeface="Arial"/>
                <a:ea typeface="Microsoft YaHei"/>
                <a:cs typeface="Microsoft YaHei"/>
              </a:rPr>
              <a:t>取镜之前要发出镜片定制信息</a:t>
            </a:r>
            <a:endParaRPr/>
          </a:p>
          <a:p>
            <a:pPr algn="l">
              <a:lnSpc>
                <a:spcPct val="106000"/>
              </a:lnSpc>
              <a:spcAft>
                <a:spcPts val="400"/>
              </a:spcAft>
              <a:defRPr/>
            </a:pPr>
            <a:r>
              <a:rPr sz="900" b="0" i="0">
                <a:solidFill>
                  <a:srgbClr val="5C6B62"/>
                </a:solidFill>
                <a:latin typeface="Arial"/>
                <a:ea typeface="Microsoft YaHei"/>
                <a:cs typeface="Microsoft YaHei"/>
              </a:rPr>
              <a:t>▪  </a:t>
            </a:r>
            <a:r>
              <a:rPr sz="900" b="0" i="0">
                <a:solidFill>
                  <a:srgbClr val="5C6B62"/>
                </a:solidFill>
                <a:latin typeface="Arial"/>
                <a:ea typeface="Microsoft YaHei"/>
                <a:cs typeface="Microsoft YaHei"/>
              </a:rPr>
              <a:t>在 CD+7 发出复查邀约</a:t>
            </a:r>
            <a:endParaRPr/>
          </a:p>
          <a:p>
            <a:pPr algn="l">
              <a:lnSpc>
                <a:spcPct val="106000"/>
              </a:lnSpc>
              <a:spcAft>
                <a:spcPts val="400"/>
              </a:spcAft>
              <a:defRPr/>
            </a:pPr>
            <a:r>
              <a:rPr sz="900" b="0" i="0">
                <a:solidFill>
                  <a:srgbClr val="5C6B62"/>
                </a:solidFill>
                <a:latin typeface="Arial"/>
                <a:ea typeface="Microsoft YaHei"/>
                <a:cs typeface="Microsoft YaHei"/>
              </a:rPr>
              <a:t>▪  </a:t>
            </a:r>
            <a:r>
              <a:rPr sz="900" b="0" i="0">
                <a:solidFill>
                  <a:srgbClr val="5C6B62"/>
                </a:solidFill>
                <a:latin typeface="Arial"/>
                <a:ea typeface="Microsoft YaHei"/>
                <a:cs typeface="Microsoft YaHei"/>
              </a:rPr>
              <a:t>CTE-D5 从这里开始</a:t>
            </a:r>
            <a:endParaRPr/>
          </a:p>
        </p:txBody>
      </p:sp>
      <p:sp>
        <p:nvSpPr>
          <p:cNvPr id="1401711562" name="Rectangle 27"/>
          <p:cNvSpPr/>
          <p:nvPr/>
        </p:nvSpPr>
        <p:spPr bwMode="auto">
          <a:xfrm>
            <a:off x="8257031" y="4224528"/>
            <a:ext cx="3282696" cy="914400"/>
          </a:xfrm>
          <a:prstGeom prst="rect">
            <a:avLst/>
          </a:prstGeom>
          <a:solidFill>
            <a:srgbClr val="EEE6F2"/>
          </a:solidFill>
          <a:ln>
            <a:noFill/>
          </a:ln>
          <a:effectLst/>
        </p:spPr>
        <p:style>
          <a:lnRef idx="1">
            <a:schemeClr val="accent1"/>
          </a:lnRef>
          <a:fillRef idx="3">
            <a:schemeClr val="accent1"/>
          </a:fillRef>
          <a:effectRef idx="0">
            <a:schemeClr val="accent1"/>
          </a:effectRef>
          <a:fontRef idx="minor">
            <a:schemeClr val="lt1"/>
          </a:fontRef>
        </p:style>
        <p:txBody>
          <a:bodyPr wrap="square" lIns="128016" tIns="36576" rIns="128016" bIns="36576" rtlCol="0" anchor="ctr"/>
          <a:lstStyle/>
          <a:p>
            <a:pPr algn="l">
              <a:lnSpc>
                <a:spcPct val="110000"/>
              </a:lnSpc>
              <a:defRPr/>
            </a:pPr>
            <a:r>
              <a:rPr sz="950" b="1" i="0">
                <a:solidFill>
                  <a:srgbClr val="31633D"/>
                </a:solidFill>
                <a:latin typeface="Arial"/>
                <a:ea typeface="Microsoft YaHei"/>
                <a:cs typeface="Microsoft YaHei"/>
              </a:rPr>
              <a:t>Ortho-K 有四条框架眼镜没有的信息。</a:t>
            </a:r>
            <a:endParaRPr/>
          </a:p>
        </p:txBody>
      </p:sp>
      <p:sp>
        <p:nvSpPr>
          <p:cNvPr id="1366718301" name="Rectangle 28"/>
          <p:cNvSpPr/>
          <p:nvPr/>
        </p:nvSpPr>
        <p:spPr bwMode="auto">
          <a:xfrm>
            <a:off x="502920" y="5431536"/>
            <a:ext cx="11183112" cy="402336"/>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wrap="square" lIns="146304" tIns="18288" rIns="128016" bIns="18288" rtlCol="0" anchor="ctr"/>
          <a:lstStyle/>
          <a:p>
            <a:pPr algn="l">
              <a:defRPr/>
            </a:pPr>
            <a:r>
              <a:rPr sz="950" b="1" i="0">
                <a:solidFill>
                  <a:srgbClr val="2E9C4C"/>
                </a:solidFill>
                <a:latin typeface="Arial"/>
                <a:ea typeface="Microsoft YaHei"/>
                <a:cs typeface="Microsoft YaHei"/>
              </a:rPr>
              <a:t>本周采用：  </a:t>
            </a:r>
            <a:r>
              <a:rPr sz="950" b="0" i="0">
                <a:solidFill>
                  <a:srgbClr val="5C6B62"/>
                </a:solidFill>
                <a:latin typeface="Arial"/>
                <a:ea typeface="Microsoft YaHei"/>
                <a:cs typeface="Microsoft YaHei"/>
              </a:rPr>
              <a:t>CTE-D7 的眼镜定制进度告知和取镜通知建议推广使用。请照原文使用 —— 第 5 页。</a:t>
            </a:r>
            <a:endParaRPr/>
          </a:p>
        </p:txBody>
      </p:sp>
      <p:sp>
        <p:nvSpPr>
          <p:cNvPr id="1177260527" name="Rectangle 29"/>
          <p:cNvSpPr/>
          <p:nvPr/>
        </p:nvSpPr>
        <p:spPr bwMode="auto">
          <a:xfrm>
            <a:off x="502920" y="5925312"/>
            <a:ext cx="11183112" cy="45720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wrap="square" tIns="18288" bIns="18288" rtlCol="0" anchor="ctr"/>
          <a:lstStyle/>
          <a:p>
            <a:pPr algn="ctr">
              <a:defRPr/>
            </a:pPr>
            <a:r>
              <a:rPr sz="1600" b="1" i="0">
                <a:solidFill>
                  <a:srgbClr val="FFFFFF"/>
                </a:solidFill>
                <a:latin typeface="Arial"/>
                <a:ea typeface="Microsoft YaHei"/>
                <a:cs typeface="Microsoft YaHei"/>
              </a:rPr>
              <a:t>每一位客户。    按时发出。    内容正确。</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onlyoffice/9.4.1.15</Application>
  <PresentationFormat>On-screen Show (4:3)</PresentationFormat>
  <Paragraphs>0</Paragraphs>
  <Slides>9</Slides>
  <Notes>9</Notes>
  <HiddenSlides>0</HiddenSlides>
  <MMClips>2</MMClips>
  <ScaleCrop>0</ScaleCrop>
  <HeadingPairs>
    <vt:vector size="4" baseType="variant">
      <vt:variant>
        <vt:lpstr>Theme</vt:lpstr>
      </vt:variant>
      <vt:variant>
        <vt:i4>1</vt:i4>
      </vt:variant>
      <vt:variant>
        <vt:lpstr>Slide Titles</vt:lpstr>
      </vt:variant>
      <vt:variant>
        <vt:i4>9</vt:i4>
      </vt:variant>
    </vt:vector>
  </HeadingPairs>
  <TitlesOfParts>
    <vt:vector size="10" baseType="lpstr">
      <vt:lpstr>Theme 1</vt:lpstr>
      <vt:lpstr>Slide 1</vt:lpstr>
      <vt:lpstr>Slide 2</vt:lpstr>
      <vt:lpstr>Slide 3</vt:lpstr>
      <vt:lpstr>Slide 4</vt:lpstr>
      <vt:lpstr>Slide 5</vt:lpstr>
      <vt:lpstr>Slide 6</vt:lpstr>
      <vt:lpstr>Slide 7</vt:lpstr>
      <vt:lpstr>Slide 8</vt:lpstr>
      <vt:lpstr>Slide 9</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SinLong.Koh@kkr.com</cp:lastModifiedBy>
  <cp:revision>2</cp:revision>
  <dcterms:created xsi:type="dcterms:W3CDTF">2013-01-27T09:14:16Z</dcterms:created>
  <dcterms:modified xsi:type="dcterms:W3CDTF">2026-09-30T16:35:53Z</dcterms:modified>
  <cp:category/>
</cp:coreProperties>
</file>