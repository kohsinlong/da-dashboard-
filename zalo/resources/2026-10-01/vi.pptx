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Rectangle 2"/>
          <p:cNvSpPr/>
          <p:nvPr/>
        </p:nvSpPr>
        <p:spPr>
          <a:xfrm>
            <a:off x="0" y="0"/>
            <a:ext cx="12188952" cy="14630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 name="Rectangle 3"/>
          <p:cNvSpPr/>
          <p:nvPr/>
        </p:nvSpPr>
        <p:spPr>
          <a:xfrm>
            <a:off x="0" y="5989320"/>
            <a:ext cx="12188952" cy="868680"/>
          </a:xfrm>
          <a:prstGeom prst="rect">
            <a:avLst/>
          </a:prstGeom>
          <a:solidFill>
            <a:srgbClr val="27513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5" name="TextBox 4"/>
          <p:cNvSpPr txBox="1"/>
          <p:nvPr/>
        </p:nvSpPr>
        <p:spPr>
          <a:xfrm>
            <a:off x="566928" y="2048256"/>
            <a:ext cx="10424160" cy="210312"/>
          </a:xfrm>
          <a:prstGeom prst="rect">
            <a:avLst/>
          </a:prstGeom>
          <a:noFill/>
        </p:spPr>
        <p:txBody>
          <a:bodyPr wrap="square" lIns="45720" rIns="45720" tIns="18288" bIns="18288">
            <a:spAutoFit/>
          </a:bodyPr>
          <a:lstStyle/>
          <a:p>
            <a:pPr algn="l"/>
            <a:r>
              <a:rPr sz="1200" b="1" i="0">
                <a:solidFill>
                  <a:srgbClr val="CFE6D8"/>
                </a:solidFill>
                <a:latin typeface="Arial"/>
              </a:rPr>
              <a:t>1 tháng 10 năm 2026</a:t>
            </a:r>
          </a:p>
        </p:txBody>
      </p:sp>
      <p:sp>
        <p:nvSpPr>
          <p:cNvPr id="6" name="TextBox 5"/>
          <p:cNvSpPr txBox="1"/>
          <p:nvPr/>
        </p:nvSpPr>
        <p:spPr>
          <a:xfrm>
            <a:off x="566928" y="2414016"/>
            <a:ext cx="10607040" cy="621792"/>
          </a:xfrm>
          <a:prstGeom prst="rect">
            <a:avLst/>
          </a:prstGeom>
          <a:noFill/>
        </p:spPr>
        <p:txBody>
          <a:bodyPr wrap="square" lIns="45720" rIns="45720" tIns="18288" bIns="18288">
            <a:spAutoFit/>
          </a:bodyPr>
          <a:lstStyle/>
          <a:p>
            <a:pPr algn="l"/>
            <a:r>
              <a:rPr sz="4000" b="1" i="0">
                <a:solidFill>
                  <a:srgbClr val="CFE6D8"/>
                </a:solidFill>
                <a:latin typeface="Arial"/>
              </a:rPr>
              <a:t>Đào tạo Trợ lý Bác sĩ Khúc xạ</a:t>
            </a:r>
          </a:p>
        </p:txBody>
      </p:sp>
      <p:sp>
        <p:nvSpPr>
          <p:cNvPr id="7" name="Rectangle 6"/>
          <p:cNvSpPr/>
          <p:nvPr/>
        </p:nvSpPr>
        <p:spPr>
          <a:xfrm>
            <a:off x="566928" y="4078224"/>
            <a:ext cx="1920240" cy="4572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8" name="TextBox 7"/>
          <p:cNvSpPr txBox="1"/>
          <p:nvPr/>
        </p:nvSpPr>
        <p:spPr>
          <a:xfrm>
            <a:off x="566928" y="4297680"/>
            <a:ext cx="8412480" cy="210312"/>
          </a:xfrm>
          <a:prstGeom prst="rect">
            <a:avLst/>
          </a:prstGeom>
          <a:noFill/>
        </p:spPr>
        <p:txBody>
          <a:bodyPr wrap="square" lIns="45720" rIns="45720" tIns="18288" bIns="18288">
            <a:spAutoFit/>
          </a:bodyPr>
          <a:lstStyle/>
          <a:p>
            <a:pPr algn="l"/>
            <a:r>
              <a:rPr sz="1200" b="1" i="0">
                <a:solidFill>
                  <a:srgbClr val="CFE6D8"/>
                </a:solidFill>
                <a:latin typeface="Arial"/>
              </a:rPr>
              <a:t>NGT   ·   CTE D5   ·   CTE D7   ·   LA   ·   SH (Song Han)</a:t>
            </a:r>
          </a:p>
        </p:txBody>
      </p:sp>
      <p:sp>
        <p:nvSpPr>
          <p:cNvPr id="9" name="TextBox 8"/>
          <p:cNvSpPr txBox="1"/>
          <p:nvPr/>
        </p:nvSpPr>
        <p:spPr>
          <a:xfrm>
            <a:off x="566928" y="6217920"/>
            <a:ext cx="9875520" cy="274320"/>
          </a:xfrm>
          <a:prstGeom prst="rect">
            <a:avLst/>
          </a:prstGeom>
          <a:noFill/>
        </p:spPr>
        <p:txBody>
          <a:bodyPr wrap="square" lIns="45720" rIns="45720" tIns="18288" bIns="18288">
            <a:spAutoFit/>
          </a:bodyPr>
          <a:lstStyle/>
          <a:p>
            <a:pPr algn="l"/>
            <a:r>
              <a:rPr sz="950" b="0" i="0">
                <a:solidFill>
                  <a:srgbClr val="CFE6D8"/>
                </a:solidFill>
                <a:latin typeface="Arial"/>
              </a:rPr>
              <a:t>Tài liệu phục vụ đào tạo và đánh giá DA  ·  Nội dung lấy từ Phản hồi Zalo của CZ ngày 29–30/9/2026  ·  Chỉ dùng nội bộ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1. SO VỚI TUẦN TRƯỚC   |   ĐÃ CẢI THIỆN VÀ CÒN TỒN ĐỌNG</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100" b="1" i="0">
                <a:solidFill>
                  <a:srgbClr val="31633D"/>
                </a:solidFill>
                <a:latin typeface="Arial"/>
              </a:rPr>
              <a:t>Cải thiện so với tuần trước, và điều còn phải cải thiện</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2</a:t>
            </a:r>
          </a:p>
        </p:txBody>
      </p:sp>
      <p:sp>
        <p:nvSpPr>
          <p:cNvPr id="8" name="TextBox 7"/>
          <p:cNvSpPr txBox="1"/>
          <p:nvPr/>
        </p:nvSpPr>
        <p:spPr>
          <a:xfrm>
            <a:off x="502920" y="1261872"/>
            <a:ext cx="11183112" cy="219456"/>
          </a:xfrm>
          <a:prstGeom prst="rect">
            <a:avLst/>
          </a:prstGeom>
          <a:noFill/>
        </p:spPr>
        <p:txBody>
          <a:bodyPr wrap="square" lIns="45720" rIns="45720" tIns="18288" bIns="18288">
            <a:spAutoFit/>
          </a:bodyPr>
          <a:lstStyle/>
          <a:p>
            <a:pPr algn="l">
              <a:lnSpc>
                <a:spcPct val="95000"/>
              </a:lnSpc>
            </a:pPr>
            <a:r>
              <a:rPr sz="1000" b="0" i="1">
                <a:solidFill>
                  <a:srgbClr val="5C6B62"/>
                </a:solidFill>
                <a:latin typeface="Arial"/>
              </a:rPr>
              <a:t>Hai chi nhánh đã làm theo nội dung đào tạo tuần trước, và một trong hai đã tạo ra các mẫu tin nhắn ta sẽ áp dụng. Hai việc đặt làm ưu tiên lại chính là hai việc còn tồn đọng.</a:t>
            </a:r>
          </a:p>
        </p:txBody>
      </p:sp>
      <p:sp>
        <p:nvSpPr>
          <p:cNvPr id="9" name="Rectangle 8"/>
          <p:cNvSpPr/>
          <p:nvPr/>
        </p:nvSpPr>
        <p:spPr>
          <a:xfrm>
            <a:off x="502920" y="1591056"/>
            <a:ext cx="5486400" cy="379476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Rectangle 9"/>
          <p:cNvSpPr/>
          <p:nvPr/>
        </p:nvSpPr>
        <p:spPr>
          <a:xfrm>
            <a:off x="502920" y="1591056"/>
            <a:ext cx="5486400" cy="31089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a:lstStyle/>
          <a:p>
            <a:pPr algn="l"/>
            <a:r>
              <a:rPr sz="1050" b="1" i="0">
                <a:solidFill>
                  <a:srgbClr val="FFFFFF"/>
                </a:solidFill>
                <a:latin typeface="Arial"/>
              </a:rPr>
              <a:t>ĐÃ CẢI THIỆN SO VỚI TUẦN TRƯỚC</a:t>
            </a:r>
          </a:p>
        </p:txBody>
      </p:sp>
      <p:sp>
        <p:nvSpPr>
          <p:cNvPr id="11" name="Oval 10"/>
          <p:cNvSpPr/>
          <p:nvPr/>
        </p:nvSpPr>
        <p:spPr>
          <a:xfrm>
            <a:off x="649224" y="1984248"/>
            <a:ext cx="237744" cy="237744"/>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950" b="1" i="0">
                <a:solidFill>
                  <a:srgbClr val="FFFFFF"/>
                </a:solidFill>
                <a:latin typeface="Arial"/>
              </a:rPr>
              <a:t>1</a:t>
            </a:r>
          </a:p>
        </p:txBody>
      </p:sp>
      <p:sp>
        <p:nvSpPr>
          <p:cNvPr id="12" name="TextBox 11"/>
          <p:cNvSpPr txBox="1"/>
          <p:nvPr/>
        </p:nvSpPr>
        <p:spPr>
          <a:xfrm>
            <a:off x="960120" y="1975104"/>
            <a:ext cx="4882896" cy="237744"/>
          </a:xfrm>
          <a:prstGeom prst="rect">
            <a:avLst/>
          </a:prstGeom>
          <a:noFill/>
        </p:spPr>
        <p:txBody>
          <a:bodyPr wrap="square" lIns="45720" rIns="45720" tIns="18288" bIns="18288">
            <a:spAutoFit/>
          </a:bodyPr>
          <a:lstStyle/>
          <a:p>
            <a:pPr algn="l">
              <a:lnSpc>
                <a:spcPct val="104000"/>
              </a:lnSpc>
            </a:pPr>
            <a:r>
              <a:rPr sz="1000" b="1" i="0">
                <a:solidFill>
                  <a:srgbClr val="31633D"/>
                </a:solidFill>
                <a:latin typeface="Arial"/>
              </a:rPr>
              <a:t>SH đã áp dụng đúng định dạng thẻ Zalo</a:t>
            </a:r>
          </a:p>
        </p:txBody>
      </p:sp>
      <p:sp>
        <p:nvSpPr>
          <p:cNvPr id="13" name="TextBox 12"/>
          <p:cNvSpPr txBox="1"/>
          <p:nvPr/>
        </p:nvSpPr>
        <p:spPr>
          <a:xfrm>
            <a:off x="960120" y="2231136"/>
            <a:ext cx="4882896" cy="868680"/>
          </a:xfrm>
          <a:prstGeom prst="rect">
            <a:avLst/>
          </a:prstGeom>
          <a:noFill/>
        </p:spPr>
        <p:txBody>
          <a:bodyPr wrap="square" lIns="45720" rIns="45720" tIns="18288" bIns="18288">
            <a:spAutoFit/>
          </a:bodyPr>
          <a:lstStyle/>
          <a:p>
            <a:pPr algn="l">
              <a:lnSpc>
                <a:spcPct val="110000"/>
              </a:lnSpc>
            </a:pPr>
            <a:r>
              <a:rPr sz="900" b="0" i="0">
                <a:solidFill>
                  <a:srgbClr val="5C6B62"/>
                </a:solidFill>
                <a:latin typeface="Arial"/>
              </a:rPr>
              <a:t>CZ ghi nhận đây là kết quả trực tiếp của buổi đào tạo. Liên hệ SH mà chúng ta xem tuần trước không có mã sản phẩm, không có ngày và không có tên bé. Hiện đã có một số khách nhận được tin đặt kính riêng và tin thông báo nhận kính.</a:t>
            </a:r>
          </a:p>
        </p:txBody>
      </p:sp>
      <p:sp>
        <p:nvSpPr>
          <p:cNvPr id="14" name="Oval 13"/>
          <p:cNvSpPr/>
          <p:nvPr/>
        </p:nvSpPr>
        <p:spPr>
          <a:xfrm>
            <a:off x="649224" y="3118104"/>
            <a:ext cx="237744" cy="237744"/>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950" b="1" i="0">
                <a:solidFill>
                  <a:srgbClr val="FFFFFF"/>
                </a:solidFill>
                <a:latin typeface="Arial"/>
              </a:rPr>
              <a:t>2</a:t>
            </a:r>
          </a:p>
        </p:txBody>
      </p:sp>
      <p:sp>
        <p:nvSpPr>
          <p:cNvPr id="15" name="TextBox 14"/>
          <p:cNvSpPr txBox="1"/>
          <p:nvPr/>
        </p:nvSpPr>
        <p:spPr>
          <a:xfrm>
            <a:off x="960120" y="3108960"/>
            <a:ext cx="4882896" cy="237744"/>
          </a:xfrm>
          <a:prstGeom prst="rect">
            <a:avLst/>
          </a:prstGeom>
          <a:noFill/>
        </p:spPr>
        <p:txBody>
          <a:bodyPr wrap="square" lIns="45720" rIns="45720" tIns="18288" bIns="18288">
            <a:spAutoFit/>
          </a:bodyPr>
          <a:lstStyle/>
          <a:p>
            <a:pPr algn="l">
              <a:lnSpc>
                <a:spcPct val="104000"/>
              </a:lnSpc>
            </a:pPr>
            <a:r>
              <a:rPr sz="1000" b="1" i="0">
                <a:solidFill>
                  <a:srgbClr val="31633D"/>
                </a:solidFill>
                <a:latin typeface="Arial"/>
              </a:rPr>
              <a:t>NGT đã thông tin trong lúc đặt kính và khi nhận kính</a:t>
            </a:r>
          </a:p>
        </p:txBody>
      </p:sp>
      <p:sp>
        <p:nvSpPr>
          <p:cNvPr id="16" name="TextBox 15"/>
          <p:cNvSpPr txBox="1"/>
          <p:nvPr/>
        </p:nvSpPr>
        <p:spPr>
          <a:xfrm>
            <a:off x="960120" y="3364992"/>
            <a:ext cx="4882896" cy="868680"/>
          </a:xfrm>
          <a:prstGeom prst="rect">
            <a:avLst/>
          </a:prstGeom>
          <a:noFill/>
        </p:spPr>
        <p:txBody>
          <a:bodyPr wrap="square" lIns="45720" rIns="45720" tIns="18288" bIns="18288">
            <a:spAutoFit/>
          </a:bodyPr>
          <a:lstStyle/>
          <a:p>
            <a:pPr algn="l">
              <a:lnSpc>
                <a:spcPct val="110000"/>
              </a:lnSpc>
            </a:pPr>
            <a:r>
              <a:rPr sz="900" b="0" i="0">
                <a:solidFill>
                  <a:srgbClr val="5C6B62"/>
                </a:solidFill>
                <a:latin typeface="Arial"/>
              </a:rPr>
              <a:t>Đây là điểm thiếu lớn nhất của NGT tuần trước, khi phụ huynh phải tự hỏi kính đã về chưa. Nội dung vẫn cần chỉnh, nhưng các tin nhắn nay đã có.</a:t>
            </a:r>
          </a:p>
        </p:txBody>
      </p:sp>
      <p:sp>
        <p:nvSpPr>
          <p:cNvPr id="17" name="Oval 16"/>
          <p:cNvSpPr/>
          <p:nvPr/>
        </p:nvSpPr>
        <p:spPr>
          <a:xfrm>
            <a:off x="649224" y="4251960"/>
            <a:ext cx="237744" cy="237744"/>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950" b="1" i="0">
                <a:solidFill>
                  <a:srgbClr val="FFFFFF"/>
                </a:solidFill>
                <a:latin typeface="Arial"/>
              </a:rPr>
              <a:t>3</a:t>
            </a:r>
          </a:p>
        </p:txBody>
      </p:sp>
      <p:sp>
        <p:nvSpPr>
          <p:cNvPr id="18" name="TextBox 17"/>
          <p:cNvSpPr txBox="1"/>
          <p:nvPr/>
        </p:nvSpPr>
        <p:spPr>
          <a:xfrm>
            <a:off x="960120" y="4242816"/>
            <a:ext cx="4882896" cy="237744"/>
          </a:xfrm>
          <a:prstGeom prst="rect">
            <a:avLst/>
          </a:prstGeom>
          <a:noFill/>
        </p:spPr>
        <p:txBody>
          <a:bodyPr wrap="square" lIns="45720" rIns="45720" tIns="18288" bIns="18288">
            <a:spAutoFit/>
          </a:bodyPr>
          <a:lstStyle/>
          <a:p>
            <a:pPr algn="l">
              <a:lnSpc>
                <a:spcPct val="104000"/>
              </a:lnSpc>
            </a:pPr>
            <a:r>
              <a:rPr sz="1000" b="1" i="0">
                <a:solidFill>
                  <a:srgbClr val="31633D"/>
                </a:solidFill>
                <a:latin typeface="Arial"/>
              </a:rPr>
              <a:t>Hai tin nhắn của CTE-D7 được khuyến nghị áp dụng rộng</a:t>
            </a:r>
          </a:p>
        </p:txBody>
      </p:sp>
      <p:sp>
        <p:nvSpPr>
          <p:cNvPr id="19" name="TextBox 18"/>
          <p:cNvSpPr txBox="1"/>
          <p:nvPr/>
        </p:nvSpPr>
        <p:spPr>
          <a:xfrm>
            <a:off x="960120" y="4498848"/>
            <a:ext cx="4882896" cy="868680"/>
          </a:xfrm>
          <a:prstGeom prst="rect">
            <a:avLst/>
          </a:prstGeom>
          <a:noFill/>
        </p:spPr>
        <p:txBody>
          <a:bodyPr wrap="square" lIns="45720" rIns="45720" tIns="18288" bIns="18288">
            <a:spAutoFit/>
          </a:bodyPr>
          <a:lstStyle/>
          <a:p>
            <a:pPr algn="l">
              <a:lnSpc>
                <a:spcPct val="110000"/>
              </a:lnSpc>
            </a:pPr>
            <a:r>
              <a:rPr sz="900" b="0" i="0">
                <a:solidFill>
                  <a:srgbClr val="5C6B62"/>
                </a:solidFill>
                <a:latin typeface="Arial"/>
              </a:rPr>
              <a:t>Tin cập nhật tiến độ đặt kính và tin thông báo nhận kính mà chúng ta nêu tuần trước chính là hai tin CZ khuyến nghị mọi chi nhánh áp dụng — cùng một khách, MCY 260811. Xem trang 5.</a:t>
            </a:r>
          </a:p>
        </p:txBody>
      </p:sp>
      <p:sp>
        <p:nvSpPr>
          <p:cNvPr id="20" name="Rectangle 19"/>
          <p:cNvSpPr/>
          <p:nvPr/>
        </p:nvSpPr>
        <p:spPr>
          <a:xfrm>
            <a:off x="6199632" y="1591056"/>
            <a:ext cx="5486400" cy="379476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1" name="Rectangle 20"/>
          <p:cNvSpPr/>
          <p:nvPr/>
        </p:nvSpPr>
        <p:spPr>
          <a:xfrm>
            <a:off x="6199632" y="1591056"/>
            <a:ext cx="5486400" cy="310896"/>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a:lstStyle/>
          <a:p>
            <a:pPr algn="l"/>
            <a:r>
              <a:rPr sz="1050" b="1" i="0">
                <a:solidFill>
                  <a:srgbClr val="FFFFFF"/>
                </a:solidFill>
                <a:latin typeface="Arial"/>
              </a:rPr>
              <a:t>ĐIỀU CÒN PHẢI CẢI THIỆN</a:t>
            </a:r>
          </a:p>
        </p:txBody>
      </p:sp>
      <p:sp>
        <p:nvSpPr>
          <p:cNvPr id="22" name="Oval 21"/>
          <p:cNvSpPr/>
          <p:nvPr/>
        </p:nvSpPr>
        <p:spPr>
          <a:xfrm>
            <a:off x="6345936" y="1984248"/>
            <a:ext cx="237744" cy="237744"/>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950" b="1" i="0">
                <a:solidFill>
                  <a:srgbClr val="FFFFFF"/>
                </a:solidFill>
                <a:latin typeface="Arial"/>
              </a:rPr>
              <a:t>1</a:t>
            </a:r>
          </a:p>
        </p:txBody>
      </p:sp>
      <p:sp>
        <p:nvSpPr>
          <p:cNvPr id="23" name="TextBox 22"/>
          <p:cNvSpPr txBox="1"/>
          <p:nvPr/>
        </p:nvSpPr>
        <p:spPr>
          <a:xfrm>
            <a:off x="6656832" y="1975104"/>
            <a:ext cx="4882896" cy="237744"/>
          </a:xfrm>
          <a:prstGeom prst="rect">
            <a:avLst/>
          </a:prstGeom>
          <a:noFill/>
        </p:spPr>
        <p:txBody>
          <a:bodyPr wrap="square" lIns="45720" rIns="45720" tIns="18288" bIns="18288">
            <a:spAutoFit/>
          </a:bodyPr>
          <a:lstStyle/>
          <a:p>
            <a:pPr algn="l">
              <a:lnSpc>
                <a:spcPct val="104000"/>
              </a:lnSpc>
            </a:pPr>
            <a:r>
              <a:rPr sz="1000" b="1" i="0">
                <a:solidFill>
                  <a:srgbClr val="31633D"/>
                </a:solidFill>
                <a:latin typeface="Arial"/>
              </a:rPr>
              <a:t>CD7 và CD30 vẫn còn yếu ở tất cả chi nhánh</a:t>
            </a:r>
          </a:p>
        </p:txBody>
      </p:sp>
      <p:sp>
        <p:nvSpPr>
          <p:cNvPr id="24" name="TextBox 23"/>
          <p:cNvSpPr txBox="1"/>
          <p:nvPr/>
        </p:nvSpPr>
        <p:spPr>
          <a:xfrm>
            <a:off x="6656832" y="2231136"/>
            <a:ext cx="4882896" cy="868680"/>
          </a:xfrm>
          <a:prstGeom prst="rect">
            <a:avLst/>
          </a:prstGeom>
          <a:noFill/>
        </p:spPr>
        <p:txBody>
          <a:bodyPr wrap="square" lIns="45720" rIns="45720" tIns="18288" bIns="18288">
            <a:spAutoFit/>
          </a:bodyPr>
          <a:lstStyle/>
          <a:p>
            <a:pPr algn="l">
              <a:lnSpc>
                <a:spcPct val="110000"/>
              </a:lnSpc>
            </a:pPr>
            <a:r>
              <a:rPr sz="900" b="0" i="0">
                <a:solidFill>
                  <a:srgbClr val="5C6B62"/>
                </a:solidFill>
                <a:latin typeface="Arial"/>
              </a:rPr>
              <a:t>Tuần này lại được nêu là vấn đề chung. Ở NGT, những khách có cùng một ngày trên thẻ Zalo lại được chăm sóc khác nhau — người được gửi tin, người thì không.</a:t>
            </a:r>
          </a:p>
        </p:txBody>
      </p:sp>
      <p:sp>
        <p:nvSpPr>
          <p:cNvPr id="25" name="Oval 24"/>
          <p:cNvSpPr/>
          <p:nvPr/>
        </p:nvSpPr>
        <p:spPr>
          <a:xfrm>
            <a:off x="6345936" y="3118104"/>
            <a:ext cx="237744" cy="237744"/>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950" b="1" i="0">
                <a:solidFill>
                  <a:srgbClr val="FFFFFF"/>
                </a:solidFill>
                <a:latin typeface="Arial"/>
              </a:rPr>
              <a:t>2</a:t>
            </a:r>
          </a:p>
        </p:txBody>
      </p:sp>
      <p:sp>
        <p:nvSpPr>
          <p:cNvPr id="26" name="TextBox 25"/>
          <p:cNvSpPr txBox="1"/>
          <p:nvPr/>
        </p:nvSpPr>
        <p:spPr>
          <a:xfrm>
            <a:off x="6656832" y="3108960"/>
            <a:ext cx="4882896" cy="237744"/>
          </a:xfrm>
          <a:prstGeom prst="rect">
            <a:avLst/>
          </a:prstGeom>
          <a:noFill/>
        </p:spPr>
        <p:txBody>
          <a:bodyPr wrap="square" lIns="45720" rIns="45720" tIns="18288" bIns="18288">
            <a:spAutoFit/>
          </a:bodyPr>
          <a:lstStyle/>
          <a:p>
            <a:pPr algn="l">
              <a:lnSpc>
                <a:spcPct val="104000"/>
              </a:lnSpc>
            </a:pPr>
            <a:r>
              <a:rPr sz="1000" b="1" i="0">
                <a:solidFill>
                  <a:srgbClr val="31633D"/>
                </a:solidFill>
                <a:latin typeface="Arial"/>
              </a:rPr>
              <a:t>Ngày trên thẻ Zalo vẫn không khớp ngày nhận kính</a:t>
            </a:r>
          </a:p>
        </p:txBody>
      </p:sp>
      <p:sp>
        <p:nvSpPr>
          <p:cNvPr id="27" name="TextBox 26"/>
          <p:cNvSpPr txBox="1"/>
          <p:nvPr/>
        </p:nvSpPr>
        <p:spPr>
          <a:xfrm>
            <a:off x="6656832" y="3364992"/>
            <a:ext cx="4882896" cy="868680"/>
          </a:xfrm>
          <a:prstGeom prst="rect">
            <a:avLst/>
          </a:prstGeom>
          <a:noFill/>
        </p:spPr>
        <p:txBody>
          <a:bodyPr wrap="square" lIns="45720" rIns="45720" tIns="18288" bIns="18288">
            <a:spAutoFit/>
          </a:bodyPr>
          <a:lstStyle/>
          <a:p>
            <a:pPr algn="l">
              <a:lnSpc>
                <a:spcPct val="110000"/>
              </a:lnSpc>
            </a:pPr>
            <a:r>
              <a:rPr sz="900" b="0" i="0">
                <a:solidFill>
                  <a:srgbClr val="5C6B62"/>
                </a:solidFill>
                <a:latin typeface="Arial"/>
              </a:rPr>
              <a:t>CZ ghi nhận điều này ở nhiều trường hợp. Tuần trước chúng ta đã đo mức lệch tại bốn chi nhánh: +3, +9, +19 và +26 ngày. Ưu tiên 1 chưa được thực hiện.</a:t>
            </a:r>
          </a:p>
        </p:txBody>
      </p:sp>
      <p:sp>
        <p:nvSpPr>
          <p:cNvPr id="28" name="Oval 27"/>
          <p:cNvSpPr/>
          <p:nvPr/>
        </p:nvSpPr>
        <p:spPr>
          <a:xfrm>
            <a:off x="6345936" y="4251960"/>
            <a:ext cx="237744" cy="237744"/>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950" b="1" i="0">
                <a:solidFill>
                  <a:srgbClr val="FFFFFF"/>
                </a:solidFill>
                <a:latin typeface="Arial"/>
              </a:rPr>
              <a:t>3</a:t>
            </a:r>
          </a:p>
        </p:txBody>
      </p:sp>
      <p:sp>
        <p:nvSpPr>
          <p:cNvPr id="29" name="TextBox 28"/>
          <p:cNvSpPr txBox="1"/>
          <p:nvPr/>
        </p:nvSpPr>
        <p:spPr>
          <a:xfrm>
            <a:off x="6656832" y="4242816"/>
            <a:ext cx="4882896" cy="237744"/>
          </a:xfrm>
          <a:prstGeom prst="rect">
            <a:avLst/>
          </a:prstGeom>
          <a:noFill/>
        </p:spPr>
        <p:txBody>
          <a:bodyPr wrap="square" lIns="45720" rIns="45720" tIns="18288" bIns="18288">
            <a:spAutoFit/>
          </a:bodyPr>
          <a:lstStyle/>
          <a:p>
            <a:pPr algn="l">
              <a:lnSpc>
                <a:spcPct val="104000"/>
              </a:lnSpc>
            </a:pPr>
            <a:r>
              <a:rPr sz="1000" b="1" i="0">
                <a:solidFill>
                  <a:srgbClr val="31633D"/>
                </a:solidFill>
                <a:latin typeface="Arial"/>
              </a:rPr>
              <a:t>CTE-D5 chưa có thay đổi</a:t>
            </a:r>
          </a:p>
        </p:txBody>
      </p:sp>
      <p:sp>
        <p:nvSpPr>
          <p:cNvPr id="30" name="TextBox 29"/>
          <p:cNvSpPr txBox="1"/>
          <p:nvPr/>
        </p:nvSpPr>
        <p:spPr>
          <a:xfrm>
            <a:off x="6656832" y="4498848"/>
            <a:ext cx="4882896" cy="868680"/>
          </a:xfrm>
          <a:prstGeom prst="rect">
            <a:avLst/>
          </a:prstGeom>
          <a:noFill/>
        </p:spPr>
        <p:txBody>
          <a:bodyPr wrap="square" lIns="45720" rIns="45720" tIns="18288" bIns="18288">
            <a:spAutoFit/>
          </a:bodyPr>
          <a:lstStyle/>
          <a:p>
            <a:pPr algn="l">
              <a:lnSpc>
                <a:spcPct val="110000"/>
              </a:lnSpc>
            </a:pPr>
            <a:r>
              <a:rPr sz="900" b="0" i="0">
                <a:solidFill>
                  <a:srgbClr val="5C6B62"/>
                </a:solidFill>
                <a:latin typeface="Arial"/>
              </a:rPr>
              <a:t>Vẫn không có gì sau tin quyền lợi thành viên, và rất ít khách được hỏi thăm về việc sử dụng kính. Vẫn đúng như nhận xét tuần trước.</a:t>
            </a:r>
          </a:p>
        </p:txBody>
      </p:sp>
      <p:sp>
        <p:nvSpPr>
          <p:cNvPr id="31" name="Rectangle 30"/>
          <p:cNvSpPr/>
          <p:nvPr/>
        </p:nvSpPr>
        <p:spPr>
          <a:xfrm>
            <a:off x="502920" y="5852160"/>
            <a:ext cx="64008" cy="475488"/>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2" name="Rectangle 31"/>
          <p:cNvSpPr/>
          <p:nvPr/>
        </p:nvSpPr>
        <p:spPr>
          <a:xfrm>
            <a:off x="566928" y="5852160"/>
            <a:ext cx="11119104" cy="47548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150" b="1" i="0">
                <a:solidFill>
                  <a:srgbClr val="31633D"/>
                </a:solidFill>
                <a:latin typeface="Arial"/>
              </a:rPr>
              <a:t>Các chi nhánh đã cải thiện những gì dễ thấy. Phần ngày tháng và nhịp chăm sóc CD7 / CD30 vẫn cần được hoàn tất.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2. TUẦN NÀY   |   BỐN VẤN ĐỀ Ở TẤT CẢ CHI NHÁNH</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Bốn vấn đề CZ nêu cho tất cả các chi nhánh</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3</a:t>
            </a:r>
          </a:p>
        </p:txBody>
      </p:sp>
      <p:sp>
        <p:nvSpPr>
          <p:cNvPr id="8" name="TextBox 7"/>
          <p:cNvSpPr txBox="1"/>
          <p:nvPr/>
        </p:nvSpPr>
        <p:spPr>
          <a:xfrm>
            <a:off x="502920" y="1261872"/>
            <a:ext cx="11183112" cy="219456"/>
          </a:xfrm>
          <a:prstGeom prst="rect">
            <a:avLst/>
          </a:prstGeom>
          <a:noFill/>
        </p:spPr>
        <p:txBody>
          <a:bodyPr wrap="square" lIns="45720" rIns="45720" tIns="18288" bIns="18288">
            <a:spAutoFit/>
          </a:bodyPr>
          <a:lstStyle/>
          <a:p>
            <a:pPr algn="l">
              <a:lnSpc>
                <a:spcPct val="95000"/>
              </a:lnSpc>
            </a:pPr>
            <a:r>
              <a:rPr sz="1000" b="0" i="1">
                <a:solidFill>
                  <a:srgbClr val="5C6B62"/>
                </a:solidFill>
                <a:latin typeface="Arial"/>
              </a:rPr>
              <a:t>Hai vấn đề là lặp lại từ tuần trước và hai vấn đề là mới. Hai vấn đề lặp lại chính là hai việc đã được đặt làm ưu tiên.</a:t>
            </a:r>
          </a:p>
        </p:txBody>
      </p:sp>
      <p:sp>
        <p:nvSpPr>
          <p:cNvPr id="9" name="Rectangle 8"/>
          <p:cNvSpPr/>
          <p:nvPr/>
        </p:nvSpPr>
        <p:spPr>
          <a:xfrm>
            <a:off x="502920" y="1591056"/>
            <a:ext cx="11183112" cy="91440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Rectangle 9"/>
          <p:cNvSpPr/>
          <p:nvPr/>
        </p:nvSpPr>
        <p:spPr>
          <a:xfrm>
            <a:off x="502920" y="1591056"/>
            <a:ext cx="54864" cy="91440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1" name="Oval 10"/>
          <p:cNvSpPr/>
          <p:nvPr/>
        </p:nvSpPr>
        <p:spPr>
          <a:xfrm>
            <a:off x="694944" y="1892807"/>
            <a:ext cx="310896" cy="310896"/>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100" b="1" i="0">
                <a:solidFill>
                  <a:srgbClr val="FFFFFF"/>
                </a:solidFill>
                <a:latin typeface="Arial"/>
              </a:rPr>
              <a:t>1</a:t>
            </a:r>
          </a:p>
        </p:txBody>
      </p:sp>
      <p:sp>
        <p:nvSpPr>
          <p:cNvPr id="12" name="Rectangle 11"/>
          <p:cNvSpPr/>
          <p:nvPr/>
        </p:nvSpPr>
        <p:spPr>
          <a:xfrm>
            <a:off x="1133856" y="1947672"/>
            <a:ext cx="786384" cy="201168"/>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700" b="1" i="0">
                <a:solidFill>
                  <a:srgbClr val="FFFFFF"/>
                </a:solidFill>
                <a:latin typeface="Arial"/>
              </a:rPr>
              <a:t>LẶP LẠI</a:t>
            </a:r>
          </a:p>
        </p:txBody>
      </p:sp>
      <p:sp>
        <p:nvSpPr>
          <p:cNvPr id="13" name="TextBox 12"/>
          <p:cNvSpPr txBox="1"/>
          <p:nvPr/>
        </p:nvSpPr>
        <p:spPr>
          <a:xfrm>
            <a:off x="2029968" y="1773936"/>
            <a:ext cx="4663440" cy="548640"/>
          </a:xfrm>
          <a:prstGeom prst="rect">
            <a:avLst/>
          </a:prstGeom>
          <a:noFill/>
        </p:spPr>
        <p:txBody>
          <a:bodyPr wrap="square" lIns="45720" rIns="45720" tIns="18288" bIns="18288" anchor="ctr">
            <a:spAutoFit/>
          </a:bodyPr>
          <a:lstStyle/>
          <a:p>
            <a:pPr algn="l">
              <a:lnSpc>
                <a:spcPct val="106000"/>
              </a:lnSpc>
            </a:pPr>
            <a:r>
              <a:rPr sz="1100" b="1" i="0">
                <a:solidFill>
                  <a:srgbClr val="31633D"/>
                </a:solidFill>
                <a:latin typeface="Arial"/>
              </a:rPr>
              <a:t>Tin chăm sóc CD7 và CD30 vẫn cần cải thiện</a:t>
            </a:r>
          </a:p>
        </p:txBody>
      </p:sp>
      <p:sp>
        <p:nvSpPr>
          <p:cNvPr id="14" name="TextBox 13"/>
          <p:cNvSpPr txBox="1"/>
          <p:nvPr/>
        </p:nvSpPr>
        <p:spPr>
          <a:xfrm>
            <a:off x="6858000" y="1719072"/>
            <a:ext cx="3657600" cy="658368"/>
          </a:xfrm>
          <a:prstGeom prst="rect">
            <a:avLst/>
          </a:prstGeom>
          <a:noFill/>
        </p:spPr>
        <p:txBody>
          <a:bodyPr wrap="square" lIns="45720" rIns="45720" tIns="18288" bIns="18288" anchor="ctr">
            <a:spAutoFit/>
          </a:bodyPr>
          <a:lstStyle/>
          <a:p>
            <a:pPr algn="l">
              <a:lnSpc>
                <a:spcPct val="108000"/>
              </a:lnSpc>
            </a:pPr>
            <a:r>
              <a:rPr sz="850" b="0" i="0">
                <a:solidFill>
                  <a:srgbClr val="5C6B62"/>
                </a:solidFill>
                <a:latin typeface="Arial"/>
              </a:rPr>
              <a:t>Tuần này lại được nêu là vấn đề chung ở tất cả chi nhánh. Ở NGT, những khách có cùng một ngày trên thẻ Zalo lại được chăm sóc khác nhau.</a:t>
            </a:r>
          </a:p>
        </p:txBody>
      </p:sp>
      <p:sp>
        <p:nvSpPr>
          <p:cNvPr id="15" name="Rectangle 14"/>
          <p:cNvSpPr/>
          <p:nvPr/>
        </p:nvSpPr>
        <p:spPr>
          <a:xfrm>
            <a:off x="10643616" y="1819656"/>
            <a:ext cx="1042415"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54864" rIns="54864"/>
          <a:lstStyle/>
          <a:p>
            <a:pPr algn="ctr">
              <a:lnSpc>
                <a:spcPct val="106000"/>
              </a:lnSpc>
            </a:pPr>
            <a:r>
              <a:rPr sz="700" b="1" i="0">
                <a:solidFill>
                  <a:srgbClr val="31633D"/>
                </a:solidFill>
                <a:latin typeface="Arial"/>
              </a:rPr>
              <a:t>Xem trang 9 — ưu tiên 2</a:t>
            </a:r>
          </a:p>
        </p:txBody>
      </p:sp>
      <p:sp>
        <p:nvSpPr>
          <p:cNvPr id="16" name="Rectangle 15"/>
          <p:cNvSpPr/>
          <p:nvPr/>
        </p:nvSpPr>
        <p:spPr>
          <a:xfrm>
            <a:off x="502920" y="2596896"/>
            <a:ext cx="11183112" cy="91440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7" name="Rectangle 16"/>
          <p:cNvSpPr/>
          <p:nvPr/>
        </p:nvSpPr>
        <p:spPr>
          <a:xfrm>
            <a:off x="502920" y="2596896"/>
            <a:ext cx="54864" cy="914400"/>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8" name="Oval 17"/>
          <p:cNvSpPr/>
          <p:nvPr/>
        </p:nvSpPr>
        <p:spPr>
          <a:xfrm>
            <a:off x="694944" y="2898648"/>
            <a:ext cx="310896" cy="310896"/>
          </a:xfrm>
          <a:prstGeom prst="ellipse">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100" b="1" i="0">
                <a:solidFill>
                  <a:srgbClr val="FFFFFF"/>
                </a:solidFill>
                <a:latin typeface="Arial"/>
              </a:rPr>
              <a:t>2</a:t>
            </a:r>
          </a:p>
        </p:txBody>
      </p:sp>
      <p:sp>
        <p:nvSpPr>
          <p:cNvPr id="19" name="Rectangle 18"/>
          <p:cNvSpPr/>
          <p:nvPr/>
        </p:nvSpPr>
        <p:spPr>
          <a:xfrm>
            <a:off x="1133856" y="2953512"/>
            <a:ext cx="786384" cy="201168"/>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700" b="1" i="0">
                <a:solidFill>
                  <a:srgbClr val="FFFFFF"/>
                </a:solidFill>
                <a:latin typeface="Arial"/>
              </a:rPr>
              <a:t>MỚI</a:t>
            </a:r>
          </a:p>
        </p:txBody>
      </p:sp>
      <p:sp>
        <p:nvSpPr>
          <p:cNvPr id="20" name="TextBox 19"/>
          <p:cNvSpPr txBox="1"/>
          <p:nvPr/>
        </p:nvSpPr>
        <p:spPr>
          <a:xfrm>
            <a:off x="2029968" y="2779776"/>
            <a:ext cx="4663440" cy="548640"/>
          </a:xfrm>
          <a:prstGeom prst="rect">
            <a:avLst/>
          </a:prstGeom>
          <a:noFill/>
        </p:spPr>
        <p:txBody>
          <a:bodyPr wrap="square" lIns="45720" rIns="45720" tIns="18288" bIns="18288" anchor="ctr">
            <a:spAutoFit/>
          </a:bodyPr>
          <a:lstStyle/>
          <a:p>
            <a:pPr algn="l">
              <a:lnSpc>
                <a:spcPct val="106000"/>
              </a:lnSpc>
            </a:pPr>
            <a:r>
              <a:rPr sz="1100" b="1" i="0">
                <a:solidFill>
                  <a:srgbClr val="31633D"/>
                </a:solidFill>
                <a:latin typeface="Arial"/>
              </a:rPr>
              <a:t>Khách Ortho-K cần 2–3 tin chăm sóc trong tuần đầu</a:t>
            </a:r>
          </a:p>
        </p:txBody>
      </p:sp>
      <p:sp>
        <p:nvSpPr>
          <p:cNvPr id="21" name="TextBox 20"/>
          <p:cNvSpPr txBox="1"/>
          <p:nvPr/>
        </p:nvSpPr>
        <p:spPr>
          <a:xfrm>
            <a:off x="6858000" y="2724912"/>
            <a:ext cx="3657600" cy="658368"/>
          </a:xfrm>
          <a:prstGeom prst="rect">
            <a:avLst/>
          </a:prstGeom>
          <a:noFill/>
        </p:spPr>
        <p:txBody>
          <a:bodyPr wrap="square" lIns="45720" rIns="45720" tIns="18288" bIns="18288" anchor="ctr">
            <a:spAutoFit/>
          </a:bodyPr>
          <a:lstStyle/>
          <a:p>
            <a:pPr algn="l">
              <a:lnSpc>
                <a:spcPct val="108000"/>
              </a:lnSpc>
            </a:pPr>
            <a:r>
              <a:rPr sz="850" b="0" i="0">
                <a:solidFill>
                  <a:srgbClr val="5C6B62"/>
                </a:solidFill>
                <a:latin typeface="Arial"/>
              </a:rPr>
              <a:t>Ortho-K lần đầu xuất hiện trong phản hồi. CTE-D5 được nêu tên: tin đặt tròng riêng, tin kiểm tra việc đeo sau khi nhận và tin mời tái khám đều đang thiếu.</a:t>
            </a:r>
          </a:p>
        </p:txBody>
      </p:sp>
      <p:sp>
        <p:nvSpPr>
          <p:cNvPr id="22" name="Rectangle 21"/>
          <p:cNvSpPr/>
          <p:nvPr/>
        </p:nvSpPr>
        <p:spPr>
          <a:xfrm>
            <a:off x="10643616" y="2825496"/>
            <a:ext cx="1042415"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54864" rIns="54864"/>
          <a:lstStyle/>
          <a:p>
            <a:pPr algn="ctr">
              <a:lnSpc>
                <a:spcPct val="106000"/>
              </a:lnSpc>
            </a:pPr>
            <a:r>
              <a:rPr sz="700" b="1" i="0">
                <a:solidFill>
                  <a:srgbClr val="31633D"/>
                </a:solidFill>
                <a:latin typeface="Arial"/>
              </a:rPr>
              <a:t>Xem trang 6 — nhịp chăm sóc Ortho-K</a:t>
            </a:r>
          </a:p>
        </p:txBody>
      </p:sp>
      <p:sp>
        <p:nvSpPr>
          <p:cNvPr id="23" name="Rectangle 22"/>
          <p:cNvSpPr/>
          <p:nvPr/>
        </p:nvSpPr>
        <p:spPr>
          <a:xfrm>
            <a:off x="502920" y="3602736"/>
            <a:ext cx="11183112" cy="91440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4" name="Rectangle 23"/>
          <p:cNvSpPr/>
          <p:nvPr/>
        </p:nvSpPr>
        <p:spPr>
          <a:xfrm>
            <a:off x="502920" y="3602736"/>
            <a:ext cx="54864" cy="914400"/>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5" name="Oval 24"/>
          <p:cNvSpPr/>
          <p:nvPr/>
        </p:nvSpPr>
        <p:spPr>
          <a:xfrm>
            <a:off x="694944" y="3904487"/>
            <a:ext cx="310896" cy="310896"/>
          </a:xfrm>
          <a:prstGeom prst="ellipse">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100" b="1" i="0">
                <a:solidFill>
                  <a:srgbClr val="FFFFFF"/>
                </a:solidFill>
                <a:latin typeface="Arial"/>
              </a:rPr>
              <a:t>3</a:t>
            </a:r>
          </a:p>
        </p:txBody>
      </p:sp>
      <p:sp>
        <p:nvSpPr>
          <p:cNvPr id="26" name="Rectangle 25"/>
          <p:cNvSpPr/>
          <p:nvPr/>
        </p:nvSpPr>
        <p:spPr>
          <a:xfrm>
            <a:off x="1133856" y="3959352"/>
            <a:ext cx="786384" cy="201168"/>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700" b="1" i="0">
                <a:solidFill>
                  <a:srgbClr val="FFFFFF"/>
                </a:solidFill>
                <a:latin typeface="Arial"/>
              </a:rPr>
              <a:t>TĂNG MỨC</a:t>
            </a:r>
          </a:p>
        </p:txBody>
      </p:sp>
      <p:sp>
        <p:nvSpPr>
          <p:cNvPr id="27" name="TextBox 26"/>
          <p:cNvSpPr txBox="1"/>
          <p:nvPr/>
        </p:nvSpPr>
        <p:spPr>
          <a:xfrm>
            <a:off x="2029968" y="3785615"/>
            <a:ext cx="4663440" cy="548640"/>
          </a:xfrm>
          <a:prstGeom prst="rect">
            <a:avLst/>
          </a:prstGeom>
          <a:noFill/>
        </p:spPr>
        <p:txBody>
          <a:bodyPr wrap="square" lIns="45720" rIns="45720" tIns="18288" bIns="18288" anchor="ctr">
            <a:spAutoFit/>
          </a:bodyPr>
          <a:lstStyle/>
          <a:p>
            <a:pPr algn="l">
              <a:lnSpc>
                <a:spcPct val="106000"/>
              </a:lnSpc>
            </a:pPr>
            <a:r>
              <a:rPr sz="1100" b="1" i="0">
                <a:solidFill>
                  <a:srgbClr val="31633D"/>
                </a:solidFill>
                <a:latin typeface="Arial"/>
              </a:rPr>
              <a:t>Mọi DA phải nắm được tin nhắn giới thiệu rút gọn</a:t>
            </a:r>
          </a:p>
        </p:txBody>
      </p:sp>
      <p:sp>
        <p:nvSpPr>
          <p:cNvPr id="28" name="TextBox 27"/>
          <p:cNvSpPr txBox="1"/>
          <p:nvPr/>
        </p:nvSpPr>
        <p:spPr>
          <a:xfrm>
            <a:off x="6858000" y="3730752"/>
            <a:ext cx="3657600" cy="658368"/>
          </a:xfrm>
          <a:prstGeom prst="rect">
            <a:avLst/>
          </a:prstGeom>
          <a:noFill/>
        </p:spPr>
        <p:txBody>
          <a:bodyPr wrap="square" lIns="45720" rIns="45720" tIns="18288" bIns="18288" anchor="ctr">
            <a:spAutoFit/>
          </a:bodyPr>
          <a:lstStyle/>
          <a:p>
            <a:pPr algn="l">
              <a:lnSpc>
                <a:spcPct val="108000"/>
              </a:lnSpc>
            </a:pPr>
            <a:r>
              <a:rPr sz="850" b="0" i="0">
                <a:solidFill>
                  <a:srgbClr val="5C6B62"/>
                </a:solidFill>
                <a:latin typeface="Arial"/>
              </a:rPr>
              <a:t>Tuần trước nhận xét là tin này được dùng quá ít. Tuần này yêu cầu là mọi DA đều phải nắm được — và nay đã có quy trình rõ ràng để xử lý khi có khách được giới thiệu.</a:t>
            </a:r>
          </a:p>
        </p:txBody>
      </p:sp>
      <p:sp>
        <p:nvSpPr>
          <p:cNvPr id="29" name="Rectangle 28"/>
          <p:cNvSpPr/>
          <p:nvPr/>
        </p:nvSpPr>
        <p:spPr>
          <a:xfrm>
            <a:off x="10643616" y="3831335"/>
            <a:ext cx="1042415"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54864" rIns="54864"/>
          <a:lstStyle/>
          <a:p>
            <a:pPr algn="ctr">
              <a:lnSpc>
                <a:spcPct val="106000"/>
              </a:lnSpc>
            </a:pPr>
            <a:r>
              <a:rPr sz="700" b="1" i="0">
                <a:solidFill>
                  <a:srgbClr val="31633D"/>
                </a:solidFill>
                <a:latin typeface="Arial"/>
              </a:rPr>
              <a:t>Xem trang 7–8 — theo chi nhánh</a:t>
            </a:r>
          </a:p>
        </p:txBody>
      </p:sp>
      <p:sp>
        <p:nvSpPr>
          <p:cNvPr id="30" name="Rectangle 29"/>
          <p:cNvSpPr/>
          <p:nvPr/>
        </p:nvSpPr>
        <p:spPr>
          <a:xfrm>
            <a:off x="502920" y="4608576"/>
            <a:ext cx="11183112" cy="91440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1" name="Rectangle 30"/>
          <p:cNvSpPr/>
          <p:nvPr/>
        </p:nvSpPr>
        <p:spPr>
          <a:xfrm>
            <a:off x="502920" y="4608576"/>
            <a:ext cx="54864" cy="91440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2" name="Oval 31"/>
          <p:cNvSpPr/>
          <p:nvPr/>
        </p:nvSpPr>
        <p:spPr>
          <a:xfrm>
            <a:off x="694944" y="4910328"/>
            <a:ext cx="310896" cy="310896"/>
          </a:xfrm>
          <a:prstGeom prst="ellipse">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100" b="1" i="0">
                <a:solidFill>
                  <a:srgbClr val="FFFFFF"/>
                </a:solidFill>
                <a:latin typeface="Arial"/>
              </a:rPr>
              <a:t>4</a:t>
            </a:r>
          </a:p>
        </p:txBody>
      </p:sp>
      <p:sp>
        <p:nvSpPr>
          <p:cNvPr id="33" name="Rectangle 32"/>
          <p:cNvSpPr/>
          <p:nvPr/>
        </p:nvSpPr>
        <p:spPr>
          <a:xfrm>
            <a:off x="1133856" y="4965192"/>
            <a:ext cx="786384" cy="201168"/>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700" b="1" i="0">
                <a:solidFill>
                  <a:srgbClr val="FFFFFF"/>
                </a:solidFill>
                <a:latin typeface="Arial"/>
              </a:rPr>
              <a:t>LẶP LẠI</a:t>
            </a:r>
          </a:p>
        </p:txBody>
      </p:sp>
      <p:sp>
        <p:nvSpPr>
          <p:cNvPr id="34" name="TextBox 33"/>
          <p:cNvSpPr txBox="1"/>
          <p:nvPr/>
        </p:nvSpPr>
        <p:spPr>
          <a:xfrm>
            <a:off x="2029968" y="4791456"/>
            <a:ext cx="4663440" cy="548640"/>
          </a:xfrm>
          <a:prstGeom prst="rect">
            <a:avLst/>
          </a:prstGeom>
          <a:noFill/>
        </p:spPr>
        <p:txBody>
          <a:bodyPr wrap="square" lIns="45720" rIns="45720" tIns="18288" bIns="18288" anchor="ctr">
            <a:spAutoFit/>
          </a:bodyPr>
          <a:lstStyle/>
          <a:p>
            <a:pPr algn="l">
              <a:lnSpc>
                <a:spcPct val="106000"/>
              </a:lnSpc>
            </a:pPr>
            <a:r>
              <a:rPr sz="1100" b="1" i="0">
                <a:solidFill>
                  <a:srgbClr val="31633D"/>
                </a:solidFill>
                <a:latin typeface="Arial"/>
              </a:rPr>
              <a:t>Nhiều trường hợp ngày trên thẻ Zalo không khớp ngày nhận kính</a:t>
            </a:r>
          </a:p>
        </p:txBody>
      </p:sp>
      <p:sp>
        <p:nvSpPr>
          <p:cNvPr id="35" name="TextBox 34"/>
          <p:cNvSpPr txBox="1"/>
          <p:nvPr/>
        </p:nvSpPr>
        <p:spPr>
          <a:xfrm>
            <a:off x="6858000" y="4736592"/>
            <a:ext cx="3657600" cy="658368"/>
          </a:xfrm>
          <a:prstGeom prst="rect">
            <a:avLst/>
          </a:prstGeom>
          <a:noFill/>
        </p:spPr>
        <p:txBody>
          <a:bodyPr wrap="square" lIns="45720" rIns="45720" tIns="18288" bIns="18288" anchor="ctr">
            <a:spAutoFit/>
          </a:bodyPr>
          <a:lstStyle/>
          <a:p>
            <a:pPr algn="l">
              <a:lnSpc>
                <a:spcPct val="108000"/>
              </a:lnSpc>
            </a:pPr>
            <a:r>
              <a:rPr sz="850" b="0" i="0">
                <a:solidFill>
                  <a:srgbClr val="5C6B62"/>
                </a:solidFill>
                <a:latin typeface="Arial"/>
              </a:rPr>
              <a:t>Vẫn đúng như tuần trước và chưa được xử lý. Bảng theo dõi nay đã có ba cột mới để giải quyết việc này, và cả ba đang để trống.</a:t>
            </a:r>
          </a:p>
        </p:txBody>
      </p:sp>
      <p:sp>
        <p:nvSpPr>
          <p:cNvPr id="36" name="Rectangle 35"/>
          <p:cNvSpPr/>
          <p:nvPr/>
        </p:nvSpPr>
        <p:spPr>
          <a:xfrm>
            <a:off x="10643616" y="4837176"/>
            <a:ext cx="1042415"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54864" rIns="54864"/>
          <a:lstStyle/>
          <a:p>
            <a:pPr algn="ctr">
              <a:lnSpc>
                <a:spcPct val="106000"/>
              </a:lnSpc>
            </a:pPr>
            <a:r>
              <a:rPr sz="700" b="1" i="0">
                <a:solidFill>
                  <a:srgbClr val="31633D"/>
                </a:solidFill>
                <a:latin typeface="Arial"/>
              </a:rPr>
              <a:t>Xem trang 4 — ba cột mới</a:t>
            </a:r>
          </a:p>
        </p:txBody>
      </p:sp>
      <p:sp>
        <p:nvSpPr>
          <p:cNvPr id="37" name="Rectangle 36"/>
          <p:cNvSpPr/>
          <p:nvPr/>
        </p:nvSpPr>
        <p:spPr>
          <a:xfrm>
            <a:off x="502920" y="5760720"/>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8" name="Rectangle 37"/>
          <p:cNvSpPr/>
          <p:nvPr/>
        </p:nvSpPr>
        <p:spPr>
          <a:xfrm>
            <a:off x="566928" y="5760720"/>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100" b="1" i="0">
                <a:solidFill>
                  <a:srgbClr val="31633D"/>
                </a:solidFill>
                <a:latin typeface="Arial"/>
              </a:rPr>
              <a:t>Vấn đề 1 và 4 đã là ưu tiên của tuần trước. Hai việc này vẫn là ưu tiên cho đến khi được hoàn tất.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2. TUẦN NÀY   |   BA CỘT MỚI TRÊN BẢNG THEO DÕI</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Bảng theo dõi đã thêm ba cột — vui lòng điền đầy đủ</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4</a:t>
            </a:r>
          </a:p>
        </p:txBody>
      </p:sp>
      <p:sp>
        <p:nvSpPr>
          <p:cNvPr id="8" name="Rectangle 7"/>
          <p:cNvSpPr/>
          <p:nvPr/>
        </p:nvSpPr>
        <p:spPr>
          <a:xfrm>
            <a:off x="502920" y="1389888"/>
            <a:ext cx="3575304" cy="84124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9" name="Rectangle 8"/>
          <p:cNvSpPr/>
          <p:nvPr/>
        </p:nvSpPr>
        <p:spPr>
          <a:xfrm>
            <a:off x="502920" y="1389888"/>
            <a:ext cx="3575304" cy="5486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Rectangle 9"/>
          <p:cNvSpPr/>
          <p:nvPr/>
        </p:nvSpPr>
        <p:spPr>
          <a:xfrm>
            <a:off x="667512" y="1609344"/>
            <a:ext cx="402336" cy="40233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1500" b="1" i="0">
                <a:solidFill>
                  <a:srgbClr val="FFFFFF"/>
                </a:solidFill>
                <a:latin typeface="Arial"/>
              </a:rPr>
              <a:t>K</a:t>
            </a:r>
          </a:p>
        </p:txBody>
      </p:sp>
      <p:sp>
        <p:nvSpPr>
          <p:cNvPr id="11" name="TextBox 10"/>
          <p:cNvSpPr txBox="1"/>
          <p:nvPr/>
        </p:nvSpPr>
        <p:spPr>
          <a:xfrm>
            <a:off x="1179576" y="1627632"/>
            <a:ext cx="2743200" cy="219456"/>
          </a:xfrm>
          <a:prstGeom prst="rect">
            <a:avLst/>
          </a:prstGeom>
          <a:noFill/>
        </p:spPr>
        <p:txBody>
          <a:bodyPr wrap="square" lIns="45720" rIns="45720" tIns="18288" bIns="18288">
            <a:spAutoFit/>
          </a:bodyPr>
          <a:lstStyle/>
          <a:p>
            <a:pPr algn="l"/>
            <a:r>
              <a:rPr sz="1100" b="1" i="0">
                <a:solidFill>
                  <a:srgbClr val="31633D"/>
                </a:solidFill>
                <a:latin typeface="Arial"/>
              </a:rPr>
              <a:t>Ngày đặt cọc</a:t>
            </a:r>
          </a:p>
        </p:txBody>
      </p:sp>
      <p:sp>
        <p:nvSpPr>
          <p:cNvPr id="12" name="TextBox 11"/>
          <p:cNvSpPr txBox="1"/>
          <p:nvPr/>
        </p:nvSpPr>
        <p:spPr>
          <a:xfrm>
            <a:off x="1179576" y="1828800"/>
            <a:ext cx="2743200" cy="201168"/>
          </a:xfrm>
          <a:prstGeom prst="rect">
            <a:avLst/>
          </a:prstGeom>
          <a:noFill/>
        </p:spPr>
        <p:txBody>
          <a:bodyPr wrap="square" lIns="45720" rIns="45720" tIns="18288" bIns="18288">
            <a:spAutoFit/>
          </a:bodyPr>
          <a:lstStyle/>
          <a:p>
            <a:pPr algn="l"/>
            <a:r>
              <a:rPr sz="950" b="0" i="0">
                <a:solidFill>
                  <a:srgbClr val="5C6B62"/>
                </a:solidFill>
                <a:latin typeface="Arial"/>
              </a:rPr>
              <a:t>Ngày đặt cọc</a:t>
            </a:r>
          </a:p>
        </p:txBody>
      </p:sp>
      <p:sp>
        <p:nvSpPr>
          <p:cNvPr id="13" name="Rectangle 12"/>
          <p:cNvSpPr/>
          <p:nvPr/>
        </p:nvSpPr>
        <p:spPr>
          <a:xfrm>
            <a:off x="4306824" y="1389888"/>
            <a:ext cx="3575304" cy="84124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4" name="Rectangle 13"/>
          <p:cNvSpPr/>
          <p:nvPr/>
        </p:nvSpPr>
        <p:spPr>
          <a:xfrm>
            <a:off x="4306824" y="1389888"/>
            <a:ext cx="3575304" cy="54864"/>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5" name="Rectangle 14"/>
          <p:cNvSpPr/>
          <p:nvPr/>
        </p:nvSpPr>
        <p:spPr>
          <a:xfrm>
            <a:off x="4471416" y="1609344"/>
            <a:ext cx="402336" cy="402336"/>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1500" b="1" i="0">
                <a:solidFill>
                  <a:srgbClr val="FFFFFF"/>
                </a:solidFill>
                <a:latin typeface="Arial"/>
              </a:rPr>
              <a:t>L</a:t>
            </a:r>
          </a:p>
        </p:txBody>
      </p:sp>
      <p:sp>
        <p:nvSpPr>
          <p:cNvPr id="16" name="TextBox 15"/>
          <p:cNvSpPr txBox="1"/>
          <p:nvPr/>
        </p:nvSpPr>
        <p:spPr>
          <a:xfrm>
            <a:off x="4983480" y="1627632"/>
            <a:ext cx="2743200" cy="219456"/>
          </a:xfrm>
          <a:prstGeom prst="rect">
            <a:avLst/>
          </a:prstGeom>
          <a:noFill/>
        </p:spPr>
        <p:txBody>
          <a:bodyPr wrap="square" lIns="45720" rIns="45720" tIns="18288" bIns="18288">
            <a:spAutoFit/>
          </a:bodyPr>
          <a:lstStyle/>
          <a:p>
            <a:pPr algn="l"/>
            <a:r>
              <a:rPr sz="1100" b="1" i="0">
                <a:solidFill>
                  <a:srgbClr val="31633D"/>
                </a:solidFill>
                <a:latin typeface="Arial"/>
              </a:rPr>
              <a:t>Ngày nhận kính (thực tế)</a:t>
            </a:r>
          </a:p>
        </p:txBody>
      </p:sp>
      <p:sp>
        <p:nvSpPr>
          <p:cNvPr id="17" name="TextBox 16"/>
          <p:cNvSpPr txBox="1"/>
          <p:nvPr/>
        </p:nvSpPr>
        <p:spPr>
          <a:xfrm>
            <a:off x="4983480" y="1828800"/>
            <a:ext cx="2743200" cy="201168"/>
          </a:xfrm>
          <a:prstGeom prst="rect">
            <a:avLst/>
          </a:prstGeom>
          <a:noFill/>
        </p:spPr>
        <p:txBody>
          <a:bodyPr wrap="square" lIns="45720" rIns="45720" tIns="18288" bIns="18288">
            <a:spAutoFit/>
          </a:bodyPr>
          <a:lstStyle/>
          <a:p>
            <a:pPr algn="l"/>
            <a:r>
              <a:rPr sz="950" b="0" i="0">
                <a:solidFill>
                  <a:srgbClr val="5C6B62"/>
                </a:solidFill>
                <a:latin typeface="Arial"/>
              </a:rPr>
              <a:t>Ngày nhận kính (thực tế)</a:t>
            </a:r>
          </a:p>
        </p:txBody>
      </p:sp>
      <p:sp>
        <p:nvSpPr>
          <p:cNvPr id="18" name="Rectangle 17"/>
          <p:cNvSpPr/>
          <p:nvPr/>
        </p:nvSpPr>
        <p:spPr>
          <a:xfrm>
            <a:off x="8110728" y="1389888"/>
            <a:ext cx="3575304" cy="84124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9" name="Rectangle 18"/>
          <p:cNvSpPr/>
          <p:nvPr/>
        </p:nvSpPr>
        <p:spPr>
          <a:xfrm>
            <a:off x="8110728" y="1389888"/>
            <a:ext cx="3575304" cy="54864"/>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0" name="Rectangle 19"/>
          <p:cNvSpPr/>
          <p:nvPr/>
        </p:nvSpPr>
        <p:spPr>
          <a:xfrm>
            <a:off x="8275320" y="1609344"/>
            <a:ext cx="402336" cy="402336"/>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1500" b="1" i="0">
                <a:solidFill>
                  <a:srgbClr val="FFFFFF"/>
                </a:solidFill>
                <a:latin typeface="Arial"/>
              </a:rPr>
              <a:t>M</a:t>
            </a:r>
          </a:p>
        </p:txBody>
      </p:sp>
      <p:sp>
        <p:nvSpPr>
          <p:cNvPr id="21" name="TextBox 20"/>
          <p:cNvSpPr txBox="1"/>
          <p:nvPr/>
        </p:nvSpPr>
        <p:spPr>
          <a:xfrm>
            <a:off x="8787384" y="1627632"/>
            <a:ext cx="2743200" cy="219456"/>
          </a:xfrm>
          <a:prstGeom prst="rect">
            <a:avLst/>
          </a:prstGeom>
          <a:noFill/>
        </p:spPr>
        <p:txBody>
          <a:bodyPr wrap="square" lIns="45720" rIns="45720" tIns="18288" bIns="18288">
            <a:spAutoFit/>
          </a:bodyPr>
          <a:lstStyle/>
          <a:p>
            <a:pPr algn="l"/>
            <a:r>
              <a:rPr sz="1100" b="1" i="0">
                <a:solidFill>
                  <a:srgbClr val="31633D"/>
                </a:solidFill>
                <a:latin typeface="Arial"/>
              </a:rPr>
              <a:t>Ngày hết hạn bảo hành</a:t>
            </a:r>
          </a:p>
        </p:txBody>
      </p:sp>
      <p:sp>
        <p:nvSpPr>
          <p:cNvPr id="22" name="TextBox 21"/>
          <p:cNvSpPr txBox="1"/>
          <p:nvPr/>
        </p:nvSpPr>
        <p:spPr>
          <a:xfrm>
            <a:off x="8787384" y="1828800"/>
            <a:ext cx="2743200" cy="201168"/>
          </a:xfrm>
          <a:prstGeom prst="rect">
            <a:avLst/>
          </a:prstGeom>
          <a:noFill/>
        </p:spPr>
        <p:txBody>
          <a:bodyPr wrap="square" lIns="45720" rIns="45720" tIns="18288" bIns="18288">
            <a:spAutoFit/>
          </a:bodyPr>
          <a:lstStyle/>
          <a:p>
            <a:pPr algn="l"/>
            <a:r>
              <a:rPr sz="950" b="0" i="0">
                <a:solidFill>
                  <a:srgbClr val="5C6B62"/>
                </a:solidFill>
                <a:latin typeface="Arial"/>
              </a:rPr>
              <a:t>Ngày hết hạn bảo hành</a:t>
            </a:r>
          </a:p>
        </p:txBody>
      </p:sp>
      <p:sp>
        <p:nvSpPr>
          <p:cNvPr id="23" name="Rectangle 22"/>
          <p:cNvSpPr/>
          <p:nvPr/>
        </p:nvSpPr>
        <p:spPr>
          <a:xfrm>
            <a:off x="2537460" y="2432304"/>
            <a:ext cx="7114032" cy="2834640"/>
          </a:xfrm>
          <a:prstGeom prst="rect">
            <a:avLst/>
          </a:prstGeom>
          <a:solidFill>
            <a:srgbClr val="F7F8F7"/>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pic>
        <p:nvPicPr>
          <p:cNvPr id="24" name="Picture 23" descr="tracker_KLM.png"/>
          <p:cNvPicPr>
            <a:picLocks noChangeAspect="1"/>
          </p:cNvPicPr>
          <p:nvPr/>
        </p:nvPicPr>
        <p:blipFill>
          <a:blip r:embed="rId2"/>
          <a:stretch>
            <a:fillRect/>
          </a:stretch>
        </p:blipFill>
        <p:spPr>
          <a:xfrm>
            <a:off x="2569464" y="2487168"/>
            <a:ext cx="7049109" cy="2724912"/>
          </a:xfrm>
          <a:prstGeom prst="rect">
            <a:avLst/>
          </a:prstGeom>
        </p:spPr>
      </p:pic>
      <p:sp>
        <p:nvSpPr>
          <p:cNvPr id="25" name="Rectangle 24"/>
          <p:cNvSpPr/>
          <p:nvPr/>
        </p:nvSpPr>
        <p:spPr>
          <a:xfrm>
            <a:off x="502920" y="5431536"/>
            <a:ext cx="11183112" cy="438912"/>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28016"/>
          <a:lstStyle/>
          <a:p>
            <a:pPr algn="l"/>
            <a:r>
              <a:rPr sz="900" b="1" i="0">
                <a:solidFill>
                  <a:srgbClr val="C0392B"/>
                </a:solidFill>
                <a:latin typeface="Arial"/>
              </a:rPr>
              <a:t>Vì sao quan trọng:  </a:t>
            </a:r>
            <a:r>
              <a:rPr sz="900" b="0" i="0">
                <a:solidFill>
                  <a:srgbClr val="5C6B62"/>
                </a:solidFill>
                <a:latin typeface="Arial"/>
              </a:rPr>
              <a:t>tuần trước mức lệch giữa ngày trên thẻ Zalo và ngày gửi tin quyền lợi là </a:t>
            </a:r>
            <a:r>
              <a:rPr sz="900" b="1" i="0">
                <a:solidFill>
                  <a:srgbClr val="31633D"/>
                </a:solidFill>
                <a:latin typeface="Arial"/>
              </a:rPr>
              <a:t>CTE-D5 +3 ngày, NGT +9, CTE-D7 +19, LA +26</a:t>
            </a:r>
            <a:r>
              <a:rPr sz="900" b="0" i="0">
                <a:solidFill>
                  <a:srgbClr val="5C6B62"/>
                </a:solidFill>
                <a:latin typeface="Arial"/>
              </a:rPr>
              <a:t>. Cột L là nơi ghi ngày nhận kính thực tế.</a:t>
            </a:r>
          </a:p>
        </p:txBody>
      </p:sp>
      <p:sp>
        <p:nvSpPr>
          <p:cNvPr id="26" name="Rectangle 25"/>
          <p:cNvSpPr/>
          <p:nvPr/>
        </p:nvSpPr>
        <p:spPr>
          <a:xfrm>
            <a:off x="502920" y="5980176"/>
            <a:ext cx="64008" cy="438912"/>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7" name="Rectangle 26"/>
          <p:cNvSpPr/>
          <p:nvPr/>
        </p:nvSpPr>
        <p:spPr>
          <a:xfrm>
            <a:off x="566928" y="5980176"/>
            <a:ext cx="11119104" cy="438912"/>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100" b="1" i="0">
                <a:solidFill>
                  <a:srgbClr val="31633D"/>
                </a:solidFill>
                <a:latin typeface="Arial"/>
              </a:rPr>
              <a:t>Điền K, L và M cho mọi dòng — kể cả những khách đã mua từ nhiều tuần trước.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3. MẪU TIN NHẮN   |   TỪ CTE-D7</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Mẫu tin nhắn của CTE-D7 mà chúng ta nên áp dụng</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5</a:t>
            </a:r>
          </a:p>
        </p:txBody>
      </p:sp>
      <p:sp>
        <p:nvSpPr>
          <p:cNvPr id="8" name="Rectangle 7"/>
          <p:cNvSpPr/>
          <p:nvPr/>
        </p:nvSpPr>
        <p:spPr>
          <a:xfrm>
            <a:off x="502920" y="1280160"/>
            <a:ext cx="11183112" cy="31089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2E9C4C"/>
                </a:solidFill>
                <a:latin typeface="Arial"/>
              </a:rPr>
              <a:t>Trích từ hội thoại Zalo của CTE-D7 với MCY 260811, mẹ bé Ngọc Hân và Gia Hân.  </a:t>
            </a:r>
            <a:r>
              <a:rPr sz="950" b="0" i="0">
                <a:solidFill>
                  <a:srgbClr val="5C6B62"/>
                </a:solidFill>
                <a:latin typeface="Arial"/>
              </a:rPr>
              <a:t>CZ ghi nhận cả hai là điểm làm tốt và khuyến nghị áp dụng rộng. Phần dưới là nguyên văn tin nhắn đã gửi cho khách.</a:t>
            </a:r>
          </a:p>
        </p:txBody>
      </p:sp>
      <p:sp>
        <p:nvSpPr>
          <p:cNvPr id="9" name="Rectangle 8"/>
          <p:cNvSpPr/>
          <p:nvPr/>
        </p:nvSpPr>
        <p:spPr>
          <a:xfrm>
            <a:off x="502920" y="1700784"/>
            <a:ext cx="7589520" cy="292608"/>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a:lstStyle/>
          <a:p>
            <a:pPr algn="l"/>
            <a:r>
              <a:rPr sz="950" b="1" i="0">
                <a:solidFill>
                  <a:srgbClr val="FFFFFF"/>
                </a:solidFill>
                <a:latin typeface="Arial"/>
              </a:rPr>
              <a:t>1  ·  CẬP NHẬT TIẾN ĐỘ ĐẶT KÍNH</a:t>
            </a:r>
            <a:r>
              <a:rPr sz="850" b="0" i="0">
                <a:solidFill>
                  <a:srgbClr val="E8F5EC"/>
                </a:solidFill>
                <a:latin typeface="Arial"/>
              </a:rPr>
              <a:t>     gửi ở D1, rồi gửi lại vào ngày 6-7</a:t>
            </a:r>
          </a:p>
        </p:txBody>
      </p:sp>
      <p:sp>
        <p:nvSpPr>
          <p:cNvPr id="10" name="Rectangle 9"/>
          <p:cNvSpPr/>
          <p:nvPr/>
        </p:nvSpPr>
        <p:spPr>
          <a:xfrm>
            <a:off x="502920" y="2011680"/>
            <a:ext cx="7589520" cy="157276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54864" bIns="54864" lIns="164592" rIns="164592"/>
          <a:lstStyle/>
          <a:p>
            <a:pPr algn="l">
              <a:lnSpc>
                <a:spcPct val="116000"/>
              </a:lnSpc>
            </a:pPr>
            <a:r>
              <a:rPr sz="950" b="0" i="0">
                <a:solidFill>
                  <a:srgbClr val="31633D"/>
                </a:solidFill>
                <a:latin typeface="Arial"/>
              </a:rPr>
              <a:t>“Dạ chào mẹ của 2 bé Ngọc Hân và bé Gia Hân, em xin cập nhật tiến độ: kính của bé đã chính thức vào quy trình đặt riêng dựa trên dữ liệu mắt, độ kính và tình trạng trục nhãn cầu của bé. Tròng KSCT được đặt riêng để phù hợp chính xác với nhu cầu thị giác của bé và hỗ trợ kiểm soát cận thị tốt hơn. Chị yên tâm chờ nhé. Thời gian đặt kính dự kiến khoảng 7-10 ngày, và em sẽ cập nhật định kỳ tiến độ sản xuất cho chị.”</a:t>
            </a:r>
          </a:p>
        </p:txBody>
      </p:sp>
      <p:sp>
        <p:nvSpPr>
          <p:cNvPr id="11" name="Rectangle 10"/>
          <p:cNvSpPr/>
          <p:nvPr/>
        </p:nvSpPr>
        <p:spPr>
          <a:xfrm>
            <a:off x="8275320" y="1700784"/>
            <a:ext cx="3410712" cy="292608"/>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a:lstStyle/>
          <a:p>
            <a:pPr algn="l"/>
            <a:r>
              <a:rPr sz="900" b="1" i="0">
                <a:solidFill>
                  <a:srgbClr val="FFFFFF"/>
                </a:solidFill>
                <a:latin typeface="Arial"/>
              </a:rPr>
              <a:t>VÌ SAO HIỆU QUẢ</a:t>
            </a:r>
          </a:p>
        </p:txBody>
      </p:sp>
      <p:sp>
        <p:nvSpPr>
          <p:cNvPr id="12" name="Rectangle 11"/>
          <p:cNvSpPr/>
          <p:nvPr/>
        </p:nvSpPr>
        <p:spPr>
          <a:xfrm>
            <a:off x="8275320" y="2011680"/>
            <a:ext cx="3410712" cy="1572768"/>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3" name="TextBox 12"/>
          <p:cNvSpPr txBox="1"/>
          <p:nvPr/>
        </p:nvSpPr>
        <p:spPr>
          <a:xfrm>
            <a:off x="8421624" y="2084832"/>
            <a:ext cx="3118104" cy="1444752"/>
          </a:xfrm>
          <a:prstGeom prst="rect">
            <a:avLst/>
          </a:prstGeom>
          <a:noFill/>
        </p:spPr>
        <p:txBody>
          <a:bodyPr wrap="square" lIns="45720" rIns="45720" tIns="18288" bIns="18288">
            <a:spAutoFit/>
          </a:bodyPr>
          <a:lstStyle/>
          <a:p>
            <a:pPr algn="l">
              <a:lnSpc>
                <a:spcPct val="108000"/>
              </a:lnSpc>
              <a:spcAft>
                <a:spcPts val="500"/>
              </a:spcAft>
            </a:pPr>
            <a:r>
              <a:rPr sz="800" b="0" i="0">
                <a:solidFill>
                  <a:srgbClr val="5C6B62"/>
                </a:solidFill>
                <a:latin typeface="Arial"/>
              </a:rPr>
              <a:t>✓  </a:t>
            </a:r>
            <a:r>
              <a:rPr sz="800" b="0" i="0">
                <a:solidFill>
                  <a:srgbClr val="5C6B62"/>
                </a:solidFill>
                <a:latin typeface="Arial"/>
              </a:rPr>
              <a:t>Gọi tên cả hai bé, không bé nào bị nhắc chung chung</a:t>
            </a:r>
          </a:p>
          <a:p>
            <a:pPr algn="l">
              <a:lnSpc>
                <a:spcPct val="108000"/>
              </a:lnSpc>
              <a:spcAft>
                <a:spcPts val="500"/>
              </a:spcAft>
            </a:pPr>
            <a:r>
              <a:rPr sz="800" b="0" i="0">
                <a:solidFill>
                  <a:srgbClr val="5C6B62"/>
                </a:solidFill>
                <a:latin typeface="Arial"/>
              </a:rPr>
              <a:t>✓  </a:t>
            </a:r>
            <a:r>
              <a:rPr sz="800" b="0" i="0">
                <a:solidFill>
                  <a:srgbClr val="5C6B62"/>
                </a:solidFill>
                <a:latin typeface="Arial"/>
              </a:rPr>
              <a:t>Nói rõ vì sao tròng phải đặt riêng: dữ liệu mắt, độ kính, trục nhãn cầu</a:t>
            </a:r>
          </a:p>
          <a:p>
            <a:pPr algn="l">
              <a:lnSpc>
                <a:spcPct val="108000"/>
              </a:lnSpc>
              <a:spcAft>
                <a:spcPts val="500"/>
              </a:spcAft>
            </a:pPr>
            <a:r>
              <a:rPr sz="800" b="0" i="0">
                <a:solidFill>
                  <a:srgbClr val="5C6B62"/>
                </a:solidFill>
                <a:latin typeface="Arial"/>
              </a:rPr>
              <a:t>✓  </a:t>
            </a:r>
            <a:r>
              <a:rPr sz="800" b="0" i="0">
                <a:solidFill>
                  <a:srgbClr val="5C6B62"/>
                </a:solidFill>
                <a:latin typeface="Arial"/>
              </a:rPr>
              <a:t>Đưa ra con số cụ thể — khoảng 7–10 ngày</a:t>
            </a:r>
          </a:p>
          <a:p>
            <a:pPr algn="l">
              <a:lnSpc>
                <a:spcPct val="108000"/>
              </a:lnSpc>
              <a:spcAft>
                <a:spcPts val="500"/>
              </a:spcAft>
            </a:pPr>
            <a:r>
              <a:rPr sz="800" b="0" i="0">
                <a:solidFill>
                  <a:srgbClr val="5C6B62"/>
                </a:solidFill>
                <a:latin typeface="Arial"/>
              </a:rPr>
              <a:t>✓  </a:t>
            </a:r>
            <a:r>
              <a:rPr sz="800" b="0" i="0">
                <a:solidFill>
                  <a:srgbClr val="5C6B62"/>
                </a:solidFill>
                <a:latin typeface="Arial"/>
              </a:rPr>
              <a:t>Hứa cập nhật tiến độ định kỳ, tạo cơ sở cho tin ngày 6-7</a:t>
            </a:r>
          </a:p>
        </p:txBody>
      </p:sp>
      <p:sp>
        <p:nvSpPr>
          <p:cNvPr id="14" name="Rectangle 13"/>
          <p:cNvSpPr/>
          <p:nvPr/>
        </p:nvSpPr>
        <p:spPr>
          <a:xfrm>
            <a:off x="502920" y="3858768"/>
            <a:ext cx="7589520" cy="292608"/>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a:lstStyle/>
          <a:p>
            <a:pPr algn="l"/>
            <a:r>
              <a:rPr sz="950" b="1" i="0">
                <a:solidFill>
                  <a:srgbClr val="FFFFFF"/>
                </a:solidFill>
                <a:latin typeface="Arial"/>
              </a:rPr>
              <a:t>2  ·  THÔNG BÁO NHẬN KÍNH</a:t>
            </a:r>
            <a:r>
              <a:rPr sz="850" b="0" i="0">
                <a:solidFill>
                  <a:srgbClr val="E8F5EC"/>
                </a:solidFill>
                <a:latin typeface="Arial"/>
              </a:rPr>
              <a:t>     gửi vào ngày 6-7, ngay khi kính về đến trung tâm</a:t>
            </a:r>
          </a:p>
        </p:txBody>
      </p:sp>
      <p:sp>
        <p:nvSpPr>
          <p:cNvPr id="15" name="Rectangle 14"/>
          <p:cNvSpPr/>
          <p:nvPr/>
        </p:nvSpPr>
        <p:spPr>
          <a:xfrm>
            <a:off x="502920" y="4169663"/>
            <a:ext cx="7589520" cy="157276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54864" bIns="54864" lIns="164592" rIns="164592"/>
          <a:lstStyle/>
          <a:p>
            <a:pPr algn="l">
              <a:lnSpc>
                <a:spcPct val="116000"/>
              </a:lnSpc>
            </a:pPr>
            <a:r>
              <a:rPr sz="950" b="0" i="0">
                <a:solidFill>
                  <a:srgbClr val="31633D"/>
                </a:solidFill>
                <a:latin typeface="Arial"/>
              </a:rPr>
              <a:t>“Chào mẹ của bé Ngọc Hân và Gia Hân, Kính kiểm soát cận thị của bé đã được gia công theo đơn riêng và hiện đã có tại Phòng khám mắt quốc tế Cao Thắng. Em xin phép hẹn chị thời gian phù hợp để đến nhận kính. Bên em khuyến nghị chị đưa bé đến trực tiếp để bé thử kính, đánh giá mức độ thoải mái và để trung tâm điều chỉnh gọng, hướng dẫn đeo phù hợp, nhằm bảo đảm hiệu quả kiểm soát cận thị tốt nhất. Nếu thuận tiện, chị có thể sắp xếp đến vào ngày trong tuần trong khung giờ 9:00–16:30; thời điểm này lượng khách ít hơn nên bên em có thể hỗ trợ kỹ và đầy đủ hơn.”</a:t>
            </a:r>
          </a:p>
        </p:txBody>
      </p:sp>
      <p:sp>
        <p:nvSpPr>
          <p:cNvPr id="16" name="Rectangle 15"/>
          <p:cNvSpPr/>
          <p:nvPr/>
        </p:nvSpPr>
        <p:spPr>
          <a:xfrm>
            <a:off x="8275320" y="3858768"/>
            <a:ext cx="3410712" cy="292608"/>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a:lstStyle/>
          <a:p>
            <a:pPr algn="l"/>
            <a:r>
              <a:rPr sz="900" b="1" i="0">
                <a:solidFill>
                  <a:srgbClr val="FFFFFF"/>
                </a:solidFill>
                <a:latin typeface="Arial"/>
              </a:rPr>
              <a:t>VÌ SAO HIỆU QUẢ</a:t>
            </a:r>
          </a:p>
        </p:txBody>
      </p:sp>
      <p:sp>
        <p:nvSpPr>
          <p:cNvPr id="17" name="Rectangle 16"/>
          <p:cNvSpPr/>
          <p:nvPr/>
        </p:nvSpPr>
        <p:spPr>
          <a:xfrm>
            <a:off x="8275320" y="4169663"/>
            <a:ext cx="3410712" cy="1572768"/>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8" name="TextBox 17"/>
          <p:cNvSpPr txBox="1"/>
          <p:nvPr/>
        </p:nvSpPr>
        <p:spPr>
          <a:xfrm>
            <a:off x="8421624" y="4242816"/>
            <a:ext cx="3118104" cy="1444752"/>
          </a:xfrm>
          <a:prstGeom prst="rect">
            <a:avLst/>
          </a:prstGeom>
          <a:noFill/>
        </p:spPr>
        <p:txBody>
          <a:bodyPr wrap="square" lIns="45720" rIns="45720" tIns="18288" bIns="18288">
            <a:spAutoFit/>
          </a:bodyPr>
          <a:lstStyle/>
          <a:p>
            <a:pPr algn="l">
              <a:lnSpc>
                <a:spcPct val="108000"/>
              </a:lnSpc>
              <a:spcAft>
                <a:spcPts val="500"/>
              </a:spcAft>
            </a:pPr>
            <a:r>
              <a:rPr sz="800" b="0" i="0">
                <a:solidFill>
                  <a:srgbClr val="5C6B62"/>
                </a:solidFill>
                <a:latin typeface="Arial"/>
              </a:rPr>
              <a:t>✓  </a:t>
            </a:r>
            <a:r>
              <a:rPr sz="800" b="0" i="0">
                <a:solidFill>
                  <a:srgbClr val="5C6B62"/>
                </a:solidFill>
                <a:latin typeface="Arial"/>
              </a:rPr>
              <a:t>Nói rõ kính đã xong và đang ở đâu</a:t>
            </a:r>
          </a:p>
          <a:p>
            <a:pPr algn="l">
              <a:lnSpc>
                <a:spcPct val="108000"/>
              </a:lnSpc>
              <a:spcAft>
                <a:spcPts val="500"/>
              </a:spcAft>
            </a:pPr>
            <a:r>
              <a:rPr sz="800" b="0" i="0">
                <a:solidFill>
                  <a:srgbClr val="5C6B62"/>
                </a:solidFill>
                <a:latin typeface="Arial"/>
              </a:rPr>
              <a:t>✓  </a:t>
            </a:r>
            <a:r>
              <a:rPr sz="800" b="0" i="0">
                <a:solidFill>
                  <a:srgbClr val="5C6B62"/>
                </a:solidFill>
                <a:latin typeface="Arial"/>
              </a:rPr>
              <a:t>Nêu lý do nên đưa bé đến: thử kính, độ thoải mái, chỉnh gọng, hướng dẫn đeo</a:t>
            </a:r>
          </a:p>
          <a:p>
            <a:pPr algn="l">
              <a:lnSpc>
                <a:spcPct val="108000"/>
              </a:lnSpc>
              <a:spcAft>
                <a:spcPts val="500"/>
              </a:spcAft>
            </a:pPr>
            <a:r>
              <a:rPr sz="800" b="0" i="0">
                <a:solidFill>
                  <a:srgbClr val="5C6B62"/>
                </a:solidFill>
                <a:latin typeface="Arial"/>
              </a:rPr>
              <a:t>✓  </a:t>
            </a:r>
            <a:r>
              <a:rPr sz="800" b="0" i="0">
                <a:solidFill>
                  <a:srgbClr val="5C6B62"/>
                </a:solidFill>
                <a:latin typeface="Arial"/>
              </a:rPr>
              <a:t>Gợi ý ngày trong tuần 9:00–16:30 vì ít khách hơn nên hỗ trợ được kỹ hơn</a:t>
            </a:r>
          </a:p>
        </p:txBody>
      </p:sp>
      <p:sp>
        <p:nvSpPr>
          <p:cNvPr id="19" name="Rectangle 18"/>
          <p:cNvSpPr/>
          <p:nvPr/>
        </p:nvSpPr>
        <p:spPr>
          <a:xfrm>
            <a:off x="502920" y="6053328"/>
            <a:ext cx="64008" cy="402336"/>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0" name="Rectangle 19"/>
          <p:cNvSpPr/>
          <p:nvPr/>
        </p:nvSpPr>
        <p:spPr>
          <a:xfrm>
            <a:off x="566928" y="6053328"/>
            <a:ext cx="11119104" cy="40233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100" b="1" i="0">
                <a:solidFill>
                  <a:srgbClr val="31633D"/>
                </a:solidFill>
                <a:latin typeface="Arial"/>
              </a:rPr>
              <a:t>Dùng đúng hai tin này. Chỉ thay tên khách, sản phẩm và số ngày.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4. ORTHO-K   |   TUẦN ĐẦU SAU KHI NHẬN KÍNH</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Ortho-K cần bốn tin chăm sóc trong tuần đầu</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6</a:t>
            </a:r>
          </a:p>
        </p:txBody>
      </p:sp>
      <p:sp>
        <p:nvSpPr>
          <p:cNvPr id="8" name="TextBox 7"/>
          <p:cNvSpPr txBox="1"/>
          <p:nvPr/>
        </p:nvSpPr>
        <p:spPr>
          <a:xfrm>
            <a:off x="502920" y="1261872"/>
            <a:ext cx="11183112" cy="219456"/>
          </a:xfrm>
          <a:prstGeom prst="rect">
            <a:avLst/>
          </a:prstGeom>
          <a:noFill/>
        </p:spPr>
        <p:txBody>
          <a:bodyPr wrap="square" lIns="45720" rIns="45720" tIns="18288" bIns="18288">
            <a:spAutoFit/>
          </a:bodyPr>
          <a:lstStyle/>
          <a:p>
            <a:pPr algn="l">
              <a:lnSpc>
                <a:spcPct val="95000"/>
              </a:lnSpc>
            </a:pPr>
            <a:r>
              <a:rPr sz="1000" b="0" i="1">
                <a:solidFill>
                  <a:srgbClr val="5C6B62"/>
                </a:solidFill>
                <a:latin typeface="Arial"/>
              </a:rPr>
              <a:t>CZ yêu cầu hai đến ba tin chăm sóc trong tuần đầu sau khi khách nhận tròng. Nhịp chăm sóc bắt buộc thực tế yêu cầu bốn tin — nên hai đến ba chỉ là mức tối thiểu, không phải mục tiêu.</a:t>
            </a:r>
          </a:p>
        </p:txBody>
      </p:sp>
      <p:sp>
        <p:nvSpPr>
          <p:cNvPr id="9" name="Rectangle 8"/>
          <p:cNvSpPr/>
          <p:nvPr/>
        </p:nvSpPr>
        <p:spPr>
          <a:xfrm>
            <a:off x="502920" y="1591056"/>
            <a:ext cx="11183112" cy="310896"/>
          </a:xfrm>
          <a:prstGeom prst="rect">
            <a:avLst/>
          </a:prstGeom>
          <a:solidFill>
            <a:srgbClr val="FDECE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C0392B"/>
                </a:solidFill>
                <a:latin typeface="Arial"/>
              </a:rPr>
              <a:t>Tuần này CTE-D5 được nêu tên:  </a:t>
            </a:r>
            <a:r>
              <a:rPr sz="950" b="0" i="0">
                <a:solidFill>
                  <a:srgbClr val="5C6B62"/>
                </a:solidFill>
                <a:latin typeface="Arial"/>
              </a:rPr>
              <a:t>tin đặt tròng riêng, tin kiểm tra việc đeo tròng sau khi nhận và tin mời tái khám đều đang thiếu đối với khách Ortho-K.</a:t>
            </a:r>
          </a:p>
        </p:txBody>
      </p:sp>
      <p:sp>
        <p:nvSpPr>
          <p:cNvPr id="10" name="Rectangle 9"/>
          <p:cNvSpPr/>
          <p:nvPr/>
        </p:nvSpPr>
        <p:spPr>
          <a:xfrm>
            <a:off x="502920" y="2048256"/>
            <a:ext cx="1801368"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1" name="Rectangle 10"/>
          <p:cNvSpPr/>
          <p:nvPr/>
        </p:nvSpPr>
        <p:spPr>
          <a:xfrm>
            <a:off x="502920" y="2048256"/>
            <a:ext cx="1801368" cy="27432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950" b="1" i="0">
                <a:solidFill>
                  <a:srgbClr val="FFFFFF"/>
                </a:solidFill>
                <a:latin typeface="Arial"/>
              </a:rPr>
              <a:t>CD</a:t>
            </a:r>
          </a:p>
        </p:txBody>
      </p:sp>
      <p:sp>
        <p:nvSpPr>
          <p:cNvPr id="12" name="TextBox 11"/>
          <p:cNvSpPr txBox="1"/>
          <p:nvPr/>
        </p:nvSpPr>
        <p:spPr>
          <a:xfrm>
            <a:off x="521208" y="2359152"/>
            <a:ext cx="1764792" cy="182880"/>
          </a:xfrm>
          <a:prstGeom prst="rect">
            <a:avLst/>
          </a:prstGeom>
          <a:noFill/>
        </p:spPr>
        <p:txBody>
          <a:bodyPr wrap="square" lIns="45720" rIns="45720" tIns="18288" bIns="18288">
            <a:spAutoFit/>
          </a:bodyPr>
          <a:lstStyle/>
          <a:p>
            <a:pPr algn="ctr"/>
            <a:r>
              <a:rPr sz="750" b="1" i="0">
                <a:solidFill>
                  <a:srgbClr val="2E9C4C"/>
                </a:solidFill>
                <a:latin typeface="Arial"/>
              </a:rPr>
              <a:t>ngày nhận kính</a:t>
            </a:r>
          </a:p>
        </p:txBody>
      </p:sp>
      <p:sp>
        <p:nvSpPr>
          <p:cNvPr id="13" name="TextBox 12"/>
          <p:cNvSpPr txBox="1"/>
          <p:nvPr/>
        </p:nvSpPr>
        <p:spPr>
          <a:xfrm>
            <a:off x="612648" y="2560320"/>
            <a:ext cx="1581912" cy="877824"/>
          </a:xfrm>
          <a:prstGeom prst="rect">
            <a:avLst/>
          </a:prstGeom>
          <a:noFill/>
        </p:spPr>
        <p:txBody>
          <a:bodyPr wrap="square" lIns="45720" rIns="45720" tIns="18288" bIns="18288">
            <a:spAutoFit/>
          </a:bodyPr>
          <a:lstStyle/>
          <a:p>
            <a:pPr algn="l">
              <a:lnSpc>
                <a:spcPct val="110000"/>
              </a:lnSpc>
            </a:pPr>
            <a:r>
              <a:rPr sz="800" b="0" i="0">
                <a:solidFill>
                  <a:srgbClr val="5C6B62"/>
                </a:solidFill>
                <a:latin typeface="Arial"/>
              </a:rPr>
              <a:t>Hướng dẫn sử dụng, rồi quyền lợi sau khi phụ huynh phản hồi, rồi đề nghị giới thiệu</a:t>
            </a:r>
          </a:p>
        </p:txBody>
      </p:sp>
      <p:sp>
        <p:nvSpPr>
          <p:cNvPr id="14" name="Rectangle 13"/>
          <p:cNvSpPr/>
          <p:nvPr/>
        </p:nvSpPr>
        <p:spPr>
          <a:xfrm>
            <a:off x="2386584" y="2048256"/>
            <a:ext cx="1801368"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5" name="Rectangle 14"/>
          <p:cNvSpPr/>
          <p:nvPr/>
        </p:nvSpPr>
        <p:spPr>
          <a:xfrm>
            <a:off x="2386584" y="2048256"/>
            <a:ext cx="1801368" cy="274320"/>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950" b="1" i="0">
                <a:solidFill>
                  <a:srgbClr val="FFFFFF"/>
                </a:solidFill>
                <a:latin typeface="Arial"/>
              </a:rPr>
              <a:t>CDN</a:t>
            </a:r>
          </a:p>
        </p:txBody>
      </p:sp>
      <p:sp>
        <p:nvSpPr>
          <p:cNvPr id="16" name="TextBox 15"/>
          <p:cNvSpPr txBox="1"/>
          <p:nvPr/>
        </p:nvSpPr>
        <p:spPr>
          <a:xfrm>
            <a:off x="2404872" y="2359152"/>
            <a:ext cx="1764792" cy="182880"/>
          </a:xfrm>
          <a:prstGeom prst="rect">
            <a:avLst/>
          </a:prstGeom>
          <a:noFill/>
        </p:spPr>
        <p:txBody>
          <a:bodyPr wrap="square" lIns="45720" rIns="45720" tIns="18288" bIns="18288">
            <a:spAutoFit/>
          </a:bodyPr>
          <a:lstStyle/>
          <a:p>
            <a:pPr algn="ctr"/>
            <a:r>
              <a:rPr sz="750" b="1" i="0">
                <a:solidFill>
                  <a:srgbClr val="5B2C6F"/>
                </a:solidFill>
                <a:latin typeface="Arial"/>
              </a:rPr>
              <a:t>tối ngày nhận kính</a:t>
            </a:r>
          </a:p>
        </p:txBody>
      </p:sp>
      <p:sp>
        <p:nvSpPr>
          <p:cNvPr id="17" name="TextBox 16"/>
          <p:cNvSpPr txBox="1"/>
          <p:nvPr/>
        </p:nvSpPr>
        <p:spPr>
          <a:xfrm>
            <a:off x="2496312" y="2560320"/>
            <a:ext cx="1581912" cy="877824"/>
          </a:xfrm>
          <a:prstGeom prst="rect">
            <a:avLst/>
          </a:prstGeom>
          <a:noFill/>
        </p:spPr>
        <p:txBody>
          <a:bodyPr wrap="square" lIns="45720" rIns="45720" tIns="18288" bIns="18288">
            <a:spAutoFit/>
          </a:bodyPr>
          <a:lstStyle/>
          <a:p>
            <a:pPr algn="l">
              <a:lnSpc>
                <a:spcPct val="110000"/>
              </a:lnSpc>
            </a:pPr>
            <a:r>
              <a:rPr sz="800" b="0" i="0">
                <a:solidFill>
                  <a:srgbClr val="5C6B62"/>
                </a:solidFill>
                <a:latin typeface="Arial"/>
              </a:rPr>
              <a:t>Hỏi về lần đeo Ortho-K đầu tiên. Hỗ trợ điều chỉnh nếu tròng chưa vừa</a:t>
            </a:r>
          </a:p>
        </p:txBody>
      </p:sp>
      <p:sp>
        <p:nvSpPr>
          <p:cNvPr id="18" name="Rectangle 17"/>
          <p:cNvSpPr/>
          <p:nvPr/>
        </p:nvSpPr>
        <p:spPr>
          <a:xfrm>
            <a:off x="2496312" y="3273552"/>
            <a:ext cx="1581912" cy="20116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650" b="1" i="0">
                <a:solidFill>
                  <a:srgbClr val="31633D"/>
                </a:solidFill>
                <a:latin typeface="Arial"/>
              </a:rPr>
              <a:t>TUẦN ĐẦU</a:t>
            </a:r>
          </a:p>
        </p:txBody>
      </p:sp>
      <p:sp>
        <p:nvSpPr>
          <p:cNvPr id="19" name="Rectangle 18"/>
          <p:cNvSpPr/>
          <p:nvPr/>
        </p:nvSpPr>
        <p:spPr>
          <a:xfrm>
            <a:off x="4270248" y="2048256"/>
            <a:ext cx="1801368"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0" name="Rectangle 19"/>
          <p:cNvSpPr/>
          <p:nvPr/>
        </p:nvSpPr>
        <p:spPr>
          <a:xfrm>
            <a:off x="4270248" y="2048256"/>
            <a:ext cx="1801368" cy="274320"/>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950" b="1" i="0">
                <a:solidFill>
                  <a:srgbClr val="FFFFFF"/>
                </a:solidFill>
                <a:latin typeface="Arial"/>
              </a:rPr>
              <a:t>CD+1</a:t>
            </a:r>
          </a:p>
        </p:txBody>
      </p:sp>
      <p:sp>
        <p:nvSpPr>
          <p:cNvPr id="21" name="TextBox 20"/>
          <p:cNvSpPr txBox="1"/>
          <p:nvPr/>
        </p:nvSpPr>
        <p:spPr>
          <a:xfrm>
            <a:off x="4288536" y="2359152"/>
            <a:ext cx="1764792" cy="182880"/>
          </a:xfrm>
          <a:prstGeom prst="rect">
            <a:avLst/>
          </a:prstGeom>
          <a:noFill/>
        </p:spPr>
        <p:txBody>
          <a:bodyPr wrap="square" lIns="45720" rIns="45720" tIns="18288" bIns="18288">
            <a:spAutoFit/>
          </a:bodyPr>
          <a:lstStyle/>
          <a:p>
            <a:pPr algn="ctr"/>
            <a:r>
              <a:rPr sz="750" b="1" i="0">
                <a:solidFill>
                  <a:srgbClr val="5B2C6F"/>
                </a:solidFill>
                <a:latin typeface="Arial"/>
              </a:rPr>
              <a:t>ngày kế tiếp</a:t>
            </a:r>
          </a:p>
        </p:txBody>
      </p:sp>
      <p:sp>
        <p:nvSpPr>
          <p:cNvPr id="22" name="TextBox 21"/>
          <p:cNvSpPr txBox="1"/>
          <p:nvPr/>
        </p:nvSpPr>
        <p:spPr>
          <a:xfrm>
            <a:off x="4379976" y="2560320"/>
            <a:ext cx="1581912" cy="877824"/>
          </a:xfrm>
          <a:prstGeom prst="rect">
            <a:avLst/>
          </a:prstGeom>
          <a:noFill/>
        </p:spPr>
        <p:txBody>
          <a:bodyPr wrap="square" lIns="45720" rIns="45720" tIns="18288" bIns="18288">
            <a:spAutoFit/>
          </a:bodyPr>
          <a:lstStyle/>
          <a:p>
            <a:pPr algn="l">
              <a:lnSpc>
                <a:spcPct val="110000"/>
              </a:lnSpc>
            </a:pPr>
            <a:r>
              <a:rPr sz="800" b="0" i="0">
                <a:solidFill>
                  <a:srgbClr val="5C6B62"/>
                </a:solidFill>
                <a:latin typeface="Arial"/>
              </a:rPr>
              <a:t>Kiểm tra đêm đầu tiên thế nào. Đề nghị giới thiệu</a:t>
            </a:r>
          </a:p>
        </p:txBody>
      </p:sp>
      <p:sp>
        <p:nvSpPr>
          <p:cNvPr id="23" name="Rectangle 22"/>
          <p:cNvSpPr/>
          <p:nvPr/>
        </p:nvSpPr>
        <p:spPr>
          <a:xfrm>
            <a:off x="4379976" y="3273552"/>
            <a:ext cx="1581912" cy="20116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650" b="1" i="0">
                <a:solidFill>
                  <a:srgbClr val="31633D"/>
                </a:solidFill>
                <a:latin typeface="Arial"/>
              </a:rPr>
              <a:t>TUẦN ĐẦU</a:t>
            </a:r>
          </a:p>
        </p:txBody>
      </p:sp>
      <p:sp>
        <p:nvSpPr>
          <p:cNvPr id="24" name="Rectangle 23"/>
          <p:cNvSpPr/>
          <p:nvPr/>
        </p:nvSpPr>
        <p:spPr>
          <a:xfrm>
            <a:off x="6153912" y="2048256"/>
            <a:ext cx="1801368"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5" name="Rectangle 24"/>
          <p:cNvSpPr/>
          <p:nvPr/>
        </p:nvSpPr>
        <p:spPr>
          <a:xfrm>
            <a:off x="6153912" y="2048256"/>
            <a:ext cx="1801368" cy="274320"/>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950" b="1" i="0">
                <a:solidFill>
                  <a:srgbClr val="FFFFFF"/>
                </a:solidFill>
                <a:latin typeface="Arial"/>
              </a:rPr>
              <a:t>CD+3-5</a:t>
            </a:r>
          </a:p>
        </p:txBody>
      </p:sp>
      <p:sp>
        <p:nvSpPr>
          <p:cNvPr id="26" name="TextBox 25"/>
          <p:cNvSpPr txBox="1"/>
          <p:nvPr/>
        </p:nvSpPr>
        <p:spPr>
          <a:xfrm>
            <a:off x="6172200" y="2359152"/>
            <a:ext cx="1764792" cy="182880"/>
          </a:xfrm>
          <a:prstGeom prst="rect">
            <a:avLst/>
          </a:prstGeom>
          <a:noFill/>
        </p:spPr>
        <p:txBody>
          <a:bodyPr wrap="square" lIns="45720" rIns="45720" tIns="18288" bIns="18288">
            <a:spAutoFit/>
          </a:bodyPr>
          <a:lstStyle/>
          <a:p>
            <a:pPr algn="ctr"/>
            <a:r>
              <a:rPr sz="750" b="1" i="0">
                <a:solidFill>
                  <a:srgbClr val="0C989A"/>
                </a:solidFill>
                <a:latin typeface="Arial"/>
              </a:rPr>
              <a:t>kiểm tra chăm sóc</a:t>
            </a:r>
          </a:p>
        </p:txBody>
      </p:sp>
      <p:sp>
        <p:nvSpPr>
          <p:cNvPr id="27" name="TextBox 26"/>
          <p:cNvSpPr txBox="1"/>
          <p:nvPr/>
        </p:nvSpPr>
        <p:spPr>
          <a:xfrm>
            <a:off x="6263640" y="2560320"/>
            <a:ext cx="1581912" cy="877824"/>
          </a:xfrm>
          <a:prstGeom prst="rect">
            <a:avLst/>
          </a:prstGeom>
          <a:noFill/>
        </p:spPr>
        <p:txBody>
          <a:bodyPr wrap="square" lIns="45720" rIns="45720" tIns="18288" bIns="18288">
            <a:spAutoFit/>
          </a:bodyPr>
          <a:lstStyle/>
          <a:p>
            <a:pPr algn="l">
              <a:lnSpc>
                <a:spcPct val="110000"/>
              </a:lnSpc>
            </a:pPr>
            <a:r>
              <a:rPr sz="800" b="0" i="0">
                <a:solidFill>
                  <a:srgbClr val="5C6B62"/>
                </a:solidFill>
                <a:latin typeface="Arial"/>
              </a:rPr>
              <a:t>Hỏi xem bé dùng kính thế nào, rồi đề nghị giới thiệu sau khi khách phản hồi</a:t>
            </a:r>
          </a:p>
        </p:txBody>
      </p:sp>
      <p:sp>
        <p:nvSpPr>
          <p:cNvPr id="28" name="Rectangle 27"/>
          <p:cNvSpPr/>
          <p:nvPr/>
        </p:nvSpPr>
        <p:spPr>
          <a:xfrm>
            <a:off x="6263640" y="3273552"/>
            <a:ext cx="1581912" cy="20116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650" b="1" i="0">
                <a:solidFill>
                  <a:srgbClr val="31633D"/>
                </a:solidFill>
                <a:latin typeface="Arial"/>
              </a:rPr>
              <a:t>TUẦN ĐẦU</a:t>
            </a:r>
          </a:p>
        </p:txBody>
      </p:sp>
      <p:sp>
        <p:nvSpPr>
          <p:cNvPr id="29" name="Rectangle 28"/>
          <p:cNvSpPr/>
          <p:nvPr/>
        </p:nvSpPr>
        <p:spPr>
          <a:xfrm>
            <a:off x="8037576" y="2048256"/>
            <a:ext cx="1801368"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0" name="Rectangle 29"/>
          <p:cNvSpPr/>
          <p:nvPr/>
        </p:nvSpPr>
        <p:spPr>
          <a:xfrm>
            <a:off x="8037576" y="2048256"/>
            <a:ext cx="1801368" cy="274320"/>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950" b="1" i="0">
                <a:solidFill>
                  <a:srgbClr val="FFFFFF"/>
                </a:solidFill>
                <a:latin typeface="Arial"/>
              </a:rPr>
              <a:t>CD+7</a:t>
            </a:r>
          </a:p>
        </p:txBody>
      </p:sp>
      <p:sp>
        <p:nvSpPr>
          <p:cNvPr id="31" name="TextBox 30"/>
          <p:cNvSpPr txBox="1"/>
          <p:nvPr/>
        </p:nvSpPr>
        <p:spPr>
          <a:xfrm>
            <a:off x="8055864" y="2359152"/>
            <a:ext cx="1764792" cy="182880"/>
          </a:xfrm>
          <a:prstGeom prst="rect">
            <a:avLst/>
          </a:prstGeom>
          <a:noFill/>
        </p:spPr>
        <p:txBody>
          <a:bodyPr wrap="square" lIns="45720" rIns="45720" tIns="18288" bIns="18288">
            <a:spAutoFit/>
          </a:bodyPr>
          <a:lstStyle/>
          <a:p>
            <a:pPr algn="ctr"/>
            <a:r>
              <a:rPr sz="750" b="1" i="0">
                <a:solidFill>
                  <a:srgbClr val="0C989A"/>
                </a:solidFill>
                <a:latin typeface="Arial"/>
              </a:rPr>
              <a:t>kiểm tra sử dụng</a:t>
            </a:r>
          </a:p>
        </p:txBody>
      </p:sp>
      <p:sp>
        <p:nvSpPr>
          <p:cNvPr id="32" name="TextBox 31"/>
          <p:cNvSpPr txBox="1"/>
          <p:nvPr/>
        </p:nvSpPr>
        <p:spPr>
          <a:xfrm>
            <a:off x="8147304" y="2560320"/>
            <a:ext cx="1581912" cy="877824"/>
          </a:xfrm>
          <a:prstGeom prst="rect">
            <a:avLst/>
          </a:prstGeom>
          <a:noFill/>
        </p:spPr>
        <p:txBody>
          <a:bodyPr wrap="square" lIns="45720" rIns="45720" tIns="18288" bIns="18288">
            <a:spAutoFit/>
          </a:bodyPr>
          <a:lstStyle/>
          <a:p>
            <a:pPr algn="l">
              <a:lnSpc>
                <a:spcPct val="110000"/>
              </a:lnSpc>
            </a:pPr>
            <a:r>
              <a:rPr sz="800" b="0" i="0">
                <a:solidFill>
                  <a:srgbClr val="5C6B62"/>
                </a:solidFill>
                <a:latin typeface="Arial"/>
              </a:rPr>
              <a:t>Hẹn lịch tái khám. Quyền lợi. Đề nghị giới thiệu</a:t>
            </a:r>
          </a:p>
        </p:txBody>
      </p:sp>
      <p:sp>
        <p:nvSpPr>
          <p:cNvPr id="33" name="Rectangle 32"/>
          <p:cNvSpPr/>
          <p:nvPr/>
        </p:nvSpPr>
        <p:spPr>
          <a:xfrm>
            <a:off x="8147304" y="3273552"/>
            <a:ext cx="1581912" cy="201168"/>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650" b="1" i="0">
                <a:solidFill>
                  <a:srgbClr val="31633D"/>
                </a:solidFill>
                <a:latin typeface="Arial"/>
              </a:rPr>
              <a:t>TUẦN ĐẦU</a:t>
            </a:r>
          </a:p>
        </p:txBody>
      </p:sp>
      <p:sp>
        <p:nvSpPr>
          <p:cNvPr id="34" name="Rectangle 33"/>
          <p:cNvSpPr/>
          <p:nvPr/>
        </p:nvSpPr>
        <p:spPr>
          <a:xfrm>
            <a:off x="9921240" y="2048256"/>
            <a:ext cx="1801368" cy="1481328"/>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5" name="Rectangle 34"/>
          <p:cNvSpPr/>
          <p:nvPr/>
        </p:nvSpPr>
        <p:spPr>
          <a:xfrm>
            <a:off x="9921240" y="2048256"/>
            <a:ext cx="1801368" cy="274320"/>
          </a:xfrm>
          <a:prstGeom prst="rect">
            <a:avLst/>
          </a:prstGeom>
          <a:solidFill>
            <a:srgbClr val="B9770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0" bIns="0" lIns="18288" rIns="18288"/>
          <a:lstStyle/>
          <a:p>
            <a:pPr algn="ctr"/>
            <a:r>
              <a:rPr sz="950" b="1" i="0">
                <a:solidFill>
                  <a:srgbClr val="FFFFFF"/>
                </a:solidFill>
                <a:latin typeface="Arial"/>
              </a:rPr>
              <a:t>CD+30</a:t>
            </a:r>
          </a:p>
        </p:txBody>
      </p:sp>
      <p:sp>
        <p:nvSpPr>
          <p:cNvPr id="36" name="TextBox 35"/>
          <p:cNvSpPr txBox="1"/>
          <p:nvPr/>
        </p:nvSpPr>
        <p:spPr>
          <a:xfrm>
            <a:off x="9939528" y="2359152"/>
            <a:ext cx="1764792" cy="182880"/>
          </a:xfrm>
          <a:prstGeom prst="rect">
            <a:avLst/>
          </a:prstGeom>
          <a:noFill/>
        </p:spPr>
        <p:txBody>
          <a:bodyPr wrap="square" lIns="45720" rIns="45720" tIns="18288" bIns="18288">
            <a:spAutoFit/>
          </a:bodyPr>
          <a:lstStyle/>
          <a:p>
            <a:pPr algn="ctr"/>
            <a:r>
              <a:rPr sz="750" b="1" i="0">
                <a:solidFill>
                  <a:srgbClr val="B9770B"/>
                </a:solidFill>
                <a:latin typeface="Arial"/>
              </a:rPr>
              <a:t>rà soát sử dụng</a:t>
            </a:r>
          </a:p>
        </p:txBody>
      </p:sp>
      <p:sp>
        <p:nvSpPr>
          <p:cNvPr id="37" name="TextBox 36"/>
          <p:cNvSpPr txBox="1"/>
          <p:nvPr/>
        </p:nvSpPr>
        <p:spPr>
          <a:xfrm>
            <a:off x="10030968" y="2560320"/>
            <a:ext cx="1581912" cy="877824"/>
          </a:xfrm>
          <a:prstGeom prst="rect">
            <a:avLst/>
          </a:prstGeom>
          <a:noFill/>
        </p:spPr>
        <p:txBody>
          <a:bodyPr wrap="square" lIns="45720" rIns="45720" tIns="18288" bIns="18288">
            <a:spAutoFit/>
          </a:bodyPr>
          <a:lstStyle/>
          <a:p>
            <a:pPr algn="l">
              <a:lnSpc>
                <a:spcPct val="110000"/>
              </a:lnSpc>
            </a:pPr>
            <a:r>
              <a:rPr sz="800" b="0" i="0">
                <a:solidFill>
                  <a:srgbClr val="5C6B62"/>
                </a:solidFill>
                <a:latin typeface="Arial"/>
              </a:rPr>
              <a:t>Hẹn lịch tái khám. Nhắc đeo ≥ 6 lần mỗi tuần. Quyền lợi</a:t>
            </a:r>
          </a:p>
        </p:txBody>
      </p:sp>
      <p:sp>
        <p:nvSpPr>
          <p:cNvPr id="38" name="Rectangle 37"/>
          <p:cNvSpPr/>
          <p:nvPr/>
        </p:nvSpPr>
        <p:spPr>
          <a:xfrm>
            <a:off x="502920" y="3694176"/>
            <a:ext cx="5486400" cy="1005840"/>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9" name="TextBox 38"/>
          <p:cNvSpPr txBox="1"/>
          <p:nvPr/>
        </p:nvSpPr>
        <p:spPr>
          <a:xfrm>
            <a:off x="649224" y="3785615"/>
            <a:ext cx="5193792" cy="201168"/>
          </a:xfrm>
          <a:prstGeom prst="rect">
            <a:avLst/>
          </a:prstGeom>
          <a:noFill/>
        </p:spPr>
        <p:txBody>
          <a:bodyPr wrap="square" lIns="45720" rIns="45720" tIns="18288" bIns="18288">
            <a:spAutoFit/>
          </a:bodyPr>
          <a:lstStyle/>
          <a:p>
            <a:pPr algn="l"/>
            <a:r>
              <a:rPr sz="950" b="1" i="0">
                <a:solidFill>
                  <a:srgbClr val="31633D"/>
                </a:solidFill>
                <a:latin typeface="Arial"/>
              </a:rPr>
              <a:t>Ortho-K có thêm những mốc mà kính thường không có</a:t>
            </a:r>
          </a:p>
        </p:txBody>
      </p:sp>
      <p:sp>
        <p:nvSpPr>
          <p:cNvPr id="40" name="TextBox 39"/>
          <p:cNvSpPr txBox="1"/>
          <p:nvPr/>
        </p:nvSpPr>
        <p:spPr>
          <a:xfrm>
            <a:off x="649224" y="3986784"/>
            <a:ext cx="5193792" cy="640080"/>
          </a:xfrm>
          <a:prstGeom prst="rect">
            <a:avLst/>
          </a:prstGeom>
          <a:noFill/>
        </p:spPr>
        <p:txBody>
          <a:bodyPr wrap="square" lIns="45720" rIns="45720" tIns="18288" bIns="18288">
            <a:spAutoFit/>
          </a:bodyPr>
          <a:lstStyle/>
          <a:p>
            <a:pPr algn="l">
              <a:lnSpc>
                <a:spcPct val="110000"/>
              </a:lnSpc>
            </a:pPr>
            <a:r>
              <a:rPr sz="850" b="0" i="0">
                <a:solidFill>
                  <a:srgbClr val="5C6B62"/>
                </a:solidFill>
                <a:latin typeface="Arial"/>
              </a:rPr>
              <a:t>CDN và CD+1 chỉ áp dụng cho Ortho-K. Bé đeo tròng cứng qua đêm lần đầu sẽ được hỏi thăm ngay tối đó và hỏi lại vào sáng hôm sau.</a:t>
            </a:r>
          </a:p>
        </p:txBody>
      </p:sp>
      <p:sp>
        <p:nvSpPr>
          <p:cNvPr id="41" name="Rectangle 40"/>
          <p:cNvSpPr/>
          <p:nvPr/>
        </p:nvSpPr>
        <p:spPr>
          <a:xfrm>
            <a:off x="6199632" y="3694176"/>
            <a:ext cx="5486400" cy="1005840"/>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2" name="TextBox 41"/>
          <p:cNvSpPr txBox="1"/>
          <p:nvPr/>
        </p:nvSpPr>
        <p:spPr>
          <a:xfrm>
            <a:off x="6345936" y="3785615"/>
            <a:ext cx="5193792" cy="201168"/>
          </a:xfrm>
          <a:prstGeom prst="rect">
            <a:avLst/>
          </a:prstGeom>
          <a:noFill/>
        </p:spPr>
        <p:txBody>
          <a:bodyPr wrap="square" lIns="45720" rIns="45720" tIns="18288" bIns="18288">
            <a:spAutoFit/>
          </a:bodyPr>
          <a:lstStyle/>
          <a:p>
            <a:pPr algn="l"/>
            <a:r>
              <a:rPr sz="950" b="1" i="0">
                <a:solidFill>
                  <a:srgbClr val="31633D"/>
                </a:solidFill>
                <a:latin typeface="Arial"/>
              </a:rPr>
              <a:t>Yêu cầu “2 đến 3 tin trong tuần đầu” của CZ nằm ở đâu</a:t>
            </a:r>
          </a:p>
        </p:txBody>
      </p:sp>
      <p:sp>
        <p:nvSpPr>
          <p:cNvPr id="43" name="TextBox 42"/>
          <p:cNvSpPr txBox="1"/>
          <p:nvPr/>
        </p:nvSpPr>
        <p:spPr>
          <a:xfrm>
            <a:off x="6345936" y="3986784"/>
            <a:ext cx="5193792" cy="640080"/>
          </a:xfrm>
          <a:prstGeom prst="rect">
            <a:avLst/>
          </a:prstGeom>
          <a:noFill/>
        </p:spPr>
        <p:txBody>
          <a:bodyPr wrap="square" lIns="45720" rIns="45720" tIns="18288" bIns="18288">
            <a:spAutoFit/>
          </a:bodyPr>
          <a:lstStyle/>
          <a:p>
            <a:pPr algn="l">
              <a:lnSpc>
                <a:spcPct val="110000"/>
              </a:lnSpc>
            </a:pPr>
            <a:r>
              <a:rPr sz="850" b="0" i="0">
                <a:solidFill>
                  <a:srgbClr val="5C6B62"/>
                </a:solidFill>
                <a:latin typeface="Arial"/>
              </a:rPr>
              <a:t>CDN, CD+1, CD+3-5 và CD+7 đều nằm trong tuần đầu sau khi nhận kính. Làm được hai đến ba mốc là mức tối thiểu CZ yêu cầu. CTE-D5 là chi nhánh được nêu tên là đang thiếu các mốc này.</a:t>
            </a:r>
          </a:p>
        </p:txBody>
      </p:sp>
      <p:sp>
        <p:nvSpPr>
          <p:cNvPr id="44" name="Rectangle 43"/>
          <p:cNvSpPr/>
          <p:nvPr/>
        </p:nvSpPr>
        <p:spPr>
          <a:xfrm>
            <a:off x="502920" y="4864608"/>
            <a:ext cx="11183112" cy="512064"/>
          </a:xfrm>
          <a:prstGeom prst="rect">
            <a:avLst/>
          </a:prstGeom>
          <a:solidFill>
            <a:srgbClr val="FDECEA"/>
          </a:solidFill>
          <a:ln w="9525">
            <a:solidFill>
              <a:srgbClr val="C0392B"/>
            </a:solid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28016"/>
          <a:lstStyle/>
          <a:p>
            <a:pPr algn="l"/>
            <a:r>
              <a:rPr sz="900" b="1" i="0">
                <a:solidFill>
                  <a:srgbClr val="C0392B"/>
                </a:solidFill>
                <a:latin typeface="Arial"/>
              </a:rPr>
              <a:t>Cần xác minh:  </a:t>
            </a:r>
            <a:r>
              <a:rPr sz="900" b="0" i="0">
                <a:solidFill>
                  <a:srgbClr val="5C6B62"/>
                </a:solidFill>
                <a:latin typeface="Arial"/>
              </a:rPr>
              <a:t>khách ở CTE-D7 được cho biết tròng Ortho-K dùng được 2–2,5 năm. CZ yêu cầu xác minh lại thông tin này trước khi nói với bất kỳ phụ huynh nào khác.</a:t>
            </a:r>
          </a:p>
        </p:txBody>
      </p:sp>
      <p:sp>
        <p:nvSpPr>
          <p:cNvPr id="45" name="Rectangle 44"/>
          <p:cNvSpPr/>
          <p:nvPr/>
        </p:nvSpPr>
        <p:spPr>
          <a:xfrm>
            <a:off x="502920" y="5669280"/>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6" name="Rectangle 45"/>
          <p:cNvSpPr/>
          <p:nvPr/>
        </p:nvSpPr>
        <p:spPr>
          <a:xfrm>
            <a:off x="566928" y="5669280"/>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100" b="1" i="0">
                <a:solidFill>
                  <a:srgbClr val="31633D"/>
                </a:solidFill>
                <a:latin typeface="Arial"/>
              </a:rPr>
              <a:t>Ortho-K không phải là kính thường gọi tên khác. Chỉ riêng tuần đầu đã có bốn tin chăm sóc.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5. PHẢN HỒI ZALO TỪ CZ   |   THEO CHI NHÁNH  ·  1 / 2</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CTE-D5, CTE-D7 và NGT</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7</a:t>
            </a:r>
          </a:p>
        </p:txBody>
      </p:sp>
      <p:sp>
        <p:nvSpPr>
          <p:cNvPr id="8" name="TextBox 7"/>
          <p:cNvSpPr txBox="1"/>
          <p:nvPr/>
        </p:nvSpPr>
        <p:spPr>
          <a:xfrm>
            <a:off x="502920" y="1261872"/>
            <a:ext cx="11183112" cy="219456"/>
          </a:xfrm>
          <a:prstGeom prst="rect">
            <a:avLst/>
          </a:prstGeom>
          <a:noFill/>
        </p:spPr>
        <p:txBody>
          <a:bodyPr wrap="square" lIns="45720" rIns="45720" tIns="18288" bIns="18288">
            <a:spAutoFit/>
          </a:bodyPr>
          <a:lstStyle/>
          <a:p>
            <a:pPr algn="l">
              <a:lnSpc>
                <a:spcPct val="95000"/>
              </a:lnSpc>
            </a:pPr>
            <a:r>
              <a:rPr sz="1000" b="0" i="1">
                <a:solidFill>
                  <a:srgbClr val="5C6B62"/>
                </a:solidFill>
                <a:latin typeface="Arial"/>
              </a:rPr>
              <a:t>CTE-D7 tạo ra các mẫu tin nhắn mà chúng ta sẽ áp dụng, và NGT đã có tiến bộ. CTE-D5 là chi nhánh duy nhất giữ nguyên nhận xét của tuần trước, nay thêm cả phần Ortho-K.</a:t>
            </a:r>
          </a:p>
        </p:txBody>
      </p:sp>
      <p:sp>
        <p:nvSpPr>
          <p:cNvPr id="9" name="Rectangle 8"/>
          <p:cNvSpPr/>
          <p:nvPr/>
        </p:nvSpPr>
        <p:spPr>
          <a:xfrm>
            <a:off x="502920" y="1591056"/>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Rectangle 9"/>
          <p:cNvSpPr/>
          <p:nvPr/>
        </p:nvSpPr>
        <p:spPr>
          <a:xfrm>
            <a:off x="502920" y="1591056"/>
            <a:ext cx="54864" cy="1325880"/>
          </a:xfrm>
          <a:prstGeom prst="rect">
            <a:avLst/>
          </a:prstGeom>
          <a:solidFill>
            <a:srgbClr val="C0392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1" name="TextBox 10"/>
          <p:cNvSpPr txBox="1"/>
          <p:nvPr/>
        </p:nvSpPr>
        <p:spPr>
          <a:xfrm>
            <a:off x="694944" y="1673352"/>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CTE-D5</a:t>
            </a:r>
          </a:p>
        </p:txBody>
      </p:sp>
      <p:sp>
        <p:nvSpPr>
          <p:cNvPr id="12" name="TextBox 11"/>
          <p:cNvSpPr txBox="1"/>
          <p:nvPr/>
        </p:nvSpPr>
        <p:spPr>
          <a:xfrm>
            <a:off x="694944" y="1929384"/>
            <a:ext cx="1783080" cy="384048"/>
          </a:xfrm>
          <a:prstGeom prst="rect">
            <a:avLst/>
          </a:prstGeom>
          <a:noFill/>
        </p:spPr>
        <p:txBody>
          <a:bodyPr wrap="square" lIns="45720" rIns="45720" tIns="18288" bIns="18288">
            <a:spAutoFit/>
          </a:bodyPr>
          <a:lstStyle/>
          <a:p>
            <a:pPr algn="l">
              <a:lnSpc>
                <a:spcPct val="104000"/>
              </a:lnSpc>
            </a:pPr>
            <a:r>
              <a:rPr sz="800" b="1" i="0">
                <a:solidFill>
                  <a:srgbClr val="C0392B"/>
                </a:solidFill>
                <a:latin typeface="Arial"/>
              </a:rPr>
              <a:t>Không thay đổi — vẫn chỉ có quyền lợi rồi hết</a:t>
            </a:r>
          </a:p>
        </p:txBody>
      </p:sp>
      <p:sp>
        <p:nvSpPr>
          <p:cNvPr id="13" name="Rectangle 12"/>
          <p:cNvSpPr/>
          <p:nvPr/>
        </p:nvSpPr>
        <p:spPr>
          <a:xfrm>
            <a:off x="694944" y="2395728"/>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54864"/>
          <a:lstStyle/>
          <a:p>
            <a:pPr algn="l">
              <a:spcAft>
                <a:spcPts val="100"/>
              </a:spcAft>
            </a:pPr>
            <a:r>
              <a:rPr sz="650" b="1" i="0">
                <a:solidFill>
                  <a:srgbClr val="2E9C4C"/>
                </a:solidFill>
                <a:latin typeface="Arial"/>
              </a:rPr>
              <a:t>so với tuần trước</a:t>
            </a:r>
          </a:p>
          <a:p>
            <a:pPr algn="l">
              <a:lnSpc>
                <a:spcPct val="104000"/>
              </a:lnSpc>
            </a:pPr>
            <a:r>
              <a:rPr sz="700" b="0" i="0">
                <a:solidFill>
                  <a:srgbClr val="5C6B62"/>
                </a:solidFill>
                <a:latin typeface="Arial"/>
              </a:rPr>
              <a:t>Vẫn như nhận xét tuần trước</a:t>
            </a:r>
          </a:p>
        </p:txBody>
      </p:sp>
      <p:sp>
        <p:nvSpPr>
          <p:cNvPr id="14" name="Rectangle 13"/>
          <p:cNvSpPr/>
          <p:nvPr/>
        </p:nvSpPr>
        <p:spPr>
          <a:xfrm>
            <a:off x="2505456"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5" name="TextBox 14"/>
          <p:cNvSpPr txBox="1"/>
          <p:nvPr/>
        </p:nvSpPr>
        <p:spPr>
          <a:xfrm>
            <a:off x="2670048" y="1682496"/>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ĐIỂM LÀM TỐT</a:t>
            </a:r>
          </a:p>
        </p:txBody>
      </p:sp>
      <p:sp>
        <p:nvSpPr>
          <p:cNvPr id="16" name="TextBox 15"/>
          <p:cNvSpPr txBox="1"/>
          <p:nvPr/>
        </p:nvSpPr>
        <p:spPr>
          <a:xfrm>
            <a:off x="2670048" y="1856231"/>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Phần ghi chú khách hàng trên Zalo nhìn chung là đúng.</a:t>
            </a:r>
          </a:p>
        </p:txBody>
      </p:sp>
      <p:sp>
        <p:nvSpPr>
          <p:cNvPr id="17" name="Rectangle 16"/>
          <p:cNvSpPr/>
          <p:nvPr/>
        </p:nvSpPr>
        <p:spPr>
          <a:xfrm>
            <a:off x="6821424"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8" name="TextBox 17"/>
          <p:cNvSpPr txBox="1"/>
          <p:nvPr/>
        </p:nvSpPr>
        <p:spPr>
          <a:xfrm>
            <a:off x="6967728" y="1682496"/>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ĐIỂM CẦN CẢI THIỆN</a:t>
            </a:r>
          </a:p>
        </p:txBody>
      </p:sp>
      <p:sp>
        <p:nvSpPr>
          <p:cNvPr id="19" name="TextBox 18"/>
          <p:cNvSpPr txBox="1"/>
          <p:nvPr/>
        </p:nvSpPr>
        <p:spPr>
          <a:xfrm>
            <a:off x="6967728" y="1856231"/>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Với phần lớn khách, sau tin quyền lợi thành viên là không còn liên hệ nào nữa.</a:t>
            </a:r>
          </a:p>
          <a:p>
            <a:pPr algn="l">
              <a:lnSpc>
                <a:spcPct val="106000"/>
              </a:lnSpc>
              <a:spcAft>
                <a:spcPts val="350"/>
              </a:spcAft>
            </a:pPr>
            <a:r>
              <a:rPr sz="850" b="0" i="0">
                <a:solidFill>
                  <a:srgbClr val="5C6B62"/>
                </a:solidFill>
                <a:latin typeface="Arial"/>
              </a:rPr>
              <a:t>▪  </a:t>
            </a:r>
            <a:r>
              <a:rPr sz="850" b="0" i="0">
                <a:solidFill>
                  <a:srgbClr val="5C6B62"/>
                </a:solidFill>
                <a:latin typeface="Arial"/>
              </a:rPr>
              <a:t>Rất ít khách nhận được tin hỏi thăm về việc sử dụng kính. Cần tăng số tin này.</a:t>
            </a:r>
          </a:p>
          <a:p>
            <a:pPr algn="l">
              <a:lnSpc>
                <a:spcPct val="106000"/>
              </a:lnSpc>
              <a:spcAft>
                <a:spcPts val="350"/>
              </a:spcAft>
            </a:pPr>
            <a:r>
              <a:rPr sz="850" b="0" i="0">
                <a:solidFill>
                  <a:srgbClr val="5C6B62"/>
                </a:solidFill>
                <a:latin typeface="Arial"/>
              </a:rPr>
              <a:t>▪  </a:t>
            </a:r>
            <a:r>
              <a:rPr sz="850" b="0" i="0">
                <a:solidFill>
                  <a:srgbClr val="5C6B62"/>
                </a:solidFill>
                <a:latin typeface="Arial"/>
              </a:rPr>
              <a:t>Khách Ortho-K chưa được quan tâm đủ — tin đặt tròng riêng, tin kiểm tra việc đeo sau khi nhận và tin mời tái khám đều đang thiếu.</a:t>
            </a:r>
          </a:p>
        </p:txBody>
      </p:sp>
      <p:sp>
        <p:nvSpPr>
          <p:cNvPr id="20" name="Rectangle 19"/>
          <p:cNvSpPr/>
          <p:nvPr/>
        </p:nvSpPr>
        <p:spPr>
          <a:xfrm>
            <a:off x="502920" y="3026663"/>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1" name="Rectangle 20"/>
          <p:cNvSpPr/>
          <p:nvPr/>
        </p:nvSpPr>
        <p:spPr>
          <a:xfrm>
            <a:off x="502920" y="3026663"/>
            <a:ext cx="54864" cy="132588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2" name="TextBox 21"/>
          <p:cNvSpPr txBox="1"/>
          <p:nvPr/>
        </p:nvSpPr>
        <p:spPr>
          <a:xfrm>
            <a:off x="694944" y="3108959"/>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CTE-D7</a:t>
            </a:r>
          </a:p>
        </p:txBody>
      </p:sp>
      <p:sp>
        <p:nvSpPr>
          <p:cNvPr id="23" name="TextBox 22"/>
          <p:cNvSpPr txBox="1"/>
          <p:nvPr/>
        </p:nvSpPr>
        <p:spPr>
          <a:xfrm>
            <a:off x="694944" y="3364991"/>
            <a:ext cx="1783080" cy="384048"/>
          </a:xfrm>
          <a:prstGeom prst="rect">
            <a:avLst/>
          </a:prstGeom>
          <a:noFill/>
        </p:spPr>
        <p:txBody>
          <a:bodyPr wrap="square" lIns="45720" rIns="45720" tIns="18288" bIns="18288">
            <a:spAutoFit/>
          </a:bodyPr>
          <a:lstStyle/>
          <a:p>
            <a:pPr algn="l">
              <a:lnSpc>
                <a:spcPct val="104000"/>
              </a:lnSpc>
            </a:pPr>
            <a:r>
              <a:rPr sz="800" b="1" i="0">
                <a:solidFill>
                  <a:srgbClr val="2E9C4C"/>
                </a:solidFill>
                <a:latin typeface="Arial"/>
              </a:rPr>
              <a:t>Hai tin nhắn được khuyến nghị áp dụng rộng</a:t>
            </a:r>
          </a:p>
        </p:txBody>
      </p:sp>
      <p:sp>
        <p:nvSpPr>
          <p:cNvPr id="24" name="Rectangle 23"/>
          <p:cNvSpPr/>
          <p:nvPr/>
        </p:nvSpPr>
        <p:spPr>
          <a:xfrm>
            <a:off x="694944" y="3831335"/>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54864"/>
          <a:lstStyle/>
          <a:p>
            <a:pPr algn="l">
              <a:spcAft>
                <a:spcPts val="100"/>
              </a:spcAft>
            </a:pPr>
            <a:r>
              <a:rPr sz="650" b="1" i="0">
                <a:solidFill>
                  <a:srgbClr val="2E9C4C"/>
                </a:solidFill>
                <a:latin typeface="Arial"/>
              </a:rPr>
              <a:t>so với tuần trước</a:t>
            </a:r>
          </a:p>
          <a:p>
            <a:pPr algn="l">
              <a:lnSpc>
                <a:spcPct val="104000"/>
              </a:lnSpc>
            </a:pPr>
            <a:r>
              <a:rPr sz="700" b="0" i="0">
                <a:solidFill>
                  <a:srgbClr val="5C6B62"/>
                </a:solidFill>
                <a:latin typeface="Arial"/>
              </a:rPr>
              <a:t>Hai mẫu tin được khuyến nghị</a:t>
            </a:r>
          </a:p>
        </p:txBody>
      </p:sp>
      <p:sp>
        <p:nvSpPr>
          <p:cNvPr id="25" name="Rectangle 24"/>
          <p:cNvSpPr/>
          <p:nvPr/>
        </p:nvSpPr>
        <p:spPr>
          <a:xfrm>
            <a:off x="2505456" y="3118103"/>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6" name="TextBox 25"/>
          <p:cNvSpPr txBox="1"/>
          <p:nvPr/>
        </p:nvSpPr>
        <p:spPr>
          <a:xfrm>
            <a:off x="2670048" y="3118103"/>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ĐIỂM LÀM TỐT</a:t>
            </a:r>
          </a:p>
        </p:txBody>
      </p:sp>
      <p:sp>
        <p:nvSpPr>
          <p:cNvPr id="27" name="TextBox 26"/>
          <p:cNvSpPr txBox="1"/>
          <p:nvPr/>
        </p:nvSpPr>
        <p:spPr>
          <a:xfrm>
            <a:off x="2670048" y="3291839"/>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Tin cập nhật tiến độ đặt kính làm tốt và được khuyến nghị áp dụng rộng — trang 5.</a:t>
            </a:r>
          </a:p>
          <a:p>
            <a:pPr algn="l">
              <a:lnSpc>
                <a:spcPct val="106000"/>
              </a:lnSpc>
              <a:spcAft>
                <a:spcPts val="350"/>
              </a:spcAft>
            </a:pPr>
            <a:r>
              <a:rPr sz="850" b="0" i="0">
                <a:solidFill>
                  <a:srgbClr val="5C6B62"/>
                </a:solidFill>
                <a:latin typeface="Arial"/>
              </a:rPr>
              <a:t>–  </a:t>
            </a:r>
            <a:r>
              <a:rPr sz="850" b="0" i="0">
                <a:solidFill>
                  <a:srgbClr val="5C6B62"/>
                </a:solidFill>
                <a:latin typeface="Arial"/>
              </a:rPr>
              <a:t>Tin thông báo nhận kính cũng làm tốt và được khuyến nghị áp dụng rộng — trang 5.</a:t>
            </a:r>
          </a:p>
        </p:txBody>
      </p:sp>
      <p:sp>
        <p:nvSpPr>
          <p:cNvPr id="28" name="Rectangle 27"/>
          <p:cNvSpPr/>
          <p:nvPr/>
        </p:nvSpPr>
        <p:spPr>
          <a:xfrm>
            <a:off x="6821424" y="3118103"/>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6967728" y="3118103"/>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ĐIỂM CẦN CẢI THIỆN</a:t>
            </a:r>
          </a:p>
        </p:txBody>
      </p:sp>
      <p:sp>
        <p:nvSpPr>
          <p:cNvPr id="30" name="TextBox 29"/>
          <p:cNvSpPr txBox="1"/>
          <p:nvPr/>
        </p:nvSpPr>
        <p:spPr>
          <a:xfrm>
            <a:off x="6967728" y="3291839"/>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Gửi tin quyền lợi thành viên ngay trong ngày khách nhận kính.</a:t>
            </a:r>
          </a:p>
          <a:p>
            <a:pPr algn="l">
              <a:lnSpc>
                <a:spcPct val="106000"/>
              </a:lnSpc>
              <a:spcAft>
                <a:spcPts val="350"/>
              </a:spcAft>
            </a:pPr>
            <a:r>
              <a:rPr sz="850" b="0" i="0">
                <a:solidFill>
                  <a:srgbClr val="5C6B62"/>
                </a:solidFill>
                <a:latin typeface="Arial"/>
              </a:rPr>
              <a:t>▪  </a:t>
            </a:r>
            <a:r>
              <a:rPr sz="850" b="0" i="0">
                <a:solidFill>
                  <a:srgbClr val="5C6B62"/>
                </a:solidFill>
                <a:latin typeface="Arial"/>
              </a:rPr>
              <a:t>Hỏi thăm việc sử dụng kính của bé ở cả CD7 và CD14–CD30. Việc này tạo niềm tin cho phụ huynh và tăng tỷ lệ phản hồi.</a:t>
            </a:r>
          </a:p>
          <a:p>
            <a:pPr algn="l">
              <a:lnSpc>
                <a:spcPct val="106000"/>
              </a:lnSpc>
              <a:spcAft>
                <a:spcPts val="350"/>
              </a:spcAft>
            </a:pPr>
            <a:r>
              <a:rPr sz="850" b="0" i="0">
                <a:solidFill>
                  <a:srgbClr val="5C6B62"/>
                </a:solidFill>
                <a:latin typeface="Arial"/>
              </a:rPr>
              <a:t>▪  </a:t>
            </a:r>
            <a:r>
              <a:rPr sz="850" b="0" i="0">
                <a:solidFill>
                  <a:srgbClr val="5C6B62"/>
                </a:solidFill>
                <a:latin typeface="Arial"/>
              </a:rPr>
              <a:t>Khách được cho biết tròng Ortho-K dùng được 2–2,5 năm. Vui lòng xác minh lại.</a:t>
            </a:r>
          </a:p>
          <a:p>
            <a:pPr algn="l">
              <a:lnSpc>
                <a:spcPct val="106000"/>
              </a:lnSpc>
              <a:spcAft>
                <a:spcPts val="350"/>
              </a:spcAft>
            </a:pPr>
            <a:r>
              <a:rPr sz="850" b="0" i="0">
                <a:solidFill>
                  <a:srgbClr val="5C6B62"/>
                </a:solidFill>
                <a:latin typeface="Arial"/>
              </a:rPr>
              <a:t>▪  </a:t>
            </a:r>
            <a:r>
              <a:rPr sz="850" b="0" i="0">
                <a:solidFill>
                  <a:srgbClr val="5C6B62"/>
                </a:solidFill>
                <a:latin typeface="Arial"/>
              </a:rPr>
              <a:t>Dùng tin nhắn giới thiệu rút gọn với khách đang trao đổi cởi mở, và tự lấy thông tin khách mới khi có thành viên giới thiệu.</a:t>
            </a:r>
          </a:p>
        </p:txBody>
      </p:sp>
      <p:sp>
        <p:nvSpPr>
          <p:cNvPr id="31" name="Rectangle 30"/>
          <p:cNvSpPr/>
          <p:nvPr/>
        </p:nvSpPr>
        <p:spPr>
          <a:xfrm>
            <a:off x="502920" y="4462271"/>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2" name="Rectangle 31"/>
          <p:cNvSpPr/>
          <p:nvPr/>
        </p:nvSpPr>
        <p:spPr>
          <a:xfrm>
            <a:off x="502920" y="4462271"/>
            <a:ext cx="54864" cy="1325880"/>
          </a:xfrm>
          <a:prstGeom prst="rect">
            <a:avLst/>
          </a:prstGeom>
          <a:solidFill>
            <a:srgbClr val="B9770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3" name="TextBox 32"/>
          <p:cNvSpPr txBox="1"/>
          <p:nvPr/>
        </p:nvSpPr>
        <p:spPr>
          <a:xfrm>
            <a:off x="694944" y="4544567"/>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NGT</a:t>
            </a:r>
          </a:p>
        </p:txBody>
      </p:sp>
      <p:sp>
        <p:nvSpPr>
          <p:cNvPr id="34" name="TextBox 33"/>
          <p:cNvSpPr txBox="1"/>
          <p:nvPr/>
        </p:nvSpPr>
        <p:spPr>
          <a:xfrm>
            <a:off x="694944" y="4800599"/>
            <a:ext cx="1783080" cy="384048"/>
          </a:xfrm>
          <a:prstGeom prst="rect">
            <a:avLst/>
          </a:prstGeom>
          <a:noFill/>
        </p:spPr>
        <p:txBody>
          <a:bodyPr wrap="square" lIns="45720" rIns="45720" tIns="18288" bIns="18288">
            <a:spAutoFit/>
          </a:bodyPr>
          <a:lstStyle/>
          <a:p>
            <a:pPr algn="l">
              <a:lnSpc>
                <a:spcPct val="104000"/>
              </a:lnSpc>
            </a:pPr>
            <a:r>
              <a:rPr sz="800" b="1" i="0">
                <a:solidFill>
                  <a:srgbClr val="B9770B"/>
                </a:solidFill>
                <a:latin typeface="Arial"/>
              </a:rPr>
              <a:t>Đã cải thiện phần đặt kính và nhận kính</a:t>
            </a:r>
          </a:p>
        </p:txBody>
      </p:sp>
      <p:sp>
        <p:nvSpPr>
          <p:cNvPr id="35" name="Rectangle 34"/>
          <p:cNvSpPr/>
          <p:nvPr/>
        </p:nvSpPr>
        <p:spPr>
          <a:xfrm>
            <a:off x="694944" y="5266943"/>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54864"/>
          <a:lstStyle/>
          <a:p>
            <a:pPr algn="l">
              <a:spcAft>
                <a:spcPts val="100"/>
              </a:spcAft>
            </a:pPr>
            <a:r>
              <a:rPr sz="650" b="1" i="0">
                <a:solidFill>
                  <a:srgbClr val="2E9C4C"/>
                </a:solidFill>
                <a:latin typeface="Arial"/>
              </a:rPr>
              <a:t>so với tuần trước</a:t>
            </a:r>
          </a:p>
          <a:p>
            <a:pPr algn="l">
              <a:lnSpc>
                <a:spcPct val="104000"/>
              </a:lnSpc>
            </a:pPr>
            <a:r>
              <a:rPr sz="700" b="0" i="0">
                <a:solidFill>
                  <a:srgbClr val="5C6B62"/>
                </a:solidFill>
                <a:latin typeface="Arial"/>
              </a:rPr>
              <a:t>Có cải thiện, nội dung còn mỏng</a:t>
            </a:r>
          </a:p>
        </p:txBody>
      </p:sp>
      <p:sp>
        <p:nvSpPr>
          <p:cNvPr id="36" name="Rectangle 35"/>
          <p:cNvSpPr/>
          <p:nvPr/>
        </p:nvSpPr>
        <p:spPr>
          <a:xfrm>
            <a:off x="2505456" y="4553711"/>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7" name="TextBox 36"/>
          <p:cNvSpPr txBox="1"/>
          <p:nvPr/>
        </p:nvSpPr>
        <p:spPr>
          <a:xfrm>
            <a:off x="2670048" y="4553711"/>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ĐIỂM LÀM TỐT</a:t>
            </a:r>
          </a:p>
        </p:txBody>
      </p:sp>
      <p:sp>
        <p:nvSpPr>
          <p:cNvPr id="38" name="TextBox 37"/>
          <p:cNvSpPr txBox="1"/>
          <p:nvPr/>
        </p:nvSpPr>
        <p:spPr>
          <a:xfrm>
            <a:off x="2670048" y="4727447"/>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Đã có thông tin về việc đặt kính và nhận kính, tuy nội dung tin nhắn vẫn cần cải thiện.</a:t>
            </a:r>
          </a:p>
          <a:p>
            <a:pPr algn="l">
              <a:lnSpc>
                <a:spcPct val="106000"/>
              </a:lnSpc>
              <a:spcAft>
                <a:spcPts val="350"/>
              </a:spcAft>
            </a:pPr>
            <a:r>
              <a:rPr sz="850" b="0" i="0">
                <a:solidFill>
                  <a:srgbClr val="5C6B62"/>
                </a:solidFill>
                <a:latin typeface="Arial"/>
              </a:rPr>
              <a:t>–  </a:t>
            </a:r>
            <a:r>
              <a:rPr sz="850" b="0" i="0">
                <a:solidFill>
                  <a:srgbClr val="5C6B62"/>
                </a:solidFill>
                <a:latin typeface="Arial"/>
              </a:rPr>
              <a:t>Có những trường hợp viết tin riêng cho khách trong hội thoại Zalo. Đây là điểm tốt.</a:t>
            </a:r>
          </a:p>
        </p:txBody>
      </p:sp>
      <p:sp>
        <p:nvSpPr>
          <p:cNvPr id="39" name="Rectangle 38"/>
          <p:cNvSpPr/>
          <p:nvPr/>
        </p:nvSpPr>
        <p:spPr>
          <a:xfrm>
            <a:off x="6821424" y="4553711"/>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0" name="TextBox 39"/>
          <p:cNvSpPr txBox="1"/>
          <p:nvPr/>
        </p:nvSpPr>
        <p:spPr>
          <a:xfrm>
            <a:off x="6967728" y="4553711"/>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ĐIỂM CẦN CẢI THIỆN</a:t>
            </a:r>
          </a:p>
        </p:txBody>
      </p:sp>
      <p:sp>
        <p:nvSpPr>
          <p:cNvPr id="41" name="TextBox 40"/>
          <p:cNvSpPr txBox="1"/>
          <p:nvPr/>
        </p:nvSpPr>
        <p:spPr>
          <a:xfrm>
            <a:off x="6967728" y="4727447"/>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Tin chăm sóc CD7 và CD30 chưa phủ hết khách hàng. Trong số khách có cùng một ngày trên thẻ Zalo, người được gửi tin, người thì không. Cần một cách làm có hệ thống.</a:t>
            </a:r>
          </a:p>
          <a:p>
            <a:pPr algn="l">
              <a:lnSpc>
                <a:spcPct val="106000"/>
              </a:lnSpc>
              <a:spcAft>
                <a:spcPts val="350"/>
              </a:spcAft>
            </a:pPr>
            <a:r>
              <a:rPr sz="850" b="0" i="0">
                <a:solidFill>
                  <a:srgbClr val="5C6B62"/>
                </a:solidFill>
                <a:latin typeface="Arial"/>
              </a:rPr>
              <a:t>▪  </a:t>
            </a:r>
            <a:r>
              <a:rPr sz="850" b="0" i="0">
                <a:solidFill>
                  <a:srgbClr val="5C6B62"/>
                </a:solidFill>
                <a:latin typeface="Arial"/>
              </a:rPr>
              <a:t>Tiếp tục dùng tin nhắn giới thiệu rút gọn để khuyến khích thành viên giới thiệu khách mới.</a:t>
            </a:r>
          </a:p>
          <a:p>
            <a:pPr algn="l">
              <a:lnSpc>
                <a:spcPct val="106000"/>
              </a:lnSpc>
              <a:spcAft>
                <a:spcPts val="350"/>
              </a:spcAft>
            </a:pPr>
            <a:r>
              <a:rPr sz="850" b="0" i="0">
                <a:solidFill>
                  <a:srgbClr val="5C6B62"/>
                </a:solidFill>
                <a:latin typeface="Arial"/>
              </a:rPr>
              <a:t>▪  </a:t>
            </a:r>
            <a:r>
              <a:rPr sz="850" b="0" i="0">
                <a:solidFill>
                  <a:srgbClr val="5C6B62"/>
                </a:solidFill>
                <a:latin typeface="Arial"/>
              </a:rPr>
              <a:t>Nhiều trường hợp ngày trên thẻ Zalo chưa đúng.</a:t>
            </a:r>
          </a:p>
        </p:txBody>
      </p:sp>
      <p:sp>
        <p:nvSpPr>
          <p:cNvPr id="42" name="Rectangle 41"/>
          <p:cNvSpPr/>
          <p:nvPr/>
        </p:nvSpPr>
        <p:spPr>
          <a:xfrm>
            <a:off x="502920" y="5888736"/>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43" name="Rectangle 42"/>
          <p:cNvSpPr/>
          <p:nvPr/>
        </p:nvSpPr>
        <p:spPr>
          <a:xfrm>
            <a:off x="566928" y="5888736"/>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150" b="1" i="0">
                <a:solidFill>
                  <a:srgbClr val="31633D"/>
                </a:solidFill>
                <a:latin typeface="Arial"/>
              </a:rPr>
              <a:t>CTE-D7 là hình mẫu. CTE-D5 là chi nhánh vẫn chưa bắt đầu.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5. PHẢN HỒI ZALO TỪ CZ   |   THEO CHI NHÁNH  ·  2 / 2</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LA và SH (Sông Hàn)</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8</a:t>
            </a:r>
          </a:p>
        </p:txBody>
      </p:sp>
      <p:sp>
        <p:nvSpPr>
          <p:cNvPr id="8" name="TextBox 7"/>
          <p:cNvSpPr txBox="1"/>
          <p:nvPr/>
        </p:nvSpPr>
        <p:spPr>
          <a:xfrm>
            <a:off x="502920" y="1261872"/>
            <a:ext cx="11183112" cy="219456"/>
          </a:xfrm>
          <a:prstGeom prst="rect">
            <a:avLst/>
          </a:prstGeom>
          <a:noFill/>
        </p:spPr>
        <p:txBody>
          <a:bodyPr wrap="square" lIns="45720" rIns="45720" tIns="18288" bIns="18288">
            <a:spAutoFit/>
          </a:bodyPr>
          <a:lstStyle/>
          <a:p>
            <a:pPr algn="l">
              <a:lnSpc>
                <a:spcPct val="95000"/>
              </a:lnSpc>
            </a:pPr>
            <a:r>
              <a:rPr sz="1000" b="0" i="1">
                <a:solidFill>
                  <a:srgbClr val="5C6B62"/>
                </a:solidFill>
                <a:latin typeface="Arial"/>
              </a:rPr>
              <a:t>SH tiến bộ nhiều nhất tuần này, và điều đó đến từ buổi đào tạo tuần trước. LA vẫn mời được khách quay lại nhưng đang giới thiệu gói dịch vụ ở chỗ nên đề nghị giới thiệu khách.</a:t>
            </a:r>
          </a:p>
        </p:txBody>
      </p:sp>
      <p:sp>
        <p:nvSpPr>
          <p:cNvPr id="9" name="Rectangle 8"/>
          <p:cNvSpPr/>
          <p:nvPr/>
        </p:nvSpPr>
        <p:spPr>
          <a:xfrm>
            <a:off x="502920" y="1591056"/>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Rectangle 9"/>
          <p:cNvSpPr/>
          <p:nvPr/>
        </p:nvSpPr>
        <p:spPr>
          <a:xfrm>
            <a:off x="502920" y="1591056"/>
            <a:ext cx="54864" cy="132588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1" name="TextBox 10"/>
          <p:cNvSpPr txBox="1"/>
          <p:nvPr/>
        </p:nvSpPr>
        <p:spPr>
          <a:xfrm>
            <a:off x="694944" y="1673352"/>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LA</a:t>
            </a:r>
          </a:p>
        </p:txBody>
      </p:sp>
      <p:sp>
        <p:nvSpPr>
          <p:cNvPr id="12" name="TextBox 11"/>
          <p:cNvSpPr txBox="1"/>
          <p:nvPr/>
        </p:nvSpPr>
        <p:spPr>
          <a:xfrm>
            <a:off x="694944" y="1929384"/>
            <a:ext cx="1783080" cy="384048"/>
          </a:xfrm>
          <a:prstGeom prst="rect">
            <a:avLst/>
          </a:prstGeom>
          <a:noFill/>
        </p:spPr>
        <p:txBody>
          <a:bodyPr wrap="square" lIns="45720" rIns="45720" tIns="18288" bIns="18288">
            <a:spAutoFit/>
          </a:bodyPr>
          <a:lstStyle/>
          <a:p>
            <a:pPr algn="l">
              <a:lnSpc>
                <a:spcPct val="104000"/>
              </a:lnSpc>
            </a:pPr>
            <a:r>
              <a:rPr sz="800" b="1" i="0">
                <a:solidFill>
                  <a:srgbClr val="2E9C4C"/>
                </a:solidFill>
                <a:latin typeface="Arial"/>
              </a:rPr>
              <a:t>Mời khách quay lại tốt, đề nghị giới thiệu còn ít</a:t>
            </a:r>
          </a:p>
        </p:txBody>
      </p:sp>
      <p:sp>
        <p:nvSpPr>
          <p:cNvPr id="13" name="Rectangle 12"/>
          <p:cNvSpPr/>
          <p:nvPr/>
        </p:nvSpPr>
        <p:spPr>
          <a:xfrm>
            <a:off x="694944" y="2395728"/>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54864"/>
          <a:lstStyle/>
          <a:p>
            <a:pPr algn="l">
              <a:spcAft>
                <a:spcPts val="100"/>
              </a:spcAft>
            </a:pPr>
            <a:r>
              <a:rPr sz="650" b="1" i="0">
                <a:solidFill>
                  <a:srgbClr val="2E9C4C"/>
                </a:solidFill>
                <a:latin typeface="Arial"/>
              </a:rPr>
              <a:t>so với tuần trước</a:t>
            </a:r>
          </a:p>
          <a:p>
            <a:pPr algn="l">
              <a:lnSpc>
                <a:spcPct val="104000"/>
              </a:lnSpc>
            </a:pPr>
            <a:r>
              <a:rPr sz="700" b="0" i="0">
                <a:solidFill>
                  <a:srgbClr val="5C6B62"/>
                </a:solidFill>
                <a:latin typeface="Arial"/>
              </a:rPr>
              <a:t>Vẫn lệch ngày như tuần trước</a:t>
            </a:r>
          </a:p>
        </p:txBody>
      </p:sp>
      <p:sp>
        <p:nvSpPr>
          <p:cNvPr id="14" name="Rectangle 13"/>
          <p:cNvSpPr/>
          <p:nvPr/>
        </p:nvSpPr>
        <p:spPr>
          <a:xfrm>
            <a:off x="2505456"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5" name="TextBox 14"/>
          <p:cNvSpPr txBox="1"/>
          <p:nvPr/>
        </p:nvSpPr>
        <p:spPr>
          <a:xfrm>
            <a:off x="2670048" y="1682496"/>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ĐIỂM LÀM TỐT</a:t>
            </a:r>
          </a:p>
        </p:txBody>
      </p:sp>
      <p:sp>
        <p:nvSpPr>
          <p:cNvPr id="16" name="TextBox 15"/>
          <p:cNvSpPr txBox="1"/>
          <p:nvPr/>
        </p:nvSpPr>
        <p:spPr>
          <a:xfrm>
            <a:off x="2670048" y="1856231"/>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Khách đã mua từ lâu đang được mời quay lại tái khám. Đây là điểm rất tốt.</a:t>
            </a:r>
          </a:p>
          <a:p>
            <a:pPr algn="l">
              <a:lnSpc>
                <a:spcPct val="106000"/>
              </a:lnSpc>
              <a:spcAft>
                <a:spcPts val="350"/>
              </a:spcAft>
            </a:pPr>
            <a:r>
              <a:rPr sz="850" b="0" i="0">
                <a:solidFill>
                  <a:srgbClr val="5C6B62"/>
                </a:solidFill>
                <a:latin typeface="Arial"/>
              </a:rPr>
              <a:t>–  </a:t>
            </a:r>
            <a:r>
              <a:rPr sz="850" b="0" i="0">
                <a:solidFill>
                  <a:srgbClr val="5C6B62"/>
                </a:solidFill>
                <a:latin typeface="Arial"/>
              </a:rPr>
              <a:t>Khách kính MC được nhắc lịch tái khám miễn phí hằng tháng và được mời quay lại trung tâm.</a:t>
            </a:r>
          </a:p>
        </p:txBody>
      </p:sp>
      <p:sp>
        <p:nvSpPr>
          <p:cNvPr id="17" name="Rectangle 16"/>
          <p:cNvSpPr/>
          <p:nvPr/>
        </p:nvSpPr>
        <p:spPr>
          <a:xfrm>
            <a:off x="6821424" y="1682496"/>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8" name="TextBox 17"/>
          <p:cNvSpPr txBox="1"/>
          <p:nvPr/>
        </p:nvSpPr>
        <p:spPr>
          <a:xfrm>
            <a:off x="6967728" y="1682496"/>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ĐIỂM CẦN CẢI THIỆN</a:t>
            </a:r>
          </a:p>
        </p:txBody>
      </p:sp>
      <p:sp>
        <p:nvSpPr>
          <p:cNvPr id="19" name="TextBox 18"/>
          <p:cNvSpPr txBox="1"/>
          <p:nvPr/>
        </p:nvSpPr>
        <p:spPr>
          <a:xfrm>
            <a:off x="6967728" y="1856231"/>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Thẻ Zalo của khách cũ còn thiếu ngày mua kính ban đầu, cần bổ sung.</a:t>
            </a:r>
          </a:p>
          <a:p>
            <a:pPr algn="l">
              <a:lnSpc>
                <a:spcPct val="106000"/>
              </a:lnSpc>
              <a:spcAft>
                <a:spcPts val="350"/>
              </a:spcAft>
            </a:pPr>
            <a:r>
              <a:rPr sz="850" b="0" i="0">
                <a:solidFill>
                  <a:srgbClr val="5C6B62"/>
                </a:solidFill>
                <a:latin typeface="Arial"/>
              </a:rPr>
              <a:t>▪  </a:t>
            </a:r>
            <a:r>
              <a:rPr sz="850" b="0" i="0">
                <a:solidFill>
                  <a:srgbClr val="5C6B62"/>
                </a:solidFill>
                <a:latin typeface="Arial"/>
              </a:rPr>
              <a:t>Giảm các tin giới thiệu gói tái khám và tăng sử dụng tin nhắn giới thiệu thành viên rút gọn.</a:t>
            </a:r>
          </a:p>
        </p:txBody>
      </p:sp>
      <p:sp>
        <p:nvSpPr>
          <p:cNvPr id="20" name="Rectangle 19"/>
          <p:cNvSpPr/>
          <p:nvPr/>
        </p:nvSpPr>
        <p:spPr>
          <a:xfrm>
            <a:off x="502920" y="3026664"/>
            <a:ext cx="11183112" cy="132588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1" name="Rectangle 20"/>
          <p:cNvSpPr/>
          <p:nvPr/>
        </p:nvSpPr>
        <p:spPr>
          <a:xfrm>
            <a:off x="502920" y="3026664"/>
            <a:ext cx="54864" cy="132588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2" name="TextBox 21"/>
          <p:cNvSpPr txBox="1"/>
          <p:nvPr/>
        </p:nvSpPr>
        <p:spPr>
          <a:xfrm>
            <a:off x="694944" y="3108960"/>
            <a:ext cx="1783080" cy="256032"/>
          </a:xfrm>
          <a:prstGeom prst="rect">
            <a:avLst/>
          </a:prstGeom>
          <a:noFill/>
        </p:spPr>
        <p:txBody>
          <a:bodyPr wrap="square" lIns="45720" rIns="45720" tIns="18288" bIns="18288">
            <a:spAutoFit/>
          </a:bodyPr>
          <a:lstStyle/>
          <a:p>
            <a:pPr algn="l"/>
            <a:r>
              <a:rPr sz="1400" b="1" i="0">
                <a:solidFill>
                  <a:srgbClr val="31633D"/>
                </a:solidFill>
                <a:latin typeface="Arial"/>
              </a:rPr>
              <a:t>SH</a:t>
            </a:r>
          </a:p>
        </p:txBody>
      </p:sp>
      <p:sp>
        <p:nvSpPr>
          <p:cNvPr id="23" name="TextBox 22"/>
          <p:cNvSpPr txBox="1"/>
          <p:nvPr/>
        </p:nvSpPr>
        <p:spPr>
          <a:xfrm>
            <a:off x="694944" y="3364992"/>
            <a:ext cx="1783080" cy="384048"/>
          </a:xfrm>
          <a:prstGeom prst="rect">
            <a:avLst/>
          </a:prstGeom>
          <a:noFill/>
        </p:spPr>
        <p:txBody>
          <a:bodyPr wrap="square" lIns="45720" rIns="45720" tIns="18288" bIns="18288">
            <a:spAutoFit/>
          </a:bodyPr>
          <a:lstStyle/>
          <a:p>
            <a:pPr algn="l">
              <a:lnSpc>
                <a:spcPct val="104000"/>
              </a:lnSpc>
            </a:pPr>
            <a:r>
              <a:rPr sz="800" b="1" i="0">
                <a:solidFill>
                  <a:srgbClr val="2E9C4C"/>
                </a:solidFill>
                <a:latin typeface="Arial"/>
              </a:rPr>
              <a:t>Tiến bộ nhiều nhất trong năm chi nhánh</a:t>
            </a:r>
          </a:p>
        </p:txBody>
      </p:sp>
      <p:sp>
        <p:nvSpPr>
          <p:cNvPr id="24" name="Rectangle 23"/>
          <p:cNvSpPr/>
          <p:nvPr/>
        </p:nvSpPr>
        <p:spPr>
          <a:xfrm>
            <a:off x="694944" y="3831336"/>
            <a:ext cx="1645920" cy="36576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73152" rIns="54864"/>
          <a:lstStyle/>
          <a:p>
            <a:pPr algn="l">
              <a:spcAft>
                <a:spcPts val="100"/>
              </a:spcAft>
            </a:pPr>
            <a:r>
              <a:rPr sz="650" b="1" i="0">
                <a:solidFill>
                  <a:srgbClr val="2E9C4C"/>
                </a:solidFill>
                <a:latin typeface="Arial"/>
              </a:rPr>
              <a:t>so với tuần trước</a:t>
            </a:r>
          </a:p>
          <a:p>
            <a:pPr algn="l">
              <a:lnSpc>
                <a:spcPct val="104000"/>
              </a:lnSpc>
            </a:pPr>
            <a:r>
              <a:rPr sz="700" b="0" i="0">
                <a:solidFill>
                  <a:srgbClr val="5C6B62"/>
                </a:solidFill>
                <a:latin typeface="Arial"/>
              </a:rPr>
              <a:t>Đã làm theo yêu cầu tuần trước</a:t>
            </a:r>
          </a:p>
        </p:txBody>
      </p:sp>
      <p:sp>
        <p:nvSpPr>
          <p:cNvPr id="25" name="Rectangle 24"/>
          <p:cNvSpPr/>
          <p:nvPr/>
        </p:nvSpPr>
        <p:spPr>
          <a:xfrm>
            <a:off x="2505456" y="3118104"/>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6" name="TextBox 25"/>
          <p:cNvSpPr txBox="1"/>
          <p:nvPr/>
        </p:nvSpPr>
        <p:spPr>
          <a:xfrm>
            <a:off x="2670048" y="3118104"/>
            <a:ext cx="4023360" cy="164592"/>
          </a:xfrm>
          <a:prstGeom prst="rect">
            <a:avLst/>
          </a:prstGeom>
          <a:noFill/>
        </p:spPr>
        <p:txBody>
          <a:bodyPr wrap="square" lIns="45720" rIns="45720" tIns="18288" bIns="18288">
            <a:spAutoFit/>
          </a:bodyPr>
          <a:lstStyle/>
          <a:p>
            <a:pPr algn="l"/>
            <a:r>
              <a:rPr sz="800" b="1" i="0">
                <a:solidFill>
                  <a:srgbClr val="2E9C4C"/>
                </a:solidFill>
                <a:latin typeface="Arial"/>
              </a:rPr>
              <a:t>ĐIỂM LÀM TỐT</a:t>
            </a:r>
          </a:p>
        </p:txBody>
      </p:sp>
      <p:sp>
        <p:nvSpPr>
          <p:cNvPr id="27" name="TextBox 26"/>
          <p:cNvSpPr txBox="1"/>
          <p:nvPr/>
        </p:nvSpPr>
        <p:spPr>
          <a:xfrm>
            <a:off x="2670048" y="3291840"/>
            <a:ext cx="402336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Tên khách trên Zalo nay đã có thẻ — cải thiện rất tốt sau buổi đào tạo. Hãy áp dụng đúng định dạng tên cho mọi khách mua kính.</a:t>
            </a:r>
          </a:p>
          <a:p>
            <a:pPr algn="l">
              <a:lnSpc>
                <a:spcPct val="106000"/>
              </a:lnSpc>
              <a:spcAft>
                <a:spcPts val="350"/>
              </a:spcAft>
            </a:pPr>
            <a:r>
              <a:rPr sz="850" b="0" i="0">
                <a:solidFill>
                  <a:srgbClr val="5C6B62"/>
                </a:solidFill>
                <a:latin typeface="Arial"/>
              </a:rPr>
              <a:t>–  </a:t>
            </a:r>
            <a:r>
              <a:rPr sz="850" b="0" i="0">
                <a:solidFill>
                  <a:srgbClr val="5C6B62"/>
                </a:solidFill>
                <a:latin typeface="Arial"/>
              </a:rPr>
              <a:t>Một số khách đã nhận được tin đặt kính riêng và tin thông báo nhận kính, đây cũng là một cải thiện tích cực.</a:t>
            </a:r>
          </a:p>
        </p:txBody>
      </p:sp>
      <p:sp>
        <p:nvSpPr>
          <p:cNvPr id="28" name="Rectangle 27"/>
          <p:cNvSpPr/>
          <p:nvPr/>
        </p:nvSpPr>
        <p:spPr>
          <a:xfrm>
            <a:off x="6821424" y="3118104"/>
            <a:ext cx="9144" cy="1143000"/>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9" name="TextBox 28"/>
          <p:cNvSpPr txBox="1"/>
          <p:nvPr/>
        </p:nvSpPr>
        <p:spPr>
          <a:xfrm>
            <a:off x="6967728" y="3118104"/>
            <a:ext cx="4663440" cy="164592"/>
          </a:xfrm>
          <a:prstGeom prst="rect">
            <a:avLst/>
          </a:prstGeom>
          <a:noFill/>
        </p:spPr>
        <p:txBody>
          <a:bodyPr wrap="square" lIns="45720" rIns="45720" tIns="18288" bIns="18288">
            <a:spAutoFit/>
          </a:bodyPr>
          <a:lstStyle/>
          <a:p>
            <a:pPr algn="l"/>
            <a:r>
              <a:rPr sz="800" b="1" i="0">
                <a:solidFill>
                  <a:srgbClr val="B9770B"/>
                </a:solidFill>
                <a:latin typeface="Arial"/>
              </a:rPr>
              <a:t>ĐIỂM CẦN CẢI THIỆN</a:t>
            </a:r>
          </a:p>
        </p:txBody>
      </p:sp>
      <p:sp>
        <p:nvSpPr>
          <p:cNvPr id="30" name="TextBox 29"/>
          <p:cNvSpPr txBox="1"/>
          <p:nvPr/>
        </p:nvSpPr>
        <p:spPr>
          <a:xfrm>
            <a:off x="6967728" y="3291840"/>
            <a:ext cx="4663440" cy="960119"/>
          </a:xfrm>
          <a:prstGeom prst="rect">
            <a:avLst/>
          </a:prstGeom>
          <a:noFill/>
        </p:spPr>
        <p:txBody>
          <a:bodyPr wrap="square" lIns="45720" rIns="45720" tIns="18288" bIns="18288">
            <a:spAutoFit/>
          </a:bodyPr>
          <a:lstStyle/>
          <a:p>
            <a:pPr algn="l">
              <a:lnSpc>
                <a:spcPct val="106000"/>
              </a:lnSpc>
              <a:spcAft>
                <a:spcPts val="350"/>
              </a:spcAft>
            </a:pPr>
            <a:r>
              <a:rPr sz="850" b="0" i="0">
                <a:solidFill>
                  <a:srgbClr val="5C6B62"/>
                </a:solidFill>
                <a:latin typeface="Arial"/>
              </a:rPr>
              <a:t>▪  </a:t>
            </a:r>
            <a:r>
              <a:rPr sz="850" b="0" i="0">
                <a:solidFill>
                  <a:srgbClr val="5C6B62"/>
                </a:solidFill>
                <a:latin typeface="Arial"/>
              </a:rPr>
              <a:t>Bảo đảm mọi khách đều nhận được tin cập nhật tiến độ đặt kính và tin thông báo nhận kính.</a:t>
            </a:r>
          </a:p>
          <a:p>
            <a:pPr algn="l">
              <a:lnSpc>
                <a:spcPct val="106000"/>
              </a:lnSpc>
              <a:spcAft>
                <a:spcPts val="350"/>
              </a:spcAft>
            </a:pPr>
            <a:r>
              <a:rPr sz="850" b="0" i="0">
                <a:solidFill>
                  <a:srgbClr val="5C6B62"/>
                </a:solidFill>
                <a:latin typeface="Arial"/>
              </a:rPr>
              <a:t>▪  </a:t>
            </a:r>
            <a:r>
              <a:rPr sz="850" b="0" i="0">
                <a:solidFill>
                  <a:srgbClr val="5C6B62"/>
                </a:solidFill>
                <a:latin typeface="Arial"/>
              </a:rPr>
              <a:t>Gửi quyền lợi thành viên trong ngày nhận kính, rồi gửi tin CD7 đúng hạn để hỏi thăm việc sử dụng kính.</a:t>
            </a:r>
          </a:p>
          <a:p>
            <a:pPr algn="l">
              <a:lnSpc>
                <a:spcPct val="106000"/>
              </a:lnSpc>
              <a:spcAft>
                <a:spcPts val="350"/>
              </a:spcAft>
            </a:pPr>
            <a:r>
              <a:rPr sz="850" b="0" i="0">
                <a:solidFill>
                  <a:srgbClr val="5C6B62"/>
                </a:solidFill>
                <a:latin typeface="Arial"/>
              </a:rPr>
              <a:t>▪  </a:t>
            </a:r>
            <a:r>
              <a:rPr sz="850" b="0" i="0">
                <a:solidFill>
                  <a:srgbClr val="5C6B62"/>
                </a:solidFill>
                <a:latin typeface="Arial"/>
              </a:rPr>
              <a:t>Thông tin chưa được nhập vào biểu mẫu CRM. Vui lòng bổ sung để dễ theo dõi.</a:t>
            </a:r>
          </a:p>
        </p:txBody>
      </p:sp>
      <p:sp>
        <p:nvSpPr>
          <p:cNvPr id="31" name="Rectangle 30"/>
          <p:cNvSpPr/>
          <p:nvPr/>
        </p:nvSpPr>
        <p:spPr>
          <a:xfrm>
            <a:off x="502920" y="4517136"/>
            <a:ext cx="11183112" cy="292608"/>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28016" rIns="109728"/>
          <a:lstStyle/>
          <a:p>
            <a:pPr algn="l"/>
            <a:r>
              <a:rPr sz="950" b="1" i="0">
                <a:solidFill>
                  <a:srgbClr val="FFFFFF"/>
                </a:solidFill>
                <a:latin typeface="Arial"/>
              </a:rPr>
              <a:t>TUẦN NÀY SH ĐÃ CHỨNG MINH ĐIỀU GÌ</a:t>
            </a:r>
          </a:p>
        </p:txBody>
      </p:sp>
      <p:sp>
        <p:nvSpPr>
          <p:cNvPr id="32" name="Rectangle 31"/>
          <p:cNvSpPr/>
          <p:nvPr/>
        </p:nvSpPr>
        <p:spPr>
          <a:xfrm>
            <a:off x="502920" y="4846320"/>
            <a:ext cx="5486400" cy="877824"/>
          </a:xfrm>
          <a:prstGeom prst="rect">
            <a:avLst/>
          </a:prstGeom>
          <a:solidFill>
            <a:srgbClr val="EBF4EF"/>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3" name="TextBox 32"/>
          <p:cNvSpPr txBox="1"/>
          <p:nvPr/>
        </p:nvSpPr>
        <p:spPr>
          <a:xfrm>
            <a:off x="649224" y="4919472"/>
            <a:ext cx="5212080" cy="182880"/>
          </a:xfrm>
          <a:prstGeom prst="rect">
            <a:avLst/>
          </a:prstGeom>
          <a:noFill/>
        </p:spPr>
        <p:txBody>
          <a:bodyPr wrap="square" lIns="45720" rIns="45720" tIns="18288" bIns="18288">
            <a:spAutoFit/>
          </a:bodyPr>
          <a:lstStyle/>
          <a:p>
            <a:pPr algn="l"/>
            <a:r>
              <a:rPr sz="900" b="1" i="0">
                <a:solidFill>
                  <a:srgbClr val="31633D"/>
                </a:solidFill>
                <a:latin typeface="Arial"/>
              </a:rPr>
              <a:t>Định dạng thẻ chính là điểm nghẽn duy nhất</a:t>
            </a:r>
          </a:p>
        </p:txBody>
      </p:sp>
      <p:sp>
        <p:nvSpPr>
          <p:cNvPr id="34" name="TextBox 33"/>
          <p:cNvSpPr txBox="1"/>
          <p:nvPr/>
        </p:nvSpPr>
        <p:spPr>
          <a:xfrm>
            <a:off x="649224" y="5102352"/>
            <a:ext cx="5212080" cy="566928"/>
          </a:xfrm>
          <a:prstGeom prst="rect">
            <a:avLst/>
          </a:prstGeom>
          <a:noFill/>
        </p:spPr>
        <p:txBody>
          <a:bodyPr wrap="square" lIns="45720" rIns="45720" tIns="18288" bIns="18288">
            <a:spAutoFit/>
          </a:bodyPr>
          <a:lstStyle/>
          <a:p>
            <a:pPr algn="l">
              <a:lnSpc>
                <a:spcPct val="108000"/>
              </a:lnSpc>
            </a:pPr>
            <a:r>
              <a:rPr sz="800" b="0" i="0">
                <a:solidFill>
                  <a:srgbClr val="5C6B62"/>
                </a:solidFill>
                <a:latin typeface="Arial"/>
              </a:rPr>
              <a:t>Tuần trước SH chỉ có một tin xác nhận lịch hẹn và tên liên hệ không có mã sản phẩm, không có ngày, không có tên bé — không thể lên lịch hay đo lường gì. Nay tên khách đã có thẻ, và các tin đặt kính riêng, thông báo nhận kính đã bắt đầu xuất hiện.</a:t>
            </a:r>
          </a:p>
        </p:txBody>
      </p:sp>
      <p:sp>
        <p:nvSpPr>
          <p:cNvPr id="35" name="Rectangle 34"/>
          <p:cNvSpPr/>
          <p:nvPr/>
        </p:nvSpPr>
        <p:spPr>
          <a:xfrm>
            <a:off x="6199632" y="4846320"/>
            <a:ext cx="5486400" cy="877824"/>
          </a:xfrm>
          <a:prstGeom prst="rect">
            <a:avLst/>
          </a:prstGeom>
          <a:solidFill>
            <a:srgbClr val="FDF6E3"/>
          </a:solidFill>
          <a:ln w="9525">
            <a:solidFill>
              <a:srgbClr val="B9770B"/>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6" name="TextBox 35"/>
          <p:cNvSpPr txBox="1"/>
          <p:nvPr/>
        </p:nvSpPr>
        <p:spPr>
          <a:xfrm>
            <a:off x="6345936" y="4919472"/>
            <a:ext cx="5212080" cy="182880"/>
          </a:xfrm>
          <a:prstGeom prst="rect">
            <a:avLst/>
          </a:prstGeom>
          <a:noFill/>
        </p:spPr>
        <p:txBody>
          <a:bodyPr wrap="square" lIns="45720" rIns="45720" tIns="18288" bIns="18288">
            <a:spAutoFit/>
          </a:bodyPr>
          <a:lstStyle/>
          <a:p>
            <a:pPr algn="l"/>
            <a:r>
              <a:rPr sz="900" b="1" i="0">
                <a:solidFill>
                  <a:srgbClr val="31633D"/>
                </a:solidFill>
                <a:latin typeface="Arial"/>
              </a:rPr>
              <a:t>SH còn thiếu điều gì</a:t>
            </a:r>
          </a:p>
        </p:txBody>
      </p:sp>
      <p:sp>
        <p:nvSpPr>
          <p:cNvPr id="37" name="TextBox 36"/>
          <p:cNvSpPr txBox="1"/>
          <p:nvPr/>
        </p:nvSpPr>
        <p:spPr>
          <a:xfrm>
            <a:off x="6345936" y="5102352"/>
            <a:ext cx="5212080" cy="566928"/>
          </a:xfrm>
          <a:prstGeom prst="rect">
            <a:avLst/>
          </a:prstGeom>
          <a:noFill/>
        </p:spPr>
        <p:txBody>
          <a:bodyPr wrap="square" lIns="45720" rIns="45720" tIns="18288" bIns="18288">
            <a:spAutoFit/>
          </a:bodyPr>
          <a:lstStyle/>
          <a:p>
            <a:pPr algn="l">
              <a:lnSpc>
                <a:spcPct val="108000"/>
              </a:lnSpc>
            </a:pPr>
            <a:r>
              <a:rPr sz="800" b="0" i="0">
                <a:solidFill>
                  <a:srgbClr val="5C6B62"/>
                </a:solidFill>
                <a:latin typeface="Arial"/>
              </a:rPr>
              <a:t>Độ phủ. Chỉ một số khách nhận được tin đặt kính và nhận kính, chưa phải tất cả. Quyền lợi vẫn cần gửi đúng ngày nhận kính và sau đó là tin CD7. Và thông tin vẫn chưa được nhập vào biểu mẫu CRM.</a:t>
            </a:r>
          </a:p>
        </p:txBody>
      </p:sp>
      <p:sp>
        <p:nvSpPr>
          <p:cNvPr id="38" name="Rectangle 37"/>
          <p:cNvSpPr/>
          <p:nvPr/>
        </p:nvSpPr>
        <p:spPr>
          <a:xfrm>
            <a:off x="502920" y="5888736"/>
            <a:ext cx="64008" cy="457200"/>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9" name="Rectangle 38"/>
          <p:cNvSpPr/>
          <p:nvPr/>
        </p:nvSpPr>
        <p:spPr>
          <a:xfrm>
            <a:off x="566928" y="5888736"/>
            <a:ext cx="11119104" cy="4572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09728"/>
          <a:lstStyle/>
          <a:p>
            <a:pPr algn="l"/>
            <a:r>
              <a:rPr sz="1150" b="1" i="0">
                <a:solidFill>
                  <a:srgbClr val="31633D"/>
                </a:solidFill>
                <a:latin typeface="Arial"/>
              </a:rPr>
              <a:t>Chỉ một tuần áp dụng đúng định dạng tên đã đưa SH từ chỗ không đo lường được sang chỗ đang tiến bộ.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3" name="TextBox 2"/>
          <p:cNvSpPr txBox="1"/>
          <p:nvPr/>
        </p:nvSpPr>
        <p:spPr>
          <a:xfrm>
            <a:off x="502920" y="228600"/>
            <a:ext cx="9692640" cy="228600"/>
          </a:xfrm>
          <a:prstGeom prst="rect">
            <a:avLst/>
          </a:prstGeom>
          <a:noFill/>
        </p:spPr>
        <p:txBody>
          <a:bodyPr wrap="square" lIns="45720" rIns="45720" tIns="18288" bIns="18288">
            <a:spAutoFit/>
          </a:bodyPr>
          <a:lstStyle/>
          <a:p>
            <a:pPr algn="l"/>
            <a:r>
              <a:rPr sz="950" b="1" i="0">
                <a:solidFill>
                  <a:srgbClr val="2E9C4C"/>
                </a:solidFill>
                <a:latin typeface="Arial"/>
              </a:rPr>
              <a:t>6. VIỆC CẦN LÀM TIẾP   |   ƯU TIÊN ĐÀO TẠO</a:t>
            </a:r>
          </a:p>
        </p:txBody>
      </p:sp>
      <p:sp>
        <p:nvSpPr>
          <p:cNvPr id="4" name="TextBox 3"/>
          <p:cNvSpPr txBox="1"/>
          <p:nvPr/>
        </p:nvSpPr>
        <p:spPr>
          <a:xfrm>
            <a:off x="502920" y="493776"/>
            <a:ext cx="11247120" cy="640080"/>
          </a:xfrm>
          <a:prstGeom prst="rect">
            <a:avLst/>
          </a:prstGeom>
          <a:noFill/>
        </p:spPr>
        <p:txBody>
          <a:bodyPr wrap="square" lIns="45720" rIns="45720" tIns="18288" bIns="18288">
            <a:spAutoFit/>
          </a:bodyPr>
          <a:lstStyle/>
          <a:p>
            <a:pPr algn="l"/>
            <a:r>
              <a:rPr sz="2200" b="1" i="0">
                <a:solidFill>
                  <a:srgbClr val="31633D"/>
                </a:solidFill>
                <a:latin typeface="Arial"/>
              </a:rPr>
              <a:t>Ba ưu tiên của tuần này</a:t>
            </a:r>
          </a:p>
        </p:txBody>
      </p:sp>
      <p:sp>
        <p:nvSpPr>
          <p:cNvPr id="5" name="Rectangle 4"/>
          <p:cNvSpPr/>
          <p:nvPr/>
        </p:nvSpPr>
        <p:spPr>
          <a:xfrm>
            <a:off x="502920" y="1179576"/>
            <a:ext cx="11183112" cy="18288"/>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6" name="TextBox 5"/>
          <p:cNvSpPr txBox="1"/>
          <p:nvPr/>
        </p:nvSpPr>
        <p:spPr>
          <a:xfrm>
            <a:off x="502920" y="6455664"/>
            <a:ext cx="5486400" cy="237744"/>
          </a:xfrm>
          <a:prstGeom prst="rect">
            <a:avLst/>
          </a:prstGeom>
          <a:noFill/>
        </p:spPr>
        <p:txBody>
          <a:bodyPr wrap="square" lIns="45720" rIns="45720" tIns="18288" bIns="18288">
            <a:spAutoFit/>
          </a:bodyPr>
          <a:lstStyle/>
          <a:p>
            <a:pPr algn="l"/>
            <a:r>
              <a:rPr sz="800" b="0" i="0">
                <a:solidFill>
                  <a:srgbClr val="5C6B62"/>
                </a:solidFill>
                <a:latin typeface="Arial"/>
              </a:rPr>
              <a:t>Mắt Sài Gòn  |  Đào tạo DA Khúc xạ</a:t>
            </a:r>
          </a:p>
        </p:txBody>
      </p:sp>
      <p:sp>
        <p:nvSpPr>
          <p:cNvPr id="7" name="TextBox 6"/>
          <p:cNvSpPr txBox="1"/>
          <p:nvPr/>
        </p:nvSpPr>
        <p:spPr>
          <a:xfrm>
            <a:off x="10972800" y="6455664"/>
            <a:ext cx="713232" cy="237744"/>
          </a:xfrm>
          <a:prstGeom prst="rect">
            <a:avLst/>
          </a:prstGeom>
          <a:noFill/>
        </p:spPr>
        <p:txBody>
          <a:bodyPr wrap="square" lIns="45720" rIns="45720" tIns="18288" bIns="18288">
            <a:spAutoFit/>
          </a:bodyPr>
          <a:lstStyle/>
          <a:p>
            <a:pPr algn="r"/>
            <a:r>
              <a:rPr sz="800" b="1" i="0">
                <a:solidFill>
                  <a:srgbClr val="5C6B62"/>
                </a:solidFill>
                <a:latin typeface="Arial"/>
              </a:rPr>
              <a:t>9</a:t>
            </a:r>
          </a:p>
        </p:txBody>
      </p:sp>
      <p:sp>
        <p:nvSpPr>
          <p:cNvPr id="8" name="Rectangle 7"/>
          <p:cNvSpPr/>
          <p:nvPr/>
        </p:nvSpPr>
        <p:spPr>
          <a:xfrm>
            <a:off x="502920" y="1353312"/>
            <a:ext cx="3575304" cy="393192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9" name="Rectangle 8"/>
          <p:cNvSpPr/>
          <p:nvPr/>
        </p:nvSpPr>
        <p:spPr>
          <a:xfrm>
            <a:off x="502920" y="1353312"/>
            <a:ext cx="3575304" cy="54864"/>
          </a:xfrm>
          <a:prstGeom prst="rect">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0" name="Oval 9"/>
          <p:cNvSpPr/>
          <p:nvPr/>
        </p:nvSpPr>
        <p:spPr>
          <a:xfrm>
            <a:off x="649224" y="1536192"/>
            <a:ext cx="292608" cy="292608"/>
          </a:xfrm>
          <a:prstGeom prst="ellipse">
            <a:avLst/>
          </a:prstGeom>
          <a:solidFill>
            <a:srgbClr val="2E9C4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100" b="1" i="0">
                <a:solidFill>
                  <a:srgbClr val="FFFFFF"/>
                </a:solidFill>
                <a:latin typeface="Arial"/>
              </a:rPr>
              <a:t>1</a:t>
            </a:r>
          </a:p>
        </p:txBody>
      </p:sp>
      <p:sp>
        <p:nvSpPr>
          <p:cNvPr id="11" name="TextBox 10"/>
          <p:cNvSpPr txBox="1"/>
          <p:nvPr/>
        </p:nvSpPr>
        <p:spPr>
          <a:xfrm>
            <a:off x="1014984" y="1499616"/>
            <a:ext cx="2916936" cy="475488"/>
          </a:xfrm>
          <a:prstGeom prst="rect">
            <a:avLst/>
          </a:prstGeom>
          <a:noFill/>
        </p:spPr>
        <p:txBody>
          <a:bodyPr wrap="square" lIns="45720" rIns="45720" tIns="18288" bIns="18288">
            <a:spAutoFit/>
          </a:bodyPr>
          <a:lstStyle/>
          <a:p>
            <a:pPr algn="l">
              <a:lnSpc>
                <a:spcPct val="102000"/>
              </a:lnSpc>
            </a:pPr>
            <a:r>
              <a:rPr sz="1150" b="1" i="0">
                <a:solidFill>
                  <a:srgbClr val="31633D"/>
                </a:solidFill>
                <a:latin typeface="Arial"/>
              </a:rPr>
              <a:t>Điền ba cột mới</a:t>
            </a:r>
          </a:p>
          <a:p>
            <a:pPr algn="l">
              <a:lnSpc>
                <a:spcPct val="102000"/>
              </a:lnSpc>
            </a:pPr>
            <a:r>
              <a:rPr sz="1150" b="1" i="0">
                <a:solidFill>
                  <a:srgbClr val="31633D"/>
                </a:solidFill>
                <a:latin typeface="Arial"/>
              </a:rPr>
              <a:t>cho mọi dòng</a:t>
            </a:r>
          </a:p>
        </p:txBody>
      </p:sp>
      <p:sp>
        <p:nvSpPr>
          <p:cNvPr id="12" name="Rectangle 11"/>
          <p:cNvSpPr/>
          <p:nvPr/>
        </p:nvSpPr>
        <p:spPr>
          <a:xfrm>
            <a:off x="649224" y="2066543"/>
            <a:ext cx="3282696" cy="9144"/>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3" name="TextBox 12"/>
          <p:cNvSpPr txBox="1"/>
          <p:nvPr/>
        </p:nvSpPr>
        <p:spPr>
          <a:xfrm>
            <a:off x="649224" y="2157984"/>
            <a:ext cx="3282696" cy="1920240"/>
          </a:xfrm>
          <a:prstGeom prst="rect">
            <a:avLst/>
          </a:prstGeom>
          <a:noFill/>
        </p:spPr>
        <p:txBody>
          <a:bodyPr wrap="square" lIns="45720" rIns="45720" tIns="18288" bIns="18288">
            <a:spAutoFit/>
          </a:bodyPr>
          <a:lstStyle/>
          <a:p>
            <a:pPr algn="l">
              <a:lnSpc>
                <a:spcPct val="106000"/>
              </a:lnSpc>
              <a:spcAft>
                <a:spcPts val="400"/>
              </a:spcAft>
            </a:pPr>
            <a:r>
              <a:rPr sz="900" b="0" i="0">
                <a:solidFill>
                  <a:srgbClr val="5C6B62"/>
                </a:solidFill>
                <a:latin typeface="Arial"/>
              </a:rPr>
              <a:t>▪  </a:t>
            </a:r>
            <a:r>
              <a:rPr sz="900" b="0" i="0">
                <a:solidFill>
                  <a:srgbClr val="5C6B62"/>
                </a:solidFill>
                <a:latin typeface="Arial"/>
              </a:rPr>
              <a:t>K ngày đặt cọc, L ngày nhận kính thực tế, M ngày hết hạn bảo hành</a:t>
            </a:r>
          </a:p>
          <a:p>
            <a:pPr algn="l">
              <a:lnSpc>
                <a:spcPct val="106000"/>
              </a:lnSpc>
              <a:spcAft>
                <a:spcPts val="400"/>
              </a:spcAft>
            </a:pPr>
            <a:r>
              <a:rPr sz="900" b="0" i="0">
                <a:solidFill>
                  <a:srgbClr val="5C6B62"/>
                </a:solidFill>
                <a:latin typeface="Arial"/>
              </a:rPr>
              <a:t>▪  </a:t>
            </a:r>
            <a:r>
              <a:rPr sz="900" b="0" i="0">
                <a:solidFill>
                  <a:srgbClr val="5C6B62"/>
                </a:solidFill>
                <a:latin typeface="Arial"/>
              </a:rPr>
              <a:t>Rà soát lại cả những khách đã mua từ nhiều tuần trước, không chỉ khách mới</a:t>
            </a:r>
          </a:p>
          <a:p>
            <a:pPr algn="l">
              <a:lnSpc>
                <a:spcPct val="106000"/>
              </a:lnSpc>
              <a:spcAft>
                <a:spcPts val="400"/>
              </a:spcAft>
            </a:pPr>
            <a:r>
              <a:rPr sz="900" b="0" i="0">
                <a:solidFill>
                  <a:srgbClr val="5C6B62"/>
                </a:solidFill>
                <a:latin typeface="Arial"/>
              </a:rPr>
              <a:t>▪  </a:t>
            </a:r>
            <a:r>
              <a:rPr sz="900" b="0" i="0">
                <a:solidFill>
                  <a:srgbClr val="5C6B62"/>
                </a:solidFill>
                <a:latin typeface="Arial"/>
              </a:rPr>
              <a:t>Mỗi bé một dòng riêng — hai bé là hai bộ ngày</a:t>
            </a:r>
          </a:p>
          <a:p>
            <a:pPr algn="l">
              <a:lnSpc>
                <a:spcPct val="106000"/>
              </a:lnSpc>
              <a:spcAft>
                <a:spcPts val="400"/>
              </a:spcAft>
            </a:pPr>
            <a:r>
              <a:rPr sz="900" b="0" i="0">
                <a:solidFill>
                  <a:srgbClr val="5C6B62"/>
                </a:solidFill>
                <a:latin typeface="Arial"/>
              </a:rPr>
              <a:t>▪  </a:t>
            </a:r>
            <a:r>
              <a:rPr sz="900" b="0" i="0">
                <a:solidFill>
                  <a:srgbClr val="5C6B62"/>
                </a:solidFill>
                <a:latin typeface="Arial"/>
              </a:rPr>
              <a:t>Cột L là ngày khách nhận kính thực tế, không phải ngày đặt kính</a:t>
            </a:r>
          </a:p>
          <a:p>
            <a:pPr algn="l">
              <a:lnSpc>
                <a:spcPct val="106000"/>
              </a:lnSpc>
              <a:spcAft>
                <a:spcPts val="400"/>
              </a:spcAft>
            </a:pPr>
            <a:r>
              <a:rPr sz="900" b="0" i="0">
                <a:solidFill>
                  <a:srgbClr val="5C6B62"/>
                </a:solidFill>
                <a:latin typeface="Arial"/>
              </a:rPr>
              <a:t>▪  </a:t>
            </a:r>
            <a:r>
              <a:rPr sz="900" b="0" i="0">
                <a:solidFill>
                  <a:srgbClr val="5C6B62"/>
                </a:solidFill>
                <a:latin typeface="Arial"/>
              </a:rPr>
              <a:t>Chưa làm xong việc này thì không thể tin được số liệu nào trên bảng theo dõi</a:t>
            </a:r>
          </a:p>
        </p:txBody>
      </p:sp>
      <p:sp>
        <p:nvSpPr>
          <p:cNvPr id="14" name="Rectangle 13"/>
          <p:cNvSpPr/>
          <p:nvPr/>
        </p:nvSpPr>
        <p:spPr>
          <a:xfrm>
            <a:off x="649224" y="4224528"/>
            <a:ext cx="3282696" cy="914400"/>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lIns="128016" rIns="128016"/>
          <a:lstStyle/>
          <a:p>
            <a:pPr algn="l">
              <a:lnSpc>
                <a:spcPct val="110000"/>
              </a:lnSpc>
            </a:pPr>
            <a:r>
              <a:rPr sz="950" b="1" i="0">
                <a:solidFill>
                  <a:srgbClr val="31633D"/>
                </a:solidFill>
                <a:latin typeface="Arial"/>
              </a:rPr>
              <a:t>Cột để trống thì bảng theo dõi cũng trống.</a:t>
            </a:r>
          </a:p>
        </p:txBody>
      </p:sp>
      <p:sp>
        <p:nvSpPr>
          <p:cNvPr id="15" name="Rectangle 14"/>
          <p:cNvSpPr/>
          <p:nvPr/>
        </p:nvSpPr>
        <p:spPr>
          <a:xfrm>
            <a:off x="4306824" y="1353312"/>
            <a:ext cx="3575304" cy="393192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6" name="Rectangle 15"/>
          <p:cNvSpPr/>
          <p:nvPr/>
        </p:nvSpPr>
        <p:spPr>
          <a:xfrm>
            <a:off x="4306824" y="1353312"/>
            <a:ext cx="3575304" cy="54864"/>
          </a:xfrm>
          <a:prstGeom prst="rect">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17" name="Oval 16"/>
          <p:cNvSpPr/>
          <p:nvPr/>
        </p:nvSpPr>
        <p:spPr>
          <a:xfrm>
            <a:off x="4453128" y="1536192"/>
            <a:ext cx="292608" cy="292608"/>
          </a:xfrm>
          <a:prstGeom prst="ellipse">
            <a:avLst/>
          </a:prstGeom>
          <a:solidFill>
            <a:srgbClr val="0C989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100" b="1" i="0">
                <a:solidFill>
                  <a:srgbClr val="FFFFFF"/>
                </a:solidFill>
                <a:latin typeface="Arial"/>
              </a:rPr>
              <a:t>2</a:t>
            </a:r>
          </a:p>
        </p:txBody>
      </p:sp>
      <p:sp>
        <p:nvSpPr>
          <p:cNvPr id="18" name="TextBox 17"/>
          <p:cNvSpPr txBox="1"/>
          <p:nvPr/>
        </p:nvSpPr>
        <p:spPr>
          <a:xfrm>
            <a:off x="4818888" y="1499616"/>
            <a:ext cx="2916936" cy="475488"/>
          </a:xfrm>
          <a:prstGeom prst="rect">
            <a:avLst/>
          </a:prstGeom>
          <a:noFill/>
        </p:spPr>
        <p:txBody>
          <a:bodyPr wrap="square" lIns="45720" rIns="45720" tIns="18288" bIns="18288">
            <a:spAutoFit/>
          </a:bodyPr>
          <a:lstStyle/>
          <a:p>
            <a:pPr algn="l">
              <a:lnSpc>
                <a:spcPct val="102000"/>
              </a:lnSpc>
            </a:pPr>
            <a:r>
              <a:rPr sz="1150" b="1" i="0">
                <a:solidFill>
                  <a:srgbClr val="31633D"/>
                </a:solidFill>
                <a:latin typeface="Arial"/>
              </a:rPr>
              <a:t>CD7 và CD30</a:t>
            </a:r>
          </a:p>
          <a:p>
            <a:pPr algn="l">
              <a:lnSpc>
                <a:spcPct val="102000"/>
              </a:lnSpc>
            </a:pPr>
            <a:r>
              <a:rPr sz="1150" b="1" i="0">
                <a:solidFill>
                  <a:srgbClr val="31633D"/>
                </a:solidFill>
                <a:latin typeface="Arial"/>
              </a:rPr>
              <a:t>cho mọi khách hàng</a:t>
            </a:r>
          </a:p>
        </p:txBody>
      </p:sp>
      <p:sp>
        <p:nvSpPr>
          <p:cNvPr id="19" name="Rectangle 18"/>
          <p:cNvSpPr/>
          <p:nvPr/>
        </p:nvSpPr>
        <p:spPr>
          <a:xfrm>
            <a:off x="4453128" y="2066543"/>
            <a:ext cx="3282696" cy="9144"/>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0" name="TextBox 19"/>
          <p:cNvSpPr txBox="1"/>
          <p:nvPr/>
        </p:nvSpPr>
        <p:spPr>
          <a:xfrm>
            <a:off x="4453128" y="2157984"/>
            <a:ext cx="3282696" cy="1920240"/>
          </a:xfrm>
          <a:prstGeom prst="rect">
            <a:avLst/>
          </a:prstGeom>
          <a:noFill/>
        </p:spPr>
        <p:txBody>
          <a:bodyPr wrap="square" lIns="45720" rIns="45720" tIns="18288" bIns="18288">
            <a:spAutoFit/>
          </a:bodyPr>
          <a:lstStyle/>
          <a:p>
            <a:pPr algn="l">
              <a:lnSpc>
                <a:spcPct val="106000"/>
              </a:lnSpc>
              <a:spcAft>
                <a:spcPts val="400"/>
              </a:spcAft>
            </a:pPr>
            <a:r>
              <a:rPr sz="900" b="0" i="0">
                <a:solidFill>
                  <a:srgbClr val="5C6B62"/>
                </a:solidFill>
                <a:latin typeface="Arial"/>
              </a:rPr>
              <a:t>▪  </a:t>
            </a:r>
            <a:r>
              <a:rPr sz="900" b="0" i="0">
                <a:solidFill>
                  <a:srgbClr val="5C6B62"/>
                </a:solidFill>
                <a:latin typeface="Arial"/>
              </a:rPr>
              <a:t>Tuần này lại được nêu là vấn đề chung</a:t>
            </a:r>
          </a:p>
          <a:p>
            <a:pPr algn="l">
              <a:lnSpc>
                <a:spcPct val="106000"/>
              </a:lnSpc>
              <a:spcAft>
                <a:spcPts val="400"/>
              </a:spcAft>
            </a:pPr>
            <a:r>
              <a:rPr sz="900" b="0" i="0">
                <a:solidFill>
                  <a:srgbClr val="5C6B62"/>
                </a:solidFill>
                <a:latin typeface="Arial"/>
              </a:rPr>
              <a:t>▪  </a:t>
            </a:r>
            <a:r>
              <a:rPr sz="900" b="0" i="0">
                <a:solidFill>
                  <a:srgbClr val="5C6B62"/>
                </a:solidFill>
                <a:latin typeface="Arial"/>
              </a:rPr>
              <a:t>Không thể cùng một ngày mà khách này gửi, khách kia không</a:t>
            </a:r>
          </a:p>
          <a:p>
            <a:pPr algn="l">
              <a:lnSpc>
                <a:spcPct val="106000"/>
              </a:lnSpc>
              <a:spcAft>
                <a:spcPts val="400"/>
              </a:spcAft>
            </a:pPr>
            <a:r>
              <a:rPr sz="900" b="0" i="0">
                <a:solidFill>
                  <a:srgbClr val="5C6B62"/>
                </a:solidFill>
                <a:latin typeface="Arial"/>
              </a:rPr>
              <a:t>▪  </a:t>
            </a:r>
            <a:r>
              <a:rPr sz="900" b="0" i="0">
                <a:solidFill>
                  <a:srgbClr val="5C6B62"/>
                </a:solidFill>
                <a:latin typeface="Arial"/>
              </a:rPr>
              <a:t>CD7: hỏi thăm việc bé sử dụng kính</a:t>
            </a:r>
          </a:p>
          <a:p>
            <a:pPr algn="l">
              <a:lnSpc>
                <a:spcPct val="106000"/>
              </a:lnSpc>
              <a:spcAft>
                <a:spcPts val="400"/>
              </a:spcAft>
            </a:pPr>
            <a:r>
              <a:rPr sz="900" b="0" i="0">
                <a:solidFill>
                  <a:srgbClr val="5C6B62"/>
                </a:solidFill>
                <a:latin typeface="Arial"/>
              </a:rPr>
              <a:t>▪  </a:t>
            </a:r>
            <a:r>
              <a:rPr sz="900" b="0" i="0">
                <a:solidFill>
                  <a:srgbClr val="5C6B62"/>
                </a:solidFill>
                <a:latin typeface="Arial"/>
              </a:rPr>
              <a:t>CD14 đến CD30: hỏi thăm lần nữa, và gửi nội dung kiến thức</a:t>
            </a:r>
          </a:p>
          <a:p>
            <a:pPr algn="l">
              <a:lnSpc>
                <a:spcPct val="106000"/>
              </a:lnSpc>
              <a:spcAft>
                <a:spcPts val="400"/>
              </a:spcAft>
            </a:pPr>
            <a:r>
              <a:rPr sz="900" b="0" i="0">
                <a:solidFill>
                  <a:srgbClr val="5C6B62"/>
                </a:solidFill>
                <a:latin typeface="Arial"/>
              </a:rPr>
              <a:t>▪  </a:t>
            </a:r>
            <a:r>
              <a:rPr sz="900" b="0" i="0">
                <a:solidFill>
                  <a:srgbClr val="5C6B62"/>
                </a:solidFill>
                <a:latin typeface="Arial"/>
              </a:rPr>
              <a:t>Hãy tạo thành quy trình lặp lại, không phải mỗi lần lại tự quyết định</a:t>
            </a:r>
          </a:p>
        </p:txBody>
      </p:sp>
      <p:sp>
        <p:nvSpPr>
          <p:cNvPr id="21" name="Rectangle 20"/>
          <p:cNvSpPr/>
          <p:nvPr/>
        </p:nvSpPr>
        <p:spPr>
          <a:xfrm>
            <a:off x="4453128" y="4224528"/>
            <a:ext cx="3282696" cy="914400"/>
          </a:xfrm>
          <a:prstGeom prst="rect">
            <a:avLst/>
          </a:prstGeom>
          <a:solidFill>
            <a:srgbClr val="E4F3F3"/>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lIns="128016" rIns="128016"/>
          <a:lstStyle/>
          <a:p>
            <a:pPr algn="l">
              <a:lnSpc>
                <a:spcPct val="110000"/>
              </a:lnSpc>
            </a:pPr>
            <a:r>
              <a:rPr sz="950" b="1" i="0">
                <a:solidFill>
                  <a:srgbClr val="31633D"/>
                </a:solidFill>
                <a:latin typeface="Arial"/>
              </a:rPr>
              <a:t>Cùng một ngày, cùng một cách chăm sóc, với mọi khách hàng.</a:t>
            </a:r>
          </a:p>
        </p:txBody>
      </p:sp>
      <p:sp>
        <p:nvSpPr>
          <p:cNvPr id="22" name="Rectangle 21"/>
          <p:cNvSpPr/>
          <p:nvPr/>
        </p:nvSpPr>
        <p:spPr>
          <a:xfrm>
            <a:off x="8110727" y="1353312"/>
            <a:ext cx="3575304" cy="3931920"/>
          </a:xfrm>
          <a:prstGeom prst="rect">
            <a:avLst/>
          </a:prstGeom>
          <a:solidFill>
            <a:srgbClr val="F7FAF8"/>
          </a:solidFill>
          <a:ln w="9525">
            <a:solidFill>
              <a:srgbClr val="CFE6D8"/>
            </a:solid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3" name="Rectangle 22"/>
          <p:cNvSpPr/>
          <p:nvPr/>
        </p:nvSpPr>
        <p:spPr>
          <a:xfrm>
            <a:off x="8110727" y="1353312"/>
            <a:ext cx="3575304" cy="54864"/>
          </a:xfrm>
          <a:prstGeom prst="rect">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4" name="Oval 23"/>
          <p:cNvSpPr/>
          <p:nvPr/>
        </p:nvSpPr>
        <p:spPr>
          <a:xfrm>
            <a:off x="8257031" y="1536192"/>
            <a:ext cx="292608" cy="292608"/>
          </a:xfrm>
          <a:prstGeom prst="ellipse">
            <a:avLst/>
          </a:prstGeom>
          <a:solidFill>
            <a:srgbClr val="5B2C6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9144" bIns="9144" lIns="9144" rIns="9144"/>
          <a:lstStyle/>
          <a:p>
            <a:pPr algn="ctr"/>
            <a:r>
              <a:rPr sz="1100" b="1" i="0">
                <a:solidFill>
                  <a:srgbClr val="FFFFFF"/>
                </a:solidFill>
                <a:latin typeface="Arial"/>
              </a:rPr>
              <a:t>3</a:t>
            </a:r>
          </a:p>
        </p:txBody>
      </p:sp>
      <p:sp>
        <p:nvSpPr>
          <p:cNvPr id="25" name="TextBox 24"/>
          <p:cNvSpPr txBox="1"/>
          <p:nvPr/>
        </p:nvSpPr>
        <p:spPr>
          <a:xfrm>
            <a:off x="8622792" y="1499616"/>
            <a:ext cx="2916936" cy="475488"/>
          </a:xfrm>
          <a:prstGeom prst="rect">
            <a:avLst/>
          </a:prstGeom>
          <a:noFill/>
        </p:spPr>
        <p:txBody>
          <a:bodyPr wrap="square" lIns="45720" rIns="45720" tIns="18288" bIns="18288">
            <a:spAutoFit/>
          </a:bodyPr>
          <a:lstStyle/>
          <a:p>
            <a:pPr algn="l">
              <a:lnSpc>
                <a:spcPct val="102000"/>
              </a:lnSpc>
            </a:pPr>
            <a:r>
              <a:rPr sz="1150" b="1" i="0">
                <a:solidFill>
                  <a:srgbClr val="31633D"/>
                </a:solidFill>
                <a:latin typeface="Arial"/>
              </a:rPr>
              <a:t>Ortho-K</a:t>
            </a:r>
          </a:p>
          <a:p>
            <a:pPr algn="l">
              <a:lnSpc>
                <a:spcPct val="102000"/>
              </a:lnSpc>
            </a:pPr>
            <a:r>
              <a:rPr sz="1150" b="1" i="0">
                <a:solidFill>
                  <a:srgbClr val="31633D"/>
                </a:solidFill>
                <a:latin typeface="Arial"/>
              </a:rPr>
              <a:t>tuần đầu tiên</a:t>
            </a:r>
          </a:p>
        </p:txBody>
      </p:sp>
      <p:sp>
        <p:nvSpPr>
          <p:cNvPr id="26" name="Rectangle 25"/>
          <p:cNvSpPr/>
          <p:nvPr/>
        </p:nvSpPr>
        <p:spPr>
          <a:xfrm>
            <a:off x="8257031" y="2066543"/>
            <a:ext cx="3282696" cy="9144"/>
          </a:xfrm>
          <a:prstGeom prst="rect">
            <a:avLst/>
          </a:prstGeom>
          <a:solidFill>
            <a:srgbClr val="CFE6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27432" bIns="27432"/>
          <a:lstStyle/>
          <a:p>
            <a:pPr algn="ctr"/>
          </a:p>
        </p:txBody>
      </p:sp>
      <p:sp>
        <p:nvSpPr>
          <p:cNvPr id="27" name="TextBox 26"/>
          <p:cNvSpPr txBox="1"/>
          <p:nvPr/>
        </p:nvSpPr>
        <p:spPr>
          <a:xfrm>
            <a:off x="8257031" y="2157984"/>
            <a:ext cx="3282696" cy="1920240"/>
          </a:xfrm>
          <a:prstGeom prst="rect">
            <a:avLst/>
          </a:prstGeom>
          <a:noFill/>
        </p:spPr>
        <p:txBody>
          <a:bodyPr wrap="square" lIns="45720" rIns="45720" tIns="18288" bIns="18288">
            <a:spAutoFit/>
          </a:bodyPr>
          <a:lstStyle/>
          <a:p>
            <a:pPr algn="l">
              <a:lnSpc>
                <a:spcPct val="106000"/>
              </a:lnSpc>
              <a:spcAft>
                <a:spcPts val="400"/>
              </a:spcAft>
            </a:pPr>
            <a:r>
              <a:rPr sz="900" b="0" i="0">
                <a:solidFill>
                  <a:srgbClr val="5C6B62"/>
                </a:solidFill>
                <a:latin typeface="Arial"/>
              </a:rPr>
              <a:t>▪  </a:t>
            </a:r>
            <a:r>
              <a:rPr sz="900" b="0" i="0">
                <a:solidFill>
                  <a:srgbClr val="5C6B62"/>
                </a:solidFill>
                <a:latin typeface="Arial"/>
              </a:rPr>
              <a:t>Hai đến ba tin chăm sóc trong tuần đầu sau khi khách nhận tròng</a:t>
            </a:r>
          </a:p>
          <a:p>
            <a:pPr algn="l">
              <a:lnSpc>
                <a:spcPct val="106000"/>
              </a:lnSpc>
              <a:spcAft>
                <a:spcPts val="400"/>
              </a:spcAft>
            </a:pPr>
            <a:r>
              <a:rPr sz="900" b="0" i="0">
                <a:solidFill>
                  <a:srgbClr val="5C6B62"/>
                </a:solidFill>
                <a:latin typeface="Arial"/>
              </a:rPr>
              <a:t>▪  </a:t>
            </a:r>
            <a:r>
              <a:rPr sz="900" b="0" i="0">
                <a:solidFill>
                  <a:srgbClr val="5C6B62"/>
                </a:solidFill>
                <a:latin typeface="Arial"/>
              </a:rPr>
              <a:t>CDN ngay tối đó, CD+1 vào sáng hôm sau</a:t>
            </a:r>
          </a:p>
          <a:p>
            <a:pPr algn="l">
              <a:lnSpc>
                <a:spcPct val="106000"/>
              </a:lnSpc>
              <a:spcAft>
                <a:spcPts val="400"/>
              </a:spcAft>
            </a:pPr>
            <a:r>
              <a:rPr sz="900" b="0" i="0">
                <a:solidFill>
                  <a:srgbClr val="5C6B62"/>
                </a:solidFill>
                <a:latin typeface="Arial"/>
              </a:rPr>
              <a:t>▪  </a:t>
            </a:r>
            <a:r>
              <a:rPr sz="900" b="0" i="0">
                <a:solidFill>
                  <a:srgbClr val="5C6B62"/>
                </a:solidFill>
                <a:latin typeface="Arial"/>
              </a:rPr>
              <a:t>Gửi tin đặt tròng riêng trước khi khách đến nhận</a:t>
            </a:r>
          </a:p>
          <a:p>
            <a:pPr algn="l">
              <a:lnSpc>
                <a:spcPct val="106000"/>
              </a:lnSpc>
              <a:spcAft>
                <a:spcPts val="400"/>
              </a:spcAft>
            </a:pPr>
            <a:r>
              <a:rPr sz="900" b="0" i="0">
                <a:solidFill>
                  <a:srgbClr val="5C6B62"/>
                </a:solidFill>
                <a:latin typeface="Arial"/>
              </a:rPr>
              <a:t>▪  </a:t>
            </a:r>
            <a:r>
              <a:rPr sz="900" b="0" i="0">
                <a:solidFill>
                  <a:srgbClr val="5C6B62"/>
                </a:solidFill>
                <a:latin typeface="Arial"/>
              </a:rPr>
              <a:t>Mời tái khám ở mốc CD+7</a:t>
            </a:r>
          </a:p>
          <a:p>
            <a:pPr algn="l">
              <a:lnSpc>
                <a:spcPct val="106000"/>
              </a:lnSpc>
              <a:spcAft>
                <a:spcPts val="400"/>
              </a:spcAft>
            </a:pPr>
            <a:r>
              <a:rPr sz="900" b="0" i="0">
                <a:solidFill>
                  <a:srgbClr val="5C6B62"/>
                </a:solidFill>
                <a:latin typeface="Arial"/>
              </a:rPr>
              <a:t>▪  </a:t>
            </a:r>
            <a:r>
              <a:rPr sz="900" b="0" i="0">
                <a:solidFill>
                  <a:srgbClr val="5C6B62"/>
                </a:solidFill>
                <a:latin typeface="Arial"/>
              </a:rPr>
              <a:t>CTE-D5 bắt đầu từ đây</a:t>
            </a:r>
          </a:p>
        </p:txBody>
      </p:sp>
      <p:sp>
        <p:nvSpPr>
          <p:cNvPr id="28" name="Rectangle 27"/>
          <p:cNvSpPr/>
          <p:nvPr/>
        </p:nvSpPr>
        <p:spPr>
          <a:xfrm>
            <a:off x="8257031" y="4224528"/>
            <a:ext cx="3282696" cy="914400"/>
          </a:xfrm>
          <a:prstGeom prst="rect">
            <a:avLst/>
          </a:prstGeom>
          <a:solidFill>
            <a:srgbClr val="EEE6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36576" bIns="36576" lIns="128016" rIns="128016"/>
          <a:lstStyle/>
          <a:p>
            <a:pPr algn="l">
              <a:lnSpc>
                <a:spcPct val="110000"/>
              </a:lnSpc>
            </a:pPr>
            <a:r>
              <a:rPr sz="950" b="1" i="0">
                <a:solidFill>
                  <a:srgbClr val="31633D"/>
                </a:solidFill>
                <a:latin typeface="Arial"/>
              </a:rPr>
              <a:t>Ortho-K có bốn tin nhắn mà kính thường không có.</a:t>
            </a:r>
          </a:p>
        </p:txBody>
      </p:sp>
      <p:sp>
        <p:nvSpPr>
          <p:cNvPr id="29" name="Rectangle 28"/>
          <p:cNvSpPr/>
          <p:nvPr/>
        </p:nvSpPr>
        <p:spPr>
          <a:xfrm>
            <a:off x="502920" y="5431536"/>
            <a:ext cx="11183112" cy="402336"/>
          </a:xfrm>
          <a:prstGeom prst="rect">
            <a:avLst/>
          </a:prstGeom>
          <a:solidFill>
            <a:srgbClr val="EBF4EF"/>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lIns="146304" rIns="128016"/>
          <a:lstStyle/>
          <a:p>
            <a:pPr algn="l"/>
            <a:r>
              <a:rPr sz="950" b="1" i="0">
                <a:solidFill>
                  <a:srgbClr val="2E9C4C"/>
                </a:solidFill>
                <a:latin typeface="Arial"/>
              </a:rPr>
              <a:t>Áp dụng tuần này:  </a:t>
            </a:r>
            <a:r>
              <a:rPr sz="950" b="0" i="0">
                <a:solidFill>
                  <a:srgbClr val="5C6B62"/>
                </a:solidFill>
                <a:latin typeface="Arial"/>
              </a:rPr>
              <a:t>Tin cập nhật tiến độ đặt kính và tin thông báo nhận kính của CTE-D7 được khuyến nghị áp dụng rộng. Hãy dùng đúng như đã viết — trang 5.</a:t>
            </a:r>
          </a:p>
        </p:txBody>
      </p:sp>
      <p:sp>
        <p:nvSpPr>
          <p:cNvPr id="30" name="Rectangle 29"/>
          <p:cNvSpPr/>
          <p:nvPr/>
        </p:nvSpPr>
        <p:spPr>
          <a:xfrm>
            <a:off x="502920" y="5925312"/>
            <a:ext cx="11183112" cy="457200"/>
          </a:xfrm>
          <a:prstGeom prst="rect">
            <a:avLst/>
          </a:prstGeom>
          <a:solidFill>
            <a:srgbClr val="31633D"/>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tIns="18288" bIns="18288"/>
          <a:lstStyle/>
          <a:p>
            <a:pPr algn="ctr"/>
            <a:r>
              <a:rPr sz="1600" b="1" i="0">
                <a:solidFill>
                  <a:srgbClr val="FFFFFF"/>
                </a:solidFill>
                <a:latin typeface="Arial"/>
              </a:rPr>
              <a:t>Mọi khách hàng.    Đúng hạn.    Đúng nội dung.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