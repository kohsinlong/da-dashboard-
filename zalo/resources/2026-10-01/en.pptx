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3"/>
  </p:notesMasterIdLst>
  <p:sldIdLst>
    <p:sldId id="256" r:id="rId4"/>
    <p:sldId id="257" r:id="rId5"/>
    <p:sldId id="258" r:id="rId6"/>
    <p:sldId id="259" r:id="rId7"/>
    <p:sldId id="260" r:id="rId8"/>
    <p:sldId id="261" r:id="rId9"/>
    <p:sldId id="262" r:id="rId10"/>
    <p:sldId id="263" r:id="rId11"/>
    <p:sldId id="264" r:id="rId12"/>
  </p:sldIdLst>
  <p:sldSz cx="12192000"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presProps" Target="presProps.xml" /><Relationship Id="rId15" Type="http://schemas.openxmlformats.org/officeDocument/2006/relationships/tableStyles" Target="tableStyles.xml" /><Relationship Id="rId1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BB5F3E3-9311-8E73-A334-6388D3EEA4E3}"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B95CF71-759C-FCF6-1B26-23EB0B4B9F00}"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A86ED29-4C1B-498B-1CE0-0BA72F098D9F}"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9CA36E0-FD6B-2522-512D-4C6BFFA5FC9B}"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69D10B0-7B80-3F1C-AE7B-B2023FBC81EE}"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420A451-EB8D-0DD2-DAB8-20C3F12BE1DD}"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F0938A-C882-BD21-F980-F07576C87659}"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D98F1C8-133D-F1BF-C422-1F8DD6143312}"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8C554C9-55D4-AC86-1905-636374ECB451}"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789448830"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003576455"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211078236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89023373" name="Footer Placeholder 4"/>
          <p:cNvSpPr>
            <a:spLocks noGrp="1"/>
          </p:cNvSpPr>
          <p:nvPr>
            <p:ph type="ftr" sz="quarter" idx="11"/>
          </p:nvPr>
        </p:nvSpPr>
        <p:spPr bwMode="auto"/>
        <p:txBody>
          <a:bodyPr/>
          <a:lstStyle/>
          <a:p>
            <a:pPr>
              <a:defRPr/>
            </a:pPr>
            <a:endParaRPr lang="en-US"/>
          </a:p>
        </p:txBody>
      </p:sp>
      <p:sp>
        <p:nvSpPr>
          <p:cNvPr id="25119150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808190968" name="Title 1"/>
          <p:cNvSpPr>
            <a:spLocks noGrp="1"/>
          </p:cNvSpPr>
          <p:nvPr>
            <p:ph type="title"/>
          </p:nvPr>
        </p:nvSpPr>
        <p:spPr bwMode="auto"/>
        <p:txBody>
          <a:bodyPr/>
          <a:lstStyle/>
          <a:p>
            <a:pPr>
              <a:defRPr/>
            </a:pPr>
            <a:r>
              <a:rPr lang="en-US"/>
              <a:t>Click to edit Master title style</a:t>
            </a:r>
            <a:endParaRPr lang="en-US"/>
          </a:p>
        </p:txBody>
      </p:sp>
      <p:sp>
        <p:nvSpPr>
          <p:cNvPr id="191781630"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41251238"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993154557" name="Footer Placeholder 4"/>
          <p:cNvSpPr>
            <a:spLocks noGrp="1"/>
          </p:cNvSpPr>
          <p:nvPr>
            <p:ph type="ftr" sz="quarter" idx="11"/>
          </p:nvPr>
        </p:nvSpPr>
        <p:spPr bwMode="auto"/>
        <p:txBody>
          <a:bodyPr/>
          <a:lstStyle/>
          <a:p>
            <a:pPr>
              <a:defRPr/>
            </a:pPr>
            <a:endParaRPr lang="en-US"/>
          </a:p>
        </p:txBody>
      </p:sp>
      <p:sp>
        <p:nvSpPr>
          <p:cNvPr id="1905955846"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654568781"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919790828"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2098148587"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28603882" name="Footer Placeholder 4"/>
          <p:cNvSpPr>
            <a:spLocks noGrp="1"/>
          </p:cNvSpPr>
          <p:nvPr>
            <p:ph type="ftr" sz="quarter" idx="11"/>
          </p:nvPr>
        </p:nvSpPr>
        <p:spPr bwMode="auto"/>
        <p:txBody>
          <a:bodyPr/>
          <a:lstStyle/>
          <a:p>
            <a:pPr>
              <a:defRPr/>
            </a:pPr>
            <a:endParaRPr lang="en-US"/>
          </a:p>
        </p:txBody>
      </p:sp>
      <p:sp>
        <p:nvSpPr>
          <p:cNvPr id="1200475650"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358571052" name="Title 1"/>
          <p:cNvSpPr>
            <a:spLocks noGrp="1"/>
          </p:cNvSpPr>
          <p:nvPr>
            <p:ph type="title"/>
          </p:nvPr>
        </p:nvSpPr>
        <p:spPr bwMode="auto"/>
        <p:txBody>
          <a:bodyPr/>
          <a:lstStyle/>
          <a:p>
            <a:pPr>
              <a:defRPr/>
            </a:pPr>
            <a:r>
              <a:rPr lang="en-US"/>
              <a:t>Click to edit Master title style</a:t>
            </a:r>
            <a:endParaRPr lang="en-US"/>
          </a:p>
        </p:txBody>
      </p:sp>
      <p:sp>
        <p:nvSpPr>
          <p:cNvPr id="1087799384"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30580058"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86455057"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747067216" name="Footer Placeholder 5"/>
          <p:cNvSpPr>
            <a:spLocks noGrp="1"/>
          </p:cNvSpPr>
          <p:nvPr>
            <p:ph type="ftr" sz="quarter" idx="11"/>
          </p:nvPr>
        </p:nvSpPr>
        <p:spPr bwMode="auto"/>
        <p:txBody>
          <a:bodyPr/>
          <a:lstStyle/>
          <a:p>
            <a:pPr>
              <a:defRPr/>
            </a:pPr>
            <a:endParaRPr lang="en-US"/>
          </a:p>
        </p:txBody>
      </p:sp>
      <p:sp>
        <p:nvSpPr>
          <p:cNvPr id="1233204883"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384354638"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453390606"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866211189"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87623378"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294843989"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29042721"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50934106" name="Footer Placeholder 7"/>
          <p:cNvSpPr>
            <a:spLocks noGrp="1"/>
          </p:cNvSpPr>
          <p:nvPr>
            <p:ph type="ftr" sz="quarter" idx="11"/>
          </p:nvPr>
        </p:nvSpPr>
        <p:spPr bwMode="auto"/>
        <p:txBody>
          <a:bodyPr/>
          <a:lstStyle/>
          <a:p>
            <a:pPr>
              <a:defRPr/>
            </a:pPr>
            <a:endParaRPr lang="en-US"/>
          </a:p>
        </p:txBody>
      </p:sp>
      <p:sp>
        <p:nvSpPr>
          <p:cNvPr id="2031028555"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99106570" name="Title 1"/>
          <p:cNvSpPr>
            <a:spLocks noGrp="1"/>
          </p:cNvSpPr>
          <p:nvPr>
            <p:ph type="title"/>
          </p:nvPr>
        </p:nvSpPr>
        <p:spPr bwMode="auto"/>
        <p:txBody>
          <a:bodyPr/>
          <a:lstStyle/>
          <a:p>
            <a:pPr>
              <a:defRPr/>
            </a:pPr>
            <a:r>
              <a:rPr lang="en-US"/>
              <a:t>Click to edit Master title style</a:t>
            </a:r>
            <a:endParaRPr lang="en-US"/>
          </a:p>
        </p:txBody>
      </p:sp>
      <p:sp>
        <p:nvSpPr>
          <p:cNvPr id="1201411542"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6851994" name="Footer Placeholder 3"/>
          <p:cNvSpPr>
            <a:spLocks noGrp="1"/>
          </p:cNvSpPr>
          <p:nvPr>
            <p:ph type="ftr" sz="quarter" idx="11"/>
          </p:nvPr>
        </p:nvSpPr>
        <p:spPr bwMode="auto"/>
        <p:txBody>
          <a:bodyPr/>
          <a:lstStyle/>
          <a:p>
            <a:pPr>
              <a:defRPr/>
            </a:pPr>
            <a:endParaRPr lang="en-US"/>
          </a:p>
        </p:txBody>
      </p:sp>
      <p:sp>
        <p:nvSpPr>
          <p:cNvPr id="1534737521"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88226115"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42775785" name="Footer Placeholder 2"/>
          <p:cNvSpPr>
            <a:spLocks noGrp="1"/>
          </p:cNvSpPr>
          <p:nvPr>
            <p:ph type="ftr" sz="quarter" idx="11"/>
          </p:nvPr>
        </p:nvSpPr>
        <p:spPr bwMode="auto"/>
        <p:txBody>
          <a:bodyPr/>
          <a:lstStyle/>
          <a:p>
            <a:pPr>
              <a:defRPr/>
            </a:pPr>
            <a:endParaRPr lang="en-US"/>
          </a:p>
        </p:txBody>
      </p:sp>
      <p:sp>
        <p:nvSpPr>
          <p:cNvPr id="907058813"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606326223"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361928328"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22488804"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753740916"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01289141" name="Footer Placeholder 5"/>
          <p:cNvSpPr>
            <a:spLocks noGrp="1"/>
          </p:cNvSpPr>
          <p:nvPr>
            <p:ph type="ftr" sz="quarter" idx="11"/>
          </p:nvPr>
        </p:nvSpPr>
        <p:spPr bwMode="auto"/>
        <p:txBody>
          <a:bodyPr/>
          <a:lstStyle/>
          <a:p>
            <a:pPr>
              <a:defRPr/>
            </a:pPr>
            <a:endParaRPr lang="en-US"/>
          </a:p>
        </p:txBody>
      </p:sp>
      <p:sp>
        <p:nvSpPr>
          <p:cNvPr id="108302852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016965326"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78889488"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2069380299"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930170798"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743164216" name="Footer Placeholder 5"/>
          <p:cNvSpPr>
            <a:spLocks noGrp="1"/>
          </p:cNvSpPr>
          <p:nvPr>
            <p:ph type="ftr" sz="quarter" idx="11"/>
          </p:nvPr>
        </p:nvSpPr>
        <p:spPr bwMode="auto"/>
        <p:txBody>
          <a:bodyPr/>
          <a:lstStyle/>
          <a:p>
            <a:pPr>
              <a:defRPr/>
            </a:pPr>
            <a:endParaRPr lang="en-US"/>
          </a:p>
        </p:txBody>
      </p:sp>
      <p:sp>
        <p:nvSpPr>
          <p:cNvPr id="1943199308"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555691416" name="Title 1"/>
          <p:cNvSpPr>
            <a:spLocks noGrp="1"/>
          </p:cNvSpPr>
          <p:nvPr>
            <p:ph type="title"/>
          </p:nvPr>
        </p:nvSpPr>
        <p:spPr bwMode="auto"/>
        <p:txBody>
          <a:bodyPr/>
          <a:lstStyle/>
          <a:p>
            <a:pPr>
              <a:defRPr/>
            </a:pPr>
            <a:r>
              <a:rPr lang="en-US"/>
              <a:t>Click to edit Master title style</a:t>
            </a:r>
            <a:endParaRPr lang="en-US"/>
          </a:p>
        </p:txBody>
      </p:sp>
      <p:sp>
        <p:nvSpPr>
          <p:cNvPr id="21084998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83850493"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48737147" name="Footer Placeholder 4"/>
          <p:cNvSpPr>
            <a:spLocks noGrp="1"/>
          </p:cNvSpPr>
          <p:nvPr>
            <p:ph type="ftr" sz="quarter" idx="11"/>
          </p:nvPr>
        </p:nvSpPr>
        <p:spPr bwMode="auto"/>
        <p:txBody>
          <a:bodyPr/>
          <a:lstStyle/>
          <a:p>
            <a:pPr>
              <a:defRPr/>
            </a:pPr>
            <a:endParaRPr lang="en-US"/>
          </a:p>
        </p:txBody>
      </p:sp>
      <p:sp>
        <p:nvSpPr>
          <p:cNvPr id="1017898310"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049251168"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396744384"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9174814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74586152" name="Footer Placeholder 4"/>
          <p:cNvSpPr>
            <a:spLocks noGrp="1"/>
          </p:cNvSpPr>
          <p:nvPr>
            <p:ph type="ftr" sz="quarter" idx="11"/>
          </p:nvPr>
        </p:nvSpPr>
        <p:spPr bwMode="auto"/>
        <p:txBody>
          <a:bodyPr/>
          <a:lstStyle/>
          <a:p>
            <a:pPr>
              <a:defRPr/>
            </a:pPr>
            <a:endParaRPr lang="en-US"/>
          </a:p>
        </p:txBody>
      </p:sp>
      <p:sp>
        <p:nvSpPr>
          <p:cNvPr id="132793183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148294314"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365992587"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55973801"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381132366"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80005819"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1989669" name="Rectangle 1"/>
          <p:cNvSpPr/>
          <p:nvPr/>
        </p:nvSpPr>
        <p:spPr bwMode="auto">
          <a:xfrm>
            <a:off x="0" y="0"/>
            <a:ext cx="12188952" cy="685800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854216259" name="Rectangle 2"/>
          <p:cNvSpPr/>
          <p:nvPr/>
        </p:nvSpPr>
        <p:spPr bwMode="auto">
          <a:xfrm>
            <a:off x="0" y="0"/>
            <a:ext cx="12188952" cy="14630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85287798" name="Rectangle 3"/>
          <p:cNvSpPr/>
          <p:nvPr/>
        </p:nvSpPr>
        <p:spPr bwMode="auto">
          <a:xfrm>
            <a:off x="0" y="5989320"/>
            <a:ext cx="12188952" cy="868680"/>
          </a:xfrm>
          <a:prstGeom prst="rect">
            <a:avLst/>
          </a:prstGeom>
          <a:solidFill>
            <a:srgbClr val="275132"/>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082972925" name="TextBox 4"/>
          <p:cNvSpPr txBox="1"/>
          <p:nvPr/>
        </p:nvSpPr>
        <p:spPr bwMode="auto">
          <a:xfrm>
            <a:off x="566928" y="2048256"/>
            <a:ext cx="10424160" cy="210312"/>
          </a:xfrm>
          <a:prstGeom prst="rect">
            <a:avLst/>
          </a:prstGeom>
          <a:noFill/>
        </p:spPr>
        <p:txBody>
          <a:bodyPr wrap="square" lIns="45720" tIns="18288" rIns="45720" bIns="18288">
            <a:spAutoFit/>
          </a:bodyPr>
          <a:lstStyle/>
          <a:p>
            <a:pPr algn="l">
              <a:defRPr/>
            </a:pPr>
            <a:r>
              <a:rPr sz="1200" b="1" i="0">
                <a:solidFill>
                  <a:srgbClr val="CFE6D8"/>
                </a:solidFill>
                <a:latin typeface="Arial"/>
              </a:rPr>
              <a:t>1 October 2026</a:t>
            </a:r>
            <a:endParaRPr/>
          </a:p>
        </p:txBody>
      </p:sp>
      <p:sp>
        <p:nvSpPr>
          <p:cNvPr id="221433974" name="TextBox 5"/>
          <p:cNvSpPr txBox="1"/>
          <p:nvPr/>
        </p:nvSpPr>
        <p:spPr bwMode="auto">
          <a:xfrm>
            <a:off x="566928" y="2414016"/>
            <a:ext cx="10607040" cy="621792"/>
          </a:xfrm>
          <a:prstGeom prst="rect">
            <a:avLst/>
          </a:prstGeom>
          <a:noFill/>
        </p:spPr>
        <p:txBody>
          <a:bodyPr wrap="square" lIns="45720" tIns="18288" rIns="45720" bIns="18288">
            <a:spAutoFit/>
          </a:bodyPr>
          <a:lstStyle/>
          <a:p>
            <a:pPr algn="l">
              <a:defRPr/>
            </a:pPr>
            <a:r>
              <a:rPr sz="4000" b="1" i="0">
                <a:solidFill>
                  <a:srgbClr val="CFE6D8"/>
                </a:solidFill>
                <a:latin typeface="Arial"/>
              </a:rPr>
              <a:t>Optometry Doctor’s Assistant Training</a:t>
            </a:r>
            <a:endParaRPr/>
          </a:p>
        </p:txBody>
      </p:sp>
      <p:sp>
        <p:nvSpPr>
          <p:cNvPr id="25973409" name="Rectangle 6"/>
          <p:cNvSpPr/>
          <p:nvPr/>
        </p:nvSpPr>
        <p:spPr bwMode="auto">
          <a:xfrm>
            <a:off x="566928" y="4078224"/>
            <a:ext cx="1920240" cy="4572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599205891" name="TextBox 7"/>
          <p:cNvSpPr txBox="1"/>
          <p:nvPr/>
        </p:nvSpPr>
        <p:spPr bwMode="auto">
          <a:xfrm>
            <a:off x="566928" y="4297680"/>
            <a:ext cx="8412480" cy="210312"/>
          </a:xfrm>
          <a:prstGeom prst="rect">
            <a:avLst/>
          </a:prstGeom>
          <a:noFill/>
        </p:spPr>
        <p:txBody>
          <a:bodyPr wrap="square" lIns="45720" tIns="18288" rIns="45720" bIns="18288">
            <a:spAutoFit/>
          </a:bodyPr>
          <a:lstStyle/>
          <a:p>
            <a:pPr algn="l">
              <a:defRPr/>
            </a:pPr>
            <a:r>
              <a:rPr sz="1200" b="1" i="0">
                <a:solidFill>
                  <a:srgbClr val="CFE6D8"/>
                </a:solidFill>
                <a:latin typeface="Arial"/>
              </a:rPr>
              <a:t>NGT   ·   CTE D5   ·   CTE D7   ·   LA   ·   SH (Song Han)</a:t>
            </a:r>
            <a:endParaRPr/>
          </a:p>
        </p:txBody>
      </p:sp>
      <p:sp>
        <p:nvSpPr>
          <p:cNvPr id="1711279698" name="TextBox 8"/>
          <p:cNvSpPr txBox="1"/>
          <p:nvPr/>
        </p:nvSpPr>
        <p:spPr bwMode="auto">
          <a:xfrm>
            <a:off x="566928" y="6217920"/>
            <a:ext cx="9875520" cy="274320"/>
          </a:xfrm>
          <a:prstGeom prst="rect">
            <a:avLst/>
          </a:prstGeom>
          <a:noFill/>
        </p:spPr>
        <p:txBody>
          <a:bodyPr wrap="square" lIns="45720" tIns="18288" rIns="45720" bIns="18288">
            <a:spAutoFit/>
          </a:bodyPr>
          <a:lstStyle/>
          <a:p>
            <a:pPr algn="l">
              <a:defRPr/>
            </a:pPr>
            <a:r>
              <a:rPr sz="950" b="0" i="0">
                <a:solidFill>
                  <a:srgbClr val="CFE6D8"/>
                </a:solidFill>
                <a:latin typeface="Arial"/>
              </a:rPr>
              <a:t>Prepared for DA training and review  ·  Content from the CZ Zalo Feedback of 29–30 September 2026  ·  Internal use only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7412104"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572169433"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rPr>
              <a:t>1. SINCE LAST WEEK   |   IMPROVEMENT AND WHAT IS OUTSTANDING</a:t>
            </a:r>
            <a:endParaRPr/>
          </a:p>
        </p:txBody>
      </p:sp>
      <p:sp>
        <p:nvSpPr>
          <p:cNvPr id="1986913011"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100" b="1" i="0">
                <a:solidFill>
                  <a:srgbClr val="31633D"/>
                </a:solidFill>
                <a:latin typeface="Arial"/>
              </a:rPr>
              <a:t>Improvement since last week, and what still needs to be improved</a:t>
            </a:r>
            <a:endParaRPr/>
          </a:p>
        </p:txBody>
      </p:sp>
      <p:sp>
        <p:nvSpPr>
          <p:cNvPr id="2030910991"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70461525"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rPr>
              <a:t>Mắt Sài Gòn  |  Optometry DA Training</a:t>
            </a:r>
            <a:endParaRPr/>
          </a:p>
        </p:txBody>
      </p:sp>
      <p:sp>
        <p:nvSpPr>
          <p:cNvPr id="1643872517"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rPr>
              <a:t>2</a:t>
            </a:r>
            <a:endParaRPr/>
          </a:p>
        </p:txBody>
      </p:sp>
      <p:sp>
        <p:nvSpPr>
          <p:cNvPr id="159593264" name="TextBox 7"/>
          <p:cNvSpPr txBox="1"/>
          <p:nvPr/>
        </p:nvSpPr>
        <p:spPr bwMode="auto">
          <a:xfrm>
            <a:off x="502920" y="1261872"/>
            <a:ext cx="11183112" cy="219456"/>
          </a:xfrm>
          <a:prstGeom prst="rect">
            <a:avLst/>
          </a:prstGeom>
          <a:noFill/>
        </p:spPr>
        <p:txBody>
          <a:bodyPr wrap="square" lIns="45720" tIns="18288" rIns="45720" bIns="18288">
            <a:spAutoFit/>
          </a:bodyPr>
          <a:lstStyle/>
          <a:p>
            <a:pPr algn="l">
              <a:lnSpc>
                <a:spcPct val="95000"/>
              </a:lnSpc>
              <a:defRPr/>
            </a:pPr>
            <a:r>
              <a:rPr sz="1000" b="0" i="1">
                <a:solidFill>
                  <a:srgbClr val="5C6B62"/>
                </a:solidFill>
                <a:latin typeface="Arial"/>
              </a:rPr>
              <a:t>Two sites acted on last week’s training, and one of them produced the scripts we are adopting. The two items we made priorities are the two still outstanding.</a:t>
            </a:r>
            <a:endParaRPr/>
          </a:p>
        </p:txBody>
      </p:sp>
      <p:sp>
        <p:nvSpPr>
          <p:cNvPr id="1465205423" name="Rectangle 8"/>
          <p:cNvSpPr/>
          <p:nvPr/>
        </p:nvSpPr>
        <p:spPr bwMode="auto">
          <a:xfrm>
            <a:off x="502920" y="1591056"/>
            <a:ext cx="5486400" cy="379476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730973260" name="Rectangle 9"/>
          <p:cNvSpPr/>
          <p:nvPr/>
        </p:nvSpPr>
        <p:spPr bwMode="auto">
          <a:xfrm>
            <a:off x="502920" y="1591056"/>
            <a:ext cx="5486400" cy="31089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bIns="18288" rtlCol="0" anchor="ctr"/>
          <a:lstStyle/>
          <a:p>
            <a:pPr algn="l">
              <a:defRPr/>
            </a:pPr>
            <a:r>
              <a:rPr sz="1050" b="1" i="0">
                <a:solidFill>
                  <a:srgbClr val="FFFFFF"/>
                </a:solidFill>
                <a:latin typeface="Arial"/>
              </a:rPr>
              <a:t>IMPROVEMENT SINCE LAST WEEK</a:t>
            </a:r>
            <a:endParaRPr/>
          </a:p>
        </p:txBody>
      </p:sp>
      <p:sp>
        <p:nvSpPr>
          <p:cNvPr id="1364299717" name="Oval 10"/>
          <p:cNvSpPr/>
          <p:nvPr/>
        </p:nvSpPr>
        <p:spPr bwMode="auto">
          <a:xfrm>
            <a:off x="649224" y="1984248"/>
            <a:ext cx="237744" cy="237744"/>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950" b="1" i="0">
                <a:solidFill>
                  <a:srgbClr val="FFFFFF"/>
                </a:solidFill>
                <a:latin typeface="Arial"/>
              </a:rPr>
              <a:t>1</a:t>
            </a:r>
            <a:endParaRPr/>
          </a:p>
        </p:txBody>
      </p:sp>
      <p:sp>
        <p:nvSpPr>
          <p:cNvPr id="1001060063" name="TextBox 11"/>
          <p:cNvSpPr txBox="1"/>
          <p:nvPr/>
        </p:nvSpPr>
        <p:spPr bwMode="auto">
          <a:xfrm>
            <a:off x="960120" y="1975104"/>
            <a:ext cx="4882896" cy="237744"/>
          </a:xfrm>
          <a:prstGeom prst="rect">
            <a:avLst/>
          </a:prstGeom>
          <a:noFill/>
        </p:spPr>
        <p:txBody>
          <a:bodyPr wrap="square" lIns="45720" tIns="18288" rIns="45720" bIns="18288">
            <a:spAutoFit/>
          </a:bodyPr>
          <a:lstStyle/>
          <a:p>
            <a:pPr algn="l">
              <a:lnSpc>
                <a:spcPct val="104000"/>
              </a:lnSpc>
              <a:defRPr/>
            </a:pPr>
            <a:r>
              <a:rPr sz="1000" b="1" i="0">
                <a:solidFill>
                  <a:srgbClr val="31633D"/>
                </a:solidFill>
                <a:latin typeface="Arial"/>
              </a:rPr>
              <a:t>SH is applying the Zalo tag format</a:t>
            </a:r>
            <a:endParaRPr/>
          </a:p>
        </p:txBody>
      </p:sp>
      <p:sp>
        <p:nvSpPr>
          <p:cNvPr id="1866892297" name="TextBox 12"/>
          <p:cNvSpPr txBox="1"/>
          <p:nvPr/>
        </p:nvSpPr>
        <p:spPr bwMode="auto">
          <a:xfrm>
            <a:off x="960120" y="2231136"/>
            <a:ext cx="4882896" cy="868680"/>
          </a:xfrm>
          <a:prstGeom prst="rect">
            <a:avLst/>
          </a:prstGeom>
          <a:noFill/>
        </p:spPr>
        <p:txBody>
          <a:bodyPr wrap="square" lIns="45720" tIns="18288" rIns="45720" bIns="18288">
            <a:spAutoFit/>
          </a:bodyPr>
          <a:lstStyle/>
          <a:p>
            <a:pPr algn="l">
              <a:lnSpc>
                <a:spcPct val="110000"/>
              </a:lnSpc>
              <a:defRPr/>
            </a:pPr>
            <a:r>
              <a:rPr sz="900" b="0" i="0">
                <a:solidFill>
                  <a:srgbClr val="5C6B62"/>
                </a:solidFill>
                <a:latin typeface="Arial"/>
              </a:rPr>
              <a:t>CZ credits the training directly. The SH contact we reviewed last week carried no product code, no date and no child’s name. Some customers are now also receiving customisation and collection messages.</a:t>
            </a:r>
            <a:endParaRPr/>
          </a:p>
        </p:txBody>
      </p:sp>
      <p:sp>
        <p:nvSpPr>
          <p:cNvPr id="2074333602" name="Oval 13"/>
          <p:cNvSpPr/>
          <p:nvPr/>
        </p:nvSpPr>
        <p:spPr bwMode="auto">
          <a:xfrm>
            <a:off x="649224" y="3118104"/>
            <a:ext cx="237744" cy="237744"/>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950" b="1" i="0">
                <a:solidFill>
                  <a:srgbClr val="FFFFFF"/>
                </a:solidFill>
                <a:latin typeface="Arial"/>
              </a:rPr>
              <a:t>2</a:t>
            </a:r>
            <a:endParaRPr/>
          </a:p>
        </p:txBody>
      </p:sp>
      <p:sp>
        <p:nvSpPr>
          <p:cNvPr id="1787112332" name="TextBox 14"/>
          <p:cNvSpPr txBox="1"/>
          <p:nvPr/>
        </p:nvSpPr>
        <p:spPr bwMode="auto">
          <a:xfrm>
            <a:off x="960120" y="3108960"/>
            <a:ext cx="4882896" cy="237744"/>
          </a:xfrm>
          <a:prstGeom prst="rect">
            <a:avLst/>
          </a:prstGeom>
          <a:noFill/>
        </p:spPr>
        <p:txBody>
          <a:bodyPr wrap="square" lIns="45720" tIns="18288" rIns="45720" bIns="18288">
            <a:spAutoFit/>
          </a:bodyPr>
          <a:lstStyle/>
          <a:p>
            <a:pPr algn="l">
              <a:lnSpc>
                <a:spcPct val="104000"/>
              </a:lnSpc>
              <a:defRPr/>
            </a:pPr>
            <a:r>
              <a:rPr sz="1000" b="1" i="0">
                <a:solidFill>
                  <a:srgbClr val="31633D"/>
                </a:solidFill>
                <a:latin typeface="Arial"/>
              </a:rPr>
              <a:t>NGT communicates during customisation and collection</a:t>
            </a:r>
            <a:endParaRPr/>
          </a:p>
        </p:txBody>
      </p:sp>
      <p:sp>
        <p:nvSpPr>
          <p:cNvPr id="1254449842" name="TextBox 15"/>
          <p:cNvSpPr txBox="1"/>
          <p:nvPr/>
        </p:nvSpPr>
        <p:spPr bwMode="auto">
          <a:xfrm>
            <a:off x="960120" y="3364992"/>
            <a:ext cx="4883255" cy="338687"/>
          </a:xfrm>
          <a:prstGeom prst="rect">
            <a:avLst/>
          </a:prstGeom>
          <a:noFill/>
        </p:spPr>
        <p:txBody>
          <a:bodyPr wrap="square" lIns="45720" tIns="18288" rIns="45720" bIns="18288">
            <a:spAutoFit/>
          </a:bodyPr>
          <a:lstStyle/>
          <a:p>
            <a:pPr algn="l">
              <a:lnSpc>
                <a:spcPct val="110000"/>
              </a:lnSpc>
              <a:defRPr/>
            </a:pPr>
            <a:r>
              <a:rPr sz="900" b="0" i="0">
                <a:solidFill>
                  <a:srgbClr val="5C6B62"/>
                </a:solidFill>
                <a:latin typeface="Arial"/>
              </a:rPr>
              <a:t>This was NGT’s main gap last week, when the parent had to ask whether the glasses had arrived. </a:t>
            </a:r>
            <a:endParaRPr/>
          </a:p>
        </p:txBody>
      </p:sp>
      <p:sp>
        <p:nvSpPr>
          <p:cNvPr id="879221672" name="Oval 16"/>
          <p:cNvSpPr/>
          <p:nvPr/>
        </p:nvSpPr>
        <p:spPr bwMode="auto">
          <a:xfrm>
            <a:off x="649224" y="4251960"/>
            <a:ext cx="237744" cy="237744"/>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950" b="1" i="0">
                <a:solidFill>
                  <a:srgbClr val="FFFFFF"/>
                </a:solidFill>
                <a:latin typeface="Arial"/>
              </a:rPr>
              <a:t>3</a:t>
            </a:r>
            <a:endParaRPr/>
          </a:p>
        </p:txBody>
      </p:sp>
      <p:sp>
        <p:nvSpPr>
          <p:cNvPr id="19688000" name="TextBox 17"/>
          <p:cNvSpPr txBox="1"/>
          <p:nvPr/>
        </p:nvSpPr>
        <p:spPr bwMode="auto">
          <a:xfrm>
            <a:off x="960120" y="4242816"/>
            <a:ext cx="4882896" cy="237744"/>
          </a:xfrm>
          <a:prstGeom prst="rect">
            <a:avLst/>
          </a:prstGeom>
          <a:noFill/>
        </p:spPr>
        <p:txBody>
          <a:bodyPr wrap="square" lIns="45720" tIns="18288" rIns="45720" bIns="18288">
            <a:spAutoFit/>
          </a:bodyPr>
          <a:lstStyle/>
          <a:p>
            <a:pPr algn="l">
              <a:lnSpc>
                <a:spcPct val="104000"/>
              </a:lnSpc>
              <a:defRPr/>
            </a:pPr>
            <a:r>
              <a:rPr sz="1000" b="1" i="0">
                <a:solidFill>
                  <a:srgbClr val="31633D"/>
                </a:solidFill>
                <a:latin typeface="Arial"/>
              </a:rPr>
              <a:t>CTE-D7’s two messages are recommended for wider use</a:t>
            </a:r>
            <a:endParaRPr/>
          </a:p>
        </p:txBody>
      </p:sp>
      <p:sp>
        <p:nvSpPr>
          <p:cNvPr id="1346376262" name="TextBox 18"/>
          <p:cNvSpPr txBox="1"/>
          <p:nvPr/>
        </p:nvSpPr>
        <p:spPr bwMode="auto">
          <a:xfrm>
            <a:off x="960120" y="4498848"/>
            <a:ext cx="4882896" cy="868680"/>
          </a:xfrm>
          <a:prstGeom prst="rect">
            <a:avLst/>
          </a:prstGeom>
          <a:noFill/>
        </p:spPr>
        <p:txBody>
          <a:bodyPr wrap="square" lIns="45720" tIns="18288" rIns="45720" bIns="18288">
            <a:spAutoFit/>
          </a:bodyPr>
          <a:lstStyle/>
          <a:p>
            <a:pPr algn="l">
              <a:lnSpc>
                <a:spcPct val="110000"/>
              </a:lnSpc>
              <a:defRPr/>
            </a:pPr>
            <a:r>
              <a:rPr sz="900" b="0" i="0">
                <a:solidFill>
                  <a:srgbClr val="5C6B62"/>
                </a:solidFill>
                <a:latin typeface="Arial"/>
              </a:rPr>
              <a:t>The customisation update and the collection notification we held up last week are the ones CZ now recommends every site adopt — same customer, MCY 260811. See slide 5.</a:t>
            </a:r>
            <a:endParaRPr/>
          </a:p>
        </p:txBody>
      </p:sp>
      <p:sp>
        <p:nvSpPr>
          <p:cNvPr id="1390363345" name="Rectangle 19"/>
          <p:cNvSpPr/>
          <p:nvPr/>
        </p:nvSpPr>
        <p:spPr bwMode="auto">
          <a:xfrm>
            <a:off x="6199632" y="1591056"/>
            <a:ext cx="5486400" cy="379476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443308930" name="Rectangle 20"/>
          <p:cNvSpPr/>
          <p:nvPr/>
        </p:nvSpPr>
        <p:spPr bwMode="auto">
          <a:xfrm>
            <a:off x="6199632" y="1591056"/>
            <a:ext cx="5486400" cy="310896"/>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bIns="18288" rtlCol="0" anchor="ctr"/>
          <a:lstStyle/>
          <a:p>
            <a:pPr algn="l">
              <a:defRPr/>
            </a:pPr>
            <a:r>
              <a:rPr sz="1050" b="1" i="0">
                <a:solidFill>
                  <a:srgbClr val="FFFFFF"/>
                </a:solidFill>
                <a:latin typeface="Arial"/>
              </a:rPr>
              <a:t>WHAT STILL NEEDS TO BE IMPROVED</a:t>
            </a:r>
            <a:endParaRPr/>
          </a:p>
        </p:txBody>
      </p:sp>
      <p:sp>
        <p:nvSpPr>
          <p:cNvPr id="1455020736" name="Oval 21"/>
          <p:cNvSpPr/>
          <p:nvPr/>
        </p:nvSpPr>
        <p:spPr bwMode="auto">
          <a:xfrm>
            <a:off x="6345936" y="1984248"/>
            <a:ext cx="237744" cy="237744"/>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950" b="1" i="0">
                <a:solidFill>
                  <a:srgbClr val="FFFFFF"/>
                </a:solidFill>
                <a:latin typeface="Arial"/>
              </a:rPr>
              <a:t>1</a:t>
            </a:r>
            <a:endParaRPr/>
          </a:p>
        </p:txBody>
      </p:sp>
      <p:sp>
        <p:nvSpPr>
          <p:cNvPr id="1318856849" name="TextBox 22"/>
          <p:cNvSpPr txBox="1"/>
          <p:nvPr/>
        </p:nvSpPr>
        <p:spPr bwMode="auto">
          <a:xfrm>
            <a:off x="6656832" y="1975104"/>
            <a:ext cx="4882896" cy="237744"/>
          </a:xfrm>
          <a:prstGeom prst="rect">
            <a:avLst/>
          </a:prstGeom>
          <a:noFill/>
        </p:spPr>
        <p:txBody>
          <a:bodyPr wrap="square" lIns="45720" tIns="18288" rIns="45720" bIns="18288">
            <a:spAutoFit/>
          </a:bodyPr>
          <a:lstStyle/>
          <a:p>
            <a:pPr algn="l">
              <a:lnSpc>
                <a:spcPct val="104000"/>
              </a:lnSpc>
              <a:defRPr/>
            </a:pPr>
            <a:r>
              <a:rPr sz="1000" b="1" i="0">
                <a:solidFill>
                  <a:srgbClr val="31633D"/>
                </a:solidFill>
                <a:latin typeface="Arial"/>
              </a:rPr>
              <a:t>CD7 and CD30 are still weak everywhere</a:t>
            </a:r>
            <a:endParaRPr/>
          </a:p>
        </p:txBody>
      </p:sp>
      <p:sp>
        <p:nvSpPr>
          <p:cNvPr id="1947776678" name="TextBox 23"/>
          <p:cNvSpPr txBox="1"/>
          <p:nvPr/>
        </p:nvSpPr>
        <p:spPr bwMode="auto">
          <a:xfrm>
            <a:off x="6656832" y="2231136"/>
            <a:ext cx="4882896" cy="868680"/>
          </a:xfrm>
          <a:prstGeom prst="rect">
            <a:avLst/>
          </a:prstGeom>
          <a:noFill/>
        </p:spPr>
        <p:txBody>
          <a:bodyPr wrap="square" lIns="45720" tIns="18288" rIns="45720" bIns="18288">
            <a:spAutoFit/>
          </a:bodyPr>
          <a:lstStyle/>
          <a:p>
            <a:pPr algn="l">
              <a:lnSpc>
                <a:spcPct val="110000"/>
              </a:lnSpc>
              <a:defRPr/>
            </a:pPr>
            <a:r>
              <a:rPr sz="900" b="0" i="0">
                <a:solidFill>
                  <a:srgbClr val="5C6B62"/>
                </a:solidFill>
                <a:latin typeface="Arial"/>
              </a:rPr>
              <a:t>Raised again this week as a common issue. At NGT, customers carrying the same date in their Zalo tag were treated differently — some were followed up, some were not.</a:t>
            </a:r>
            <a:endParaRPr/>
          </a:p>
        </p:txBody>
      </p:sp>
      <p:sp>
        <p:nvSpPr>
          <p:cNvPr id="615902617" name="Oval 24"/>
          <p:cNvSpPr/>
          <p:nvPr/>
        </p:nvSpPr>
        <p:spPr bwMode="auto">
          <a:xfrm>
            <a:off x="6345936" y="3118104"/>
            <a:ext cx="237744" cy="237744"/>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950" b="1" i="0">
                <a:solidFill>
                  <a:srgbClr val="FFFFFF"/>
                </a:solidFill>
                <a:latin typeface="Arial"/>
              </a:rPr>
              <a:t>2</a:t>
            </a:r>
            <a:endParaRPr/>
          </a:p>
        </p:txBody>
      </p:sp>
      <p:sp>
        <p:nvSpPr>
          <p:cNvPr id="133066973" name="TextBox 25"/>
          <p:cNvSpPr txBox="1"/>
          <p:nvPr/>
        </p:nvSpPr>
        <p:spPr bwMode="auto">
          <a:xfrm>
            <a:off x="6656832" y="3108960"/>
            <a:ext cx="4882896" cy="237744"/>
          </a:xfrm>
          <a:prstGeom prst="rect">
            <a:avLst/>
          </a:prstGeom>
          <a:noFill/>
        </p:spPr>
        <p:txBody>
          <a:bodyPr wrap="square" lIns="45720" tIns="18288" rIns="45720" bIns="18288">
            <a:spAutoFit/>
          </a:bodyPr>
          <a:lstStyle/>
          <a:p>
            <a:pPr algn="l">
              <a:lnSpc>
                <a:spcPct val="104000"/>
              </a:lnSpc>
              <a:defRPr/>
            </a:pPr>
            <a:r>
              <a:rPr sz="1000" b="1" i="0">
                <a:solidFill>
                  <a:srgbClr val="31633D"/>
                </a:solidFill>
                <a:latin typeface="Arial"/>
              </a:rPr>
              <a:t>Zalo tag dates still do not match collection</a:t>
            </a:r>
            <a:endParaRPr/>
          </a:p>
        </p:txBody>
      </p:sp>
      <p:sp>
        <p:nvSpPr>
          <p:cNvPr id="1297063138" name="TextBox 26"/>
          <p:cNvSpPr txBox="1"/>
          <p:nvPr/>
        </p:nvSpPr>
        <p:spPr bwMode="auto">
          <a:xfrm>
            <a:off x="6656832" y="3364992"/>
            <a:ext cx="4882896" cy="868680"/>
          </a:xfrm>
          <a:prstGeom prst="rect">
            <a:avLst/>
          </a:prstGeom>
          <a:noFill/>
        </p:spPr>
        <p:txBody>
          <a:bodyPr wrap="square" lIns="45720" tIns="18288" rIns="45720" bIns="18288">
            <a:spAutoFit/>
          </a:bodyPr>
          <a:lstStyle/>
          <a:p>
            <a:pPr algn="l">
              <a:lnSpc>
                <a:spcPct val="110000"/>
              </a:lnSpc>
              <a:defRPr/>
            </a:pPr>
            <a:r>
              <a:rPr sz="900" b="0" i="0">
                <a:solidFill>
                  <a:srgbClr val="5C6B62"/>
                </a:solidFill>
                <a:latin typeface="Arial"/>
              </a:rPr>
              <a:t>CZ finds this in many cases. Last week we measured the gap at four sites: +3, +9, +19 and +26 days. Priority 1 did not happen.</a:t>
            </a:r>
            <a:endParaRPr/>
          </a:p>
        </p:txBody>
      </p:sp>
      <p:sp>
        <p:nvSpPr>
          <p:cNvPr id="48571176" name="Oval 27"/>
          <p:cNvSpPr/>
          <p:nvPr/>
        </p:nvSpPr>
        <p:spPr bwMode="auto">
          <a:xfrm>
            <a:off x="6345936" y="4251960"/>
            <a:ext cx="237744" cy="237744"/>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950" b="1" i="0">
                <a:solidFill>
                  <a:srgbClr val="FFFFFF"/>
                </a:solidFill>
                <a:latin typeface="Arial"/>
              </a:rPr>
              <a:t>3</a:t>
            </a:r>
            <a:endParaRPr/>
          </a:p>
        </p:txBody>
      </p:sp>
      <p:sp>
        <p:nvSpPr>
          <p:cNvPr id="470508450" name="TextBox 28"/>
          <p:cNvSpPr txBox="1"/>
          <p:nvPr/>
        </p:nvSpPr>
        <p:spPr bwMode="auto">
          <a:xfrm>
            <a:off x="6656832" y="4242816"/>
            <a:ext cx="4882896" cy="237744"/>
          </a:xfrm>
          <a:prstGeom prst="rect">
            <a:avLst/>
          </a:prstGeom>
          <a:noFill/>
        </p:spPr>
        <p:txBody>
          <a:bodyPr wrap="square" lIns="45720" tIns="18288" rIns="45720" bIns="18288">
            <a:spAutoFit/>
          </a:bodyPr>
          <a:lstStyle/>
          <a:p>
            <a:pPr algn="l">
              <a:lnSpc>
                <a:spcPct val="104000"/>
              </a:lnSpc>
              <a:defRPr/>
            </a:pPr>
            <a:r>
              <a:rPr sz="1000" b="1" i="0">
                <a:solidFill>
                  <a:srgbClr val="31633D"/>
                </a:solidFill>
                <a:latin typeface="Arial"/>
              </a:rPr>
              <a:t>CTE-D5 has not changed</a:t>
            </a:r>
            <a:endParaRPr/>
          </a:p>
        </p:txBody>
      </p:sp>
      <p:sp>
        <p:nvSpPr>
          <p:cNvPr id="143114134" name="TextBox 29"/>
          <p:cNvSpPr txBox="1"/>
          <p:nvPr/>
        </p:nvSpPr>
        <p:spPr bwMode="auto">
          <a:xfrm>
            <a:off x="6656832" y="4498848"/>
            <a:ext cx="4882896" cy="868680"/>
          </a:xfrm>
          <a:prstGeom prst="rect">
            <a:avLst/>
          </a:prstGeom>
          <a:noFill/>
        </p:spPr>
        <p:txBody>
          <a:bodyPr wrap="square" lIns="45720" tIns="18288" rIns="45720" bIns="18288">
            <a:spAutoFit/>
          </a:bodyPr>
          <a:lstStyle/>
          <a:p>
            <a:pPr algn="l">
              <a:lnSpc>
                <a:spcPct val="110000"/>
              </a:lnSpc>
              <a:defRPr/>
            </a:pPr>
            <a:r>
              <a:rPr sz="900" b="0" i="0">
                <a:solidFill>
                  <a:srgbClr val="5C6B62"/>
                </a:solidFill>
                <a:latin typeface="Arial"/>
              </a:rPr>
              <a:t>Still nothing after the membership benefits message, and very few customers are asked how they are getting on with their glasses. The same finding as last week.</a:t>
            </a:r>
            <a:endParaRPr/>
          </a:p>
        </p:txBody>
      </p:sp>
      <p:sp>
        <p:nvSpPr>
          <p:cNvPr id="1290872040" name="Rectangle 30"/>
          <p:cNvSpPr/>
          <p:nvPr/>
        </p:nvSpPr>
        <p:spPr bwMode="auto">
          <a:xfrm>
            <a:off x="502920" y="5852160"/>
            <a:ext cx="64008" cy="475488"/>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006939612" name="Rectangle 31"/>
          <p:cNvSpPr/>
          <p:nvPr/>
        </p:nvSpPr>
        <p:spPr bwMode="auto">
          <a:xfrm>
            <a:off x="566928" y="5852160"/>
            <a:ext cx="11119104" cy="47548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50" b="1" i="0">
                <a:solidFill>
                  <a:srgbClr val="31633D"/>
                </a:solidFill>
                <a:latin typeface="Arial"/>
              </a:rPr>
              <a:t>The sites improved what was visible. The dates and the CD7 / CD30 cadence still need to be closed.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954748"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075962881"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rPr>
              <a:t>2. THIS WEEK   |   FOUR ISSUES ACROSS ALL SITES</a:t>
            </a:r>
            <a:endParaRPr/>
          </a:p>
        </p:txBody>
      </p:sp>
      <p:sp>
        <p:nvSpPr>
          <p:cNvPr id="151141554"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rPr>
              <a:t>The four issues CZ raised for every site</a:t>
            </a:r>
            <a:endParaRPr/>
          </a:p>
        </p:txBody>
      </p:sp>
      <p:sp>
        <p:nvSpPr>
          <p:cNvPr id="99099483"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023513280"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rPr>
              <a:t>Mắt Sài Gòn  |  Optometry DA Training</a:t>
            </a:r>
            <a:endParaRPr/>
          </a:p>
        </p:txBody>
      </p:sp>
      <p:sp>
        <p:nvSpPr>
          <p:cNvPr id="406528953"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rPr>
              <a:t>3</a:t>
            </a:r>
            <a:endParaRPr/>
          </a:p>
        </p:txBody>
      </p:sp>
      <p:sp>
        <p:nvSpPr>
          <p:cNvPr id="1086562712" name="TextBox 7"/>
          <p:cNvSpPr txBox="1"/>
          <p:nvPr/>
        </p:nvSpPr>
        <p:spPr bwMode="auto">
          <a:xfrm>
            <a:off x="502920" y="1261872"/>
            <a:ext cx="11183112" cy="219456"/>
          </a:xfrm>
          <a:prstGeom prst="rect">
            <a:avLst/>
          </a:prstGeom>
          <a:noFill/>
        </p:spPr>
        <p:txBody>
          <a:bodyPr wrap="square" lIns="45720" tIns="18288" rIns="45720" bIns="18288">
            <a:spAutoFit/>
          </a:bodyPr>
          <a:lstStyle/>
          <a:p>
            <a:pPr algn="l">
              <a:lnSpc>
                <a:spcPct val="95000"/>
              </a:lnSpc>
              <a:defRPr/>
            </a:pPr>
            <a:r>
              <a:rPr sz="1000" b="0" i="1">
                <a:solidFill>
                  <a:srgbClr val="5C6B62"/>
                </a:solidFill>
                <a:latin typeface="Arial"/>
              </a:rPr>
              <a:t>Two of these are repeats from last week and two are new. The two repeats are the ones that were already priorities.</a:t>
            </a:r>
            <a:endParaRPr/>
          </a:p>
        </p:txBody>
      </p:sp>
      <p:sp>
        <p:nvSpPr>
          <p:cNvPr id="1439187878" name="Rectangle 8"/>
          <p:cNvSpPr/>
          <p:nvPr/>
        </p:nvSpPr>
        <p:spPr bwMode="auto">
          <a:xfrm>
            <a:off x="502920" y="1591056"/>
            <a:ext cx="11183112" cy="91440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5461505" name="Rectangle 9"/>
          <p:cNvSpPr/>
          <p:nvPr/>
        </p:nvSpPr>
        <p:spPr bwMode="auto">
          <a:xfrm>
            <a:off x="502920" y="1591056"/>
            <a:ext cx="54864" cy="91440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756737233" name="Oval 10"/>
          <p:cNvSpPr/>
          <p:nvPr/>
        </p:nvSpPr>
        <p:spPr bwMode="auto">
          <a:xfrm>
            <a:off x="694944" y="1892807"/>
            <a:ext cx="310896" cy="310896"/>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rPr>
              <a:t>1</a:t>
            </a:r>
            <a:endParaRPr/>
          </a:p>
        </p:txBody>
      </p:sp>
      <p:sp>
        <p:nvSpPr>
          <p:cNvPr id="1888696128" name="Rectangle 11"/>
          <p:cNvSpPr/>
          <p:nvPr/>
        </p:nvSpPr>
        <p:spPr bwMode="auto">
          <a:xfrm>
            <a:off x="1133856" y="1947671"/>
            <a:ext cx="786384" cy="201168"/>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700" b="1" i="0">
                <a:solidFill>
                  <a:srgbClr val="FFFFFF"/>
                </a:solidFill>
                <a:latin typeface="Arial"/>
              </a:rPr>
              <a:t>REPEAT</a:t>
            </a:r>
            <a:endParaRPr/>
          </a:p>
        </p:txBody>
      </p:sp>
      <p:sp>
        <p:nvSpPr>
          <p:cNvPr id="56881679" name="TextBox 12"/>
          <p:cNvSpPr txBox="1"/>
          <p:nvPr/>
        </p:nvSpPr>
        <p:spPr bwMode="auto">
          <a:xfrm>
            <a:off x="2029968" y="1773936"/>
            <a:ext cx="4663440" cy="548640"/>
          </a:xfrm>
          <a:prstGeom prst="rect">
            <a:avLst/>
          </a:prstGeom>
          <a:noFill/>
        </p:spPr>
        <p:txBody>
          <a:bodyPr wrap="square" lIns="45720" tIns="18288" rIns="45720" bIns="18288" anchor="ctr">
            <a:spAutoFit/>
          </a:bodyPr>
          <a:lstStyle/>
          <a:p>
            <a:pPr algn="l">
              <a:lnSpc>
                <a:spcPct val="106000"/>
              </a:lnSpc>
              <a:defRPr/>
            </a:pPr>
            <a:r>
              <a:rPr sz="1100" b="1" i="0">
                <a:solidFill>
                  <a:srgbClr val="31633D"/>
                </a:solidFill>
                <a:latin typeface="Arial"/>
              </a:rPr>
              <a:t>CD7 and CD30 follow-ups still need improvement</a:t>
            </a:r>
            <a:endParaRPr/>
          </a:p>
        </p:txBody>
      </p:sp>
      <p:sp>
        <p:nvSpPr>
          <p:cNvPr id="921259753" name="TextBox 13"/>
          <p:cNvSpPr txBox="1"/>
          <p:nvPr/>
        </p:nvSpPr>
        <p:spPr bwMode="auto">
          <a:xfrm>
            <a:off x="6858000" y="1719072"/>
            <a:ext cx="3657600" cy="658368"/>
          </a:xfrm>
          <a:prstGeom prst="rect">
            <a:avLst/>
          </a:prstGeom>
          <a:noFill/>
        </p:spPr>
        <p:txBody>
          <a:bodyPr wrap="square" lIns="45720" tIns="18288" rIns="45720" bIns="18288" anchor="ctr">
            <a:spAutoFit/>
          </a:bodyPr>
          <a:lstStyle/>
          <a:p>
            <a:pPr algn="l">
              <a:lnSpc>
                <a:spcPct val="108000"/>
              </a:lnSpc>
              <a:defRPr/>
            </a:pPr>
            <a:r>
              <a:rPr sz="850" b="0" i="0">
                <a:solidFill>
                  <a:srgbClr val="5C6B62"/>
                </a:solidFill>
                <a:latin typeface="Arial"/>
              </a:rPr>
              <a:t>Raised again this week as a common issue across all sites. At NGT, customers carrying the same date in their Zalo tag were treated differently.</a:t>
            </a:r>
            <a:endParaRPr/>
          </a:p>
        </p:txBody>
      </p:sp>
      <p:sp>
        <p:nvSpPr>
          <p:cNvPr id="592460252" name="Rectangle 14"/>
          <p:cNvSpPr/>
          <p:nvPr/>
        </p:nvSpPr>
        <p:spPr bwMode="auto">
          <a:xfrm>
            <a:off x="10643616" y="1819656"/>
            <a:ext cx="1042415"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54864" tIns="18288" rIns="54864" bIns="18288" rtlCol="0" anchor="ctr"/>
          <a:lstStyle/>
          <a:p>
            <a:pPr algn="ctr">
              <a:lnSpc>
                <a:spcPct val="106000"/>
              </a:lnSpc>
              <a:defRPr/>
            </a:pPr>
            <a:r>
              <a:rPr sz="700" b="1" i="0">
                <a:solidFill>
                  <a:srgbClr val="31633D"/>
                </a:solidFill>
                <a:latin typeface="Arial"/>
              </a:rPr>
              <a:t>See slide 9 — priority 2</a:t>
            </a:r>
            <a:endParaRPr/>
          </a:p>
        </p:txBody>
      </p:sp>
      <p:sp>
        <p:nvSpPr>
          <p:cNvPr id="482164130" name="Rectangle 15"/>
          <p:cNvSpPr/>
          <p:nvPr/>
        </p:nvSpPr>
        <p:spPr bwMode="auto">
          <a:xfrm>
            <a:off x="502920" y="2596896"/>
            <a:ext cx="11183112" cy="91440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681785057" name="Rectangle 16"/>
          <p:cNvSpPr/>
          <p:nvPr/>
        </p:nvSpPr>
        <p:spPr bwMode="auto">
          <a:xfrm>
            <a:off x="502920" y="2596896"/>
            <a:ext cx="54864" cy="914400"/>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359299441" name="Oval 17"/>
          <p:cNvSpPr/>
          <p:nvPr/>
        </p:nvSpPr>
        <p:spPr bwMode="auto">
          <a:xfrm>
            <a:off x="694944" y="2898648"/>
            <a:ext cx="310896" cy="310896"/>
          </a:xfrm>
          <a:prstGeom prst="ellipse">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rPr>
              <a:t>2</a:t>
            </a:r>
            <a:endParaRPr/>
          </a:p>
        </p:txBody>
      </p:sp>
      <p:sp>
        <p:nvSpPr>
          <p:cNvPr id="1762857841" name="Rectangle 18"/>
          <p:cNvSpPr/>
          <p:nvPr/>
        </p:nvSpPr>
        <p:spPr bwMode="auto">
          <a:xfrm>
            <a:off x="1133856" y="2953512"/>
            <a:ext cx="786384" cy="201168"/>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700" b="1" i="0">
                <a:solidFill>
                  <a:srgbClr val="FFFFFF"/>
                </a:solidFill>
                <a:latin typeface="Arial"/>
              </a:rPr>
              <a:t>NEW</a:t>
            </a:r>
            <a:endParaRPr/>
          </a:p>
        </p:txBody>
      </p:sp>
      <p:sp>
        <p:nvSpPr>
          <p:cNvPr id="1926605184" name="TextBox 19"/>
          <p:cNvSpPr txBox="1"/>
          <p:nvPr/>
        </p:nvSpPr>
        <p:spPr bwMode="auto">
          <a:xfrm>
            <a:off x="2029968" y="2779776"/>
            <a:ext cx="4663440" cy="548640"/>
          </a:xfrm>
          <a:prstGeom prst="rect">
            <a:avLst/>
          </a:prstGeom>
          <a:noFill/>
        </p:spPr>
        <p:txBody>
          <a:bodyPr wrap="square" lIns="45720" tIns="18288" rIns="45720" bIns="18288" anchor="ctr">
            <a:spAutoFit/>
          </a:bodyPr>
          <a:lstStyle/>
          <a:p>
            <a:pPr algn="l">
              <a:lnSpc>
                <a:spcPct val="106000"/>
              </a:lnSpc>
              <a:defRPr/>
            </a:pPr>
            <a:r>
              <a:rPr sz="1100" b="1" i="0">
                <a:solidFill>
                  <a:srgbClr val="31633D"/>
                </a:solidFill>
                <a:latin typeface="Arial"/>
              </a:rPr>
              <a:t>Ortho-K customers need 2–3 follow-ups in the first week</a:t>
            </a:r>
            <a:endParaRPr/>
          </a:p>
        </p:txBody>
      </p:sp>
      <p:sp>
        <p:nvSpPr>
          <p:cNvPr id="1323795687" name="TextBox 20"/>
          <p:cNvSpPr txBox="1"/>
          <p:nvPr/>
        </p:nvSpPr>
        <p:spPr bwMode="auto">
          <a:xfrm>
            <a:off x="6858000" y="2724911"/>
            <a:ext cx="3657600" cy="658368"/>
          </a:xfrm>
          <a:prstGeom prst="rect">
            <a:avLst/>
          </a:prstGeom>
          <a:noFill/>
        </p:spPr>
        <p:txBody>
          <a:bodyPr wrap="square" lIns="45720" tIns="18288" rIns="45720" bIns="18288" anchor="ctr">
            <a:spAutoFit/>
          </a:bodyPr>
          <a:lstStyle/>
          <a:p>
            <a:pPr algn="l">
              <a:lnSpc>
                <a:spcPct val="108000"/>
              </a:lnSpc>
              <a:defRPr/>
            </a:pPr>
            <a:r>
              <a:rPr sz="850" b="0" i="0">
                <a:solidFill>
                  <a:srgbClr val="5C6B62"/>
                </a:solidFill>
                <a:latin typeface="Arial"/>
              </a:rPr>
              <a:t>Ortho-K appears in the feedback for the first time. CTE-D5 is named: lens customisation messages, post-collection wear checks and recheck invitations are all missing.</a:t>
            </a:r>
            <a:endParaRPr/>
          </a:p>
        </p:txBody>
      </p:sp>
      <p:sp>
        <p:nvSpPr>
          <p:cNvPr id="1314223779" name="Rectangle 21"/>
          <p:cNvSpPr/>
          <p:nvPr/>
        </p:nvSpPr>
        <p:spPr bwMode="auto">
          <a:xfrm>
            <a:off x="10643616" y="2825496"/>
            <a:ext cx="1042415"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54864" tIns="18288" rIns="54864" bIns="18288" rtlCol="0" anchor="ctr"/>
          <a:lstStyle/>
          <a:p>
            <a:pPr algn="ctr">
              <a:lnSpc>
                <a:spcPct val="106000"/>
              </a:lnSpc>
              <a:defRPr/>
            </a:pPr>
            <a:r>
              <a:rPr sz="700" b="1" i="0">
                <a:solidFill>
                  <a:srgbClr val="31633D"/>
                </a:solidFill>
                <a:latin typeface="Arial"/>
              </a:rPr>
              <a:t>See slide 6 — the Ortho-K cadence</a:t>
            </a:r>
            <a:endParaRPr/>
          </a:p>
        </p:txBody>
      </p:sp>
      <p:sp>
        <p:nvSpPr>
          <p:cNvPr id="183857855" name="Rectangle 22"/>
          <p:cNvSpPr/>
          <p:nvPr/>
        </p:nvSpPr>
        <p:spPr bwMode="auto">
          <a:xfrm>
            <a:off x="502920" y="3602735"/>
            <a:ext cx="11183112" cy="91440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636363380" name="Rectangle 23"/>
          <p:cNvSpPr/>
          <p:nvPr/>
        </p:nvSpPr>
        <p:spPr bwMode="auto">
          <a:xfrm>
            <a:off x="502920" y="3602735"/>
            <a:ext cx="54864" cy="914400"/>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858144897" name="Oval 24"/>
          <p:cNvSpPr/>
          <p:nvPr/>
        </p:nvSpPr>
        <p:spPr bwMode="auto">
          <a:xfrm>
            <a:off x="694944" y="3904487"/>
            <a:ext cx="310896" cy="310896"/>
          </a:xfrm>
          <a:prstGeom prst="ellipse">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rPr>
              <a:t>3</a:t>
            </a:r>
            <a:endParaRPr/>
          </a:p>
        </p:txBody>
      </p:sp>
      <p:sp>
        <p:nvSpPr>
          <p:cNvPr id="281152019" name="Rectangle 25"/>
          <p:cNvSpPr/>
          <p:nvPr/>
        </p:nvSpPr>
        <p:spPr bwMode="auto">
          <a:xfrm>
            <a:off x="1133856" y="3959352"/>
            <a:ext cx="786384" cy="201168"/>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700" b="1" i="0">
                <a:solidFill>
                  <a:srgbClr val="FFFFFF"/>
                </a:solidFill>
                <a:latin typeface="Arial"/>
              </a:rPr>
              <a:t>ESCALATED</a:t>
            </a:r>
            <a:endParaRPr/>
          </a:p>
        </p:txBody>
      </p:sp>
      <p:sp>
        <p:nvSpPr>
          <p:cNvPr id="662111744" name="TextBox 26"/>
          <p:cNvSpPr txBox="1"/>
          <p:nvPr/>
        </p:nvSpPr>
        <p:spPr bwMode="auto">
          <a:xfrm>
            <a:off x="2029968" y="3785615"/>
            <a:ext cx="4663440" cy="548640"/>
          </a:xfrm>
          <a:prstGeom prst="rect">
            <a:avLst/>
          </a:prstGeom>
          <a:noFill/>
        </p:spPr>
        <p:txBody>
          <a:bodyPr wrap="square" lIns="45720" tIns="18288" rIns="45720" bIns="18288" anchor="ctr">
            <a:spAutoFit/>
          </a:bodyPr>
          <a:lstStyle/>
          <a:p>
            <a:pPr algn="l">
              <a:lnSpc>
                <a:spcPct val="106000"/>
              </a:lnSpc>
              <a:defRPr/>
            </a:pPr>
            <a:r>
              <a:rPr sz="1100" b="1" i="0">
                <a:solidFill>
                  <a:srgbClr val="31633D"/>
                </a:solidFill>
                <a:latin typeface="Arial"/>
              </a:rPr>
              <a:t>Every DA must know the simplified referral message</a:t>
            </a:r>
            <a:endParaRPr/>
          </a:p>
        </p:txBody>
      </p:sp>
      <p:sp>
        <p:nvSpPr>
          <p:cNvPr id="633788194" name="TextBox 27"/>
          <p:cNvSpPr txBox="1"/>
          <p:nvPr/>
        </p:nvSpPr>
        <p:spPr bwMode="auto">
          <a:xfrm>
            <a:off x="6858000" y="3730752"/>
            <a:ext cx="3657600" cy="658368"/>
          </a:xfrm>
          <a:prstGeom prst="rect">
            <a:avLst/>
          </a:prstGeom>
          <a:noFill/>
        </p:spPr>
        <p:txBody>
          <a:bodyPr wrap="square" lIns="45720" tIns="18288" rIns="45720" bIns="18288" anchor="ctr">
            <a:spAutoFit/>
          </a:bodyPr>
          <a:lstStyle/>
          <a:p>
            <a:pPr algn="l">
              <a:lnSpc>
                <a:spcPct val="108000"/>
              </a:lnSpc>
              <a:defRPr/>
            </a:pPr>
            <a:r>
              <a:rPr sz="850" b="0" i="0">
                <a:solidFill>
                  <a:srgbClr val="5C6B62"/>
                </a:solidFill>
                <a:latin typeface="Arial"/>
              </a:rPr>
              <a:t>Last week the note was that it is used too rarely. This week it is that all DAs should be familiar with it — and there is now a defined process for handling a referral once it arrives.</a:t>
            </a:r>
            <a:endParaRPr/>
          </a:p>
        </p:txBody>
      </p:sp>
      <p:sp>
        <p:nvSpPr>
          <p:cNvPr id="1471477485" name="Rectangle 28"/>
          <p:cNvSpPr/>
          <p:nvPr/>
        </p:nvSpPr>
        <p:spPr bwMode="auto">
          <a:xfrm>
            <a:off x="10643616" y="3831335"/>
            <a:ext cx="1042415"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54864" tIns="18288" rIns="54864" bIns="18288" rtlCol="0" anchor="ctr"/>
          <a:lstStyle/>
          <a:p>
            <a:pPr algn="ctr">
              <a:lnSpc>
                <a:spcPct val="106000"/>
              </a:lnSpc>
              <a:defRPr/>
            </a:pPr>
            <a:r>
              <a:rPr sz="700" b="1" i="0">
                <a:solidFill>
                  <a:srgbClr val="31633D"/>
                </a:solidFill>
                <a:latin typeface="Arial"/>
              </a:rPr>
              <a:t>See slides 7–8 — by site</a:t>
            </a:r>
            <a:endParaRPr/>
          </a:p>
        </p:txBody>
      </p:sp>
      <p:sp>
        <p:nvSpPr>
          <p:cNvPr id="1603647728" name="Rectangle 29"/>
          <p:cNvSpPr/>
          <p:nvPr/>
        </p:nvSpPr>
        <p:spPr bwMode="auto">
          <a:xfrm>
            <a:off x="502920" y="4608576"/>
            <a:ext cx="11183112" cy="91440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50863006" name="Rectangle 30"/>
          <p:cNvSpPr/>
          <p:nvPr/>
        </p:nvSpPr>
        <p:spPr bwMode="auto">
          <a:xfrm>
            <a:off x="502920" y="4608576"/>
            <a:ext cx="54864" cy="91440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51686246" name="Oval 31"/>
          <p:cNvSpPr/>
          <p:nvPr/>
        </p:nvSpPr>
        <p:spPr bwMode="auto">
          <a:xfrm>
            <a:off x="694944" y="4910328"/>
            <a:ext cx="310896" cy="310896"/>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rPr>
              <a:t>4</a:t>
            </a:r>
            <a:endParaRPr/>
          </a:p>
        </p:txBody>
      </p:sp>
      <p:sp>
        <p:nvSpPr>
          <p:cNvPr id="435963363" name="Rectangle 32"/>
          <p:cNvSpPr/>
          <p:nvPr/>
        </p:nvSpPr>
        <p:spPr bwMode="auto">
          <a:xfrm>
            <a:off x="1133856" y="4965192"/>
            <a:ext cx="786384" cy="201168"/>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700" b="1" i="0">
                <a:solidFill>
                  <a:srgbClr val="FFFFFF"/>
                </a:solidFill>
                <a:latin typeface="Arial"/>
              </a:rPr>
              <a:t>REPEAT</a:t>
            </a:r>
            <a:endParaRPr/>
          </a:p>
        </p:txBody>
      </p:sp>
      <p:sp>
        <p:nvSpPr>
          <p:cNvPr id="384855392" name="TextBox 33"/>
          <p:cNvSpPr txBox="1"/>
          <p:nvPr/>
        </p:nvSpPr>
        <p:spPr bwMode="auto">
          <a:xfrm>
            <a:off x="2029968" y="4791456"/>
            <a:ext cx="4663440" cy="548640"/>
          </a:xfrm>
          <a:prstGeom prst="rect">
            <a:avLst/>
          </a:prstGeom>
          <a:noFill/>
        </p:spPr>
        <p:txBody>
          <a:bodyPr wrap="square" lIns="45720" tIns="18288" rIns="45720" bIns="18288" anchor="ctr">
            <a:spAutoFit/>
          </a:bodyPr>
          <a:lstStyle/>
          <a:p>
            <a:pPr algn="l">
              <a:lnSpc>
                <a:spcPct val="106000"/>
              </a:lnSpc>
              <a:defRPr/>
            </a:pPr>
            <a:r>
              <a:rPr sz="1100" b="1" i="0">
                <a:solidFill>
                  <a:srgbClr val="31633D"/>
                </a:solidFill>
                <a:latin typeface="Arial"/>
              </a:rPr>
              <a:t>Zalo tag dates do not match collection in many cases</a:t>
            </a:r>
            <a:endParaRPr/>
          </a:p>
        </p:txBody>
      </p:sp>
      <p:sp>
        <p:nvSpPr>
          <p:cNvPr id="855357228" name="TextBox 34"/>
          <p:cNvSpPr txBox="1"/>
          <p:nvPr/>
        </p:nvSpPr>
        <p:spPr bwMode="auto">
          <a:xfrm>
            <a:off x="6858000" y="4736592"/>
            <a:ext cx="3657600" cy="658368"/>
          </a:xfrm>
          <a:prstGeom prst="rect">
            <a:avLst/>
          </a:prstGeom>
          <a:noFill/>
        </p:spPr>
        <p:txBody>
          <a:bodyPr wrap="square" lIns="45720" tIns="18288" rIns="45720" bIns="18288" anchor="ctr">
            <a:spAutoFit/>
          </a:bodyPr>
          <a:lstStyle/>
          <a:p>
            <a:pPr algn="l">
              <a:lnSpc>
                <a:spcPct val="108000"/>
              </a:lnSpc>
              <a:defRPr/>
            </a:pPr>
            <a:r>
              <a:rPr sz="850" b="0" i="0">
                <a:solidFill>
                  <a:srgbClr val="5C6B62"/>
                </a:solidFill>
                <a:latin typeface="Arial"/>
              </a:rPr>
              <a:t>The same finding as last week, unresolved. Three new tracker columns now exist to fix it properly, and they are empty.</a:t>
            </a:r>
            <a:endParaRPr/>
          </a:p>
        </p:txBody>
      </p:sp>
      <p:sp>
        <p:nvSpPr>
          <p:cNvPr id="433191035" name="Rectangle 35"/>
          <p:cNvSpPr/>
          <p:nvPr/>
        </p:nvSpPr>
        <p:spPr bwMode="auto">
          <a:xfrm>
            <a:off x="10643616" y="4837176"/>
            <a:ext cx="1042415"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54864" tIns="18288" rIns="54864" bIns="18288" rtlCol="0" anchor="ctr"/>
          <a:lstStyle/>
          <a:p>
            <a:pPr algn="ctr">
              <a:lnSpc>
                <a:spcPct val="106000"/>
              </a:lnSpc>
              <a:defRPr/>
            </a:pPr>
            <a:r>
              <a:rPr sz="700" b="1" i="0">
                <a:solidFill>
                  <a:srgbClr val="31633D"/>
                </a:solidFill>
                <a:latin typeface="Arial"/>
              </a:rPr>
              <a:t>See slide 4 — the three new columns</a:t>
            </a:r>
            <a:endParaRPr/>
          </a:p>
        </p:txBody>
      </p:sp>
      <p:sp>
        <p:nvSpPr>
          <p:cNvPr id="363486934" name="Rectangle 36"/>
          <p:cNvSpPr/>
          <p:nvPr/>
        </p:nvSpPr>
        <p:spPr bwMode="auto">
          <a:xfrm>
            <a:off x="502920" y="5760720"/>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428227908" name="Rectangle 37"/>
          <p:cNvSpPr/>
          <p:nvPr/>
        </p:nvSpPr>
        <p:spPr bwMode="auto">
          <a:xfrm>
            <a:off x="566928" y="5760720"/>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00" b="1" i="0">
                <a:solidFill>
                  <a:srgbClr val="31633D"/>
                </a:solidFill>
                <a:latin typeface="Arial"/>
              </a:rPr>
              <a:t>Issues 1 and 4 were last week’s priorities. They stay priorities until they are closed.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6608880"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539408966"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rPr>
              <a:t>2. THIS WEEK   |   THREE NEW TRACKER COLUMNS</a:t>
            </a:r>
            <a:endParaRPr/>
          </a:p>
        </p:txBody>
      </p:sp>
      <p:sp>
        <p:nvSpPr>
          <p:cNvPr id="417062157"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rPr>
              <a:t>Three columns have been added — please fill them in</a:t>
            </a:r>
            <a:endParaRPr/>
          </a:p>
        </p:txBody>
      </p:sp>
      <p:sp>
        <p:nvSpPr>
          <p:cNvPr id="1497847956"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101137945"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rPr>
              <a:t>Mắt Sài Gòn  |  Optometry DA Training</a:t>
            </a:r>
            <a:endParaRPr/>
          </a:p>
        </p:txBody>
      </p:sp>
      <p:sp>
        <p:nvSpPr>
          <p:cNvPr id="962388397"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rPr>
              <a:t>4</a:t>
            </a:r>
            <a:endParaRPr/>
          </a:p>
        </p:txBody>
      </p:sp>
      <p:sp>
        <p:nvSpPr>
          <p:cNvPr id="1121128130" name="Rectangle 7"/>
          <p:cNvSpPr/>
          <p:nvPr/>
        </p:nvSpPr>
        <p:spPr bwMode="auto">
          <a:xfrm>
            <a:off x="502920" y="1389888"/>
            <a:ext cx="3575303" cy="84124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750583627" name="Rectangle 8"/>
          <p:cNvSpPr/>
          <p:nvPr/>
        </p:nvSpPr>
        <p:spPr bwMode="auto">
          <a:xfrm>
            <a:off x="502920" y="1389888"/>
            <a:ext cx="3575303" cy="5486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41655564" name="Rectangle 9"/>
          <p:cNvSpPr/>
          <p:nvPr/>
        </p:nvSpPr>
        <p:spPr bwMode="auto">
          <a:xfrm>
            <a:off x="667512" y="1609344"/>
            <a:ext cx="402336" cy="40233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1500" b="1" i="0">
                <a:solidFill>
                  <a:srgbClr val="FFFFFF"/>
                </a:solidFill>
                <a:latin typeface="Arial"/>
              </a:rPr>
              <a:t>K</a:t>
            </a:r>
            <a:endParaRPr/>
          </a:p>
        </p:txBody>
      </p:sp>
      <p:sp>
        <p:nvSpPr>
          <p:cNvPr id="1896204194" name="TextBox 10"/>
          <p:cNvSpPr txBox="1"/>
          <p:nvPr/>
        </p:nvSpPr>
        <p:spPr bwMode="auto">
          <a:xfrm>
            <a:off x="1179576" y="1627632"/>
            <a:ext cx="2743200" cy="219456"/>
          </a:xfrm>
          <a:prstGeom prst="rect">
            <a:avLst/>
          </a:prstGeom>
          <a:noFill/>
        </p:spPr>
        <p:txBody>
          <a:bodyPr wrap="square" lIns="45720" tIns="18288" rIns="45720" bIns="18288">
            <a:spAutoFit/>
          </a:bodyPr>
          <a:lstStyle/>
          <a:p>
            <a:pPr algn="l">
              <a:defRPr/>
            </a:pPr>
            <a:r>
              <a:rPr sz="1100" b="1" i="0">
                <a:solidFill>
                  <a:srgbClr val="31633D"/>
                </a:solidFill>
                <a:latin typeface="Arial"/>
              </a:rPr>
              <a:t>Ngày đặt cọc</a:t>
            </a:r>
            <a:endParaRPr/>
          </a:p>
        </p:txBody>
      </p:sp>
      <p:sp>
        <p:nvSpPr>
          <p:cNvPr id="1951116420" name="TextBox 11"/>
          <p:cNvSpPr txBox="1"/>
          <p:nvPr/>
        </p:nvSpPr>
        <p:spPr bwMode="auto">
          <a:xfrm>
            <a:off x="1179576" y="1828800"/>
            <a:ext cx="2743200" cy="201168"/>
          </a:xfrm>
          <a:prstGeom prst="rect">
            <a:avLst/>
          </a:prstGeom>
          <a:noFill/>
        </p:spPr>
        <p:txBody>
          <a:bodyPr wrap="square" lIns="45720" tIns="18288" rIns="45720" bIns="18288">
            <a:spAutoFit/>
          </a:bodyPr>
          <a:lstStyle/>
          <a:p>
            <a:pPr algn="l">
              <a:defRPr/>
            </a:pPr>
            <a:r>
              <a:rPr sz="950" b="0" i="0">
                <a:solidFill>
                  <a:srgbClr val="5C6B62"/>
                </a:solidFill>
                <a:latin typeface="Arial"/>
              </a:rPr>
              <a:t>Deposit Paid Date</a:t>
            </a:r>
            <a:endParaRPr/>
          </a:p>
        </p:txBody>
      </p:sp>
      <p:sp>
        <p:nvSpPr>
          <p:cNvPr id="685123250" name="Rectangle 12"/>
          <p:cNvSpPr/>
          <p:nvPr/>
        </p:nvSpPr>
        <p:spPr bwMode="auto">
          <a:xfrm>
            <a:off x="4306824" y="1389888"/>
            <a:ext cx="3575303" cy="84124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080749257" name="Rectangle 13"/>
          <p:cNvSpPr/>
          <p:nvPr/>
        </p:nvSpPr>
        <p:spPr bwMode="auto">
          <a:xfrm>
            <a:off x="4306824" y="1389888"/>
            <a:ext cx="3575303" cy="54864"/>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27496521" name="Rectangle 14"/>
          <p:cNvSpPr/>
          <p:nvPr/>
        </p:nvSpPr>
        <p:spPr bwMode="auto">
          <a:xfrm>
            <a:off x="4471416" y="1609344"/>
            <a:ext cx="402336" cy="402336"/>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1500" b="1" i="0">
                <a:solidFill>
                  <a:srgbClr val="FFFFFF"/>
                </a:solidFill>
                <a:latin typeface="Arial"/>
              </a:rPr>
              <a:t>L</a:t>
            </a:r>
            <a:endParaRPr/>
          </a:p>
        </p:txBody>
      </p:sp>
      <p:sp>
        <p:nvSpPr>
          <p:cNvPr id="1147929502" name="TextBox 15"/>
          <p:cNvSpPr txBox="1"/>
          <p:nvPr/>
        </p:nvSpPr>
        <p:spPr bwMode="auto">
          <a:xfrm>
            <a:off x="4983480" y="1627632"/>
            <a:ext cx="2743200" cy="219456"/>
          </a:xfrm>
          <a:prstGeom prst="rect">
            <a:avLst/>
          </a:prstGeom>
          <a:noFill/>
        </p:spPr>
        <p:txBody>
          <a:bodyPr wrap="square" lIns="45720" tIns="18288" rIns="45720" bIns="18288">
            <a:spAutoFit/>
          </a:bodyPr>
          <a:lstStyle/>
          <a:p>
            <a:pPr algn="l">
              <a:defRPr/>
            </a:pPr>
            <a:r>
              <a:rPr sz="1100" b="1" i="0">
                <a:solidFill>
                  <a:srgbClr val="31633D"/>
                </a:solidFill>
                <a:latin typeface="Arial"/>
              </a:rPr>
              <a:t>Ngày nhận kính (thực tế)</a:t>
            </a:r>
            <a:endParaRPr/>
          </a:p>
        </p:txBody>
      </p:sp>
      <p:sp>
        <p:nvSpPr>
          <p:cNvPr id="1798764099" name="TextBox 16"/>
          <p:cNvSpPr txBox="1"/>
          <p:nvPr/>
        </p:nvSpPr>
        <p:spPr bwMode="auto">
          <a:xfrm>
            <a:off x="4983480" y="1828800"/>
            <a:ext cx="2743200" cy="201168"/>
          </a:xfrm>
          <a:prstGeom prst="rect">
            <a:avLst/>
          </a:prstGeom>
          <a:noFill/>
        </p:spPr>
        <p:txBody>
          <a:bodyPr wrap="square" lIns="45720" tIns="18288" rIns="45720" bIns="18288">
            <a:spAutoFit/>
          </a:bodyPr>
          <a:lstStyle/>
          <a:p>
            <a:pPr algn="l">
              <a:defRPr/>
            </a:pPr>
            <a:r>
              <a:rPr sz="950" b="0" i="0">
                <a:solidFill>
                  <a:srgbClr val="5C6B62"/>
                </a:solidFill>
                <a:latin typeface="Arial"/>
              </a:rPr>
              <a:t>Glasses Collected Date</a:t>
            </a:r>
            <a:endParaRPr/>
          </a:p>
        </p:txBody>
      </p:sp>
      <p:sp>
        <p:nvSpPr>
          <p:cNvPr id="462799459" name="Rectangle 17"/>
          <p:cNvSpPr/>
          <p:nvPr/>
        </p:nvSpPr>
        <p:spPr bwMode="auto">
          <a:xfrm>
            <a:off x="8110728" y="1389888"/>
            <a:ext cx="3575303" cy="84124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18354798" name="Rectangle 18"/>
          <p:cNvSpPr/>
          <p:nvPr/>
        </p:nvSpPr>
        <p:spPr bwMode="auto">
          <a:xfrm>
            <a:off x="8110728" y="1389888"/>
            <a:ext cx="3575303" cy="54864"/>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95679234" name="Rectangle 19"/>
          <p:cNvSpPr/>
          <p:nvPr/>
        </p:nvSpPr>
        <p:spPr bwMode="auto">
          <a:xfrm>
            <a:off x="8275320" y="1609344"/>
            <a:ext cx="402336" cy="402336"/>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1500" b="1" i="0">
                <a:solidFill>
                  <a:srgbClr val="FFFFFF"/>
                </a:solidFill>
                <a:latin typeface="Arial"/>
              </a:rPr>
              <a:t>M</a:t>
            </a:r>
            <a:endParaRPr/>
          </a:p>
        </p:txBody>
      </p:sp>
      <p:sp>
        <p:nvSpPr>
          <p:cNvPr id="542537587" name="TextBox 20"/>
          <p:cNvSpPr txBox="1"/>
          <p:nvPr/>
        </p:nvSpPr>
        <p:spPr bwMode="auto">
          <a:xfrm>
            <a:off x="8787384" y="1627632"/>
            <a:ext cx="2743200" cy="219456"/>
          </a:xfrm>
          <a:prstGeom prst="rect">
            <a:avLst/>
          </a:prstGeom>
          <a:noFill/>
        </p:spPr>
        <p:txBody>
          <a:bodyPr wrap="square" lIns="45720" tIns="18288" rIns="45720" bIns="18288">
            <a:spAutoFit/>
          </a:bodyPr>
          <a:lstStyle/>
          <a:p>
            <a:pPr algn="l">
              <a:defRPr/>
            </a:pPr>
            <a:r>
              <a:rPr sz="1100" b="1" i="0">
                <a:solidFill>
                  <a:srgbClr val="31633D"/>
                </a:solidFill>
                <a:latin typeface="Arial"/>
              </a:rPr>
              <a:t>Ngày hết hạn bảo hành</a:t>
            </a:r>
            <a:endParaRPr/>
          </a:p>
        </p:txBody>
      </p:sp>
      <p:sp>
        <p:nvSpPr>
          <p:cNvPr id="426138879" name="TextBox 21"/>
          <p:cNvSpPr txBox="1"/>
          <p:nvPr/>
        </p:nvSpPr>
        <p:spPr bwMode="auto">
          <a:xfrm>
            <a:off x="8787384" y="1828800"/>
            <a:ext cx="2743200" cy="201168"/>
          </a:xfrm>
          <a:prstGeom prst="rect">
            <a:avLst/>
          </a:prstGeom>
          <a:noFill/>
        </p:spPr>
        <p:txBody>
          <a:bodyPr wrap="square" lIns="45720" tIns="18288" rIns="45720" bIns="18288">
            <a:spAutoFit/>
          </a:bodyPr>
          <a:lstStyle/>
          <a:p>
            <a:pPr algn="l">
              <a:defRPr/>
            </a:pPr>
            <a:r>
              <a:rPr sz="950" b="0" i="0">
                <a:solidFill>
                  <a:srgbClr val="5C6B62"/>
                </a:solidFill>
                <a:latin typeface="Arial"/>
              </a:rPr>
              <a:t>Warranty Expiry</a:t>
            </a:r>
            <a:endParaRPr/>
          </a:p>
        </p:txBody>
      </p:sp>
      <p:sp>
        <p:nvSpPr>
          <p:cNvPr id="1769717006" name="Rectangle 22"/>
          <p:cNvSpPr/>
          <p:nvPr/>
        </p:nvSpPr>
        <p:spPr bwMode="auto">
          <a:xfrm>
            <a:off x="2537460" y="2432303"/>
            <a:ext cx="7114032" cy="2834640"/>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pic>
        <p:nvPicPr>
          <p:cNvPr id="1164893025" name="Picture 23" descr="tracker_KLM.png"/>
          <p:cNvPicPr>
            <a:picLocks noChangeAspect="1"/>
          </p:cNvPicPr>
          <p:nvPr/>
        </p:nvPicPr>
        <p:blipFill rotWithShape="1">
          <a:blip r:embed="rId3"/>
          <a:stretch/>
        </p:blipFill>
        <p:spPr bwMode="auto">
          <a:xfrm>
            <a:off x="2569464" y="2487168"/>
            <a:ext cx="7049109" cy="2724911"/>
          </a:xfrm>
          <a:prstGeom prst="rect">
            <a:avLst/>
          </a:prstGeom>
        </p:spPr>
      </p:pic>
      <p:sp>
        <p:nvSpPr>
          <p:cNvPr id="2045502558" name="Rectangle 24"/>
          <p:cNvSpPr/>
          <p:nvPr/>
        </p:nvSpPr>
        <p:spPr bwMode="auto">
          <a:xfrm>
            <a:off x="502920" y="5431536"/>
            <a:ext cx="11183112" cy="438912"/>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wrap="square" lIns="146304" tIns="18288" rIns="128016" bIns="18288" rtlCol="0" anchor="ctr"/>
          <a:lstStyle/>
          <a:p>
            <a:pPr algn="l">
              <a:defRPr/>
            </a:pPr>
            <a:r>
              <a:rPr sz="900" b="1" i="0">
                <a:solidFill>
                  <a:srgbClr val="C0392B"/>
                </a:solidFill>
                <a:latin typeface="Arial"/>
              </a:rPr>
              <a:t>Why it matters:  </a:t>
            </a:r>
            <a:r>
              <a:rPr sz="900" b="0" i="0">
                <a:solidFill>
                  <a:srgbClr val="5C6B62"/>
                </a:solidFill>
                <a:latin typeface="Arial"/>
              </a:rPr>
              <a:t>last week the gap between the date in the Zalo tag and the day the benefits message went out was </a:t>
            </a:r>
            <a:r>
              <a:rPr sz="900" b="1" i="0">
                <a:solidFill>
                  <a:srgbClr val="31633D"/>
                </a:solidFill>
                <a:latin typeface="Arial"/>
              </a:rPr>
              <a:t>CTE-D5 +3 days, NGT +9, CTE-D7 +19, LA +26</a:t>
            </a:r>
            <a:r>
              <a:rPr sz="900" b="0" i="0">
                <a:solidFill>
                  <a:srgbClr val="5C6B62"/>
                </a:solidFill>
                <a:latin typeface="Arial"/>
              </a:rPr>
              <a:t>. Column L is where the real collection date goes.</a:t>
            </a:r>
            <a:endParaRPr/>
          </a:p>
        </p:txBody>
      </p:sp>
      <p:sp>
        <p:nvSpPr>
          <p:cNvPr id="1319187766" name="Rectangle 25"/>
          <p:cNvSpPr/>
          <p:nvPr/>
        </p:nvSpPr>
        <p:spPr bwMode="auto">
          <a:xfrm>
            <a:off x="502920" y="5980176"/>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566878924" name="Rectangle 26"/>
          <p:cNvSpPr/>
          <p:nvPr/>
        </p:nvSpPr>
        <p:spPr bwMode="auto">
          <a:xfrm>
            <a:off x="566928" y="5980176"/>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00" b="1" i="0">
                <a:solidFill>
                  <a:srgbClr val="31633D"/>
                </a:solidFill>
                <a:latin typeface="Arial"/>
              </a:rPr>
              <a:t>Fill K, L and M for every entry — including the customers you served weeks ago.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822100"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21523429"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rPr>
              <a:t>3. SAMPLE SCRIPTS   |   FROM CTE-D7</a:t>
            </a:r>
            <a:endParaRPr/>
          </a:p>
        </p:txBody>
      </p:sp>
      <p:sp>
        <p:nvSpPr>
          <p:cNvPr id="925650383"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rPr>
              <a:t>Sample scripts from CTE-D7 we should adopt</a:t>
            </a:r>
            <a:endParaRPr/>
          </a:p>
        </p:txBody>
      </p:sp>
      <p:sp>
        <p:nvSpPr>
          <p:cNvPr id="1863509763"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106509664"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rPr>
              <a:t>Mắt Sài Gòn  |  Optometry DA Training</a:t>
            </a:r>
            <a:endParaRPr/>
          </a:p>
        </p:txBody>
      </p:sp>
      <p:sp>
        <p:nvSpPr>
          <p:cNvPr id="2091286579"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rPr>
              <a:t>5</a:t>
            </a:r>
            <a:endParaRPr/>
          </a:p>
        </p:txBody>
      </p:sp>
      <p:sp>
        <p:nvSpPr>
          <p:cNvPr id="2097677239" name="Rectangle 7"/>
          <p:cNvSpPr/>
          <p:nvPr/>
        </p:nvSpPr>
        <p:spPr bwMode="auto">
          <a:xfrm>
            <a:off x="502920" y="1280160"/>
            <a:ext cx="11183112" cy="31089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rIns="109728" bIns="18288" rtlCol="0" anchor="ctr"/>
          <a:lstStyle/>
          <a:p>
            <a:pPr algn="l">
              <a:defRPr/>
            </a:pPr>
            <a:r>
              <a:rPr sz="950" b="1" i="0">
                <a:solidFill>
                  <a:srgbClr val="2E9C4C"/>
                </a:solidFill>
                <a:latin typeface="Arial"/>
              </a:rPr>
              <a:t>Quoted from the CTE-D7 Zalo conversation with MCY 260811, mẹ bé Ngọc Hân và Gia Hân.  </a:t>
            </a:r>
            <a:r>
              <a:rPr sz="950" b="0" i="0">
                <a:solidFill>
                  <a:srgbClr val="5C6B62"/>
                </a:solidFill>
                <a:latin typeface="Arial"/>
              </a:rPr>
              <a:t>CZ noted both as strengths and recommends them for wider use. The Vietnamese below is the original wording, not a translation.</a:t>
            </a:r>
            <a:endParaRPr/>
          </a:p>
        </p:txBody>
      </p:sp>
      <p:sp>
        <p:nvSpPr>
          <p:cNvPr id="627235466" name="Rectangle 8"/>
          <p:cNvSpPr/>
          <p:nvPr/>
        </p:nvSpPr>
        <p:spPr bwMode="auto">
          <a:xfrm>
            <a:off x="502920" y="1700784"/>
            <a:ext cx="7589520" cy="292608"/>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bIns="18288" rtlCol="0" anchor="ctr"/>
          <a:lstStyle/>
          <a:p>
            <a:pPr algn="l">
              <a:defRPr/>
            </a:pPr>
            <a:r>
              <a:rPr sz="950" b="1" i="0">
                <a:solidFill>
                  <a:srgbClr val="FFFFFF"/>
                </a:solidFill>
                <a:latin typeface="Arial"/>
              </a:rPr>
              <a:t>1  ·  GLASSES CUSTOMISATION UPDATE</a:t>
            </a:r>
            <a:r>
              <a:rPr sz="850" b="0" i="0">
                <a:solidFill>
                  <a:srgbClr val="E8F5EC"/>
                </a:solidFill>
                <a:latin typeface="Arial"/>
              </a:rPr>
              <a:t>     send at D1, then again at day 6-7</a:t>
            </a:r>
            <a:endParaRPr/>
          </a:p>
        </p:txBody>
      </p:sp>
      <p:sp>
        <p:nvSpPr>
          <p:cNvPr id="1162439265" name="Rectangle 9"/>
          <p:cNvSpPr/>
          <p:nvPr/>
        </p:nvSpPr>
        <p:spPr bwMode="auto">
          <a:xfrm>
            <a:off x="502920" y="2011680"/>
            <a:ext cx="7589520" cy="157276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lIns="164592" tIns="54864" rIns="164592" bIns="54864" rtlCol="0" anchor="ctr"/>
          <a:lstStyle/>
          <a:p>
            <a:pPr algn="l">
              <a:lnSpc>
                <a:spcPct val="115999"/>
              </a:lnSpc>
              <a:defRPr/>
            </a:pPr>
            <a:r>
              <a:rPr sz="950" b="0" i="0">
                <a:solidFill>
                  <a:srgbClr val="31633D"/>
                </a:solidFill>
                <a:latin typeface="Arial"/>
              </a:rPr>
              <a:t>“Dạ chào mẹ của 2 bé Ngọc Hân và bé Gia Hân, em xin cập nhật tiến độ: kính của bé đã chính thức vào quy trình đặt riêng dựa trên dữ liệu mắt, độ kính và tình trạng trục nhãn cầu của bé. Tròng KSCT được đặt riêng để phù hợp chính xác với nhu cầu thị giác của bé và hỗ trợ kiểm soát cận thị tốt hơn. Chị yên tâm chờ nhé. Thời gian đặt kính dự kiến khoảng 7-10 ngày, và em sẽ cập nhật định kỳ tiến độ sản xuất cho chị.”</a:t>
            </a:r>
            <a:endParaRPr/>
          </a:p>
        </p:txBody>
      </p:sp>
      <p:sp>
        <p:nvSpPr>
          <p:cNvPr id="1696034423" name="Rectangle 10"/>
          <p:cNvSpPr/>
          <p:nvPr/>
        </p:nvSpPr>
        <p:spPr bwMode="auto">
          <a:xfrm>
            <a:off x="8275320" y="1700784"/>
            <a:ext cx="3410712" cy="292608"/>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bIns="18288" rtlCol="0" anchor="ctr"/>
          <a:lstStyle/>
          <a:p>
            <a:pPr algn="l">
              <a:defRPr/>
            </a:pPr>
            <a:r>
              <a:rPr sz="900" b="1" i="0">
                <a:solidFill>
                  <a:srgbClr val="FFFFFF"/>
                </a:solidFill>
                <a:latin typeface="Arial"/>
              </a:rPr>
              <a:t>WHY IT WORKS</a:t>
            </a:r>
            <a:endParaRPr/>
          </a:p>
        </p:txBody>
      </p:sp>
      <p:sp>
        <p:nvSpPr>
          <p:cNvPr id="524776754" name="Rectangle 11"/>
          <p:cNvSpPr/>
          <p:nvPr/>
        </p:nvSpPr>
        <p:spPr bwMode="auto">
          <a:xfrm>
            <a:off x="8275320" y="2011680"/>
            <a:ext cx="3410712" cy="1572768"/>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838709925" name="TextBox 12"/>
          <p:cNvSpPr txBox="1"/>
          <p:nvPr/>
        </p:nvSpPr>
        <p:spPr bwMode="auto">
          <a:xfrm>
            <a:off x="8421624" y="2084832"/>
            <a:ext cx="3118104" cy="1444752"/>
          </a:xfrm>
          <a:prstGeom prst="rect">
            <a:avLst/>
          </a:prstGeom>
          <a:noFill/>
        </p:spPr>
        <p:txBody>
          <a:bodyPr wrap="square" lIns="45720" tIns="18288" rIns="45720" bIns="18288">
            <a:spAutoFit/>
          </a:bodyPr>
          <a:lstStyle/>
          <a:p>
            <a:pPr algn="l">
              <a:lnSpc>
                <a:spcPct val="108000"/>
              </a:lnSpc>
              <a:spcAft>
                <a:spcPts val="500"/>
              </a:spcAft>
              <a:defRPr/>
            </a:pPr>
            <a:r>
              <a:rPr sz="800" b="0" i="0">
                <a:solidFill>
                  <a:srgbClr val="5C6B62"/>
                </a:solidFill>
                <a:latin typeface="Arial"/>
              </a:rPr>
              <a:t>✓  </a:t>
            </a:r>
            <a:r>
              <a:rPr sz="800" b="0" i="0">
                <a:solidFill>
                  <a:srgbClr val="5C6B62"/>
                </a:solidFill>
                <a:latin typeface="Arial"/>
              </a:rPr>
              <a:t>Names both children, so neither is anonymous</a:t>
            </a:r>
            <a:endParaRPr/>
          </a:p>
          <a:p>
            <a:pPr algn="l">
              <a:lnSpc>
                <a:spcPct val="108000"/>
              </a:lnSpc>
              <a:spcAft>
                <a:spcPts val="500"/>
              </a:spcAft>
              <a:defRPr/>
            </a:pPr>
            <a:r>
              <a:rPr sz="800" b="0" i="0">
                <a:solidFill>
                  <a:srgbClr val="5C6B62"/>
                </a:solidFill>
                <a:latin typeface="Arial"/>
              </a:rPr>
              <a:t>✓  </a:t>
            </a:r>
            <a:r>
              <a:rPr sz="800" b="0" i="0">
                <a:solidFill>
                  <a:srgbClr val="5C6B62"/>
                </a:solidFill>
                <a:latin typeface="Arial"/>
              </a:rPr>
              <a:t>Says why the lens is custom: eye data, prescription, axial length</a:t>
            </a:r>
            <a:endParaRPr/>
          </a:p>
          <a:p>
            <a:pPr algn="l">
              <a:lnSpc>
                <a:spcPct val="108000"/>
              </a:lnSpc>
              <a:spcAft>
                <a:spcPts val="500"/>
              </a:spcAft>
              <a:defRPr/>
            </a:pPr>
            <a:r>
              <a:rPr sz="800" b="0" i="0">
                <a:solidFill>
                  <a:srgbClr val="5C6B62"/>
                </a:solidFill>
                <a:latin typeface="Arial"/>
              </a:rPr>
              <a:t>✓  </a:t>
            </a:r>
            <a:r>
              <a:rPr sz="800" b="0" i="0">
                <a:solidFill>
                  <a:srgbClr val="5C6B62"/>
                </a:solidFill>
                <a:latin typeface="Arial"/>
              </a:rPr>
              <a:t>Gives a number — about 7–10 days</a:t>
            </a:r>
            <a:endParaRPr/>
          </a:p>
          <a:p>
            <a:pPr algn="l">
              <a:lnSpc>
                <a:spcPct val="108000"/>
              </a:lnSpc>
              <a:spcAft>
                <a:spcPts val="500"/>
              </a:spcAft>
              <a:defRPr/>
            </a:pPr>
            <a:r>
              <a:rPr sz="800" b="0" i="0">
                <a:solidFill>
                  <a:srgbClr val="5C6B62"/>
                </a:solidFill>
                <a:latin typeface="Arial"/>
              </a:rPr>
              <a:t>✓  </a:t>
            </a:r>
            <a:r>
              <a:rPr sz="800" b="0" i="0">
                <a:solidFill>
                  <a:srgbClr val="5C6B62"/>
                </a:solidFill>
                <a:latin typeface="Arial"/>
              </a:rPr>
              <a:t>Promises regular progress updates, which sets up the day 6-7 message</a:t>
            </a:r>
            <a:endParaRPr/>
          </a:p>
        </p:txBody>
      </p:sp>
      <p:sp>
        <p:nvSpPr>
          <p:cNvPr id="23115302" name="Rectangle 13"/>
          <p:cNvSpPr/>
          <p:nvPr/>
        </p:nvSpPr>
        <p:spPr bwMode="auto">
          <a:xfrm>
            <a:off x="502920" y="3858768"/>
            <a:ext cx="7589520" cy="292608"/>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bIns="18288" rtlCol="0" anchor="ctr"/>
          <a:lstStyle/>
          <a:p>
            <a:pPr algn="l">
              <a:defRPr/>
            </a:pPr>
            <a:r>
              <a:rPr sz="950" b="1" i="0">
                <a:solidFill>
                  <a:srgbClr val="FFFFFF"/>
                </a:solidFill>
                <a:latin typeface="Arial"/>
              </a:rPr>
              <a:t>2  ·  COLLECTION NOTIFICATION</a:t>
            </a:r>
            <a:r>
              <a:rPr sz="850" b="0" i="0">
                <a:solidFill>
                  <a:srgbClr val="E8F5EC"/>
                </a:solidFill>
                <a:latin typeface="Arial"/>
              </a:rPr>
              <a:t>     send at day 6-7, the moment the glasses arrive</a:t>
            </a:r>
            <a:endParaRPr/>
          </a:p>
        </p:txBody>
      </p:sp>
      <p:sp>
        <p:nvSpPr>
          <p:cNvPr id="179695164" name="Rectangle 14"/>
          <p:cNvSpPr/>
          <p:nvPr/>
        </p:nvSpPr>
        <p:spPr bwMode="auto">
          <a:xfrm>
            <a:off x="502920" y="4169663"/>
            <a:ext cx="7589520" cy="157276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lIns="164592" tIns="54864" rIns="164592" bIns="54864" rtlCol="0" anchor="ctr"/>
          <a:lstStyle/>
          <a:p>
            <a:pPr algn="l">
              <a:lnSpc>
                <a:spcPct val="115999"/>
              </a:lnSpc>
              <a:defRPr/>
            </a:pPr>
            <a:r>
              <a:rPr sz="950" b="0" i="0">
                <a:solidFill>
                  <a:srgbClr val="31633D"/>
                </a:solidFill>
                <a:latin typeface="Arial"/>
              </a:rPr>
              <a:t>“Chào mẹ của bé Ngọc Hân và Gia Hân, Kính kiểm soát cận thị của bé đã được gia công theo đơn riêng và hiện đã có tại Phòng khám mắt quốc tế Cao Thắng. Em xin phép hẹn chị thời gian phù hợp để đến nhận kính. Bên em khuyến nghị chị đưa bé đến trực tiếp để bé thử kính, đánh giá mức độ thoải mái và để trung tâm điều chỉnh gọng, hướng dẫn đeo phù hợp, nhằm bảo đảm hiệu quả kiểm soát cận thị tốt nhất. Nếu thuận tiện, chị có thể sắp xếp đến vào ngày trong tuần trong khung giờ 9:00–16:30; thời điểm này lượng khách ít hơn nên bên em có thể hỗ trợ kỹ và đầy đủ hơn.”</a:t>
            </a:r>
            <a:endParaRPr/>
          </a:p>
        </p:txBody>
      </p:sp>
      <p:sp>
        <p:nvSpPr>
          <p:cNvPr id="1924524561" name="Rectangle 15"/>
          <p:cNvSpPr/>
          <p:nvPr/>
        </p:nvSpPr>
        <p:spPr bwMode="auto">
          <a:xfrm>
            <a:off x="8275320" y="3858768"/>
            <a:ext cx="3410712" cy="292608"/>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bIns="18288" rtlCol="0" anchor="ctr"/>
          <a:lstStyle/>
          <a:p>
            <a:pPr algn="l">
              <a:defRPr/>
            </a:pPr>
            <a:r>
              <a:rPr sz="900" b="1" i="0">
                <a:solidFill>
                  <a:srgbClr val="FFFFFF"/>
                </a:solidFill>
                <a:latin typeface="Arial"/>
              </a:rPr>
              <a:t>WHY IT WORKS</a:t>
            </a:r>
            <a:endParaRPr/>
          </a:p>
        </p:txBody>
      </p:sp>
      <p:sp>
        <p:nvSpPr>
          <p:cNvPr id="1573923397" name="Rectangle 16"/>
          <p:cNvSpPr/>
          <p:nvPr/>
        </p:nvSpPr>
        <p:spPr bwMode="auto">
          <a:xfrm>
            <a:off x="8275320" y="4169663"/>
            <a:ext cx="3410712" cy="1572768"/>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52604843" name="TextBox 17"/>
          <p:cNvSpPr txBox="1"/>
          <p:nvPr/>
        </p:nvSpPr>
        <p:spPr bwMode="auto">
          <a:xfrm>
            <a:off x="8421624" y="4242816"/>
            <a:ext cx="3118104" cy="1444752"/>
          </a:xfrm>
          <a:prstGeom prst="rect">
            <a:avLst/>
          </a:prstGeom>
          <a:noFill/>
        </p:spPr>
        <p:txBody>
          <a:bodyPr wrap="square" lIns="45720" tIns="18288" rIns="45720" bIns="18288">
            <a:spAutoFit/>
          </a:bodyPr>
          <a:lstStyle/>
          <a:p>
            <a:pPr algn="l">
              <a:lnSpc>
                <a:spcPct val="108000"/>
              </a:lnSpc>
              <a:spcAft>
                <a:spcPts val="500"/>
              </a:spcAft>
              <a:defRPr/>
            </a:pPr>
            <a:r>
              <a:rPr sz="800" b="0" i="0">
                <a:solidFill>
                  <a:srgbClr val="5C6B62"/>
                </a:solidFill>
                <a:latin typeface="Arial"/>
              </a:rPr>
              <a:t>✓  </a:t>
            </a:r>
            <a:r>
              <a:rPr sz="800" b="0" i="0">
                <a:solidFill>
                  <a:srgbClr val="5C6B62"/>
                </a:solidFill>
                <a:latin typeface="Arial"/>
              </a:rPr>
              <a:t>Says the glasses are ready and where they are</a:t>
            </a:r>
            <a:endParaRPr/>
          </a:p>
          <a:p>
            <a:pPr algn="l">
              <a:lnSpc>
                <a:spcPct val="108000"/>
              </a:lnSpc>
              <a:spcAft>
                <a:spcPts val="500"/>
              </a:spcAft>
              <a:defRPr/>
            </a:pPr>
            <a:r>
              <a:rPr sz="800" b="0" i="0">
                <a:solidFill>
                  <a:srgbClr val="5C6B62"/>
                </a:solidFill>
                <a:latin typeface="Arial"/>
              </a:rPr>
              <a:t>✓  </a:t>
            </a:r>
            <a:r>
              <a:rPr sz="800" b="0" i="0">
                <a:solidFill>
                  <a:srgbClr val="5C6B62"/>
                </a:solidFill>
                <a:latin typeface="Arial"/>
              </a:rPr>
              <a:t>Gives a reason to bring the child: fit, comfort, frame adjustment, wear guidance</a:t>
            </a:r>
            <a:endParaRPr/>
          </a:p>
          <a:p>
            <a:pPr algn="l">
              <a:lnSpc>
                <a:spcPct val="108000"/>
              </a:lnSpc>
              <a:spcAft>
                <a:spcPts val="500"/>
              </a:spcAft>
              <a:defRPr/>
            </a:pPr>
            <a:r>
              <a:rPr sz="800" b="0" i="0">
                <a:solidFill>
                  <a:srgbClr val="5C6B62"/>
                </a:solidFill>
                <a:latin typeface="Arial"/>
              </a:rPr>
              <a:t>✓  </a:t>
            </a:r>
            <a:r>
              <a:rPr sz="800" b="0" i="0">
                <a:solidFill>
                  <a:srgbClr val="5C6B62"/>
                </a:solidFill>
                <a:latin typeface="Arial"/>
              </a:rPr>
              <a:t>Suggests a weekday 9:00–16:30 because the clinic is quieter and help is better</a:t>
            </a:r>
            <a:endParaRPr/>
          </a:p>
        </p:txBody>
      </p:sp>
      <p:sp>
        <p:nvSpPr>
          <p:cNvPr id="1651383332" name="Rectangle 18"/>
          <p:cNvSpPr/>
          <p:nvPr/>
        </p:nvSpPr>
        <p:spPr bwMode="auto">
          <a:xfrm>
            <a:off x="502920" y="6053328"/>
            <a:ext cx="64008" cy="40233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604657338" name="Rectangle 19"/>
          <p:cNvSpPr/>
          <p:nvPr/>
        </p:nvSpPr>
        <p:spPr bwMode="auto">
          <a:xfrm>
            <a:off x="566928" y="6053328"/>
            <a:ext cx="11119104" cy="40233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00" b="1" i="0">
                <a:solidFill>
                  <a:srgbClr val="31633D"/>
                </a:solidFill>
                <a:latin typeface="Arial"/>
              </a:rPr>
              <a:t>Use these two as written. Change only the names, the product and the number of days.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2863049"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66162064"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rPr>
              <a:t>4. ORTHO-K   |   THE FIRST WEEK AFTER COLLECTION</a:t>
            </a:r>
            <a:endParaRPr/>
          </a:p>
        </p:txBody>
      </p:sp>
      <p:sp>
        <p:nvSpPr>
          <p:cNvPr id="401706469"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rPr>
              <a:t>Ortho-K needs four follow-ups in the first week</a:t>
            </a:r>
            <a:endParaRPr/>
          </a:p>
        </p:txBody>
      </p:sp>
      <p:sp>
        <p:nvSpPr>
          <p:cNvPr id="1386074673"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343899034"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rPr>
              <a:t>Mắt Sài Gòn  |  Optometry DA Training</a:t>
            </a:r>
            <a:endParaRPr/>
          </a:p>
        </p:txBody>
      </p:sp>
      <p:sp>
        <p:nvSpPr>
          <p:cNvPr id="1283684057"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rPr>
              <a:t>6</a:t>
            </a:r>
            <a:endParaRPr/>
          </a:p>
        </p:txBody>
      </p:sp>
      <p:sp>
        <p:nvSpPr>
          <p:cNvPr id="963509113" name="TextBox 7"/>
          <p:cNvSpPr txBox="1"/>
          <p:nvPr/>
        </p:nvSpPr>
        <p:spPr bwMode="auto">
          <a:xfrm>
            <a:off x="502920" y="1261872"/>
            <a:ext cx="11183112" cy="219456"/>
          </a:xfrm>
          <a:prstGeom prst="rect">
            <a:avLst/>
          </a:prstGeom>
          <a:noFill/>
        </p:spPr>
        <p:txBody>
          <a:bodyPr wrap="square" lIns="45720" tIns="18288" rIns="45720" bIns="18288">
            <a:spAutoFit/>
          </a:bodyPr>
          <a:lstStyle/>
          <a:p>
            <a:pPr algn="l">
              <a:lnSpc>
                <a:spcPct val="95000"/>
              </a:lnSpc>
              <a:defRPr/>
            </a:pPr>
            <a:r>
              <a:rPr sz="1000" b="0" i="1">
                <a:solidFill>
                  <a:srgbClr val="5C6B62"/>
                </a:solidFill>
                <a:latin typeface="Arial"/>
              </a:rPr>
              <a:t>CZ asks for two to three follow-ups in the first week after lens collection. The required cadence actually asks for four — so two to three is the floor, not the target.</a:t>
            </a:r>
            <a:endParaRPr/>
          </a:p>
        </p:txBody>
      </p:sp>
      <p:sp>
        <p:nvSpPr>
          <p:cNvPr id="161943314" name="Rectangle 8"/>
          <p:cNvSpPr/>
          <p:nvPr/>
        </p:nvSpPr>
        <p:spPr bwMode="auto">
          <a:xfrm>
            <a:off x="502920" y="1591056"/>
            <a:ext cx="11183112" cy="310896"/>
          </a:xfrm>
          <a:prstGeom prst="rect">
            <a:avLst/>
          </a:prstGeom>
          <a:solidFill>
            <a:srgbClr val="FDECEA"/>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rIns="109728" bIns="18288" rtlCol="0" anchor="ctr"/>
          <a:lstStyle/>
          <a:p>
            <a:pPr algn="l">
              <a:defRPr/>
            </a:pPr>
            <a:r>
              <a:rPr sz="950" b="1" i="0">
                <a:solidFill>
                  <a:srgbClr val="C0392B"/>
                </a:solidFill>
                <a:latin typeface="Arial"/>
              </a:rPr>
              <a:t>CTE-D5 is named this week:  </a:t>
            </a:r>
            <a:r>
              <a:rPr sz="950" b="0" i="0">
                <a:solidFill>
                  <a:srgbClr val="5C6B62"/>
                </a:solidFill>
                <a:latin typeface="Arial"/>
              </a:rPr>
              <a:t>lens customisation messages, checks on lens wear after collection, and invitations for follow-up examinations are all missing for Ortho-K customers.</a:t>
            </a:r>
            <a:endParaRPr/>
          </a:p>
        </p:txBody>
      </p:sp>
      <p:sp>
        <p:nvSpPr>
          <p:cNvPr id="38681136" name="Rectangle 9"/>
          <p:cNvSpPr/>
          <p:nvPr/>
        </p:nvSpPr>
        <p:spPr bwMode="auto">
          <a:xfrm>
            <a:off x="502920" y="2048256"/>
            <a:ext cx="1801367"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151448475" name="Rectangle 10"/>
          <p:cNvSpPr/>
          <p:nvPr/>
        </p:nvSpPr>
        <p:spPr bwMode="auto">
          <a:xfrm>
            <a:off x="502920" y="2048256"/>
            <a:ext cx="1801367" cy="27432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950" b="1" i="0">
                <a:solidFill>
                  <a:srgbClr val="FFFFFF"/>
                </a:solidFill>
                <a:latin typeface="Arial"/>
              </a:rPr>
              <a:t>CD</a:t>
            </a:r>
            <a:endParaRPr/>
          </a:p>
        </p:txBody>
      </p:sp>
      <p:sp>
        <p:nvSpPr>
          <p:cNvPr id="611198093" name="TextBox 11"/>
          <p:cNvSpPr txBox="1"/>
          <p:nvPr/>
        </p:nvSpPr>
        <p:spPr bwMode="auto">
          <a:xfrm>
            <a:off x="521208" y="2359152"/>
            <a:ext cx="1764792" cy="182880"/>
          </a:xfrm>
          <a:prstGeom prst="rect">
            <a:avLst/>
          </a:prstGeom>
          <a:noFill/>
        </p:spPr>
        <p:txBody>
          <a:bodyPr wrap="square" lIns="45720" tIns="18288" rIns="45720" bIns="18288">
            <a:spAutoFit/>
          </a:bodyPr>
          <a:lstStyle/>
          <a:p>
            <a:pPr algn="ctr">
              <a:defRPr/>
            </a:pPr>
            <a:r>
              <a:rPr sz="750" b="1" i="0">
                <a:solidFill>
                  <a:srgbClr val="2E9C4C"/>
                </a:solidFill>
                <a:latin typeface="Arial"/>
              </a:rPr>
              <a:t>collection day</a:t>
            </a:r>
            <a:endParaRPr/>
          </a:p>
        </p:txBody>
      </p:sp>
      <p:sp>
        <p:nvSpPr>
          <p:cNvPr id="1919179796" name="TextBox 12"/>
          <p:cNvSpPr txBox="1"/>
          <p:nvPr/>
        </p:nvSpPr>
        <p:spPr bwMode="auto">
          <a:xfrm>
            <a:off x="612648" y="2560320"/>
            <a:ext cx="1581912" cy="877824"/>
          </a:xfrm>
          <a:prstGeom prst="rect">
            <a:avLst/>
          </a:prstGeom>
          <a:noFill/>
        </p:spPr>
        <p:txBody>
          <a:bodyPr wrap="square" lIns="45720" tIns="18288" rIns="45720" bIns="18288">
            <a:spAutoFit/>
          </a:bodyPr>
          <a:lstStyle/>
          <a:p>
            <a:pPr algn="l">
              <a:lnSpc>
                <a:spcPct val="110000"/>
              </a:lnSpc>
              <a:defRPr/>
            </a:pPr>
            <a:r>
              <a:rPr sz="800" b="0" i="0">
                <a:solidFill>
                  <a:srgbClr val="5C6B62"/>
                </a:solidFill>
                <a:latin typeface="Arial"/>
              </a:rPr>
              <a:t>Usage instructions, then benefits after the parent replies, then the referral ask</a:t>
            </a:r>
            <a:endParaRPr/>
          </a:p>
        </p:txBody>
      </p:sp>
      <p:sp>
        <p:nvSpPr>
          <p:cNvPr id="300854873" name="Rectangle 13"/>
          <p:cNvSpPr/>
          <p:nvPr/>
        </p:nvSpPr>
        <p:spPr bwMode="auto">
          <a:xfrm>
            <a:off x="2386584" y="2048256"/>
            <a:ext cx="1801367"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558609317" name="Rectangle 14"/>
          <p:cNvSpPr/>
          <p:nvPr/>
        </p:nvSpPr>
        <p:spPr bwMode="auto">
          <a:xfrm>
            <a:off x="2386584" y="2048256"/>
            <a:ext cx="1801367" cy="274320"/>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950" b="1" i="0">
                <a:solidFill>
                  <a:srgbClr val="FFFFFF"/>
                </a:solidFill>
                <a:latin typeface="Arial"/>
              </a:rPr>
              <a:t>CDN</a:t>
            </a:r>
            <a:endParaRPr/>
          </a:p>
        </p:txBody>
      </p:sp>
      <p:sp>
        <p:nvSpPr>
          <p:cNvPr id="1388480215" name="TextBox 15"/>
          <p:cNvSpPr txBox="1"/>
          <p:nvPr/>
        </p:nvSpPr>
        <p:spPr bwMode="auto">
          <a:xfrm>
            <a:off x="2404872" y="2359152"/>
            <a:ext cx="1764792" cy="182880"/>
          </a:xfrm>
          <a:prstGeom prst="rect">
            <a:avLst/>
          </a:prstGeom>
          <a:noFill/>
        </p:spPr>
        <p:txBody>
          <a:bodyPr wrap="square" lIns="45720" tIns="18288" rIns="45720" bIns="18288">
            <a:spAutoFit/>
          </a:bodyPr>
          <a:lstStyle/>
          <a:p>
            <a:pPr algn="ctr">
              <a:defRPr/>
            </a:pPr>
            <a:r>
              <a:rPr sz="750" b="1" i="0">
                <a:solidFill>
                  <a:srgbClr val="5B2C6F"/>
                </a:solidFill>
                <a:latin typeface="Arial"/>
              </a:rPr>
              <a:t>collection evening</a:t>
            </a:r>
            <a:endParaRPr/>
          </a:p>
        </p:txBody>
      </p:sp>
      <p:sp>
        <p:nvSpPr>
          <p:cNvPr id="778178520" name="TextBox 16"/>
          <p:cNvSpPr txBox="1"/>
          <p:nvPr/>
        </p:nvSpPr>
        <p:spPr bwMode="auto">
          <a:xfrm>
            <a:off x="2496312" y="2560320"/>
            <a:ext cx="1581912" cy="877824"/>
          </a:xfrm>
          <a:prstGeom prst="rect">
            <a:avLst/>
          </a:prstGeom>
          <a:noFill/>
        </p:spPr>
        <p:txBody>
          <a:bodyPr wrap="square" lIns="45720" tIns="18288" rIns="45720" bIns="18288">
            <a:spAutoFit/>
          </a:bodyPr>
          <a:lstStyle/>
          <a:p>
            <a:pPr algn="l">
              <a:lnSpc>
                <a:spcPct val="110000"/>
              </a:lnSpc>
              <a:defRPr/>
            </a:pPr>
            <a:r>
              <a:rPr sz="800" b="0" i="0">
                <a:solidFill>
                  <a:srgbClr val="5C6B62"/>
                </a:solidFill>
                <a:latin typeface="Arial"/>
              </a:rPr>
              <a:t>Ask about the first Ortho-K wear. Help adjust if the lens does not sit well</a:t>
            </a:r>
            <a:endParaRPr/>
          </a:p>
        </p:txBody>
      </p:sp>
      <p:sp>
        <p:nvSpPr>
          <p:cNvPr id="1021143438" name="Rectangle 17"/>
          <p:cNvSpPr/>
          <p:nvPr/>
        </p:nvSpPr>
        <p:spPr bwMode="auto">
          <a:xfrm>
            <a:off x="2496312" y="3273552"/>
            <a:ext cx="1581912" cy="20116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650" b="1" i="0">
                <a:solidFill>
                  <a:srgbClr val="31633D"/>
                </a:solidFill>
                <a:latin typeface="Arial"/>
              </a:rPr>
              <a:t>FIRST WEEK</a:t>
            </a:r>
            <a:endParaRPr/>
          </a:p>
        </p:txBody>
      </p:sp>
      <p:sp>
        <p:nvSpPr>
          <p:cNvPr id="910860333" name="Rectangle 18"/>
          <p:cNvSpPr/>
          <p:nvPr/>
        </p:nvSpPr>
        <p:spPr bwMode="auto">
          <a:xfrm>
            <a:off x="4270248" y="2048256"/>
            <a:ext cx="1801367"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063123356" name="Rectangle 19"/>
          <p:cNvSpPr/>
          <p:nvPr/>
        </p:nvSpPr>
        <p:spPr bwMode="auto">
          <a:xfrm>
            <a:off x="4270248" y="2048256"/>
            <a:ext cx="1801367" cy="274320"/>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950" b="1" i="0">
                <a:solidFill>
                  <a:srgbClr val="FFFFFF"/>
                </a:solidFill>
                <a:latin typeface="Arial"/>
              </a:rPr>
              <a:t>CD+1</a:t>
            </a:r>
            <a:endParaRPr/>
          </a:p>
        </p:txBody>
      </p:sp>
      <p:sp>
        <p:nvSpPr>
          <p:cNvPr id="316663885" name="TextBox 20"/>
          <p:cNvSpPr txBox="1"/>
          <p:nvPr/>
        </p:nvSpPr>
        <p:spPr bwMode="auto">
          <a:xfrm>
            <a:off x="4288536" y="2359152"/>
            <a:ext cx="1764792" cy="182880"/>
          </a:xfrm>
          <a:prstGeom prst="rect">
            <a:avLst/>
          </a:prstGeom>
          <a:noFill/>
        </p:spPr>
        <p:txBody>
          <a:bodyPr wrap="square" lIns="45720" tIns="18288" rIns="45720" bIns="18288">
            <a:spAutoFit/>
          </a:bodyPr>
          <a:lstStyle/>
          <a:p>
            <a:pPr algn="ctr">
              <a:defRPr/>
            </a:pPr>
            <a:r>
              <a:rPr sz="750" b="1" i="0">
                <a:solidFill>
                  <a:srgbClr val="5B2C6F"/>
                </a:solidFill>
                <a:latin typeface="Arial"/>
              </a:rPr>
              <a:t>next day</a:t>
            </a:r>
            <a:endParaRPr/>
          </a:p>
        </p:txBody>
      </p:sp>
      <p:sp>
        <p:nvSpPr>
          <p:cNvPr id="1640915593" name="TextBox 21"/>
          <p:cNvSpPr txBox="1"/>
          <p:nvPr/>
        </p:nvSpPr>
        <p:spPr bwMode="auto">
          <a:xfrm>
            <a:off x="4379976" y="2560320"/>
            <a:ext cx="1581912" cy="877824"/>
          </a:xfrm>
          <a:prstGeom prst="rect">
            <a:avLst/>
          </a:prstGeom>
          <a:noFill/>
        </p:spPr>
        <p:txBody>
          <a:bodyPr wrap="square" lIns="45720" tIns="18288" rIns="45720" bIns="18288">
            <a:spAutoFit/>
          </a:bodyPr>
          <a:lstStyle/>
          <a:p>
            <a:pPr algn="l">
              <a:lnSpc>
                <a:spcPct val="110000"/>
              </a:lnSpc>
              <a:defRPr/>
            </a:pPr>
            <a:r>
              <a:rPr sz="800" b="0" i="0">
                <a:solidFill>
                  <a:srgbClr val="5C6B62"/>
                </a:solidFill>
                <a:latin typeface="Arial"/>
              </a:rPr>
              <a:t>Check how the first night went. Ask for a referral</a:t>
            </a:r>
            <a:endParaRPr/>
          </a:p>
        </p:txBody>
      </p:sp>
      <p:sp>
        <p:nvSpPr>
          <p:cNvPr id="1347732851" name="Rectangle 22"/>
          <p:cNvSpPr/>
          <p:nvPr/>
        </p:nvSpPr>
        <p:spPr bwMode="auto">
          <a:xfrm>
            <a:off x="4379976" y="3273552"/>
            <a:ext cx="1581912" cy="20116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650" b="1" i="0">
                <a:solidFill>
                  <a:srgbClr val="31633D"/>
                </a:solidFill>
                <a:latin typeface="Arial"/>
              </a:rPr>
              <a:t>FIRST WEEK</a:t>
            </a:r>
            <a:endParaRPr/>
          </a:p>
        </p:txBody>
      </p:sp>
      <p:sp>
        <p:nvSpPr>
          <p:cNvPr id="1861919110" name="Rectangle 23"/>
          <p:cNvSpPr/>
          <p:nvPr/>
        </p:nvSpPr>
        <p:spPr bwMode="auto">
          <a:xfrm>
            <a:off x="6153912" y="2048256"/>
            <a:ext cx="1801367"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616038916" name="Rectangle 24"/>
          <p:cNvSpPr/>
          <p:nvPr/>
        </p:nvSpPr>
        <p:spPr bwMode="auto">
          <a:xfrm>
            <a:off x="6153912" y="2048256"/>
            <a:ext cx="1801367" cy="274320"/>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950" b="1" i="0">
                <a:solidFill>
                  <a:srgbClr val="FFFFFF"/>
                </a:solidFill>
                <a:latin typeface="Arial"/>
              </a:rPr>
              <a:t>CD+3-5</a:t>
            </a:r>
            <a:endParaRPr/>
          </a:p>
        </p:txBody>
      </p:sp>
      <p:sp>
        <p:nvSpPr>
          <p:cNvPr id="1171661523" name="TextBox 25"/>
          <p:cNvSpPr txBox="1"/>
          <p:nvPr/>
        </p:nvSpPr>
        <p:spPr bwMode="auto">
          <a:xfrm>
            <a:off x="6172200" y="2359152"/>
            <a:ext cx="1764792" cy="182880"/>
          </a:xfrm>
          <a:prstGeom prst="rect">
            <a:avLst/>
          </a:prstGeom>
          <a:noFill/>
        </p:spPr>
        <p:txBody>
          <a:bodyPr wrap="square" lIns="45720" tIns="18288" rIns="45720" bIns="18288">
            <a:spAutoFit/>
          </a:bodyPr>
          <a:lstStyle/>
          <a:p>
            <a:pPr algn="ctr">
              <a:defRPr/>
            </a:pPr>
            <a:r>
              <a:rPr sz="750" b="1" i="0">
                <a:solidFill>
                  <a:srgbClr val="0C989A"/>
                </a:solidFill>
                <a:latin typeface="Arial"/>
              </a:rPr>
              <a:t>care check</a:t>
            </a:r>
            <a:endParaRPr/>
          </a:p>
        </p:txBody>
      </p:sp>
      <p:sp>
        <p:nvSpPr>
          <p:cNvPr id="914018527" name="TextBox 26"/>
          <p:cNvSpPr txBox="1"/>
          <p:nvPr/>
        </p:nvSpPr>
        <p:spPr bwMode="auto">
          <a:xfrm>
            <a:off x="6263640" y="2560320"/>
            <a:ext cx="1581912" cy="877824"/>
          </a:xfrm>
          <a:prstGeom prst="rect">
            <a:avLst/>
          </a:prstGeom>
          <a:noFill/>
        </p:spPr>
        <p:txBody>
          <a:bodyPr wrap="square" lIns="45720" tIns="18288" rIns="45720" bIns="18288">
            <a:spAutoFit/>
          </a:bodyPr>
          <a:lstStyle/>
          <a:p>
            <a:pPr algn="l">
              <a:lnSpc>
                <a:spcPct val="110000"/>
              </a:lnSpc>
              <a:defRPr/>
            </a:pPr>
            <a:r>
              <a:rPr sz="800" b="0" i="0">
                <a:solidFill>
                  <a:srgbClr val="5C6B62"/>
                </a:solidFill>
                <a:latin typeface="Arial"/>
              </a:rPr>
              <a:t>Ask how the child is getting on, then ask for a referral once they reply</a:t>
            </a:r>
            <a:endParaRPr/>
          </a:p>
        </p:txBody>
      </p:sp>
      <p:sp>
        <p:nvSpPr>
          <p:cNvPr id="571501100" name="Rectangle 27"/>
          <p:cNvSpPr/>
          <p:nvPr/>
        </p:nvSpPr>
        <p:spPr bwMode="auto">
          <a:xfrm>
            <a:off x="6263640" y="3273552"/>
            <a:ext cx="1581912" cy="20116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650" b="1" i="0">
                <a:solidFill>
                  <a:srgbClr val="31633D"/>
                </a:solidFill>
                <a:latin typeface="Arial"/>
              </a:rPr>
              <a:t>FIRST WEEK</a:t>
            </a:r>
            <a:endParaRPr/>
          </a:p>
        </p:txBody>
      </p:sp>
      <p:sp>
        <p:nvSpPr>
          <p:cNvPr id="1467153772" name="Rectangle 28"/>
          <p:cNvSpPr/>
          <p:nvPr/>
        </p:nvSpPr>
        <p:spPr bwMode="auto">
          <a:xfrm>
            <a:off x="8037576" y="2048256"/>
            <a:ext cx="1801367"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787355459" name="Rectangle 29"/>
          <p:cNvSpPr/>
          <p:nvPr/>
        </p:nvSpPr>
        <p:spPr bwMode="auto">
          <a:xfrm>
            <a:off x="8037576" y="2048256"/>
            <a:ext cx="1801367" cy="274320"/>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950" b="1" i="0">
                <a:solidFill>
                  <a:srgbClr val="FFFFFF"/>
                </a:solidFill>
                <a:latin typeface="Arial"/>
              </a:rPr>
              <a:t>CD+7</a:t>
            </a:r>
            <a:endParaRPr/>
          </a:p>
        </p:txBody>
      </p:sp>
      <p:sp>
        <p:nvSpPr>
          <p:cNvPr id="1650261574" name="TextBox 30"/>
          <p:cNvSpPr txBox="1"/>
          <p:nvPr/>
        </p:nvSpPr>
        <p:spPr bwMode="auto">
          <a:xfrm>
            <a:off x="8055864" y="2359152"/>
            <a:ext cx="1764792" cy="182880"/>
          </a:xfrm>
          <a:prstGeom prst="rect">
            <a:avLst/>
          </a:prstGeom>
          <a:noFill/>
        </p:spPr>
        <p:txBody>
          <a:bodyPr wrap="square" lIns="45720" tIns="18288" rIns="45720" bIns="18288">
            <a:spAutoFit/>
          </a:bodyPr>
          <a:lstStyle/>
          <a:p>
            <a:pPr algn="ctr">
              <a:defRPr/>
            </a:pPr>
            <a:r>
              <a:rPr sz="750" b="1" i="0">
                <a:solidFill>
                  <a:srgbClr val="0C989A"/>
                </a:solidFill>
                <a:latin typeface="Arial"/>
              </a:rPr>
              <a:t>usage check</a:t>
            </a:r>
            <a:endParaRPr/>
          </a:p>
        </p:txBody>
      </p:sp>
      <p:sp>
        <p:nvSpPr>
          <p:cNvPr id="1792804063" name="TextBox 31"/>
          <p:cNvSpPr txBox="1"/>
          <p:nvPr/>
        </p:nvSpPr>
        <p:spPr bwMode="auto">
          <a:xfrm>
            <a:off x="8147304" y="2560320"/>
            <a:ext cx="1581912" cy="877824"/>
          </a:xfrm>
          <a:prstGeom prst="rect">
            <a:avLst/>
          </a:prstGeom>
          <a:noFill/>
        </p:spPr>
        <p:txBody>
          <a:bodyPr wrap="square" lIns="45720" tIns="18288" rIns="45720" bIns="18288">
            <a:spAutoFit/>
          </a:bodyPr>
          <a:lstStyle/>
          <a:p>
            <a:pPr algn="l">
              <a:lnSpc>
                <a:spcPct val="110000"/>
              </a:lnSpc>
              <a:defRPr/>
            </a:pPr>
            <a:r>
              <a:rPr sz="800" b="0" i="0">
                <a:solidFill>
                  <a:srgbClr val="5C6B62"/>
                </a:solidFill>
                <a:latin typeface="Arial"/>
              </a:rPr>
              <a:t>Book the recheck appointment. Benefits. Ask for a referral</a:t>
            </a:r>
            <a:endParaRPr/>
          </a:p>
        </p:txBody>
      </p:sp>
      <p:sp>
        <p:nvSpPr>
          <p:cNvPr id="1788536106" name="Rectangle 32"/>
          <p:cNvSpPr/>
          <p:nvPr/>
        </p:nvSpPr>
        <p:spPr bwMode="auto">
          <a:xfrm>
            <a:off x="8147304" y="3273552"/>
            <a:ext cx="1581912" cy="20116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650" b="1" i="0">
                <a:solidFill>
                  <a:srgbClr val="31633D"/>
                </a:solidFill>
                <a:latin typeface="Arial"/>
              </a:rPr>
              <a:t>FIRST WEEK</a:t>
            </a:r>
            <a:endParaRPr/>
          </a:p>
        </p:txBody>
      </p:sp>
      <p:sp>
        <p:nvSpPr>
          <p:cNvPr id="1865851790" name="Rectangle 33"/>
          <p:cNvSpPr/>
          <p:nvPr/>
        </p:nvSpPr>
        <p:spPr bwMode="auto">
          <a:xfrm>
            <a:off x="9921240" y="2048256"/>
            <a:ext cx="1801367"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11627000" name="Rectangle 34"/>
          <p:cNvSpPr/>
          <p:nvPr/>
        </p:nvSpPr>
        <p:spPr bwMode="auto">
          <a:xfrm>
            <a:off x="9921240" y="2048256"/>
            <a:ext cx="1801367" cy="274320"/>
          </a:xfrm>
          <a:prstGeom prst="rect">
            <a:avLst/>
          </a:prstGeom>
          <a:solidFill>
            <a:srgbClr val="B9770B"/>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950" b="1" i="0">
                <a:solidFill>
                  <a:srgbClr val="FFFFFF"/>
                </a:solidFill>
                <a:latin typeface="Arial"/>
              </a:rPr>
              <a:t>CD+30</a:t>
            </a:r>
            <a:endParaRPr/>
          </a:p>
        </p:txBody>
      </p:sp>
      <p:sp>
        <p:nvSpPr>
          <p:cNvPr id="687521574" name="TextBox 35"/>
          <p:cNvSpPr txBox="1"/>
          <p:nvPr/>
        </p:nvSpPr>
        <p:spPr bwMode="auto">
          <a:xfrm>
            <a:off x="9939528" y="2359152"/>
            <a:ext cx="1764792" cy="182880"/>
          </a:xfrm>
          <a:prstGeom prst="rect">
            <a:avLst/>
          </a:prstGeom>
          <a:noFill/>
        </p:spPr>
        <p:txBody>
          <a:bodyPr wrap="square" lIns="45720" tIns="18288" rIns="45720" bIns="18288">
            <a:spAutoFit/>
          </a:bodyPr>
          <a:lstStyle/>
          <a:p>
            <a:pPr algn="ctr">
              <a:defRPr/>
            </a:pPr>
            <a:r>
              <a:rPr sz="750" b="1" i="0">
                <a:solidFill>
                  <a:srgbClr val="B9770B"/>
                </a:solidFill>
                <a:latin typeface="Arial"/>
              </a:rPr>
              <a:t>usage review</a:t>
            </a:r>
            <a:endParaRPr/>
          </a:p>
        </p:txBody>
      </p:sp>
      <p:sp>
        <p:nvSpPr>
          <p:cNvPr id="379392631" name="TextBox 36"/>
          <p:cNvSpPr txBox="1"/>
          <p:nvPr/>
        </p:nvSpPr>
        <p:spPr bwMode="auto">
          <a:xfrm>
            <a:off x="10030968" y="2560320"/>
            <a:ext cx="1581912" cy="877824"/>
          </a:xfrm>
          <a:prstGeom prst="rect">
            <a:avLst/>
          </a:prstGeom>
          <a:noFill/>
        </p:spPr>
        <p:txBody>
          <a:bodyPr wrap="square" lIns="45720" tIns="18288" rIns="45720" bIns="18288">
            <a:spAutoFit/>
          </a:bodyPr>
          <a:lstStyle/>
          <a:p>
            <a:pPr algn="l">
              <a:lnSpc>
                <a:spcPct val="110000"/>
              </a:lnSpc>
              <a:defRPr/>
            </a:pPr>
            <a:r>
              <a:rPr sz="800" b="0" i="0">
                <a:solidFill>
                  <a:srgbClr val="5C6B62"/>
                </a:solidFill>
                <a:latin typeface="Arial"/>
              </a:rPr>
              <a:t>Book the recheck. Remind ≥ 6 wears per week. Benefits</a:t>
            </a:r>
            <a:endParaRPr/>
          </a:p>
        </p:txBody>
      </p:sp>
      <p:sp>
        <p:nvSpPr>
          <p:cNvPr id="1641389969" name="Rectangle 37"/>
          <p:cNvSpPr/>
          <p:nvPr/>
        </p:nvSpPr>
        <p:spPr bwMode="auto">
          <a:xfrm>
            <a:off x="502920" y="3694176"/>
            <a:ext cx="5486400" cy="100584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929235274" name="TextBox 38"/>
          <p:cNvSpPr txBox="1"/>
          <p:nvPr/>
        </p:nvSpPr>
        <p:spPr bwMode="auto">
          <a:xfrm>
            <a:off x="649224" y="3785615"/>
            <a:ext cx="5193792" cy="201168"/>
          </a:xfrm>
          <a:prstGeom prst="rect">
            <a:avLst/>
          </a:prstGeom>
          <a:noFill/>
        </p:spPr>
        <p:txBody>
          <a:bodyPr wrap="square" lIns="45720" tIns="18288" rIns="45720" bIns="18288">
            <a:spAutoFit/>
          </a:bodyPr>
          <a:lstStyle/>
          <a:p>
            <a:pPr algn="l">
              <a:defRPr/>
            </a:pPr>
            <a:r>
              <a:rPr sz="950" b="1" i="0">
                <a:solidFill>
                  <a:srgbClr val="31633D"/>
                </a:solidFill>
                <a:latin typeface="Arial"/>
              </a:rPr>
              <a:t>What Ortho-K adds that glasses do not</a:t>
            </a:r>
            <a:endParaRPr/>
          </a:p>
        </p:txBody>
      </p:sp>
      <p:sp>
        <p:nvSpPr>
          <p:cNvPr id="353873515" name="TextBox 39"/>
          <p:cNvSpPr txBox="1"/>
          <p:nvPr/>
        </p:nvSpPr>
        <p:spPr bwMode="auto">
          <a:xfrm>
            <a:off x="649224" y="3986784"/>
            <a:ext cx="5193792" cy="640080"/>
          </a:xfrm>
          <a:prstGeom prst="rect">
            <a:avLst/>
          </a:prstGeom>
          <a:noFill/>
        </p:spPr>
        <p:txBody>
          <a:bodyPr wrap="square" lIns="45720" tIns="18288" rIns="45720" bIns="18288">
            <a:spAutoFit/>
          </a:bodyPr>
          <a:lstStyle/>
          <a:p>
            <a:pPr algn="l">
              <a:lnSpc>
                <a:spcPct val="110000"/>
              </a:lnSpc>
              <a:defRPr/>
            </a:pPr>
            <a:r>
              <a:rPr sz="850" b="0" i="0">
                <a:solidFill>
                  <a:srgbClr val="5C6B62"/>
                </a:solidFill>
                <a:latin typeface="Arial"/>
              </a:rPr>
              <a:t>CDN and CD+1 exist only for Ortho-K. A child wearing a rigid lens overnight for the first time is asked the same evening and again the next morning.</a:t>
            </a:r>
            <a:endParaRPr/>
          </a:p>
        </p:txBody>
      </p:sp>
      <p:sp>
        <p:nvSpPr>
          <p:cNvPr id="163710535" name="Rectangle 40"/>
          <p:cNvSpPr/>
          <p:nvPr/>
        </p:nvSpPr>
        <p:spPr bwMode="auto">
          <a:xfrm>
            <a:off x="6199632" y="3694176"/>
            <a:ext cx="5486400" cy="1005840"/>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520492658" name="TextBox 41"/>
          <p:cNvSpPr txBox="1"/>
          <p:nvPr/>
        </p:nvSpPr>
        <p:spPr bwMode="auto">
          <a:xfrm>
            <a:off x="6345936" y="3785615"/>
            <a:ext cx="5193792" cy="201168"/>
          </a:xfrm>
          <a:prstGeom prst="rect">
            <a:avLst/>
          </a:prstGeom>
          <a:noFill/>
        </p:spPr>
        <p:txBody>
          <a:bodyPr wrap="square" lIns="45720" tIns="18288" rIns="45720" bIns="18288">
            <a:spAutoFit/>
          </a:bodyPr>
          <a:lstStyle/>
          <a:p>
            <a:pPr algn="l">
              <a:defRPr/>
            </a:pPr>
            <a:r>
              <a:rPr sz="950" b="1" i="0">
                <a:solidFill>
                  <a:srgbClr val="31633D"/>
                </a:solidFill>
                <a:latin typeface="Arial"/>
              </a:rPr>
              <a:t>Where CZ’s “2 to 3 in the first week” lands</a:t>
            </a:r>
            <a:endParaRPr/>
          </a:p>
        </p:txBody>
      </p:sp>
      <p:sp>
        <p:nvSpPr>
          <p:cNvPr id="1704272355" name="TextBox 42"/>
          <p:cNvSpPr txBox="1"/>
          <p:nvPr/>
        </p:nvSpPr>
        <p:spPr bwMode="auto">
          <a:xfrm>
            <a:off x="6345936" y="3986784"/>
            <a:ext cx="5193792" cy="640080"/>
          </a:xfrm>
          <a:prstGeom prst="rect">
            <a:avLst/>
          </a:prstGeom>
          <a:noFill/>
        </p:spPr>
        <p:txBody>
          <a:bodyPr wrap="square" lIns="45720" tIns="18288" rIns="45720" bIns="18288">
            <a:spAutoFit/>
          </a:bodyPr>
          <a:lstStyle/>
          <a:p>
            <a:pPr algn="l">
              <a:lnSpc>
                <a:spcPct val="110000"/>
              </a:lnSpc>
              <a:defRPr/>
            </a:pPr>
            <a:r>
              <a:rPr sz="850" b="0" i="0">
                <a:solidFill>
                  <a:srgbClr val="5C6B62"/>
                </a:solidFill>
                <a:latin typeface="Arial"/>
              </a:rPr>
              <a:t>CDN, CD+1, CD+3-5 and CD+7 all fall inside the first week after collection. Doing two or three of them is the minimum CZ asks for. CTE-D5 is the site named as missing them.</a:t>
            </a:r>
            <a:endParaRPr/>
          </a:p>
        </p:txBody>
      </p:sp>
      <p:sp>
        <p:nvSpPr>
          <p:cNvPr id="343042412" name="Rectangle 43"/>
          <p:cNvSpPr/>
          <p:nvPr/>
        </p:nvSpPr>
        <p:spPr bwMode="auto">
          <a:xfrm>
            <a:off x="502920" y="4864607"/>
            <a:ext cx="11183112" cy="51206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wrap="square" lIns="146304" tIns="18288" rIns="128016" bIns="18288" rtlCol="0" anchor="ctr"/>
          <a:lstStyle/>
          <a:p>
            <a:pPr algn="l">
              <a:defRPr/>
            </a:pPr>
            <a:r>
              <a:rPr sz="900" b="1" i="0">
                <a:solidFill>
                  <a:srgbClr val="C0392B"/>
                </a:solidFill>
                <a:latin typeface="Arial"/>
              </a:rPr>
              <a:t>Open item to verify:  </a:t>
            </a:r>
            <a:r>
              <a:rPr sz="900" b="0" i="0">
                <a:solidFill>
                  <a:srgbClr val="5C6B62"/>
                </a:solidFill>
                <a:latin typeface="Arial"/>
              </a:rPr>
              <a:t>customers at CTE-D7 were told Ortho-K lenses can be used for 2–2.5 years. CZ has asked for this to be checked before it is repeated to any other parent.</a:t>
            </a:r>
            <a:endParaRPr/>
          </a:p>
        </p:txBody>
      </p:sp>
      <p:sp>
        <p:nvSpPr>
          <p:cNvPr id="1740490674" name="Rectangle 44"/>
          <p:cNvSpPr/>
          <p:nvPr/>
        </p:nvSpPr>
        <p:spPr bwMode="auto">
          <a:xfrm>
            <a:off x="502920" y="5669280"/>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812796493" name="Rectangle 45"/>
          <p:cNvSpPr/>
          <p:nvPr/>
        </p:nvSpPr>
        <p:spPr bwMode="auto">
          <a:xfrm>
            <a:off x="566928" y="5669280"/>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00" b="1" i="0">
                <a:solidFill>
                  <a:srgbClr val="31633D"/>
                </a:solidFill>
                <a:latin typeface="Arial"/>
              </a:rPr>
              <a:t>Ortho-K is not glasses with a different name. Four follow-ups land in the first week alone.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605457"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647467163"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rPr>
              <a:t>5. CZ ZALO FEEDBACK   |   BY SITE  ·  1 OF 2</a:t>
            </a:r>
            <a:endParaRPr/>
          </a:p>
        </p:txBody>
      </p:sp>
      <p:sp>
        <p:nvSpPr>
          <p:cNvPr id="583748465"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rPr>
              <a:t>CTE-D5, CTE-D7 and NGT</a:t>
            </a:r>
            <a:endParaRPr/>
          </a:p>
        </p:txBody>
      </p:sp>
      <p:sp>
        <p:nvSpPr>
          <p:cNvPr id="1314760417"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680949106"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rPr>
              <a:t>Mắt Sài Gòn  |  Optometry DA Training</a:t>
            </a:r>
            <a:endParaRPr/>
          </a:p>
        </p:txBody>
      </p:sp>
      <p:sp>
        <p:nvSpPr>
          <p:cNvPr id="1654227405"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rPr>
              <a:t>7</a:t>
            </a:r>
            <a:endParaRPr/>
          </a:p>
        </p:txBody>
      </p:sp>
      <p:sp>
        <p:nvSpPr>
          <p:cNvPr id="544145142" name="TextBox 7"/>
          <p:cNvSpPr txBox="1"/>
          <p:nvPr/>
        </p:nvSpPr>
        <p:spPr bwMode="auto">
          <a:xfrm>
            <a:off x="502920" y="1261872"/>
            <a:ext cx="11183112" cy="219456"/>
          </a:xfrm>
          <a:prstGeom prst="rect">
            <a:avLst/>
          </a:prstGeom>
          <a:noFill/>
        </p:spPr>
        <p:txBody>
          <a:bodyPr wrap="square" lIns="45720" tIns="18288" rIns="45720" bIns="18288">
            <a:spAutoFit/>
          </a:bodyPr>
          <a:lstStyle/>
          <a:p>
            <a:pPr algn="l">
              <a:lnSpc>
                <a:spcPct val="95000"/>
              </a:lnSpc>
              <a:defRPr/>
            </a:pPr>
            <a:r>
              <a:rPr sz="1000" b="0" i="1">
                <a:solidFill>
                  <a:srgbClr val="5C6B62"/>
                </a:solidFill>
                <a:latin typeface="Arial"/>
              </a:rPr>
              <a:t>CTE-D7 produced the scripts we are adopting and NGT moved. CTE-D5 is the one site with the same finding as last week, now with Ortho-K added to it.</a:t>
            </a:r>
            <a:endParaRPr/>
          </a:p>
        </p:txBody>
      </p:sp>
      <p:sp>
        <p:nvSpPr>
          <p:cNvPr id="1402459837" name="Rectangle 8"/>
          <p:cNvSpPr/>
          <p:nvPr/>
        </p:nvSpPr>
        <p:spPr bwMode="auto">
          <a:xfrm>
            <a:off x="502920" y="1591056"/>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23746118" name="Rectangle 9"/>
          <p:cNvSpPr/>
          <p:nvPr/>
        </p:nvSpPr>
        <p:spPr bwMode="auto">
          <a:xfrm>
            <a:off x="502920" y="1591056"/>
            <a:ext cx="54864" cy="132588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790560996" name="TextBox 10"/>
          <p:cNvSpPr txBox="1"/>
          <p:nvPr/>
        </p:nvSpPr>
        <p:spPr bwMode="auto">
          <a:xfrm>
            <a:off x="694944" y="1673352"/>
            <a:ext cx="1783080" cy="256032"/>
          </a:xfrm>
          <a:prstGeom prst="rect">
            <a:avLst/>
          </a:prstGeom>
          <a:noFill/>
        </p:spPr>
        <p:txBody>
          <a:bodyPr wrap="square" lIns="45720" tIns="18288" rIns="45720" bIns="18288">
            <a:spAutoFit/>
          </a:bodyPr>
          <a:lstStyle/>
          <a:p>
            <a:pPr algn="l">
              <a:defRPr/>
            </a:pPr>
            <a:r>
              <a:rPr sz="1400" b="1" i="0">
                <a:solidFill>
                  <a:srgbClr val="31633D"/>
                </a:solidFill>
                <a:latin typeface="Arial"/>
              </a:rPr>
              <a:t>CTE-D5</a:t>
            </a:r>
            <a:endParaRPr/>
          </a:p>
        </p:txBody>
      </p:sp>
      <p:sp>
        <p:nvSpPr>
          <p:cNvPr id="744978070" name="TextBox 11"/>
          <p:cNvSpPr txBox="1"/>
          <p:nvPr/>
        </p:nvSpPr>
        <p:spPr bwMode="auto">
          <a:xfrm>
            <a:off x="694944" y="1929384"/>
            <a:ext cx="1783080" cy="384048"/>
          </a:xfrm>
          <a:prstGeom prst="rect">
            <a:avLst/>
          </a:prstGeom>
          <a:noFill/>
        </p:spPr>
        <p:txBody>
          <a:bodyPr wrap="square" lIns="45720" tIns="18288" rIns="45720" bIns="18288">
            <a:spAutoFit/>
          </a:bodyPr>
          <a:lstStyle/>
          <a:p>
            <a:pPr algn="l">
              <a:lnSpc>
                <a:spcPct val="104000"/>
              </a:lnSpc>
              <a:defRPr/>
            </a:pPr>
            <a:r>
              <a:rPr sz="800" b="1" i="0">
                <a:solidFill>
                  <a:srgbClr val="C0392B"/>
                </a:solidFill>
                <a:latin typeface="Arial"/>
              </a:rPr>
              <a:t>Unchanged — still benefits and nothing after</a:t>
            </a:r>
            <a:endParaRPr/>
          </a:p>
        </p:txBody>
      </p:sp>
      <p:sp>
        <p:nvSpPr>
          <p:cNvPr id="385657257" name="Rectangle 12"/>
          <p:cNvSpPr/>
          <p:nvPr/>
        </p:nvSpPr>
        <p:spPr bwMode="auto">
          <a:xfrm>
            <a:off x="694944" y="2395728"/>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18288" rIns="54864" bIns="18288" rtlCol="0" anchor="ctr"/>
          <a:lstStyle/>
          <a:p>
            <a:pPr algn="l">
              <a:spcAft>
                <a:spcPts val="100"/>
              </a:spcAft>
              <a:defRPr/>
            </a:pPr>
            <a:r>
              <a:rPr sz="650" b="1" i="0">
                <a:solidFill>
                  <a:srgbClr val="2E9C4C"/>
                </a:solidFill>
                <a:latin typeface="Arial"/>
              </a:rPr>
              <a:t>vs last week</a:t>
            </a:r>
            <a:endParaRPr/>
          </a:p>
          <a:p>
            <a:pPr algn="l">
              <a:lnSpc>
                <a:spcPct val="104000"/>
              </a:lnSpc>
              <a:defRPr/>
            </a:pPr>
            <a:r>
              <a:rPr sz="700" b="0" i="0">
                <a:solidFill>
                  <a:srgbClr val="5C6B62"/>
                </a:solidFill>
                <a:latin typeface="Arial"/>
              </a:rPr>
              <a:t>Same finding as last week</a:t>
            </a:r>
            <a:endParaRPr/>
          </a:p>
        </p:txBody>
      </p:sp>
      <p:sp>
        <p:nvSpPr>
          <p:cNvPr id="1471736238" name="Rectangle 13"/>
          <p:cNvSpPr/>
          <p:nvPr/>
        </p:nvSpPr>
        <p:spPr bwMode="auto">
          <a:xfrm>
            <a:off x="2505456"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30694716" name="TextBox 14"/>
          <p:cNvSpPr txBox="1"/>
          <p:nvPr/>
        </p:nvSpPr>
        <p:spPr bwMode="auto">
          <a:xfrm>
            <a:off x="2670048" y="1682496"/>
            <a:ext cx="4023360" cy="164592"/>
          </a:xfrm>
          <a:prstGeom prst="rect">
            <a:avLst/>
          </a:prstGeom>
          <a:noFill/>
        </p:spPr>
        <p:txBody>
          <a:bodyPr wrap="square" lIns="45720" tIns="18288" rIns="45720" bIns="18288">
            <a:spAutoFit/>
          </a:bodyPr>
          <a:lstStyle/>
          <a:p>
            <a:pPr algn="l">
              <a:defRPr/>
            </a:pPr>
            <a:r>
              <a:rPr sz="800" b="1" i="0">
                <a:solidFill>
                  <a:srgbClr val="2E9C4C"/>
                </a:solidFill>
                <a:latin typeface="Arial"/>
              </a:rPr>
              <a:t>STRENGTHS</a:t>
            </a:r>
            <a:endParaRPr/>
          </a:p>
        </p:txBody>
      </p:sp>
      <p:sp>
        <p:nvSpPr>
          <p:cNvPr id="1993791425" name="TextBox 15"/>
          <p:cNvSpPr txBox="1"/>
          <p:nvPr/>
        </p:nvSpPr>
        <p:spPr bwMode="auto">
          <a:xfrm>
            <a:off x="2670048" y="1856231"/>
            <a:ext cx="402336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rPr>
              <a:t>–  </a:t>
            </a:r>
            <a:r>
              <a:rPr sz="850" b="0" i="0">
                <a:solidFill>
                  <a:srgbClr val="5C6B62"/>
                </a:solidFill>
                <a:latin typeface="Arial"/>
              </a:rPr>
              <a:t>Customer notes on Zalo are generally accurate.</a:t>
            </a:r>
            <a:endParaRPr/>
          </a:p>
        </p:txBody>
      </p:sp>
      <p:sp>
        <p:nvSpPr>
          <p:cNvPr id="1929127394" name="Rectangle 16"/>
          <p:cNvSpPr/>
          <p:nvPr/>
        </p:nvSpPr>
        <p:spPr bwMode="auto">
          <a:xfrm>
            <a:off x="6821424"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179899200" name="TextBox 17"/>
          <p:cNvSpPr txBox="1"/>
          <p:nvPr/>
        </p:nvSpPr>
        <p:spPr bwMode="auto">
          <a:xfrm>
            <a:off x="6967728" y="1682496"/>
            <a:ext cx="4663440" cy="164592"/>
          </a:xfrm>
          <a:prstGeom prst="rect">
            <a:avLst/>
          </a:prstGeom>
          <a:noFill/>
        </p:spPr>
        <p:txBody>
          <a:bodyPr wrap="square" lIns="45720" tIns="18288" rIns="45720" bIns="18288">
            <a:spAutoFit/>
          </a:bodyPr>
          <a:lstStyle/>
          <a:p>
            <a:pPr algn="l">
              <a:defRPr/>
            </a:pPr>
            <a:r>
              <a:rPr sz="800" b="1" i="0">
                <a:solidFill>
                  <a:srgbClr val="B9770B"/>
                </a:solidFill>
                <a:latin typeface="Arial"/>
              </a:rPr>
              <a:t>AREAS FOR IMPROVEMENT</a:t>
            </a:r>
            <a:endParaRPr/>
          </a:p>
        </p:txBody>
      </p:sp>
      <p:sp>
        <p:nvSpPr>
          <p:cNvPr id="447602105" name="TextBox 18"/>
          <p:cNvSpPr txBox="1"/>
          <p:nvPr/>
        </p:nvSpPr>
        <p:spPr bwMode="auto">
          <a:xfrm>
            <a:off x="6967728" y="1856231"/>
            <a:ext cx="466344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rPr>
              <a:t>▪  </a:t>
            </a:r>
            <a:r>
              <a:rPr sz="850" b="0" i="0">
                <a:solidFill>
                  <a:srgbClr val="5C6B62"/>
                </a:solidFill>
                <a:latin typeface="Arial"/>
              </a:rPr>
              <a:t>For most customers there is no further communication after the membership benefits message.</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Very few customers receive follow-ups asking how they are getting on with their glasses. These should be increased.</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Ortho-K customers are not receiving sufficient attention — lens customisation, checks on lens wear after collection and recheck invitations are all missing.</a:t>
            </a:r>
            <a:endParaRPr/>
          </a:p>
        </p:txBody>
      </p:sp>
      <p:sp>
        <p:nvSpPr>
          <p:cNvPr id="1657543354" name="Rectangle 19"/>
          <p:cNvSpPr/>
          <p:nvPr/>
        </p:nvSpPr>
        <p:spPr bwMode="auto">
          <a:xfrm>
            <a:off x="502920" y="3026663"/>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03207745" name="Rectangle 20"/>
          <p:cNvSpPr/>
          <p:nvPr/>
        </p:nvSpPr>
        <p:spPr bwMode="auto">
          <a:xfrm>
            <a:off x="502920" y="3026663"/>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803711528" name="TextBox 21"/>
          <p:cNvSpPr txBox="1"/>
          <p:nvPr/>
        </p:nvSpPr>
        <p:spPr bwMode="auto">
          <a:xfrm>
            <a:off x="694944" y="3108959"/>
            <a:ext cx="1783080" cy="256032"/>
          </a:xfrm>
          <a:prstGeom prst="rect">
            <a:avLst/>
          </a:prstGeom>
          <a:noFill/>
        </p:spPr>
        <p:txBody>
          <a:bodyPr wrap="square" lIns="45720" tIns="18288" rIns="45720" bIns="18288">
            <a:spAutoFit/>
          </a:bodyPr>
          <a:lstStyle/>
          <a:p>
            <a:pPr algn="l">
              <a:defRPr/>
            </a:pPr>
            <a:r>
              <a:rPr sz="1400" b="1" i="0">
                <a:solidFill>
                  <a:srgbClr val="31633D"/>
                </a:solidFill>
                <a:latin typeface="Arial"/>
              </a:rPr>
              <a:t>CTE-D7</a:t>
            </a:r>
            <a:endParaRPr/>
          </a:p>
        </p:txBody>
      </p:sp>
      <p:sp>
        <p:nvSpPr>
          <p:cNvPr id="1749739676" name="TextBox 22"/>
          <p:cNvSpPr txBox="1"/>
          <p:nvPr/>
        </p:nvSpPr>
        <p:spPr bwMode="auto">
          <a:xfrm>
            <a:off x="694944" y="3364991"/>
            <a:ext cx="1783080" cy="384048"/>
          </a:xfrm>
          <a:prstGeom prst="rect">
            <a:avLst/>
          </a:prstGeom>
          <a:noFill/>
        </p:spPr>
        <p:txBody>
          <a:bodyPr wrap="square" lIns="45720" tIns="18288" rIns="45720" bIns="18288">
            <a:spAutoFit/>
          </a:bodyPr>
          <a:lstStyle/>
          <a:p>
            <a:pPr algn="l">
              <a:lnSpc>
                <a:spcPct val="104000"/>
              </a:lnSpc>
              <a:defRPr/>
            </a:pPr>
            <a:r>
              <a:rPr sz="800" b="1" i="0">
                <a:solidFill>
                  <a:srgbClr val="2E9C4C"/>
                </a:solidFill>
                <a:latin typeface="Arial"/>
              </a:rPr>
              <a:t>Two messages recommended for wider use</a:t>
            </a:r>
            <a:endParaRPr/>
          </a:p>
        </p:txBody>
      </p:sp>
      <p:sp>
        <p:nvSpPr>
          <p:cNvPr id="635549139" name="Rectangle 23"/>
          <p:cNvSpPr/>
          <p:nvPr/>
        </p:nvSpPr>
        <p:spPr bwMode="auto">
          <a:xfrm>
            <a:off x="694944" y="3831335"/>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18288" rIns="54864" bIns="18288" rtlCol="0" anchor="ctr"/>
          <a:lstStyle/>
          <a:p>
            <a:pPr algn="l">
              <a:spcAft>
                <a:spcPts val="100"/>
              </a:spcAft>
              <a:defRPr/>
            </a:pPr>
            <a:r>
              <a:rPr sz="650" b="1" i="0">
                <a:solidFill>
                  <a:srgbClr val="2E9C4C"/>
                </a:solidFill>
                <a:latin typeface="Arial"/>
              </a:rPr>
              <a:t>vs last week</a:t>
            </a:r>
            <a:endParaRPr/>
          </a:p>
          <a:p>
            <a:pPr algn="l">
              <a:lnSpc>
                <a:spcPct val="104000"/>
              </a:lnSpc>
              <a:defRPr/>
            </a:pPr>
            <a:r>
              <a:rPr sz="700" b="0" i="0">
                <a:solidFill>
                  <a:srgbClr val="5C6B62"/>
                </a:solidFill>
                <a:latin typeface="Arial"/>
              </a:rPr>
              <a:t>Two scripts recommended</a:t>
            </a:r>
            <a:endParaRPr/>
          </a:p>
        </p:txBody>
      </p:sp>
      <p:sp>
        <p:nvSpPr>
          <p:cNvPr id="709162856" name="Rectangle 24"/>
          <p:cNvSpPr/>
          <p:nvPr/>
        </p:nvSpPr>
        <p:spPr bwMode="auto">
          <a:xfrm>
            <a:off x="2505456" y="3118103"/>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799866887" name="TextBox 25"/>
          <p:cNvSpPr txBox="1"/>
          <p:nvPr/>
        </p:nvSpPr>
        <p:spPr bwMode="auto">
          <a:xfrm>
            <a:off x="2670048" y="3118103"/>
            <a:ext cx="4023360" cy="164592"/>
          </a:xfrm>
          <a:prstGeom prst="rect">
            <a:avLst/>
          </a:prstGeom>
          <a:noFill/>
        </p:spPr>
        <p:txBody>
          <a:bodyPr wrap="square" lIns="45720" tIns="18288" rIns="45720" bIns="18288">
            <a:spAutoFit/>
          </a:bodyPr>
          <a:lstStyle/>
          <a:p>
            <a:pPr algn="l">
              <a:defRPr/>
            </a:pPr>
            <a:r>
              <a:rPr sz="800" b="1" i="0">
                <a:solidFill>
                  <a:srgbClr val="2E9C4C"/>
                </a:solidFill>
                <a:latin typeface="Arial"/>
              </a:rPr>
              <a:t>STRENGTHS</a:t>
            </a:r>
            <a:endParaRPr/>
          </a:p>
        </p:txBody>
      </p:sp>
      <p:sp>
        <p:nvSpPr>
          <p:cNvPr id="1417510886" name="TextBox 26"/>
          <p:cNvSpPr txBox="1"/>
          <p:nvPr/>
        </p:nvSpPr>
        <p:spPr bwMode="auto">
          <a:xfrm>
            <a:off x="2670048" y="3291839"/>
            <a:ext cx="402336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rPr>
              <a:t>–  </a:t>
            </a:r>
            <a:r>
              <a:rPr sz="850" b="0" i="0">
                <a:solidFill>
                  <a:srgbClr val="5C6B62"/>
                </a:solidFill>
                <a:latin typeface="Arial"/>
              </a:rPr>
              <a:t>The glasses customisation update is good and recommended for wider use — slide 5.</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The collection notification is also good and recommended for wider use — slide 5.</a:t>
            </a:r>
            <a:endParaRPr/>
          </a:p>
        </p:txBody>
      </p:sp>
      <p:sp>
        <p:nvSpPr>
          <p:cNvPr id="501020363" name="Rectangle 27"/>
          <p:cNvSpPr/>
          <p:nvPr/>
        </p:nvSpPr>
        <p:spPr bwMode="auto">
          <a:xfrm>
            <a:off x="6821424" y="3118103"/>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73098180" name="TextBox 28"/>
          <p:cNvSpPr txBox="1"/>
          <p:nvPr/>
        </p:nvSpPr>
        <p:spPr bwMode="auto">
          <a:xfrm>
            <a:off x="6967728" y="3118103"/>
            <a:ext cx="4663440" cy="164592"/>
          </a:xfrm>
          <a:prstGeom prst="rect">
            <a:avLst/>
          </a:prstGeom>
          <a:noFill/>
        </p:spPr>
        <p:txBody>
          <a:bodyPr wrap="square" lIns="45720" tIns="18288" rIns="45720" bIns="18288">
            <a:spAutoFit/>
          </a:bodyPr>
          <a:lstStyle/>
          <a:p>
            <a:pPr algn="l">
              <a:defRPr/>
            </a:pPr>
            <a:r>
              <a:rPr sz="800" b="1" i="0">
                <a:solidFill>
                  <a:srgbClr val="B9770B"/>
                </a:solidFill>
                <a:latin typeface="Arial"/>
              </a:rPr>
              <a:t>AREAS FOR IMPROVEMENT</a:t>
            </a:r>
            <a:endParaRPr/>
          </a:p>
        </p:txBody>
      </p:sp>
      <p:sp>
        <p:nvSpPr>
          <p:cNvPr id="131697555" name="TextBox 29"/>
          <p:cNvSpPr txBox="1"/>
          <p:nvPr/>
        </p:nvSpPr>
        <p:spPr bwMode="auto">
          <a:xfrm>
            <a:off x="6967728" y="3291839"/>
            <a:ext cx="466344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rPr>
              <a:t>▪  </a:t>
            </a:r>
            <a:r>
              <a:rPr sz="850" b="0" i="0">
                <a:solidFill>
                  <a:srgbClr val="5C6B62"/>
                </a:solidFill>
                <a:latin typeface="Arial"/>
              </a:rPr>
              <a:t>Send the membership benefits message on the day the customer collects.</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Check how the child is getting on at both CD7 and CD14–CD30. This builds parents’ trust and improves response rates.</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Customers were told Ortho-K lenses last 2–2.5 years. Please verify this.</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Use the simplified referral message with engaged customers, and take the new customer’s details yourself when a member refers someone.</a:t>
            </a:r>
            <a:endParaRPr/>
          </a:p>
        </p:txBody>
      </p:sp>
      <p:sp>
        <p:nvSpPr>
          <p:cNvPr id="685839397" name="Rectangle 30"/>
          <p:cNvSpPr/>
          <p:nvPr/>
        </p:nvSpPr>
        <p:spPr bwMode="auto">
          <a:xfrm>
            <a:off x="502920" y="4462271"/>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426509950" name="Rectangle 31"/>
          <p:cNvSpPr/>
          <p:nvPr/>
        </p:nvSpPr>
        <p:spPr bwMode="auto">
          <a:xfrm>
            <a:off x="502920" y="4462271"/>
            <a:ext cx="54864" cy="1325880"/>
          </a:xfrm>
          <a:prstGeom prst="rect">
            <a:avLst/>
          </a:prstGeom>
          <a:solidFill>
            <a:srgbClr val="B9770B"/>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42265423" name="TextBox 32"/>
          <p:cNvSpPr txBox="1"/>
          <p:nvPr/>
        </p:nvSpPr>
        <p:spPr bwMode="auto">
          <a:xfrm>
            <a:off x="694944" y="4544567"/>
            <a:ext cx="1783080" cy="256032"/>
          </a:xfrm>
          <a:prstGeom prst="rect">
            <a:avLst/>
          </a:prstGeom>
          <a:noFill/>
        </p:spPr>
        <p:txBody>
          <a:bodyPr wrap="square" lIns="45720" tIns="18288" rIns="45720" bIns="18288">
            <a:spAutoFit/>
          </a:bodyPr>
          <a:lstStyle/>
          <a:p>
            <a:pPr algn="l">
              <a:defRPr/>
            </a:pPr>
            <a:r>
              <a:rPr sz="1400" b="1" i="0">
                <a:solidFill>
                  <a:srgbClr val="31633D"/>
                </a:solidFill>
                <a:latin typeface="Arial"/>
              </a:rPr>
              <a:t>NGT</a:t>
            </a:r>
            <a:endParaRPr/>
          </a:p>
        </p:txBody>
      </p:sp>
      <p:sp>
        <p:nvSpPr>
          <p:cNvPr id="1333236480" name="TextBox 33"/>
          <p:cNvSpPr txBox="1"/>
          <p:nvPr/>
        </p:nvSpPr>
        <p:spPr bwMode="auto">
          <a:xfrm>
            <a:off x="694944" y="4800599"/>
            <a:ext cx="1783080" cy="384048"/>
          </a:xfrm>
          <a:prstGeom prst="rect">
            <a:avLst/>
          </a:prstGeom>
          <a:noFill/>
        </p:spPr>
        <p:txBody>
          <a:bodyPr wrap="square" lIns="45720" tIns="18288" rIns="45720" bIns="18288">
            <a:spAutoFit/>
          </a:bodyPr>
          <a:lstStyle/>
          <a:p>
            <a:pPr algn="l">
              <a:lnSpc>
                <a:spcPct val="104000"/>
              </a:lnSpc>
              <a:defRPr/>
            </a:pPr>
            <a:r>
              <a:rPr sz="800" b="1" i="0">
                <a:solidFill>
                  <a:srgbClr val="B9770B"/>
                </a:solidFill>
                <a:latin typeface="Arial"/>
              </a:rPr>
              <a:t>Improved on customisation and collection</a:t>
            </a:r>
            <a:endParaRPr/>
          </a:p>
        </p:txBody>
      </p:sp>
      <p:sp>
        <p:nvSpPr>
          <p:cNvPr id="869730184" name="Rectangle 34"/>
          <p:cNvSpPr/>
          <p:nvPr/>
        </p:nvSpPr>
        <p:spPr bwMode="auto">
          <a:xfrm>
            <a:off x="694944" y="5266943"/>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18288" rIns="54864" bIns="18288" rtlCol="0" anchor="ctr"/>
          <a:lstStyle/>
          <a:p>
            <a:pPr algn="l">
              <a:spcAft>
                <a:spcPts val="100"/>
              </a:spcAft>
              <a:defRPr/>
            </a:pPr>
            <a:r>
              <a:rPr sz="650" b="1" i="0">
                <a:solidFill>
                  <a:srgbClr val="2E9C4C"/>
                </a:solidFill>
                <a:latin typeface="Arial"/>
              </a:rPr>
              <a:t>vs last week</a:t>
            </a:r>
            <a:endParaRPr/>
          </a:p>
          <a:p>
            <a:pPr algn="l">
              <a:lnSpc>
                <a:spcPct val="104000"/>
              </a:lnSpc>
              <a:defRPr/>
            </a:pPr>
            <a:r>
              <a:rPr sz="700" b="0" i="0">
                <a:solidFill>
                  <a:srgbClr val="5C6B62"/>
                </a:solidFill>
                <a:latin typeface="Arial"/>
              </a:rPr>
              <a:t>Improved, content still thin</a:t>
            </a:r>
            <a:endParaRPr/>
          </a:p>
        </p:txBody>
      </p:sp>
      <p:sp>
        <p:nvSpPr>
          <p:cNvPr id="337915766" name="Rectangle 35"/>
          <p:cNvSpPr/>
          <p:nvPr/>
        </p:nvSpPr>
        <p:spPr bwMode="auto">
          <a:xfrm>
            <a:off x="2505456" y="4553711"/>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668567425" name="TextBox 36"/>
          <p:cNvSpPr txBox="1"/>
          <p:nvPr/>
        </p:nvSpPr>
        <p:spPr bwMode="auto">
          <a:xfrm>
            <a:off x="2670048" y="4553711"/>
            <a:ext cx="4023360" cy="164592"/>
          </a:xfrm>
          <a:prstGeom prst="rect">
            <a:avLst/>
          </a:prstGeom>
          <a:noFill/>
        </p:spPr>
        <p:txBody>
          <a:bodyPr wrap="square" lIns="45720" tIns="18288" rIns="45720" bIns="18288">
            <a:spAutoFit/>
          </a:bodyPr>
          <a:lstStyle/>
          <a:p>
            <a:pPr algn="l">
              <a:defRPr/>
            </a:pPr>
            <a:r>
              <a:rPr sz="800" b="1" i="0">
                <a:solidFill>
                  <a:srgbClr val="2E9C4C"/>
                </a:solidFill>
                <a:latin typeface="Arial"/>
              </a:rPr>
              <a:t>STRENGTHS</a:t>
            </a:r>
            <a:endParaRPr/>
          </a:p>
        </p:txBody>
      </p:sp>
      <p:sp>
        <p:nvSpPr>
          <p:cNvPr id="850753702" name="TextBox 37"/>
          <p:cNvSpPr txBox="1"/>
          <p:nvPr/>
        </p:nvSpPr>
        <p:spPr bwMode="auto">
          <a:xfrm>
            <a:off x="2670048" y="4727447"/>
            <a:ext cx="402336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rPr>
              <a:t>–  </a:t>
            </a:r>
            <a:r>
              <a:rPr sz="850" b="0" i="0">
                <a:solidFill>
                  <a:srgbClr val="5C6B62"/>
                </a:solidFill>
                <a:latin typeface="Arial"/>
              </a:rPr>
              <a:t>There is communication about glasses customisation and collection, although the message content needs improvement.</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Instances of customisation in Zalo interactions. These are great.</a:t>
            </a:r>
            <a:endParaRPr/>
          </a:p>
        </p:txBody>
      </p:sp>
      <p:sp>
        <p:nvSpPr>
          <p:cNvPr id="1561494363" name="Rectangle 38"/>
          <p:cNvSpPr/>
          <p:nvPr/>
        </p:nvSpPr>
        <p:spPr bwMode="auto">
          <a:xfrm>
            <a:off x="6821424" y="4553711"/>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385529625" name="TextBox 39"/>
          <p:cNvSpPr txBox="1"/>
          <p:nvPr/>
        </p:nvSpPr>
        <p:spPr bwMode="auto">
          <a:xfrm>
            <a:off x="6967728" y="4553711"/>
            <a:ext cx="4663440" cy="164592"/>
          </a:xfrm>
          <a:prstGeom prst="rect">
            <a:avLst/>
          </a:prstGeom>
          <a:noFill/>
        </p:spPr>
        <p:txBody>
          <a:bodyPr wrap="square" lIns="45720" tIns="18288" rIns="45720" bIns="18288">
            <a:spAutoFit/>
          </a:bodyPr>
          <a:lstStyle/>
          <a:p>
            <a:pPr algn="l">
              <a:defRPr/>
            </a:pPr>
            <a:r>
              <a:rPr sz="800" b="1" i="0">
                <a:solidFill>
                  <a:srgbClr val="B9770B"/>
                </a:solidFill>
                <a:latin typeface="Arial"/>
              </a:rPr>
              <a:t>AREAS FOR IMPROVEMENT</a:t>
            </a:r>
            <a:endParaRPr/>
          </a:p>
        </p:txBody>
      </p:sp>
      <p:sp>
        <p:nvSpPr>
          <p:cNvPr id="2103840603" name="TextBox 40"/>
          <p:cNvSpPr txBox="1"/>
          <p:nvPr/>
        </p:nvSpPr>
        <p:spPr bwMode="auto">
          <a:xfrm>
            <a:off x="6967728" y="4727447"/>
            <a:ext cx="466344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rPr>
              <a:t>▪  </a:t>
            </a:r>
            <a:r>
              <a:rPr sz="850" b="0" i="0">
                <a:solidFill>
                  <a:srgbClr val="5C6B62"/>
                </a:solidFill>
                <a:latin typeface="Arial"/>
              </a:rPr>
              <a:t>CD7 and CD30 follow-ups do not cover all customers. Among customers carrying the same date in their Zalo tag, some were followed up and others were not. A systematic approach is needed.</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Continue using the simplified referral message to encourage member referrals.</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Many cases do not have the right Zalo tag dates.</a:t>
            </a:r>
            <a:endParaRPr/>
          </a:p>
        </p:txBody>
      </p:sp>
      <p:sp>
        <p:nvSpPr>
          <p:cNvPr id="840977544" name="Rectangle 41"/>
          <p:cNvSpPr/>
          <p:nvPr/>
        </p:nvSpPr>
        <p:spPr bwMode="auto">
          <a:xfrm>
            <a:off x="502920" y="5888736"/>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868107886" name="Rectangle 42"/>
          <p:cNvSpPr/>
          <p:nvPr/>
        </p:nvSpPr>
        <p:spPr bwMode="auto">
          <a:xfrm>
            <a:off x="566928" y="5888736"/>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50" b="1" i="0">
                <a:solidFill>
                  <a:srgbClr val="31633D"/>
                </a:solidFill>
                <a:latin typeface="Arial"/>
              </a:rPr>
              <a:t>CTE-D7 is the template. CTE-D5 is the one that has not started.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3581694"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419584188"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rPr>
              <a:t>5. CZ ZALO FEEDBACK   |   BY SITE  ·  2 OF 2</a:t>
            </a:r>
            <a:endParaRPr/>
          </a:p>
        </p:txBody>
      </p:sp>
      <p:sp>
        <p:nvSpPr>
          <p:cNvPr id="1545932606"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rPr>
              <a:t>LA and SH (Song Han)</a:t>
            </a:r>
            <a:endParaRPr/>
          </a:p>
        </p:txBody>
      </p:sp>
      <p:sp>
        <p:nvSpPr>
          <p:cNvPr id="608988383"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811932885"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rPr>
              <a:t>Mắt Sài Gòn  |  Optometry DA Training</a:t>
            </a:r>
            <a:endParaRPr/>
          </a:p>
        </p:txBody>
      </p:sp>
      <p:sp>
        <p:nvSpPr>
          <p:cNvPr id="327420608"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rPr>
              <a:t>8</a:t>
            </a:r>
            <a:endParaRPr/>
          </a:p>
        </p:txBody>
      </p:sp>
      <p:sp>
        <p:nvSpPr>
          <p:cNvPr id="368439190" name="TextBox 7"/>
          <p:cNvSpPr txBox="1"/>
          <p:nvPr/>
        </p:nvSpPr>
        <p:spPr bwMode="auto">
          <a:xfrm>
            <a:off x="502920" y="1261872"/>
            <a:ext cx="11183112" cy="219456"/>
          </a:xfrm>
          <a:prstGeom prst="rect">
            <a:avLst/>
          </a:prstGeom>
          <a:noFill/>
        </p:spPr>
        <p:txBody>
          <a:bodyPr wrap="square" lIns="45720" tIns="18288" rIns="45720" bIns="18288">
            <a:spAutoFit/>
          </a:bodyPr>
          <a:lstStyle/>
          <a:p>
            <a:pPr algn="l">
              <a:lnSpc>
                <a:spcPct val="95000"/>
              </a:lnSpc>
              <a:defRPr/>
            </a:pPr>
            <a:r>
              <a:rPr sz="1000" b="0" i="1">
                <a:solidFill>
                  <a:srgbClr val="5C6B62"/>
                </a:solidFill>
                <a:latin typeface="Arial"/>
              </a:rPr>
              <a:t>SH made the largest move of any site this week, and it came straight out of last week’s training. LA keeps bringing customers back but is promoting packages where it should be asking for referrals.</a:t>
            </a:r>
            <a:endParaRPr/>
          </a:p>
        </p:txBody>
      </p:sp>
      <p:sp>
        <p:nvSpPr>
          <p:cNvPr id="7841666" name="Rectangle 8"/>
          <p:cNvSpPr/>
          <p:nvPr/>
        </p:nvSpPr>
        <p:spPr bwMode="auto">
          <a:xfrm>
            <a:off x="502920" y="1591056"/>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02328447" name="Rectangle 9"/>
          <p:cNvSpPr/>
          <p:nvPr/>
        </p:nvSpPr>
        <p:spPr bwMode="auto">
          <a:xfrm>
            <a:off x="502920" y="1591056"/>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612233961" name="TextBox 10"/>
          <p:cNvSpPr txBox="1"/>
          <p:nvPr/>
        </p:nvSpPr>
        <p:spPr bwMode="auto">
          <a:xfrm>
            <a:off x="694944" y="1673352"/>
            <a:ext cx="1783080" cy="256032"/>
          </a:xfrm>
          <a:prstGeom prst="rect">
            <a:avLst/>
          </a:prstGeom>
          <a:noFill/>
        </p:spPr>
        <p:txBody>
          <a:bodyPr wrap="square" lIns="45720" tIns="18288" rIns="45720" bIns="18288">
            <a:spAutoFit/>
          </a:bodyPr>
          <a:lstStyle/>
          <a:p>
            <a:pPr algn="l">
              <a:defRPr/>
            </a:pPr>
            <a:r>
              <a:rPr sz="1400" b="1" i="0">
                <a:solidFill>
                  <a:srgbClr val="31633D"/>
                </a:solidFill>
                <a:latin typeface="Arial"/>
              </a:rPr>
              <a:t>LA</a:t>
            </a:r>
            <a:endParaRPr/>
          </a:p>
        </p:txBody>
      </p:sp>
      <p:sp>
        <p:nvSpPr>
          <p:cNvPr id="1901547127" name="TextBox 11"/>
          <p:cNvSpPr txBox="1"/>
          <p:nvPr/>
        </p:nvSpPr>
        <p:spPr bwMode="auto">
          <a:xfrm>
            <a:off x="694944" y="1929384"/>
            <a:ext cx="1783080" cy="384048"/>
          </a:xfrm>
          <a:prstGeom prst="rect">
            <a:avLst/>
          </a:prstGeom>
          <a:noFill/>
        </p:spPr>
        <p:txBody>
          <a:bodyPr wrap="square" lIns="45720" tIns="18288" rIns="45720" bIns="18288">
            <a:spAutoFit/>
          </a:bodyPr>
          <a:lstStyle/>
          <a:p>
            <a:pPr algn="l">
              <a:lnSpc>
                <a:spcPct val="104000"/>
              </a:lnSpc>
              <a:defRPr/>
            </a:pPr>
            <a:r>
              <a:rPr sz="800" b="1" i="0">
                <a:solidFill>
                  <a:srgbClr val="2E9C4C"/>
                </a:solidFill>
                <a:latin typeface="Arial"/>
              </a:rPr>
              <a:t>Strong on recall, light on referrals</a:t>
            </a:r>
            <a:endParaRPr/>
          </a:p>
        </p:txBody>
      </p:sp>
      <p:sp>
        <p:nvSpPr>
          <p:cNvPr id="858237817" name="Rectangle 12"/>
          <p:cNvSpPr/>
          <p:nvPr/>
        </p:nvSpPr>
        <p:spPr bwMode="auto">
          <a:xfrm>
            <a:off x="694944" y="2395728"/>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18288" rIns="54864" bIns="18288" rtlCol="0" anchor="ctr"/>
          <a:lstStyle/>
          <a:p>
            <a:pPr algn="l">
              <a:spcAft>
                <a:spcPts val="100"/>
              </a:spcAft>
              <a:defRPr/>
            </a:pPr>
            <a:r>
              <a:rPr sz="650" b="1" i="0">
                <a:solidFill>
                  <a:srgbClr val="2E9C4C"/>
                </a:solidFill>
                <a:latin typeface="Arial"/>
              </a:rPr>
              <a:t>vs last week</a:t>
            </a:r>
            <a:endParaRPr/>
          </a:p>
          <a:p>
            <a:pPr algn="l">
              <a:lnSpc>
                <a:spcPct val="104000"/>
              </a:lnSpc>
              <a:defRPr/>
            </a:pPr>
            <a:r>
              <a:rPr sz="700" b="0" i="0">
                <a:solidFill>
                  <a:srgbClr val="5C6B62"/>
                </a:solidFill>
                <a:latin typeface="Arial"/>
              </a:rPr>
              <a:t>Same date gap as last week</a:t>
            </a:r>
            <a:endParaRPr/>
          </a:p>
        </p:txBody>
      </p:sp>
      <p:sp>
        <p:nvSpPr>
          <p:cNvPr id="2077558476" name="Rectangle 13"/>
          <p:cNvSpPr/>
          <p:nvPr/>
        </p:nvSpPr>
        <p:spPr bwMode="auto">
          <a:xfrm>
            <a:off x="2505456"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713134156" name="TextBox 14"/>
          <p:cNvSpPr txBox="1"/>
          <p:nvPr/>
        </p:nvSpPr>
        <p:spPr bwMode="auto">
          <a:xfrm>
            <a:off x="2670048" y="1682496"/>
            <a:ext cx="4023360" cy="164592"/>
          </a:xfrm>
          <a:prstGeom prst="rect">
            <a:avLst/>
          </a:prstGeom>
          <a:noFill/>
        </p:spPr>
        <p:txBody>
          <a:bodyPr wrap="square" lIns="45720" tIns="18288" rIns="45720" bIns="18288">
            <a:spAutoFit/>
          </a:bodyPr>
          <a:lstStyle/>
          <a:p>
            <a:pPr algn="l">
              <a:defRPr/>
            </a:pPr>
            <a:r>
              <a:rPr sz="800" b="1" i="0">
                <a:solidFill>
                  <a:srgbClr val="2E9C4C"/>
                </a:solidFill>
                <a:latin typeface="Arial"/>
              </a:rPr>
              <a:t>STRENGTHS</a:t>
            </a:r>
            <a:endParaRPr/>
          </a:p>
        </p:txBody>
      </p:sp>
      <p:sp>
        <p:nvSpPr>
          <p:cNvPr id="1551179618" name="TextBox 15"/>
          <p:cNvSpPr txBox="1"/>
          <p:nvPr/>
        </p:nvSpPr>
        <p:spPr bwMode="auto">
          <a:xfrm>
            <a:off x="2670048" y="1856231"/>
            <a:ext cx="402336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rPr>
              <a:t>–  </a:t>
            </a:r>
            <a:r>
              <a:rPr sz="850" b="0" i="0">
                <a:solidFill>
                  <a:srgbClr val="5C6B62"/>
                </a:solidFill>
                <a:latin typeface="Arial"/>
              </a:rPr>
              <a:t>Customers from some time ago are being invited back for follow-up examinations. This is great.</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MC glasses customers are being reminded of their monthly free follow-up examination and encouraged to return to the clinic.</a:t>
            </a:r>
            <a:endParaRPr/>
          </a:p>
        </p:txBody>
      </p:sp>
      <p:sp>
        <p:nvSpPr>
          <p:cNvPr id="1465428636" name="Rectangle 16"/>
          <p:cNvSpPr/>
          <p:nvPr/>
        </p:nvSpPr>
        <p:spPr bwMode="auto">
          <a:xfrm>
            <a:off x="6821424"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981246916" name="TextBox 17"/>
          <p:cNvSpPr txBox="1"/>
          <p:nvPr/>
        </p:nvSpPr>
        <p:spPr bwMode="auto">
          <a:xfrm>
            <a:off x="6967728" y="1682496"/>
            <a:ext cx="4663440" cy="164592"/>
          </a:xfrm>
          <a:prstGeom prst="rect">
            <a:avLst/>
          </a:prstGeom>
          <a:noFill/>
        </p:spPr>
        <p:txBody>
          <a:bodyPr wrap="square" lIns="45720" tIns="18288" rIns="45720" bIns="18288">
            <a:spAutoFit/>
          </a:bodyPr>
          <a:lstStyle/>
          <a:p>
            <a:pPr algn="l">
              <a:defRPr/>
            </a:pPr>
            <a:r>
              <a:rPr sz="800" b="1" i="0">
                <a:solidFill>
                  <a:srgbClr val="B9770B"/>
                </a:solidFill>
                <a:latin typeface="Arial"/>
              </a:rPr>
              <a:t>AREAS FOR IMPROVEMENT</a:t>
            </a:r>
            <a:endParaRPr/>
          </a:p>
        </p:txBody>
      </p:sp>
      <p:sp>
        <p:nvSpPr>
          <p:cNvPr id="147559689" name="TextBox 18"/>
          <p:cNvSpPr txBox="1"/>
          <p:nvPr/>
        </p:nvSpPr>
        <p:spPr bwMode="auto">
          <a:xfrm>
            <a:off x="6967728" y="1856231"/>
            <a:ext cx="466344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rPr>
              <a:t>▪  </a:t>
            </a:r>
            <a:r>
              <a:rPr sz="850" b="0" i="0">
                <a:solidFill>
                  <a:srgbClr val="5C6B62"/>
                </a:solidFill>
                <a:latin typeface="Arial"/>
              </a:rPr>
              <a:t>The initial glasses purchase date is missing from older customers’ Zalo tags and should be added.</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Reduce messages promoting follow-up examination packages and increase use of the simplified member referral message.</a:t>
            </a:r>
            <a:endParaRPr/>
          </a:p>
        </p:txBody>
      </p:sp>
      <p:sp>
        <p:nvSpPr>
          <p:cNvPr id="1929605070" name="Rectangle 19"/>
          <p:cNvSpPr/>
          <p:nvPr/>
        </p:nvSpPr>
        <p:spPr bwMode="auto">
          <a:xfrm>
            <a:off x="502920" y="3026664"/>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95600748" name="Rectangle 20"/>
          <p:cNvSpPr/>
          <p:nvPr/>
        </p:nvSpPr>
        <p:spPr bwMode="auto">
          <a:xfrm>
            <a:off x="502920" y="3026664"/>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03723763" name="TextBox 21"/>
          <p:cNvSpPr txBox="1"/>
          <p:nvPr/>
        </p:nvSpPr>
        <p:spPr bwMode="auto">
          <a:xfrm>
            <a:off x="694944" y="3108960"/>
            <a:ext cx="1783080" cy="256032"/>
          </a:xfrm>
          <a:prstGeom prst="rect">
            <a:avLst/>
          </a:prstGeom>
          <a:noFill/>
        </p:spPr>
        <p:txBody>
          <a:bodyPr wrap="square" lIns="45720" tIns="18288" rIns="45720" bIns="18288">
            <a:spAutoFit/>
          </a:bodyPr>
          <a:lstStyle/>
          <a:p>
            <a:pPr algn="l">
              <a:defRPr/>
            </a:pPr>
            <a:r>
              <a:rPr sz="1400" b="1" i="0">
                <a:solidFill>
                  <a:srgbClr val="31633D"/>
                </a:solidFill>
                <a:latin typeface="Arial"/>
              </a:rPr>
              <a:t>SH</a:t>
            </a:r>
            <a:endParaRPr/>
          </a:p>
        </p:txBody>
      </p:sp>
      <p:sp>
        <p:nvSpPr>
          <p:cNvPr id="822711482" name="TextBox 22"/>
          <p:cNvSpPr txBox="1"/>
          <p:nvPr/>
        </p:nvSpPr>
        <p:spPr bwMode="auto">
          <a:xfrm>
            <a:off x="694944" y="3364992"/>
            <a:ext cx="1783080" cy="384048"/>
          </a:xfrm>
          <a:prstGeom prst="rect">
            <a:avLst/>
          </a:prstGeom>
          <a:noFill/>
        </p:spPr>
        <p:txBody>
          <a:bodyPr wrap="square" lIns="45720" tIns="18288" rIns="45720" bIns="18288">
            <a:spAutoFit/>
          </a:bodyPr>
          <a:lstStyle/>
          <a:p>
            <a:pPr algn="l">
              <a:lnSpc>
                <a:spcPct val="104000"/>
              </a:lnSpc>
              <a:defRPr/>
            </a:pPr>
            <a:r>
              <a:rPr sz="800" b="1" i="0">
                <a:solidFill>
                  <a:srgbClr val="2E9C4C"/>
                </a:solidFill>
                <a:latin typeface="Arial"/>
              </a:rPr>
              <a:t>The biggest improvement of the five</a:t>
            </a:r>
            <a:endParaRPr/>
          </a:p>
        </p:txBody>
      </p:sp>
      <p:sp>
        <p:nvSpPr>
          <p:cNvPr id="1087664204" name="Rectangle 23"/>
          <p:cNvSpPr/>
          <p:nvPr/>
        </p:nvSpPr>
        <p:spPr bwMode="auto">
          <a:xfrm>
            <a:off x="694944" y="3831336"/>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18288" rIns="54864" bIns="18288" rtlCol="0" anchor="ctr"/>
          <a:lstStyle/>
          <a:p>
            <a:pPr algn="l">
              <a:spcAft>
                <a:spcPts val="100"/>
              </a:spcAft>
              <a:defRPr/>
            </a:pPr>
            <a:r>
              <a:rPr sz="650" b="1" i="0">
                <a:solidFill>
                  <a:srgbClr val="2E9C4C"/>
                </a:solidFill>
                <a:latin typeface="Arial"/>
              </a:rPr>
              <a:t>vs last week</a:t>
            </a:r>
            <a:endParaRPr/>
          </a:p>
          <a:p>
            <a:pPr algn="l">
              <a:lnSpc>
                <a:spcPct val="104000"/>
              </a:lnSpc>
              <a:defRPr/>
            </a:pPr>
            <a:r>
              <a:rPr sz="700" b="0" i="0">
                <a:solidFill>
                  <a:srgbClr val="5C6B62"/>
                </a:solidFill>
                <a:latin typeface="Arial"/>
              </a:rPr>
              <a:t>Acted on last week’s ask</a:t>
            </a:r>
            <a:endParaRPr/>
          </a:p>
        </p:txBody>
      </p:sp>
      <p:sp>
        <p:nvSpPr>
          <p:cNvPr id="131560523" name="Rectangle 24"/>
          <p:cNvSpPr/>
          <p:nvPr/>
        </p:nvSpPr>
        <p:spPr bwMode="auto">
          <a:xfrm>
            <a:off x="2505456" y="3118104"/>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459988542" name="TextBox 25"/>
          <p:cNvSpPr txBox="1"/>
          <p:nvPr/>
        </p:nvSpPr>
        <p:spPr bwMode="auto">
          <a:xfrm>
            <a:off x="2670048" y="3118104"/>
            <a:ext cx="4023360" cy="164592"/>
          </a:xfrm>
          <a:prstGeom prst="rect">
            <a:avLst/>
          </a:prstGeom>
          <a:noFill/>
        </p:spPr>
        <p:txBody>
          <a:bodyPr wrap="square" lIns="45720" tIns="18288" rIns="45720" bIns="18288">
            <a:spAutoFit/>
          </a:bodyPr>
          <a:lstStyle/>
          <a:p>
            <a:pPr algn="l">
              <a:defRPr/>
            </a:pPr>
            <a:r>
              <a:rPr sz="800" b="1" i="0">
                <a:solidFill>
                  <a:srgbClr val="2E9C4C"/>
                </a:solidFill>
                <a:latin typeface="Arial"/>
              </a:rPr>
              <a:t>STRENGTHS</a:t>
            </a:r>
            <a:endParaRPr/>
          </a:p>
        </p:txBody>
      </p:sp>
      <p:sp>
        <p:nvSpPr>
          <p:cNvPr id="922228964" name="TextBox 26"/>
          <p:cNvSpPr txBox="1"/>
          <p:nvPr/>
        </p:nvSpPr>
        <p:spPr bwMode="auto">
          <a:xfrm>
            <a:off x="2670048" y="3291840"/>
            <a:ext cx="402336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rPr>
              <a:t>–  </a:t>
            </a:r>
            <a:r>
              <a:rPr sz="850" b="0" i="0">
                <a:solidFill>
                  <a:srgbClr val="5C6B62"/>
                </a:solidFill>
                <a:latin typeface="Arial"/>
              </a:rPr>
              <a:t>Customer names on Zalo now carry the tag — a great improvement following training. Apply the required naming format to every customer buying glasses.</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Some customers are receiving glasses customisation and collection messages, which is also a positive improvement.</a:t>
            </a:r>
            <a:endParaRPr/>
          </a:p>
        </p:txBody>
      </p:sp>
      <p:sp>
        <p:nvSpPr>
          <p:cNvPr id="701455877" name="Rectangle 27"/>
          <p:cNvSpPr/>
          <p:nvPr/>
        </p:nvSpPr>
        <p:spPr bwMode="auto">
          <a:xfrm>
            <a:off x="6821424" y="3118104"/>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103077086" name="TextBox 28"/>
          <p:cNvSpPr txBox="1"/>
          <p:nvPr/>
        </p:nvSpPr>
        <p:spPr bwMode="auto">
          <a:xfrm>
            <a:off x="6967728" y="3118104"/>
            <a:ext cx="4663440" cy="164592"/>
          </a:xfrm>
          <a:prstGeom prst="rect">
            <a:avLst/>
          </a:prstGeom>
          <a:noFill/>
        </p:spPr>
        <p:txBody>
          <a:bodyPr wrap="square" lIns="45720" tIns="18288" rIns="45720" bIns="18288">
            <a:spAutoFit/>
          </a:bodyPr>
          <a:lstStyle/>
          <a:p>
            <a:pPr algn="l">
              <a:defRPr/>
            </a:pPr>
            <a:r>
              <a:rPr sz="800" b="1" i="0">
                <a:solidFill>
                  <a:srgbClr val="B9770B"/>
                </a:solidFill>
                <a:latin typeface="Arial"/>
              </a:rPr>
              <a:t>AREAS FOR IMPROVEMENT</a:t>
            </a:r>
            <a:endParaRPr/>
          </a:p>
        </p:txBody>
      </p:sp>
      <p:sp>
        <p:nvSpPr>
          <p:cNvPr id="1129371238" name="TextBox 29"/>
          <p:cNvSpPr txBox="1"/>
          <p:nvPr/>
        </p:nvSpPr>
        <p:spPr bwMode="auto">
          <a:xfrm>
            <a:off x="6967728" y="3291840"/>
            <a:ext cx="466344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rPr>
              <a:t>▪  </a:t>
            </a:r>
            <a:r>
              <a:rPr sz="850" b="0" i="0">
                <a:solidFill>
                  <a:srgbClr val="5C6B62"/>
                </a:solidFill>
                <a:latin typeface="Arial"/>
              </a:rPr>
              <a:t>Ensure all customers receive customisation updates and collection notifications.</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Send membership benefits on collection day, followed by a timely CD7 message checking how the customer is getting on with their glasses.</a:t>
            </a:r>
            <a:endParaRPr/>
          </a:p>
          <a:p>
            <a:pPr algn="l">
              <a:lnSpc>
                <a:spcPct val="106000"/>
              </a:lnSpc>
              <a:spcAft>
                <a:spcPts val="350"/>
              </a:spcAft>
              <a:defRPr/>
            </a:pPr>
            <a:r>
              <a:rPr sz="850" b="0" i="0">
                <a:solidFill>
                  <a:srgbClr val="5C6B62"/>
                </a:solidFill>
                <a:latin typeface="Arial"/>
              </a:rPr>
              <a:t>▪  </a:t>
            </a:r>
            <a:r>
              <a:rPr sz="850" b="0" i="0">
                <a:solidFill>
                  <a:srgbClr val="5C6B62"/>
                </a:solidFill>
                <a:latin typeface="Arial"/>
              </a:rPr>
              <a:t>Details are not in the CRM form. Please include them for easier tracking.</a:t>
            </a:r>
            <a:endParaRPr/>
          </a:p>
        </p:txBody>
      </p:sp>
      <p:sp>
        <p:nvSpPr>
          <p:cNvPr id="1754126915" name="Rectangle 30"/>
          <p:cNvSpPr/>
          <p:nvPr/>
        </p:nvSpPr>
        <p:spPr bwMode="auto">
          <a:xfrm>
            <a:off x="502920" y="4517136"/>
            <a:ext cx="11183112" cy="292608"/>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rIns="109728" bIns="18288" rtlCol="0" anchor="ctr"/>
          <a:lstStyle/>
          <a:p>
            <a:pPr algn="l">
              <a:defRPr/>
            </a:pPr>
            <a:r>
              <a:rPr sz="950" b="1" i="0">
                <a:solidFill>
                  <a:srgbClr val="FFFFFF"/>
                </a:solidFill>
                <a:latin typeface="Arial"/>
              </a:rPr>
              <a:t>WHAT SH PROVED THIS WEEK</a:t>
            </a:r>
            <a:endParaRPr/>
          </a:p>
        </p:txBody>
      </p:sp>
      <p:sp>
        <p:nvSpPr>
          <p:cNvPr id="757025832" name="Rectangle 31"/>
          <p:cNvSpPr/>
          <p:nvPr/>
        </p:nvSpPr>
        <p:spPr bwMode="auto">
          <a:xfrm>
            <a:off x="502920" y="4846320"/>
            <a:ext cx="5486400" cy="8778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503573284" name="TextBox 32"/>
          <p:cNvSpPr txBox="1"/>
          <p:nvPr/>
        </p:nvSpPr>
        <p:spPr bwMode="auto">
          <a:xfrm>
            <a:off x="649224" y="4919471"/>
            <a:ext cx="5212080" cy="182880"/>
          </a:xfrm>
          <a:prstGeom prst="rect">
            <a:avLst/>
          </a:prstGeom>
          <a:noFill/>
        </p:spPr>
        <p:txBody>
          <a:bodyPr wrap="square" lIns="45720" tIns="18288" rIns="45720" bIns="18288">
            <a:spAutoFit/>
          </a:bodyPr>
          <a:lstStyle/>
          <a:p>
            <a:pPr algn="l">
              <a:defRPr/>
            </a:pPr>
            <a:r>
              <a:rPr sz="900" b="1" i="0">
                <a:solidFill>
                  <a:srgbClr val="31633D"/>
                </a:solidFill>
                <a:latin typeface="Arial"/>
              </a:rPr>
              <a:t>The tag format was the whole blocker</a:t>
            </a:r>
            <a:endParaRPr/>
          </a:p>
        </p:txBody>
      </p:sp>
      <p:sp>
        <p:nvSpPr>
          <p:cNvPr id="1634294779" name="TextBox 33"/>
          <p:cNvSpPr txBox="1"/>
          <p:nvPr/>
        </p:nvSpPr>
        <p:spPr bwMode="auto">
          <a:xfrm>
            <a:off x="649224" y="5102352"/>
            <a:ext cx="5212080" cy="566928"/>
          </a:xfrm>
          <a:prstGeom prst="rect">
            <a:avLst/>
          </a:prstGeom>
          <a:noFill/>
        </p:spPr>
        <p:txBody>
          <a:bodyPr wrap="square" lIns="45720" tIns="18288" rIns="45720" bIns="18288">
            <a:spAutoFit/>
          </a:bodyPr>
          <a:lstStyle/>
          <a:p>
            <a:pPr algn="l">
              <a:lnSpc>
                <a:spcPct val="108000"/>
              </a:lnSpc>
              <a:defRPr/>
            </a:pPr>
            <a:r>
              <a:rPr sz="800" b="0" i="0">
                <a:solidFill>
                  <a:srgbClr val="5C6B62"/>
                </a:solidFill>
                <a:latin typeface="Arial"/>
              </a:rPr>
              <a:t>Last week SH had one appointment message and a contact name with no product code, no date and no child’s name — nothing could be scheduled or measured. The names now carry the tag, and customisation and collection messages have started to appear.</a:t>
            </a:r>
            <a:endParaRPr/>
          </a:p>
        </p:txBody>
      </p:sp>
      <p:sp>
        <p:nvSpPr>
          <p:cNvPr id="1006203616" name="Rectangle 34"/>
          <p:cNvSpPr/>
          <p:nvPr/>
        </p:nvSpPr>
        <p:spPr bwMode="auto">
          <a:xfrm>
            <a:off x="6199632" y="4846320"/>
            <a:ext cx="5486400" cy="8778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36907128" name="TextBox 35"/>
          <p:cNvSpPr txBox="1"/>
          <p:nvPr/>
        </p:nvSpPr>
        <p:spPr bwMode="auto">
          <a:xfrm>
            <a:off x="6345936" y="4919471"/>
            <a:ext cx="5212080" cy="182880"/>
          </a:xfrm>
          <a:prstGeom prst="rect">
            <a:avLst/>
          </a:prstGeom>
          <a:noFill/>
        </p:spPr>
        <p:txBody>
          <a:bodyPr wrap="square" lIns="45720" tIns="18288" rIns="45720" bIns="18288">
            <a:spAutoFit/>
          </a:bodyPr>
          <a:lstStyle/>
          <a:p>
            <a:pPr algn="l">
              <a:defRPr/>
            </a:pPr>
            <a:r>
              <a:rPr sz="900" b="1" i="0">
                <a:solidFill>
                  <a:srgbClr val="31633D"/>
                </a:solidFill>
                <a:latin typeface="Arial"/>
              </a:rPr>
              <a:t>What is still missing at SH</a:t>
            </a:r>
            <a:endParaRPr/>
          </a:p>
        </p:txBody>
      </p:sp>
      <p:sp>
        <p:nvSpPr>
          <p:cNvPr id="1919818657" name="TextBox 36"/>
          <p:cNvSpPr txBox="1"/>
          <p:nvPr/>
        </p:nvSpPr>
        <p:spPr bwMode="auto">
          <a:xfrm>
            <a:off x="6345936" y="5102352"/>
            <a:ext cx="5212080" cy="566928"/>
          </a:xfrm>
          <a:prstGeom prst="rect">
            <a:avLst/>
          </a:prstGeom>
          <a:noFill/>
        </p:spPr>
        <p:txBody>
          <a:bodyPr wrap="square" lIns="45720" tIns="18288" rIns="45720" bIns="18288">
            <a:spAutoFit/>
          </a:bodyPr>
          <a:lstStyle/>
          <a:p>
            <a:pPr algn="l">
              <a:lnSpc>
                <a:spcPct val="108000"/>
              </a:lnSpc>
              <a:defRPr/>
            </a:pPr>
            <a:r>
              <a:rPr sz="800" b="0" i="0">
                <a:solidFill>
                  <a:srgbClr val="5C6B62"/>
                </a:solidFill>
                <a:latin typeface="Arial"/>
              </a:rPr>
              <a:t>Coverage. Some customers get the customisation and collection messages, not all. Benefits still need to land on collection day and be followed by CD7. And the details are not yet in the CRM form.</a:t>
            </a:r>
            <a:endParaRPr/>
          </a:p>
        </p:txBody>
      </p:sp>
      <p:sp>
        <p:nvSpPr>
          <p:cNvPr id="1875341526" name="Rectangle 37"/>
          <p:cNvSpPr/>
          <p:nvPr/>
        </p:nvSpPr>
        <p:spPr bwMode="auto">
          <a:xfrm>
            <a:off x="502920" y="5888736"/>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768986827" name="Rectangle 38"/>
          <p:cNvSpPr/>
          <p:nvPr/>
        </p:nvSpPr>
        <p:spPr bwMode="auto">
          <a:xfrm>
            <a:off x="566928" y="5888736"/>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50" b="1" i="0">
                <a:solidFill>
                  <a:srgbClr val="31633D"/>
                </a:solidFill>
                <a:latin typeface="Arial"/>
              </a:rPr>
              <a:t>One week of applying the naming format took SH from unmeasurable to improving.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8733585"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091333364"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rPr>
              <a:t>6. WHAT TO DO NEXT   |   TRAINING PRIORITIES</a:t>
            </a:r>
            <a:endParaRPr/>
          </a:p>
        </p:txBody>
      </p:sp>
      <p:sp>
        <p:nvSpPr>
          <p:cNvPr id="504846158"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rPr>
              <a:t>This week’s three priorities</a:t>
            </a:r>
            <a:endParaRPr/>
          </a:p>
        </p:txBody>
      </p:sp>
      <p:sp>
        <p:nvSpPr>
          <p:cNvPr id="763726846"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23587755"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rPr>
              <a:t>Mắt Sài Gòn  |  Optometry DA Training</a:t>
            </a:r>
            <a:endParaRPr/>
          </a:p>
        </p:txBody>
      </p:sp>
      <p:sp>
        <p:nvSpPr>
          <p:cNvPr id="1625955304"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rPr>
              <a:t>9</a:t>
            </a:r>
            <a:endParaRPr/>
          </a:p>
        </p:txBody>
      </p:sp>
      <p:sp>
        <p:nvSpPr>
          <p:cNvPr id="1315376992" name="Rectangle 7"/>
          <p:cNvSpPr/>
          <p:nvPr/>
        </p:nvSpPr>
        <p:spPr bwMode="auto">
          <a:xfrm>
            <a:off x="502920" y="1353312"/>
            <a:ext cx="3575303"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861110688" name="Rectangle 8"/>
          <p:cNvSpPr/>
          <p:nvPr/>
        </p:nvSpPr>
        <p:spPr bwMode="auto">
          <a:xfrm>
            <a:off x="502920" y="1353312"/>
            <a:ext cx="3575303" cy="5486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653534833" name="Oval 9"/>
          <p:cNvSpPr/>
          <p:nvPr/>
        </p:nvSpPr>
        <p:spPr bwMode="auto">
          <a:xfrm>
            <a:off x="649224" y="1536192"/>
            <a:ext cx="292608" cy="292608"/>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rPr>
              <a:t>1</a:t>
            </a:r>
            <a:endParaRPr/>
          </a:p>
        </p:txBody>
      </p:sp>
      <p:sp>
        <p:nvSpPr>
          <p:cNvPr id="157351274" name="TextBox 10"/>
          <p:cNvSpPr txBox="1"/>
          <p:nvPr/>
        </p:nvSpPr>
        <p:spPr bwMode="auto">
          <a:xfrm>
            <a:off x="1014984" y="1499616"/>
            <a:ext cx="2916936" cy="475488"/>
          </a:xfrm>
          <a:prstGeom prst="rect">
            <a:avLst/>
          </a:prstGeom>
          <a:noFill/>
        </p:spPr>
        <p:txBody>
          <a:bodyPr wrap="square" lIns="45720" tIns="18288" rIns="45720" bIns="18288">
            <a:spAutoFit/>
          </a:bodyPr>
          <a:lstStyle/>
          <a:p>
            <a:pPr algn="l">
              <a:lnSpc>
                <a:spcPct val="102000"/>
              </a:lnSpc>
              <a:defRPr/>
            </a:pPr>
            <a:r>
              <a:rPr sz="1150" b="1" i="0">
                <a:solidFill>
                  <a:srgbClr val="31633D"/>
                </a:solidFill>
                <a:latin typeface="Arial"/>
              </a:rPr>
              <a:t>Fill the three new columns</a:t>
            </a:r>
            <a:endParaRPr/>
          </a:p>
          <a:p>
            <a:pPr algn="l">
              <a:lnSpc>
                <a:spcPct val="102000"/>
              </a:lnSpc>
              <a:defRPr/>
            </a:pPr>
            <a:r>
              <a:rPr sz="1150" b="1" i="0">
                <a:solidFill>
                  <a:srgbClr val="31633D"/>
                </a:solidFill>
                <a:latin typeface="Arial"/>
              </a:rPr>
              <a:t>for every entry</a:t>
            </a:r>
            <a:endParaRPr/>
          </a:p>
        </p:txBody>
      </p:sp>
      <p:sp>
        <p:nvSpPr>
          <p:cNvPr id="909198164" name="Rectangle 11"/>
          <p:cNvSpPr/>
          <p:nvPr/>
        </p:nvSpPr>
        <p:spPr bwMode="auto">
          <a:xfrm>
            <a:off x="649224" y="2066543"/>
            <a:ext cx="3282696"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478539842" name="TextBox 12"/>
          <p:cNvSpPr txBox="1"/>
          <p:nvPr/>
        </p:nvSpPr>
        <p:spPr bwMode="auto">
          <a:xfrm>
            <a:off x="649224" y="2157984"/>
            <a:ext cx="3282696" cy="1920240"/>
          </a:xfrm>
          <a:prstGeom prst="rect">
            <a:avLst/>
          </a:prstGeom>
          <a:noFill/>
        </p:spPr>
        <p:txBody>
          <a:bodyPr wrap="square" lIns="45720" tIns="18288" rIns="45720" bIns="18288">
            <a:spAutoFit/>
          </a:bodyPr>
          <a:lstStyle/>
          <a:p>
            <a:pPr algn="l">
              <a:lnSpc>
                <a:spcPct val="106000"/>
              </a:lnSpc>
              <a:spcAft>
                <a:spcPts val="400"/>
              </a:spcAft>
              <a:defRPr/>
            </a:pPr>
            <a:r>
              <a:rPr sz="900" b="0" i="0">
                <a:solidFill>
                  <a:srgbClr val="5C6B62"/>
                </a:solidFill>
                <a:latin typeface="Arial"/>
              </a:rPr>
              <a:t>▪  </a:t>
            </a:r>
            <a:r>
              <a:rPr sz="900" b="0" i="0">
                <a:solidFill>
                  <a:srgbClr val="5C6B62"/>
                </a:solidFill>
                <a:latin typeface="Arial"/>
              </a:rPr>
              <a:t>K deposit paid date, L actual collection date, M warranty expiry</a:t>
            </a:r>
            <a:endParaRPr/>
          </a:p>
          <a:p>
            <a:pPr algn="l">
              <a:lnSpc>
                <a:spcPct val="106000"/>
              </a:lnSpc>
              <a:spcAft>
                <a:spcPts val="400"/>
              </a:spcAft>
              <a:defRPr/>
            </a:pPr>
            <a:r>
              <a:rPr sz="900" b="0" i="0">
                <a:solidFill>
                  <a:srgbClr val="5C6B62"/>
                </a:solidFill>
                <a:latin typeface="Arial"/>
              </a:rPr>
              <a:t>▪  </a:t>
            </a:r>
            <a:r>
              <a:rPr sz="900" b="0" i="0">
                <a:solidFill>
                  <a:srgbClr val="5C6B62"/>
                </a:solidFill>
                <a:latin typeface="Arial"/>
              </a:rPr>
              <a:t>Go back through the customers you served weeks ago, not only new ones</a:t>
            </a:r>
            <a:endParaRPr/>
          </a:p>
          <a:p>
            <a:pPr algn="l">
              <a:lnSpc>
                <a:spcPct val="106000"/>
              </a:lnSpc>
              <a:spcAft>
                <a:spcPts val="400"/>
              </a:spcAft>
              <a:defRPr/>
            </a:pPr>
            <a:r>
              <a:rPr sz="900" b="0" i="0">
                <a:solidFill>
                  <a:srgbClr val="5C6B62"/>
                </a:solidFill>
                <a:latin typeface="Arial"/>
              </a:rPr>
              <a:t>▪  </a:t>
            </a:r>
            <a:r>
              <a:rPr sz="900" b="0" i="0">
                <a:solidFill>
                  <a:srgbClr val="5C6B62"/>
                </a:solidFill>
                <a:latin typeface="Arial"/>
              </a:rPr>
              <a:t>One row per child — two children means two sets of dates</a:t>
            </a:r>
            <a:endParaRPr/>
          </a:p>
          <a:p>
            <a:pPr algn="l">
              <a:lnSpc>
                <a:spcPct val="106000"/>
              </a:lnSpc>
              <a:spcAft>
                <a:spcPts val="400"/>
              </a:spcAft>
              <a:defRPr/>
            </a:pPr>
            <a:r>
              <a:rPr sz="900" b="0" i="0">
                <a:solidFill>
                  <a:srgbClr val="5C6B62"/>
                </a:solidFill>
                <a:latin typeface="Arial"/>
              </a:rPr>
              <a:t>▪  </a:t>
            </a:r>
            <a:r>
              <a:rPr sz="900" b="0" i="0">
                <a:solidFill>
                  <a:srgbClr val="5C6B62"/>
                </a:solidFill>
                <a:latin typeface="Arial"/>
              </a:rPr>
              <a:t>Column L is the actual collection date, not the order date</a:t>
            </a:r>
            <a:endParaRPr/>
          </a:p>
          <a:p>
            <a:pPr algn="l">
              <a:lnSpc>
                <a:spcPct val="106000"/>
              </a:lnSpc>
              <a:spcAft>
                <a:spcPts val="400"/>
              </a:spcAft>
              <a:defRPr/>
            </a:pPr>
            <a:r>
              <a:rPr sz="900" b="0" i="0">
                <a:solidFill>
                  <a:srgbClr val="5C6B62"/>
                </a:solidFill>
                <a:latin typeface="Arial"/>
              </a:rPr>
              <a:t>▪  </a:t>
            </a:r>
            <a:r>
              <a:rPr sz="900" b="0" i="0">
                <a:solidFill>
                  <a:srgbClr val="5C6B62"/>
                </a:solidFill>
                <a:latin typeface="Arial"/>
              </a:rPr>
              <a:t>Until this is done, nothing in the tracker can be trusted</a:t>
            </a:r>
            <a:endParaRPr/>
          </a:p>
        </p:txBody>
      </p:sp>
      <p:sp>
        <p:nvSpPr>
          <p:cNvPr id="221633577" name="Rectangle 13"/>
          <p:cNvSpPr/>
          <p:nvPr/>
        </p:nvSpPr>
        <p:spPr bwMode="auto">
          <a:xfrm>
            <a:off x="649224" y="4224528"/>
            <a:ext cx="3282696" cy="9144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36576" rIns="128016" bIns="36576" rtlCol="0" anchor="ctr"/>
          <a:lstStyle/>
          <a:p>
            <a:pPr algn="l">
              <a:lnSpc>
                <a:spcPct val="110000"/>
              </a:lnSpc>
              <a:defRPr/>
            </a:pPr>
            <a:r>
              <a:rPr sz="950" b="1" i="0">
                <a:solidFill>
                  <a:srgbClr val="31633D"/>
                </a:solidFill>
                <a:latin typeface="Arial"/>
              </a:rPr>
              <a:t>Empty columns, empty tracker.</a:t>
            </a:r>
            <a:endParaRPr/>
          </a:p>
        </p:txBody>
      </p:sp>
      <p:sp>
        <p:nvSpPr>
          <p:cNvPr id="961743745" name="Rectangle 14"/>
          <p:cNvSpPr/>
          <p:nvPr/>
        </p:nvSpPr>
        <p:spPr bwMode="auto">
          <a:xfrm>
            <a:off x="4306824" y="1353312"/>
            <a:ext cx="3575303"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7090250" name="Rectangle 15"/>
          <p:cNvSpPr/>
          <p:nvPr/>
        </p:nvSpPr>
        <p:spPr bwMode="auto">
          <a:xfrm>
            <a:off x="4306824" y="1353312"/>
            <a:ext cx="3575303" cy="54864"/>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127795005" name="Oval 16"/>
          <p:cNvSpPr/>
          <p:nvPr/>
        </p:nvSpPr>
        <p:spPr bwMode="auto">
          <a:xfrm>
            <a:off x="4453128" y="1536192"/>
            <a:ext cx="292608" cy="292608"/>
          </a:xfrm>
          <a:prstGeom prst="ellipse">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rPr>
              <a:t>2</a:t>
            </a:r>
            <a:endParaRPr/>
          </a:p>
        </p:txBody>
      </p:sp>
      <p:sp>
        <p:nvSpPr>
          <p:cNvPr id="1588068081" name="TextBox 17"/>
          <p:cNvSpPr txBox="1"/>
          <p:nvPr/>
        </p:nvSpPr>
        <p:spPr bwMode="auto">
          <a:xfrm>
            <a:off x="4818888" y="1499616"/>
            <a:ext cx="2916936" cy="475488"/>
          </a:xfrm>
          <a:prstGeom prst="rect">
            <a:avLst/>
          </a:prstGeom>
          <a:noFill/>
        </p:spPr>
        <p:txBody>
          <a:bodyPr wrap="square" lIns="45720" tIns="18288" rIns="45720" bIns="18288">
            <a:spAutoFit/>
          </a:bodyPr>
          <a:lstStyle/>
          <a:p>
            <a:pPr algn="l">
              <a:lnSpc>
                <a:spcPct val="102000"/>
              </a:lnSpc>
              <a:defRPr/>
            </a:pPr>
            <a:r>
              <a:rPr sz="1150" b="1" i="0">
                <a:solidFill>
                  <a:srgbClr val="31633D"/>
                </a:solidFill>
                <a:latin typeface="Arial"/>
              </a:rPr>
              <a:t>CD7 and CD30</a:t>
            </a:r>
            <a:endParaRPr/>
          </a:p>
          <a:p>
            <a:pPr algn="l">
              <a:lnSpc>
                <a:spcPct val="102000"/>
              </a:lnSpc>
              <a:defRPr/>
            </a:pPr>
            <a:r>
              <a:rPr sz="1150" b="1" i="0">
                <a:solidFill>
                  <a:srgbClr val="31633D"/>
                </a:solidFill>
                <a:latin typeface="Arial"/>
              </a:rPr>
              <a:t>for every customer</a:t>
            </a:r>
            <a:endParaRPr/>
          </a:p>
        </p:txBody>
      </p:sp>
      <p:sp>
        <p:nvSpPr>
          <p:cNvPr id="314567500" name="Rectangle 18"/>
          <p:cNvSpPr/>
          <p:nvPr/>
        </p:nvSpPr>
        <p:spPr bwMode="auto">
          <a:xfrm>
            <a:off x="4453128" y="2066543"/>
            <a:ext cx="3282696"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442225586" name="TextBox 19"/>
          <p:cNvSpPr txBox="1"/>
          <p:nvPr/>
        </p:nvSpPr>
        <p:spPr bwMode="auto">
          <a:xfrm>
            <a:off x="4453128" y="2157984"/>
            <a:ext cx="3282696" cy="1920240"/>
          </a:xfrm>
          <a:prstGeom prst="rect">
            <a:avLst/>
          </a:prstGeom>
          <a:noFill/>
        </p:spPr>
        <p:txBody>
          <a:bodyPr wrap="square" lIns="45720" tIns="18288" rIns="45720" bIns="18288">
            <a:spAutoFit/>
          </a:bodyPr>
          <a:lstStyle/>
          <a:p>
            <a:pPr algn="l">
              <a:lnSpc>
                <a:spcPct val="106000"/>
              </a:lnSpc>
              <a:spcAft>
                <a:spcPts val="400"/>
              </a:spcAft>
              <a:defRPr/>
            </a:pPr>
            <a:r>
              <a:rPr sz="900" b="0" i="0">
                <a:solidFill>
                  <a:srgbClr val="5C6B62"/>
                </a:solidFill>
                <a:latin typeface="Arial"/>
              </a:rPr>
              <a:t>▪  </a:t>
            </a:r>
            <a:r>
              <a:rPr sz="900" b="0" i="0">
                <a:solidFill>
                  <a:srgbClr val="5C6B62"/>
                </a:solidFill>
                <a:latin typeface="Arial"/>
              </a:rPr>
              <a:t>Raised again this week as a common issue</a:t>
            </a:r>
            <a:endParaRPr/>
          </a:p>
          <a:p>
            <a:pPr algn="l">
              <a:lnSpc>
                <a:spcPct val="106000"/>
              </a:lnSpc>
              <a:spcAft>
                <a:spcPts val="400"/>
              </a:spcAft>
              <a:defRPr/>
            </a:pPr>
            <a:r>
              <a:rPr sz="900" b="0" i="0">
                <a:solidFill>
                  <a:srgbClr val="5C6B62"/>
                </a:solidFill>
                <a:latin typeface="Arial"/>
              </a:rPr>
              <a:t>▪  </a:t>
            </a:r>
            <a:r>
              <a:rPr sz="900" b="0" i="0">
                <a:solidFill>
                  <a:srgbClr val="5C6B62"/>
                </a:solidFill>
                <a:latin typeface="Arial"/>
              </a:rPr>
              <a:t>Not some customers with a given date and not others</a:t>
            </a:r>
            <a:endParaRPr/>
          </a:p>
          <a:p>
            <a:pPr algn="l">
              <a:lnSpc>
                <a:spcPct val="106000"/>
              </a:lnSpc>
              <a:spcAft>
                <a:spcPts val="400"/>
              </a:spcAft>
              <a:defRPr/>
            </a:pPr>
            <a:r>
              <a:rPr sz="900" b="0" i="0">
                <a:solidFill>
                  <a:srgbClr val="5C6B62"/>
                </a:solidFill>
                <a:latin typeface="Arial"/>
              </a:rPr>
              <a:t>▪  </a:t>
            </a:r>
            <a:r>
              <a:rPr sz="900" b="0" i="0">
                <a:solidFill>
                  <a:srgbClr val="5C6B62"/>
                </a:solidFill>
                <a:latin typeface="Arial"/>
              </a:rPr>
              <a:t>CD7: check how the child is getting on with the glasses</a:t>
            </a:r>
            <a:endParaRPr/>
          </a:p>
          <a:p>
            <a:pPr algn="l">
              <a:lnSpc>
                <a:spcPct val="106000"/>
              </a:lnSpc>
              <a:spcAft>
                <a:spcPts val="400"/>
              </a:spcAft>
              <a:defRPr/>
            </a:pPr>
            <a:r>
              <a:rPr sz="900" b="0" i="0">
                <a:solidFill>
                  <a:srgbClr val="5C6B62"/>
                </a:solidFill>
                <a:latin typeface="Arial"/>
              </a:rPr>
              <a:t>▪  </a:t>
            </a:r>
            <a:r>
              <a:rPr sz="900" b="0" i="0">
                <a:solidFill>
                  <a:srgbClr val="5C6B62"/>
                </a:solidFill>
                <a:latin typeface="Arial"/>
              </a:rPr>
              <a:t>CD14 to CD30: check again, and send the educational content</a:t>
            </a:r>
            <a:endParaRPr/>
          </a:p>
          <a:p>
            <a:pPr algn="l">
              <a:lnSpc>
                <a:spcPct val="106000"/>
              </a:lnSpc>
              <a:spcAft>
                <a:spcPts val="400"/>
              </a:spcAft>
              <a:defRPr/>
            </a:pPr>
            <a:r>
              <a:rPr sz="900" b="0" i="0">
                <a:solidFill>
                  <a:srgbClr val="5C6B62"/>
                </a:solidFill>
                <a:latin typeface="Arial"/>
              </a:rPr>
              <a:t>▪  </a:t>
            </a:r>
            <a:r>
              <a:rPr sz="900" b="0" i="0">
                <a:solidFill>
                  <a:srgbClr val="5C6B62"/>
                </a:solidFill>
                <a:latin typeface="Arial"/>
              </a:rPr>
              <a:t>Build a routine you repeat, not a decision you make each time</a:t>
            </a:r>
            <a:endParaRPr/>
          </a:p>
        </p:txBody>
      </p:sp>
      <p:sp>
        <p:nvSpPr>
          <p:cNvPr id="1892179387" name="Rectangle 20"/>
          <p:cNvSpPr/>
          <p:nvPr/>
        </p:nvSpPr>
        <p:spPr bwMode="auto">
          <a:xfrm>
            <a:off x="4453128" y="4224528"/>
            <a:ext cx="3282696" cy="914400"/>
          </a:xfrm>
          <a:prstGeom prst="rect">
            <a:avLst/>
          </a:prstGeom>
          <a:solidFill>
            <a:srgbClr val="E4F3F3"/>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36576" rIns="128016" bIns="36576" rtlCol="0" anchor="ctr"/>
          <a:lstStyle/>
          <a:p>
            <a:pPr algn="l">
              <a:lnSpc>
                <a:spcPct val="110000"/>
              </a:lnSpc>
              <a:defRPr/>
            </a:pPr>
            <a:r>
              <a:rPr sz="950" b="1" i="0">
                <a:solidFill>
                  <a:srgbClr val="31633D"/>
                </a:solidFill>
                <a:latin typeface="Arial"/>
              </a:rPr>
              <a:t>Same date, same treatment, every customer.</a:t>
            </a:r>
            <a:endParaRPr/>
          </a:p>
        </p:txBody>
      </p:sp>
      <p:sp>
        <p:nvSpPr>
          <p:cNvPr id="2108529200" name="Rectangle 21"/>
          <p:cNvSpPr/>
          <p:nvPr/>
        </p:nvSpPr>
        <p:spPr bwMode="auto">
          <a:xfrm>
            <a:off x="8110727" y="1353312"/>
            <a:ext cx="3575303"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781461670" name="Rectangle 22"/>
          <p:cNvSpPr/>
          <p:nvPr/>
        </p:nvSpPr>
        <p:spPr bwMode="auto">
          <a:xfrm>
            <a:off x="8110727" y="1353312"/>
            <a:ext cx="3575303" cy="54864"/>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567107483" name="Oval 23"/>
          <p:cNvSpPr/>
          <p:nvPr/>
        </p:nvSpPr>
        <p:spPr bwMode="auto">
          <a:xfrm>
            <a:off x="8257031" y="1536192"/>
            <a:ext cx="292608" cy="292608"/>
          </a:xfrm>
          <a:prstGeom prst="ellipse">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rPr>
              <a:t>3</a:t>
            </a:r>
            <a:endParaRPr/>
          </a:p>
        </p:txBody>
      </p:sp>
      <p:sp>
        <p:nvSpPr>
          <p:cNvPr id="412128953" name="TextBox 24"/>
          <p:cNvSpPr txBox="1"/>
          <p:nvPr/>
        </p:nvSpPr>
        <p:spPr bwMode="auto">
          <a:xfrm>
            <a:off x="8622792" y="1499616"/>
            <a:ext cx="2916936" cy="475488"/>
          </a:xfrm>
          <a:prstGeom prst="rect">
            <a:avLst/>
          </a:prstGeom>
          <a:noFill/>
        </p:spPr>
        <p:txBody>
          <a:bodyPr wrap="square" lIns="45720" tIns="18288" rIns="45720" bIns="18288">
            <a:spAutoFit/>
          </a:bodyPr>
          <a:lstStyle/>
          <a:p>
            <a:pPr algn="l">
              <a:lnSpc>
                <a:spcPct val="102000"/>
              </a:lnSpc>
              <a:defRPr/>
            </a:pPr>
            <a:r>
              <a:rPr sz="1150" b="1" i="0">
                <a:solidFill>
                  <a:srgbClr val="31633D"/>
                </a:solidFill>
                <a:latin typeface="Arial"/>
              </a:rPr>
              <a:t>Ortho-K</a:t>
            </a:r>
            <a:endParaRPr/>
          </a:p>
          <a:p>
            <a:pPr algn="l">
              <a:lnSpc>
                <a:spcPct val="102000"/>
              </a:lnSpc>
              <a:defRPr/>
            </a:pPr>
            <a:r>
              <a:rPr sz="1150" b="1" i="0">
                <a:solidFill>
                  <a:srgbClr val="31633D"/>
                </a:solidFill>
                <a:latin typeface="Arial"/>
              </a:rPr>
              <a:t>the first week</a:t>
            </a:r>
            <a:endParaRPr/>
          </a:p>
        </p:txBody>
      </p:sp>
      <p:sp>
        <p:nvSpPr>
          <p:cNvPr id="110715254" name="Rectangle 25"/>
          <p:cNvSpPr/>
          <p:nvPr/>
        </p:nvSpPr>
        <p:spPr bwMode="auto">
          <a:xfrm>
            <a:off x="8257031" y="2066543"/>
            <a:ext cx="3282696"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77987283" name="TextBox 26"/>
          <p:cNvSpPr txBox="1"/>
          <p:nvPr/>
        </p:nvSpPr>
        <p:spPr bwMode="auto">
          <a:xfrm>
            <a:off x="8257031" y="2157984"/>
            <a:ext cx="3282696" cy="1920240"/>
          </a:xfrm>
          <a:prstGeom prst="rect">
            <a:avLst/>
          </a:prstGeom>
          <a:noFill/>
        </p:spPr>
        <p:txBody>
          <a:bodyPr wrap="square" lIns="45720" tIns="18288" rIns="45720" bIns="18288">
            <a:spAutoFit/>
          </a:bodyPr>
          <a:lstStyle/>
          <a:p>
            <a:pPr algn="l">
              <a:lnSpc>
                <a:spcPct val="106000"/>
              </a:lnSpc>
              <a:spcAft>
                <a:spcPts val="400"/>
              </a:spcAft>
              <a:defRPr/>
            </a:pPr>
            <a:r>
              <a:rPr sz="900" b="0" i="0">
                <a:solidFill>
                  <a:srgbClr val="5C6B62"/>
                </a:solidFill>
                <a:latin typeface="Arial"/>
              </a:rPr>
              <a:t>▪  </a:t>
            </a:r>
            <a:r>
              <a:rPr sz="900" b="0" i="0">
                <a:solidFill>
                  <a:srgbClr val="5C6B62"/>
                </a:solidFill>
                <a:latin typeface="Arial"/>
              </a:rPr>
              <a:t>Two to three follow-ups in the first week after lens collection</a:t>
            </a:r>
            <a:endParaRPr/>
          </a:p>
          <a:p>
            <a:pPr algn="l">
              <a:lnSpc>
                <a:spcPct val="106000"/>
              </a:lnSpc>
              <a:spcAft>
                <a:spcPts val="400"/>
              </a:spcAft>
              <a:defRPr/>
            </a:pPr>
            <a:r>
              <a:rPr sz="900" b="0" i="0">
                <a:solidFill>
                  <a:srgbClr val="5C6B62"/>
                </a:solidFill>
                <a:latin typeface="Arial"/>
              </a:rPr>
              <a:t>▪  </a:t>
            </a:r>
            <a:r>
              <a:rPr sz="900" b="0" i="0">
                <a:solidFill>
                  <a:srgbClr val="5C6B62"/>
                </a:solidFill>
                <a:latin typeface="Arial"/>
              </a:rPr>
              <a:t>CDN the same evening, CD+1 the next morning</a:t>
            </a:r>
            <a:endParaRPr/>
          </a:p>
          <a:p>
            <a:pPr algn="l">
              <a:lnSpc>
                <a:spcPct val="106000"/>
              </a:lnSpc>
              <a:spcAft>
                <a:spcPts val="400"/>
              </a:spcAft>
              <a:defRPr/>
            </a:pPr>
            <a:r>
              <a:rPr sz="900" b="0" i="0">
                <a:solidFill>
                  <a:srgbClr val="5C6B62"/>
                </a:solidFill>
                <a:latin typeface="Arial"/>
              </a:rPr>
              <a:t>▪  </a:t>
            </a:r>
            <a:r>
              <a:rPr sz="900" b="0" i="0">
                <a:solidFill>
                  <a:srgbClr val="5C6B62"/>
                </a:solidFill>
                <a:latin typeface="Arial"/>
              </a:rPr>
              <a:t>Send the customisation message before collection</a:t>
            </a:r>
            <a:endParaRPr/>
          </a:p>
          <a:p>
            <a:pPr algn="l">
              <a:lnSpc>
                <a:spcPct val="106000"/>
              </a:lnSpc>
              <a:spcAft>
                <a:spcPts val="400"/>
              </a:spcAft>
              <a:defRPr/>
            </a:pPr>
            <a:r>
              <a:rPr sz="900" b="0" i="0">
                <a:solidFill>
                  <a:srgbClr val="5C6B62"/>
                </a:solidFill>
                <a:latin typeface="Arial"/>
              </a:rPr>
              <a:t>▪  </a:t>
            </a:r>
            <a:r>
              <a:rPr sz="900" b="0" i="0">
                <a:solidFill>
                  <a:srgbClr val="5C6B62"/>
                </a:solidFill>
                <a:latin typeface="Arial"/>
              </a:rPr>
              <a:t>Invite the recheck at CD+7</a:t>
            </a:r>
            <a:endParaRPr/>
          </a:p>
          <a:p>
            <a:pPr algn="l">
              <a:lnSpc>
                <a:spcPct val="106000"/>
              </a:lnSpc>
              <a:spcAft>
                <a:spcPts val="400"/>
              </a:spcAft>
              <a:defRPr/>
            </a:pPr>
            <a:r>
              <a:rPr sz="900" b="0" i="0">
                <a:solidFill>
                  <a:srgbClr val="5C6B62"/>
                </a:solidFill>
                <a:latin typeface="Arial"/>
              </a:rPr>
              <a:t>▪  </a:t>
            </a:r>
            <a:r>
              <a:rPr sz="900" b="0" i="0">
                <a:solidFill>
                  <a:srgbClr val="5C6B62"/>
                </a:solidFill>
                <a:latin typeface="Arial"/>
              </a:rPr>
              <a:t>CTE-D5 starts here</a:t>
            </a:r>
            <a:endParaRPr/>
          </a:p>
        </p:txBody>
      </p:sp>
      <p:sp>
        <p:nvSpPr>
          <p:cNvPr id="1401711562" name="Rectangle 27"/>
          <p:cNvSpPr/>
          <p:nvPr/>
        </p:nvSpPr>
        <p:spPr bwMode="auto">
          <a:xfrm>
            <a:off x="8257031" y="4224528"/>
            <a:ext cx="3282696" cy="914400"/>
          </a:xfrm>
          <a:prstGeom prst="rect">
            <a:avLst/>
          </a:prstGeom>
          <a:solidFill>
            <a:srgbClr val="EEE6F2"/>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36576" rIns="128016" bIns="36576" rtlCol="0" anchor="ctr"/>
          <a:lstStyle/>
          <a:p>
            <a:pPr algn="l">
              <a:lnSpc>
                <a:spcPct val="110000"/>
              </a:lnSpc>
              <a:defRPr/>
            </a:pPr>
            <a:r>
              <a:rPr sz="950" b="1" i="0">
                <a:solidFill>
                  <a:srgbClr val="31633D"/>
                </a:solidFill>
                <a:latin typeface="Arial"/>
              </a:rPr>
              <a:t>Ortho-K carries four messages glasses do not.</a:t>
            </a:r>
            <a:endParaRPr/>
          </a:p>
        </p:txBody>
      </p:sp>
      <p:sp>
        <p:nvSpPr>
          <p:cNvPr id="1366718301" name="Rectangle 28"/>
          <p:cNvSpPr/>
          <p:nvPr/>
        </p:nvSpPr>
        <p:spPr bwMode="auto">
          <a:xfrm>
            <a:off x="502920" y="5431536"/>
            <a:ext cx="11183112" cy="40233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28016" bIns="18288" rtlCol="0" anchor="ctr"/>
          <a:lstStyle/>
          <a:p>
            <a:pPr algn="l">
              <a:defRPr/>
            </a:pPr>
            <a:r>
              <a:rPr sz="950" b="1" i="0">
                <a:solidFill>
                  <a:srgbClr val="2E9C4C"/>
                </a:solidFill>
                <a:latin typeface="Arial"/>
              </a:rPr>
              <a:t>Adopt this week:  </a:t>
            </a:r>
            <a:r>
              <a:rPr sz="950" b="0" i="0">
                <a:solidFill>
                  <a:srgbClr val="5C6B62"/>
                </a:solidFill>
                <a:latin typeface="Arial"/>
              </a:rPr>
              <a:t>CTE-D7’s glasses customisation update and collection notification are recommended for wider use. Use them as written — slide 5.</a:t>
            </a:r>
            <a:endParaRPr/>
          </a:p>
        </p:txBody>
      </p:sp>
      <p:sp>
        <p:nvSpPr>
          <p:cNvPr id="1177260527" name="Rectangle 29"/>
          <p:cNvSpPr/>
          <p:nvPr/>
        </p:nvSpPr>
        <p:spPr bwMode="auto">
          <a:xfrm>
            <a:off x="502920" y="5925312"/>
            <a:ext cx="11183112" cy="45720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wrap="square" tIns="18288" bIns="18288" rtlCol="0" anchor="ctr"/>
          <a:lstStyle/>
          <a:p>
            <a:pPr algn="ctr">
              <a:defRPr/>
            </a:pPr>
            <a:r>
              <a:rPr sz="1600" b="1" i="0">
                <a:solidFill>
                  <a:srgbClr val="FFFFFF"/>
                </a:solidFill>
                <a:latin typeface="Arial"/>
              </a:rPr>
              <a:t>Every customer.    On time.    With the right content.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onlyoffice/9.4.1.15</Application>
  <PresentationFormat>On-screen Show (4:3)</PresentationFormat>
  <Paragraphs>0</Paragraphs>
  <Slides>9</Slides>
  <Notes>9</Notes>
  <HiddenSlides>0</HiddenSlides>
  <MMClips>2</MMClips>
  <ScaleCrop>0</ScaleCrop>
  <HeadingPairs>
    <vt:vector size="4" baseType="variant">
      <vt:variant>
        <vt:lpstr>Theme</vt:lpstr>
      </vt:variant>
      <vt:variant>
        <vt:i4>1</vt:i4>
      </vt:variant>
      <vt:variant>
        <vt:lpstr>Slide Titles</vt:lpstr>
      </vt:variant>
      <vt:variant>
        <vt:i4>9</vt:i4>
      </vt:variant>
    </vt:vector>
  </HeadingPairs>
  <TitlesOfParts>
    <vt:vector size="10" baseType="lpstr">
      <vt:lpstr>Theme 1</vt:lpstr>
      <vt:lpstr>Slide 1</vt:lpstr>
      <vt:lpstr>Slide 2</vt:lpstr>
      <vt:lpstr>Slide 3</vt:lpstr>
      <vt:lpstr>Slide 4</vt:lpstr>
      <vt:lpstr>Slide 5</vt:lpstr>
      <vt:lpstr>Slide 6</vt:lpstr>
      <vt:lpstr>Slide 7</vt:lpstr>
      <vt:lpstr>Slide 8</vt:lpstr>
      <vt:lpstr>Slide 9</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SinLong.Koh@kkr.com</cp:lastModifiedBy>
  <cp:revision>2</cp:revision>
  <dcterms:created xsi:type="dcterms:W3CDTF">2013-01-27T09:14:16Z</dcterms:created>
  <dcterms:modified xsi:type="dcterms:W3CDTF">2026-09-30T16:35:53Z</dcterms:modified>
  <cp:category/>
</cp:coreProperties>
</file>