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91D5C-A3BD-AC40-AE9E-03F733D2334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557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Limited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4630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969" cy="868680"/>
          </a:xfrm>
          <a:prstGeom prst="rect">
            <a:avLst/>
          </a:prstGeom>
          <a:solidFill>
            <a:srgbClr val="27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6928"/>
            <a:ext cx="2980944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2487168"/>
            <a:ext cx="10607040" cy="47551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SG" sz="3000" b="1" dirty="0">
                <a:solidFill>
                  <a:srgbClr val="CFE6D8"/>
                </a:solidFill>
                <a:latin typeface="Arial"/>
              </a:rPr>
              <a:t>OPTOMETRY DA TRAINING  |  WEEK OF 25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160520"/>
            <a:ext cx="1920240" cy="45720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4389120"/>
            <a:ext cx="786384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 dirty="0">
                <a:solidFill>
                  <a:srgbClr val="CFE6D8"/>
                </a:solidFill>
                <a:latin typeface="Arial"/>
              </a:rPr>
              <a:t>CRM tracker review, group-wide SOP findings, clinic-specific issues and good practice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CFE6D8"/>
                </a:solidFill>
                <a:latin typeface="Arial"/>
              </a:rPr>
              <a:t>CTE D5   ·   NGT   ·   CTE D7   ·   LA   ·   Song 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236208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FE6D8"/>
                </a:solidFill>
                <a:latin typeface="Arial"/>
              </a:rPr>
              <a:t>Prepared for DA training and review  · 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SETTING THE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CRM Overview: Know What Is Due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206240" cy="477316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9" name="Picture 8" descr="CRM Tracker Overview 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3622730" cy="4315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852160"/>
            <a:ext cx="406908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C6B62"/>
                </a:solidFill>
                <a:latin typeface="Arial"/>
              </a:rPr>
              <a:t>CRM Overview — CTE D5 (live view)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353312"/>
            <a:ext cx="269748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C4C"/>
                </a:solidFill>
                <a:latin typeface="Arial"/>
              </a:rPr>
              <a:t>WHAT TO LOOK AT</a:t>
            </a:r>
          </a:p>
        </p:txBody>
      </p:sp>
      <p:sp>
        <p:nvSpPr>
          <p:cNvPr id="12" name="Oval 11"/>
          <p:cNvSpPr/>
          <p:nvPr/>
        </p:nvSpPr>
        <p:spPr>
          <a:xfrm>
            <a:off x="4864608" y="1664208"/>
            <a:ext cx="256032" cy="256032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27632"/>
            <a:ext cx="23774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Number of follow-ups due today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The urgent red tile — start here every morning.</a:t>
            </a:r>
          </a:p>
        </p:txBody>
      </p:sp>
      <p:sp>
        <p:nvSpPr>
          <p:cNvPr id="14" name="Oval 13"/>
          <p:cNvSpPr/>
          <p:nvPr/>
        </p:nvSpPr>
        <p:spPr>
          <a:xfrm>
            <a:off x="4864608" y="2596896"/>
            <a:ext cx="256032" cy="256032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560320"/>
            <a:ext cx="23774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31633D"/>
                </a:solidFill>
                <a:latin typeface="Arial"/>
              </a:rPr>
              <a:t>Different cadence categories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5C6B62"/>
                </a:solidFill>
                <a:latin typeface="Arial"/>
              </a:rPr>
              <a:t>Due today vs. due this week vs. flags to fix.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1353312"/>
            <a:ext cx="3867912" cy="310896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What the CRM Overview shows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664208"/>
            <a:ext cx="3867912" cy="12984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 dirty="0">
                <a:solidFill>
                  <a:srgbClr val="5C6B62"/>
                </a:solidFill>
                <a:latin typeface="Arial"/>
              </a:rPr>
              <a:t>▪  How many customer follow-ups are due today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 dirty="0">
                <a:solidFill>
                  <a:srgbClr val="5C6B62"/>
                </a:solidFill>
                <a:latin typeface="Arial"/>
              </a:rPr>
              <a:t>▪  </a:t>
            </a:r>
            <a:r>
              <a:rPr lang="en-SG" sz="1000" b="0" i="0" dirty="0">
                <a:solidFill>
                  <a:srgbClr val="5C6B62"/>
                </a:solidFill>
                <a:latin typeface="Arial"/>
              </a:rPr>
              <a:t>How many due each week </a:t>
            </a:r>
            <a:endParaRPr sz="1000" b="0" i="0" dirty="0">
              <a:solidFill>
                <a:srgbClr val="5C6B62"/>
              </a:solidFill>
              <a:latin typeface="Arial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 dirty="0">
                <a:solidFill>
                  <a:srgbClr val="5C6B62"/>
                </a:solidFill>
                <a:latin typeface="Arial"/>
              </a:rPr>
              <a:t>▪  </a:t>
            </a:r>
            <a:r>
              <a:rPr lang="en-SG" sz="1000" dirty="0">
                <a:solidFill>
                  <a:srgbClr val="5C6B62"/>
                </a:solidFill>
                <a:latin typeface="Arial"/>
              </a:rPr>
              <a:t>How many data flags to fix </a:t>
            </a:r>
          </a:p>
          <a:p>
            <a:pPr>
              <a:lnSpc>
                <a:spcPct val="95000"/>
              </a:lnSpc>
              <a:spcAft>
                <a:spcPts val="500"/>
              </a:spcAft>
            </a:pPr>
            <a:r>
              <a:rPr lang="en-SG" sz="1000" dirty="0">
                <a:solidFill>
                  <a:srgbClr val="5C6B62"/>
                </a:solidFill>
                <a:latin typeface="Arial"/>
              </a:rPr>
              <a:t>▪  Quantity of each data flags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3127248"/>
            <a:ext cx="3867912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Tracker coverage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3438144"/>
            <a:ext cx="3867912" cy="111556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dirty="0">
                <a:solidFill>
                  <a:srgbClr val="2E9C4C"/>
                </a:solidFill>
                <a:latin typeface="Arial"/>
              </a:rPr>
              <a:t>Live now:  </a:t>
            </a:r>
            <a:r>
              <a:rPr sz="1000" b="0" dirty="0">
                <a:solidFill>
                  <a:srgbClr val="5C6B62"/>
                </a:solidFill>
                <a:latin typeface="Arial"/>
              </a:rPr>
              <a:t>NGT and CTE D5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B9770B"/>
                </a:solidFill>
                <a:latin typeface="Arial"/>
              </a:rPr>
              <a:t>Coming live soon:  </a:t>
            </a:r>
            <a:r>
              <a:rPr sz="1000" b="0" dirty="0">
                <a:solidFill>
                  <a:srgbClr val="5C6B62"/>
                </a:solidFill>
                <a:latin typeface="Arial"/>
              </a:rPr>
              <a:t>CTE D7 and 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4736592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86700" y="4736592"/>
            <a:ext cx="3799332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1633D"/>
                </a:solidFill>
                <a:latin typeface="Arial"/>
              </a:rPr>
              <a:t>Check the CRM Overview daily to </a:t>
            </a:r>
            <a:r>
              <a:rPr lang="en-SG" sz="1100" b="1" i="0" dirty="0">
                <a:solidFill>
                  <a:srgbClr val="31633D"/>
                </a:solidFill>
                <a:latin typeface="Arial"/>
              </a:rPr>
              <a:t>see how many due each day and data flags to fix</a:t>
            </a:r>
            <a:endParaRPr sz="1100" b="1" i="0" dirty="0">
              <a:solidFill>
                <a:srgbClr val="31633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1. GROUP-WIDE ISSUES   |   FIX DATA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Fix Data Flags before they affect your tracker, SOP result and bonus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61772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Why Data Flags matter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4617720" cy="1700784"/>
          </a:xfrm>
          <a:prstGeom prst="rect">
            <a:avLst/>
          </a:prstGeom>
          <a:solidFill>
            <a:srgbClr val="FDECEA"/>
          </a:solidFill>
          <a:ln w="9525">
            <a:solidFill>
              <a:srgbClr val="E8B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C6B62"/>
                </a:solidFill>
                <a:latin typeface="Arial"/>
              </a:rPr>
              <a:t>▪  They affect the accuracy of the tracker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C6B62"/>
                </a:solidFill>
                <a:latin typeface="Arial"/>
              </a:rPr>
              <a:t>▪  They may affect which SOP cadence is assigned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C6B62"/>
                </a:solidFill>
                <a:latin typeface="Arial"/>
              </a:rPr>
              <a:t>▪  They affect recorded SOP performance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C6B62"/>
                </a:solidFill>
                <a:latin typeface="Arial"/>
              </a:rPr>
              <a:t>▪  They may ultimately affect your bonus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Arial"/>
              </a:rPr>
              <a:t>Many flags can be resolved in around 10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29584"/>
            <a:ext cx="4617720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What you should 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40480"/>
            <a:ext cx="4617720" cy="1609344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62"/>
                </a:solidFill>
                <a:latin typeface="Arial"/>
              </a:rPr>
              <a:t>▪  Check Data Flags regularly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62"/>
                </a:solidFill>
                <a:latin typeface="Arial"/>
              </a:rPr>
              <a:t>▪  Correct missing or inaccurate information promptly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62"/>
                </a:solidFill>
                <a:latin typeface="Arial"/>
              </a:rPr>
              <a:t>▪  Make sure customer details are properly recorded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62"/>
                </a:solidFill>
                <a:latin typeface="Arial"/>
              </a:rPr>
              <a:t>▪  Raise the issue in the Zalo group if you cannot resolve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614416"/>
            <a:ext cx="68580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5614416"/>
            <a:ext cx="4549140" cy="475488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1633D"/>
                </a:solidFill>
                <a:latin typeface="Arial"/>
              </a:rPr>
              <a:t>Do not let something that can be fixed in
10 minutes affect your bonus.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1353312"/>
            <a:ext cx="6291072" cy="3145536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5" name="Picture 14" descr="Dataflags 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1444752"/>
            <a:ext cx="5852160" cy="30001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13248" y="4535424"/>
            <a:ext cx="6291072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 dirty="0">
                <a:solidFill>
                  <a:srgbClr val="5C6B62"/>
                </a:solidFill>
                <a:latin typeface="Arial"/>
              </a:rPr>
              <a:t>Data flags — flagged customer records requiring correction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828032"/>
            <a:ext cx="6291072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C4C"/>
                </a:solidFill>
                <a:latin typeface="Arial"/>
              </a:rPr>
              <a:t>HOW TO WORK THROUGH IT</a:t>
            </a:r>
          </a:p>
        </p:txBody>
      </p:sp>
      <p:sp>
        <p:nvSpPr>
          <p:cNvPr id="18" name="Oval 17"/>
          <p:cNvSpPr/>
          <p:nvPr/>
        </p:nvSpPr>
        <p:spPr>
          <a:xfrm>
            <a:off x="5394960" y="5102352"/>
            <a:ext cx="256032" cy="25603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5074920"/>
            <a:ext cx="5907024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1633D"/>
                </a:solidFill>
                <a:latin typeface="Arial"/>
              </a:rPr>
              <a:t>Check why the record is flagged  —  </a:t>
            </a:r>
            <a:r>
              <a:rPr sz="950" b="0">
                <a:solidFill>
                  <a:srgbClr val="5C6B62"/>
                </a:solidFill>
                <a:latin typeface="Arial"/>
              </a:rPr>
              <a:t>Read the flag column — it names the exact issue.</a:t>
            </a:r>
          </a:p>
        </p:txBody>
      </p:sp>
      <p:sp>
        <p:nvSpPr>
          <p:cNvPr id="20" name="Oval 19"/>
          <p:cNvSpPr/>
          <p:nvPr/>
        </p:nvSpPr>
        <p:spPr>
          <a:xfrm>
            <a:off x="5394960" y="5468112"/>
            <a:ext cx="256032" cy="256032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42432" y="5440680"/>
            <a:ext cx="5907024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1633D"/>
                </a:solidFill>
                <a:latin typeface="Arial"/>
              </a:rPr>
              <a:t>Correct the missing or inaccurate information  —  </a:t>
            </a:r>
            <a:r>
              <a:rPr sz="950" b="0">
                <a:solidFill>
                  <a:srgbClr val="5C6B62"/>
                </a:solidFill>
                <a:latin typeface="Arial"/>
              </a:rPr>
              <a:t>Fill in Y/N, dates, phone, product and tag fields.</a:t>
            </a:r>
          </a:p>
        </p:txBody>
      </p:sp>
      <p:sp>
        <p:nvSpPr>
          <p:cNvPr id="22" name="Oval 21"/>
          <p:cNvSpPr/>
          <p:nvPr/>
        </p:nvSpPr>
        <p:spPr>
          <a:xfrm>
            <a:off x="5394960" y="5833872"/>
            <a:ext cx="256032" cy="256032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5806440"/>
            <a:ext cx="5907024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31633D"/>
                </a:solidFill>
                <a:latin typeface="Arial"/>
              </a:rPr>
              <a:t>Ask for help if you cannot resolve it  —  </a:t>
            </a:r>
            <a:r>
              <a:rPr sz="950" b="0" dirty="0">
                <a:solidFill>
                  <a:srgbClr val="5C6B62"/>
                </a:solidFill>
                <a:latin typeface="Arial"/>
              </a:rPr>
              <a:t>Post it in the </a:t>
            </a:r>
            <a:r>
              <a:rPr sz="950" b="0" dirty="0" err="1">
                <a:solidFill>
                  <a:srgbClr val="5C6B62"/>
                </a:solidFill>
                <a:latin typeface="Arial"/>
              </a:rPr>
              <a:t>Zalo</a:t>
            </a:r>
            <a:r>
              <a:rPr sz="950" b="0" dirty="0">
                <a:solidFill>
                  <a:srgbClr val="5C6B62"/>
                </a:solidFill>
                <a:latin typeface="Arial"/>
              </a:rPr>
              <a:t> group rather than leaving it open.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1. GROUP-WIDE ISSUES   |   FOLLOW THE SOP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34842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SG" sz="2200" b="1" i="0" dirty="0">
                <a:solidFill>
                  <a:srgbClr val="31633D"/>
                </a:solidFill>
                <a:latin typeface="Arial"/>
              </a:rPr>
              <a:t>SOP Compliance is still lacking </a:t>
            </a:r>
            <a:endParaRPr sz="2200" b="1" i="0" dirty="0">
              <a:solidFill>
                <a:srgbClr val="31633D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3529584" cy="13898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3529584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1481328"/>
            <a:ext cx="3236976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C6B62"/>
                </a:solidFill>
                <a:latin typeface="Arial"/>
              </a:rPr>
              <a:t>CTE D5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719072"/>
            <a:ext cx="3236976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C0392B"/>
                </a:solidFill>
                <a:latin typeface="Arial"/>
              </a:rPr>
              <a:t>0/22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340864"/>
            <a:ext cx="3236976" cy="2269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sz="1300" b="1" dirty="0">
                <a:solidFill>
                  <a:srgbClr val="C0392B"/>
                </a:solidFill>
                <a:latin typeface="Arial"/>
              </a:rPr>
              <a:t>Pass/Sample</a:t>
            </a:r>
            <a:endParaRPr sz="1300" b="1" dirty="0">
              <a:solidFill>
                <a:srgbClr val="C0392B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5968" y="1353312"/>
            <a:ext cx="3529584" cy="13898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353312"/>
            <a:ext cx="3529584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1481328"/>
            <a:ext cx="3236976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C6B62"/>
                </a:solidFill>
                <a:latin typeface="Arial"/>
              </a:rPr>
              <a:t>NGT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719072"/>
            <a:ext cx="3236976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C0392B"/>
                </a:solidFill>
                <a:latin typeface="Arial"/>
              </a:rPr>
              <a:t>1/21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340864"/>
            <a:ext cx="3236976" cy="2269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SG" sz="1300" b="1" dirty="0">
                <a:solidFill>
                  <a:srgbClr val="C0392B"/>
                </a:solidFill>
                <a:latin typeface="Arial"/>
              </a:rPr>
              <a:t>Pass/Sample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9016" y="1353312"/>
            <a:ext cx="3529584" cy="13898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29016" y="1353312"/>
            <a:ext cx="3529584" cy="54864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1481328"/>
            <a:ext cx="3236976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C6B62"/>
                </a:solidFill>
                <a:latin typeface="Arial"/>
              </a:rPr>
              <a:t>COMBINED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719072"/>
            <a:ext cx="3236976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dirty="0">
                <a:solidFill>
                  <a:srgbClr val="31633D"/>
                </a:solidFill>
                <a:latin typeface="Arial"/>
              </a:rPr>
              <a:t>1/43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40864"/>
            <a:ext cx="3236976" cy="2269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31633D"/>
                </a:solidFill>
                <a:latin typeface="Arial"/>
              </a:rPr>
              <a:t>Pass/Sample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825496"/>
            <a:ext cx="11186129" cy="292608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5C6B62"/>
                </a:solidFill>
                <a:latin typeface="Arial"/>
              </a:rPr>
              <a:t>CTE D7</a:t>
            </a:r>
            <a:r>
              <a:rPr lang="en-SG" sz="950" b="0" i="0" dirty="0">
                <a:solidFill>
                  <a:srgbClr val="5C6B62"/>
                </a:solidFill>
                <a:latin typeface="Arial"/>
              </a:rPr>
              <a:t>,</a:t>
            </a:r>
            <a:r>
              <a:rPr sz="950" b="0" i="0" dirty="0">
                <a:solidFill>
                  <a:srgbClr val="5C6B62"/>
                </a:solidFill>
                <a:latin typeface="Arial"/>
              </a:rPr>
              <a:t> LA </a:t>
            </a:r>
            <a:r>
              <a:rPr lang="en-SG" sz="950" b="0" i="0" dirty="0">
                <a:solidFill>
                  <a:srgbClr val="5C6B62"/>
                </a:solidFill>
                <a:latin typeface="Arial"/>
              </a:rPr>
              <a:t>and SH </a:t>
            </a:r>
            <a:r>
              <a:rPr sz="950" b="0" i="0" dirty="0">
                <a:solidFill>
                  <a:srgbClr val="5C6B62"/>
                </a:solidFill>
                <a:latin typeface="Arial"/>
              </a:rPr>
              <a:t>are not yet quantitatively tracked. Their trackers will come live soon.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55264"/>
            <a:ext cx="5705856" cy="310896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Group-wide issues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566160"/>
            <a:ext cx="5705856" cy="22128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5C6B62"/>
                </a:solidFill>
                <a:latin typeface="Arial"/>
              </a:rPr>
              <a:t>▪  Some individual D7 follow-ups were observed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5C6B62"/>
                </a:solidFill>
                <a:latin typeface="Arial"/>
              </a:rPr>
              <a:t>▪  However, the full required cadence was generally not completed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5C6B62"/>
                </a:solidFill>
                <a:latin typeface="Arial"/>
              </a:rPr>
              <a:t>▪  Membership benefits were sent more consistently than customer-care follow-ups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5C6B62"/>
                </a:solidFill>
                <a:latin typeface="Arial"/>
              </a:rPr>
              <a:t>▪  Communication remains largely reactive rather than DA-initiated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5C6B62"/>
                </a:solidFill>
                <a:latin typeface="Arial"/>
              </a:rPr>
              <a:t>▪  Customers often initiate the conversation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5C6B62"/>
                </a:solidFill>
                <a:latin typeface="Arial"/>
              </a:rPr>
              <a:t>▪  Follow-up must happen at the correct cadence and cover the correct content</a:t>
            </a:r>
          </a:p>
          <a:p>
            <a:pPr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</a:pPr>
            <a:r>
              <a:rPr lang="en-SG" sz="950" dirty="0">
                <a:solidFill>
                  <a:srgbClr val="5C6B62"/>
                </a:solidFill>
                <a:latin typeface="Arial"/>
              </a:rPr>
              <a:t>M</a:t>
            </a:r>
            <a:r>
              <a:rPr sz="950" b="0" dirty="0">
                <a:solidFill>
                  <a:srgbClr val="5C6B62"/>
                </a:solidFill>
                <a:latin typeface="Arial"/>
              </a:rPr>
              <a:t>any conversations stopped after the DA introduction and membership-benefit message, without enough subsequent customer care or recheck engagement.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83096" y="3255264"/>
            <a:ext cx="5202936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What SOP compliance means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3096" y="3566160"/>
            <a:ext cx="5202936" cy="22128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dirty="0">
                <a:solidFill>
                  <a:srgbClr val="31633D"/>
                </a:solidFill>
                <a:latin typeface="Arial"/>
              </a:rPr>
              <a:t>A compliant follow-up must: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dirty="0">
                <a:solidFill>
                  <a:srgbClr val="5C6B62"/>
                </a:solidFill>
                <a:latin typeface="Arial"/>
              </a:rPr>
              <a:t>✓  Happen at the required cadence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dirty="0">
                <a:solidFill>
                  <a:srgbClr val="5C6B62"/>
                </a:solidFill>
                <a:latin typeface="Arial"/>
              </a:rPr>
              <a:t>✓  Cover the correct content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dirty="0">
                <a:solidFill>
                  <a:srgbClr val="5C6B62"/>
                </a:solidFill>
                <a:latin typeface="Arial"/>
              </a:rPr>
              <a:t>✓  Be proactive where required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dirty="0">
                <a:solidFill>
                  <a:srgbClr val="5C6B62"/>
                </a:solidFill>
                <a:latin typeface="Arial"/>
              </a:rPr>
              <a:t>✓  Address the purpose of that specific touchpoint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888736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1500" y="5888736"/>
            <a:ext cx="11117549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dirty="0">
                <a:solidFill>
                  <a:srgbClr val="31633D"/>
                </a:solidFill>
                <a:latin typeface="Arial"/>
              </a:rPr>
              <a:t>Follow up at the right cadence and cover the right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2. CLINIC-SPECIFIC ISSUES   |   CLINIC-SPECIFIC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Clinic-Specific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6736"/>
            <a:ext cx="5687568" cy="22128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16736"/>
            <a:ext cx="59436" cy="22128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399032"/>
            <a:ext cx="1828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Arial"/>
              </a:rPr>
              <a:t>CTE D5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435607"/>
            <a:ext cx="3538727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Arial"/>
              </a:rPr>
              <a:t>Result: 0/22 complied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1700784"/>
            <a:ext cx="5358383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755648"/>
            <a:ext cx="5358383" cy="1170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 dirty="0">
                <a:solidFill>
                  <a:srgbClr val="2E9C4C"/>
                </a:solidFill>
                <a:latin typeface="Arial"/>
              </a:rPr>
              <a:t>Main issues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 dirty="0">
                <a:solidFill>
                  <a:srgbClr val="5C6B62"/>
                </a:solidFill>
                <a:latin typeface="Arial"/>
              </a:rPr>
              <a:t>▪  CD3–5, CD7, CD14 and D30 were not consistently completed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Communication was mainly limited to membership benefits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 dirty="0">
                <a:solidFill>
                  <a:srgbClr val="5C6B62"/>
                </a:solidFill>
                <a:latin typeface="Arial"/>
              </a:rPr>
              <a:t>▪  DA interaction remained largely reactive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 dirty="0">
                <a:solidFill>
                  <a:srgbClr val="5C6B62"/>
                </a:solidFill>
                <a:latin typeface="Arial"/>
              </a:rPr>
              <a:t>▪  Limited communication around </a:t>
            </a:r>
            <a:r>
              <a:rPr sz="850" b="0" i="0" dirty="0" err="1">
                <a:solidFill>
                  <a:srgbClr val="5C6B62"/>
                </a:solidFill>
                <a:latin typeface="Arial"/>
              </a:rPr>
              <a:t>customisation</a:t>
            </a:r>
            <a:r>
              <a:rPr sz="850" b="0" i="0" dirty="0">
                <a:solidFill>
                  <a:srgbClr val="5C6B62"/>
                </a:solidFill>
                <a:latin typeface="Arial"/>
              </a:rPr>
              <a:t>, collection, warranty, rechecks and referrals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 i="1" dirty="0">
                <a:solidFill>
                  <a:srgbClr val="5C6B62"/>
                </a:solidFill>
                <a:latin typeface="Arial"/>
              </a:rPr>
              <a:t>Some D7-type follow-up was observed, but the overall number of follow-ups remained 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2980944"/>
            <a:ext cx="5358383" cy="43891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9C4C"/>
                </a:solidFill>
                <a:latin typeface="Arial"/>
              </a:rPr>
              <a:t>Focus:  </a:t>
            </a:r>
            <a:r>
              <a:rPr sz="850" b="0">
                <a:solidFill>
                  <a:srgbClr val="31633D"/>
                </a:solidFill>
                <a:latin typeface="Arial"/>
              </a:rPr>
              <a:t>Move beyond membership-benefit messages and complete the full required follow-up sequence.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316736"/>
            <a:ext cx="5687568" cy="22128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1316736"/>
            <a:ext cx="59436" cy="22128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1399032"/>
            <a:ext cx="1828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Arial"/>
              </a:rPr>
              <a:t>NGT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435607"/>
            <a:ext cx="3538727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Arial"/>
              </a:rPr>
              <a:t>Result: 1/21 complied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11112" y="1700784"/>
            <a:ext cx="5358383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755648"/>
            <a:ext cx="5358383" cy="1170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E9C4C"/>
                </a:solidFill>
                <a:latin typeface="Arial"/>
              </a:rPr>
              <a:t>Main issues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D30 follow-up was largely not completed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A small number of D7 follow-ups were observed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Other proactive customer engagement remained limited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Customer relationships were not being consistently maintained after collection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11112" y="2980944"/>
            <a:ext cx="5358383" cy="43891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9C4C"/>
                </a:solidFill>
                <a:latin typeface="Arial"/>
              </a:rPr>
              <a:t>Focus:  </a:t>
            </a:r>
            <a:r>
              <a:rPr sz="850" b="0">
                <a:solidFill>
                  <a:srgbClr val="31633D"/>
                </a:solidFill>
                <a:latin typeface="Arial"/>
              </a:rPr>
              <a:t>Use glasses usage, warranty and rechecks as natural reasons to initiate communication.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12464"/>
            <a:ext cx="5687568" cy="22128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712464"/>
            <a:ext cx="59436" cy="2212848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3794760"/>
            <a:ext cx="1828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Arial"/>
              </a:rPr>
              <a:t>CTE D7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831336"/>
            <a:ext cx="3538727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9770B"/>
                </a:solidFill>
                <a:latin typeface="Arial"/>
              </a:rPr>
              <a:t>Qualitative review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" y="4096512"/>
            <a:ext cx="5358383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4151376"/>
            <a:ext cx="5358383" cy="1170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E9C4C"/>
                </a:solidFill>
                <a:latin typeface="Arial"/>
              </a:rPr>
              <a:t>Main issues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Execution varied significantly between customers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Some customers received parts of the required journey, while others missed several steps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Common gaps: customisation updates, collection communication, D7 follow-up, referral benefits, correct customer information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 i="1">
                <a:solidFill>
                  <a:srgbClr val="5C6B62"/>
                </a:solidFill>
                <a:latin typeface="Arial"/>
              </a:rPr>
              <a:t>The audit showed both more complete cases and cases where only one or two touchpoints were completed.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" y="5376672"/>
            <a:ext cx="5358383" cy="43891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9C4C"/>
                </a:solidFill>
                <a:latin typeface="Arial"/>
              </a:rPr>
              <a:t>Focus:  </a:t>
            </a:r>
            <a:r>
              <a:rPr sz="850" b="0">
                <a:solidFill>
                  <a:srgbClr val="31633D"/>
                </a:solidFill>
                <a:latin typeface="Arial"/>
              </a:rPr>
              <a:t>Apply the same complete customer journey consistently across every customer.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712464"/>
            <a:ext cx="5687568" cy="22128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46520" y="3712464"/>
            <a:ext cx="59436" cy="2212848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1112" y="3794760"/>
            <a:ext cx="1828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Arial"/>
              </a:rPr>
              <a:t>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831336"/>
            <a:ext cx="3538727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9770B"/>
                </a:solidFill>
                <a:latin typeface="Arial"/>
              </a:rPr>
              <a:t>Qualitative review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11112" y="4096512"/>
            <a:ext cx="5358383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2" y="4151376"/>
            <a:ext cx="5358383" cy="1170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E9C4C"/>
                </a:solidFill>
                <a:latin typeface="Arial"/>
              </a:rPr>
              <a:t>Main issues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Some good D7 and collection communication was observed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Other cases missed customisation, collection-day evening follow-up, Ortho-K Day 2, D7 and D30, educational content and referrals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Marketing and membership messages were sometimes sent without first building customer engagement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 i="1">
                <a:solidFill>
                  <a:srgbClr val="5C6B62"/>
                </a:solidFill>
                <a:latin typeface="Arial"/>
              </a:rPr>
              <a:t>CZ noted DAs should communicate from the perspective of caring about the child's glasses usage and eyesight.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11112" y="5376672"/>
            <a:ext cx="5358383" cy="43891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9C4C"/>
                </a:solidFill>
                <a:latin typeface="Arial"/>
              </a:rPr>
              <a:t>Focus:  </a:t>
            </a:r>
            <a:r>
              <a:rPr sz="850" b="0">
                <a:solidFill>
                  <a:srgbClr val="31633D"/>
                </a:solidFill>
                <a:latin typeface="Arial"/>
              </a:rPr>
              <a:t>Strengthen care-oriented follow-up before relying on marketing or referral messages.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943600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71500" y="5943600"/>
            <a:ext cx="11117549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1633D"/>
                </a:solidFill>
                <a:latin typeface="Arial"/>
              </a:rPr>
              <a:t>Good practices exist, but they are not yet being applied consistently across every customer.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2. CLINIC-SPECIFIC ISSUES   |   SONG HAN: GET THE BASICS RIGHT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Every optometry customer should be added on Zalo and tagged correctly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2727952" cy="40233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1.  Capture every customer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2312" y="1298448"/>
            <a:ext cx="2727952" cy="402336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2.  Apply correct MC tagging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1704" y="1298448"/>
            <a:ext cx="2727952" cy="402336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3.  Communicate before collection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097" y="1298448"/>
            <a:ext cx="2727952" cy="402336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4.  Follow up after collection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847088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810512"/>
            <a:ext cx="6099048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Arial"/>
              </a:rPr>
              <a:t>Capture Every 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2066543"/>
            <a:ext cx="6099048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Not all optometry customers are currently being added on Zalo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This is despite relatively low patient volume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Customers not added cannot enter the membership or follow-up workflow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This is the most fundamental issue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852928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816352"/>
            <a:ext cx="6099048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Arial"/>
              </a:rPr>
              <a:t>Apply the Correct MC Tagging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3072384"/>
            <a:ext cx="6099048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Customer names and remarks are sometimes missing or incorrect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Incorrect tagging makes identification and future follow-up difficult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Follow the same MC tagging format shown in the screenshot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Correct inaccurate customer information as soon as it is identified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858768"/>
            <a:ext cx="237744" cy="237744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3822192"/>
            <a:ext cx="6099048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Arial"/>
              </a:rPr>
              <a:t>Communicate Before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4078224"/>
            <a:ext cx="6099048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Production or customisation updates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Expected collection timing and collection arrangements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▪  Clear collection information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4709160"/>
            <a:ext cx="237744" cy="237744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672584"/>
            <a:ext cx="6099048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Arial"/>
              </a:rPr>
              <a:t>Follow Up After Collection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4928616"/>
            <a:ext cx="6099048" cy="45313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>
                <a:solidFill>
                  <a:srgbClr val="5C6B62"/>
                </a:solidFill>
                <a:latin typeface="Arial"/>
              </a:rPr>
              <a:t>▪  Check how the child is adapting to the glasses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>
                <a:solidFill>
                  <a:srgbClr val="5C6B62"/>
                </a:solidFill>
                <a:latin typeface="Arial"/>
              </a:rPr>
              <a:t>▪  Answer questions proactively and share useful eye-care information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>
                <a:solidFill>
                  <a:srgbClr val="5C6B62"/>
                </a:solidFill>
                <a:latin typeface="Arial"/>
              </a:rPr>
              <a:t>▪  Continue the relationship after collection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87184" y="1847088"/>
            <a:ext cx="4498848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What good MC tagging should look like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7184" y="2157984"/>
            <a:ext cx="4498848" cy="118872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6" name="Picture 25" descr="Model Zalo tag for Song Han to Fo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450592"/>
            <a:ext cx="4133087" cy="7031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87184" y="3438144"/>
            <a:ext cx="4498848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C4C"/>
                </a:solidFill>
                <a:latin typeface="Arial"/>
              </a:rPr>
              <a:t>WHY THIS IS CORRECT</a:t>
            </a:r>
          </a:p>
        </p:txBody>
      </p:sp>
      <p:sp>
        <p:nvSpPr>
          <p:cNvPr id="28" name="Oval 27"/>
          <p:cNvSpPr/>
          <p:nvPr/>
        </p:nvSpPr>
        <p:spPr>
          <a:xfrm>
            <a:off x="7187184" y="3749039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721607"/>
            <a:ext cx="415137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1633D"/>
                </a:solidFill>
                <a:latin typeface="Arial"/>
              </a:rPr>
              <a:t>Correct MC tag  —  </a:t>
            </a:r>
            <a:r>
              <a:rPr sz="850" b="0">
                <a:solidFill>
                  <a:srgbClr val="5C6B62"/>
                </a:solidFill>
                <a:latin typeface="Arial"/>
              </a:rPr>
              <a:t>Starts with the MC prefix and date.</a:t>
            </a:r>
          </a:p>
        </p:txBody>
      </p:sp>
      <p:sp>
        <p:nvSpPr>
          <p:cNvPr id="30" name="Oval 29"/>
          <p:cNvSpPr/>
          <p:nvPr/>
        </p:nvSpPr>
        <p:spPr>
          <a:xfrm>
            <a:off x="7187184" y="4206240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4178807"/>
            <a:ext cx="415137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1633D"/>
                </a:solidFill>
                <a:latin typeface="Arial"/>
              </a:rPr>
              <a:t>Customer clearly identified  —  </a:t>
            </a:r>
            <a:r>
              <a:rPr sz="850" b="0">
                <a:solidFill>
                  <a:srgbClr val="5C6B62"/>
                </a:solidFill>
                <a:latin typeface="Arial"/>
              </a:rPr>
              <a:t>Parent/child name written out in full.</a:t>
            </a:r>
          </a:p>
        </p:txBody>
      </p:sp>
      <p:sp>
        <p:nvSpPr>
          <p:cNvPr id="32" name="Oval 31"/>
          <p:cNvSpPr/>
          <p:nvPr/>
        </p:nvSpPr>
        <p:spPr>
          <a:xfrm>
            <a:off x="7187184" y="4663440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4636007"/>
            <a:ext cx="415137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1633D"/>
                </a:solidFill>
                <a:latin typeface="Arial"/>
              </a:rPr>
              <a:t>Consistent naming format  —  </a:t>
            </a:r>
            <a:r>
              <a:rPr sz="850" b="0">
                <a:solidFill>
                  <a:srgbClr val="5C6B62"/>
                </a:solidFill>
                <a:latin typeface="Arial"/>
              </a:rPr>
              <a:t>Same structure used for every customer.</a:t>
            </a:r>
          </a:p>
        </p:txBody>
      </p:sp>
      <p:sp>
        <p:nvSpPr>
          <p:cNvPr id="34" name="Oval 33"/>
          <p:cNvSpPr/>
          <p:nvPr/>
        </p:nvSpPr>
        <p:spPr>
          <a:xfrm>
            <a:off x="7187184" y="5120640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5093207"/>
            <a:ext cx="415137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1633D"/>
                </a:solidFill>
                <a:latin typeface="Arial"/>
              </a:rPr>
              <a:t>Easy to find for future follow-up  —  </a:t>
            </a:r>
            <a:r>
              <a:rPr sz="850" b="0">
                <a:solidFill>
                  <a:srgbClr val="5C6B62"/>
                </a:solidFill>
                <a:latin typeface="Arial"/>
              </a:rPr>
              <a:t>Searchable when the next cadence is due.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705856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71500" y="5705856"/>
            <a:ext cx="11117549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Arial"/>
              </a:rPr>
              <a:t>Add every customer and follow the correct MC tagging format. Without this,
the customer cannot be tracked or followed up properly.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3. GOOD EXAMPLE   |   GOOD EXAMPLE: PROACTIVE CUSTOMER JOURNEY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Good Example: Proactive Customer Journey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1183112" cy="29260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2E9C4C"/>
                </a:solidFill>
                <a:latin typeface="Arial"/>
              </a:rPr>
              <a:t>Customer:  </a:t>
            </a:r>
            <a:r>
              <a:rPr sz="1050" b="0" dirty="0">
                <a:solidFill>
                  <a:srgbClr val="31633D"/>
                </a:solidFill>
                <a:latin typeface="Arial"/>
              </a:rPr>
              <a:t>MCY 260725 </a:t>
            </a:r>
            <a:r>
              <a:rPr sz="1050" b="0" dirty="0" err="1">
                <a:solidFill>
                  <a:srgbClr val="31633D"/>
                </a:solidFill>
                <a:latin typeface="Arial"/>
              </a:rPr>
              <a:t>Chị</a:t>
            </a:r>
            <a:r>
              <a:rPr sz="1050" b="0" dirty="0">
                <a:solidFill>
                  <a:srgbClr val="31633D"/>
                </a:solidFill>
                <a:latin typeface="Arial"/>
              </a:rPr>
              <a:t> Thư </a:t>
            </a:r>
            <a:r>
              <a:rPr sz="1050" b="0" dirty="0" err="1">
                <a:solidFill>
                  <a:srgbClr val="31633D"/>
                </a:solidFill>
                <a:latin typeface="Arial"/>
              </a:rPr>
              <a:t>mẹ</a:t>
            </a:r>
            <a:r>
              <a:rPr sz="1050" b="0" dirty="0">
                <a:solidFill>
                  <a:srgbClr val="31633D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31633D"/>
                </a:solidFill>
                <a:latin typeface="Arial"/>
              </a:rPr>
              <a:t>bé</a:t>
            </a:r>
            <a:r>
              <a:rPr sz="1050" b="0" dirty="0">
                <a:solidFill>
                  <a:srgbClr val="31633D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31633D"/>
                </a:solidFill>
                <a:latin typeface="Arial"/>
              </a:rPr>
              <a:t>Đỗ</a:t>
            </a:r>
            <a:r>
              <a:rPr sz="1050" b="0" dirty="0">
                <a:solidFill>
                  <a:srgbClr val="31633D"/>
                </a:solidFill>
                <a:latin typeface="Arial"/>
              </a:rPr>
              <a:t> </a:t>
            </a:r>
            <a:r>
              <a:rPr sz="1050" b="0" dirty="0" err="1">
                <a:solidFill>
                  <a:srgbClr val="31633D"/>
                </a:solidFill>
                <a:latin typeface="Arial"/>
              </a:rPr>
              <a:t>Nhất</a:t>
            </a:r>
            <a:r>
              <a:rPr sz="1050" b="0" dirty="0">
                <a:solidFill>
                  <a:srgbClr val="31633D"/>
                </a:solidFill>
                <a:latin typeface="Arial"/>
              </a:rPr>
              <a:t> Phương Nghi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3749039" cy="2798064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0" name="Picture 9" descr="MCY 260725 Chị Thư mẹ bé Đỗ Nhất Phương Nghi Pic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3070583" cy="265176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66928" y="2048256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218688"/>
            <a:ext cx="237744" cy="237744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98848"/>
            <a:ext cx="3749039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C6B62"/>
                </a:solidFill>
                <a:latin typeface="Arial"/>
              </a:rPr>
              <a:t>Customisation update (26/07) and
collection communication (01–03/08)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01184"/>
            <a:ext cx="7370064" cy="1261872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5" name="Picture 14" descr="MCY 260725 Chị Thư mẹ bé Đỗ Nhất Phương Nghi PIC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47488"/>
            <a:ext cx="5138928" cy="1109496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566928" y="4992624"/>
            <a:ext cx="237744" cy="237744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5120640"/>
            <a:ext cx="1627632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C6B62"/>
                </a:solidFill>
                <a:latin typeface="Arial"/>
              </a:rPr>
              <a:t>Post-collection
check-in (07/08)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1664208"/>
            <a:ext cx="3282696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C4C"/>
                </a:solidFill>
                <a:latin typeface="Arial"/>
              </a:rPr>
              <a:t>THE THREE STAGES SHOWN</a:t>
            </a:r>
          </a:p>
        </p:txBody>
      </p:sp>
      <p:sp>
        <p:nvSpPr>
          <p:cNvPr id="19" name="Oval 18"/>
          <p:cNvSpPr/>
          <p:nvPr/>
        </p:nvSpPr>
        <p:spPr>
          <a:xfrm>
            <a:off x="4590288" y="1956816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3" y="1920240"/>
            <a:ext cx="2935224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31633D"/>
                </a:solidFill>
                <a:latin typeface="Arial"/>
              </a:rPr>
              <a:t>Customisation information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proactively communicated to the parent</a:t>
            </a:r>
          </a:p>
        </p:txBody>
      </p:sp>
      <p:sp>
        <p:nvSpPr>
          <p:cNvPr id="21" name="Oval 20"/>
          <p:cNvSpPr/>
          <p:nvPr/>
        </p:nvSpPr>
        <p:spPr>
          <a:xfrm>
            <a:off x="4590288" y="2651760"/>
            <a:ext cx="237744" cy="237744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1183" y="2615184"/>
            <a:ext cx="2935224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31633D"/>
                </a:solidFill>
                <a:latin typeface="Arial"/>
              </a:rPr>
              <a:t>Collection information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clearly shared, with timing options</a:t>
            </a:r>
          </a:p>
        </p:txBody>
      </p:sp>
      <p:sp>
        <p:nvSpPr>
          <p:cNvPr id="23" name="Oval 22"/>
          <p:cNvSpPr/>
          <p:nvPr/>
        </p:nvSpPr>
        <p:spPr>
          <a:xfrm>
            <a:off x="4590288" y="3346704"/>
            <a:ext cx="237744" cy="237744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3" y="3310128"/>
            <a:ext cx="2935224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31633D"/>
                </a:solidFill>
                <a:latin typeface="Arial"/>
              </a:rPr>
              <a:t>Post-collection check-in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on how the child is adapting to the glasses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0288" y="4059936"/>
            <a:ext cx="3282696" cy="71323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1633D"/>
                </a:solidFill>
                <a:latin typeface="Arial"/>
              </a:rPr>
              <a:t>Proactive communication makes the DA look professional and helps build customer trust.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664208"/>
            <a:ext cx="3639312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Why this is good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975104"/>
            <a:ext cx="3639312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tlCol="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The DA keeps the customer informed without waiting for the customer to ask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The customer knows what is happening at each stage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The DA appears organised, attentive and professional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The parent gains confidence that the child's case is being properly managed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Consistent communication helps build trust in the 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931920"/>
            <a:ext cx="3639312" cy="310896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Trainer message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4242816"/>
            <a:ext cx="3639312" cy="118872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The DA should manage the customer journey from customisation through collection and after-care, rather than waiting for the customer to ask for updates.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5541264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15300" y="5541264"/>
            <a:ext cx="3570732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Manage the journey end to end —
do not wait to be asked.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4. KEY TAKEAWAYS   |  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3545829" cy="40416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3545829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7512" y="1554480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572768"/>
            <a:ext cx="281430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Arial"/>
              </a:rPr>
              <a:t>Fix Data Flags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1975104"/>
            <a:ext cx="3216645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066543"/>
            <a:ext cx="3216645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Data flags affect the tracker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They affect SOP tracking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They may affect your bonus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Many issues can be fixed in around 10 minutes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Do not leave easily corrected issues unresolved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Ask for help if you cannot resolve a flag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4224528"/>
            <a:ext cx="3216645" cy="969264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1633D"/>
                </a:solidFill>
                <a:latin typeface="Arial"/>
              </a:rPr>
              <a:t>Do not let something that can be fixed in 10 minutes affect your bonus.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3069" y="1353312"/>
            <a:ext cx="3545829" cy="40416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3069" y="1353312"/>
            <a:ext cx="3545829" cy="50292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87661" y="1554480"/>
            <a:ext cx="310896" cy="310896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9997" y="1572768"/>
            <a:ext cx="281430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Arial"/>
              </a:rPr>
              <a:t>Follow the SOP Criteria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7661" y="1975104"/>
            <a:ext cx="3216645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7661" y="2066543"/>
            <a:ext cx="3216645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Follow up at the required cadences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Cover the correct content for each touchpoint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Sending any message does not automatically mean the SOP has been completed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The SOP gives you regular touchpoints to build relationships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When you follow up well, customers become familiar with and trust you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Stronger relationships support engagement, rechecks and referrals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7661" y="4224528"/>
            <a:ext cx="3216645" cy="969264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1633D"/>
                </a:solidFill>
                <a:latin typeface="Arial"/>
              </a:rPr>
              <a:t>Use every SOP touchpoint to build the customer relationship, not simply to complete a task.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3219" y="1353312"/>
            <a:ext cx="3545829" cy="40416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43219" y="1353312"/>
            <a:ext cx="3545829" cy="50292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07811" y="1554480"/>
            <a:ext cx="310896" cy="310896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0147" y="1572768"/>
            <a:ext cx="281430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Arial"/>
              </a:rPr>
              <a:t>Ask Anything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07811" y="1975104"/>
            <a:ext cx="3216645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7811" y="2066543"/>
            <a:ext cx="3216645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We are all still learning the new process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It is okay not to know something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However, we do not know what you do not know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Raise questions in the Zalo group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CZ and Khoa will answer and clarify them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We are here to support you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7811" y="4224528"/>
            <a:ext cx="3216645" cy="969264"/>
          </a:xfrm>
          <a:prstGeom prst="rect">
            <a:avLst/>
          </a:prstGeom>
          <a:solidFill>
            <a:srgbClr val="E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1633D"/>
                </a:solidFill>
                <a:latin typeface="Arial"/>
              </a:rPr>
              <a:t>It is okay not to know. Ask early so that we can solve the issue together.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596128"/>
            <a:ext cx="11186129" cy="621792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Fix the data.    Follow the SOP.    Ask whenever you are unsure.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1622</Words>
  <Application>Microsoft Office PowerPoint</Application>
  <PresentationFormat>Widescreen</PresentationFormat>
  <Paragraphs>219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 Long Koh</cp:lastModifiedBy>
  <cp:revision>4</cp:revision>
  <dcterms:created xsi:type="dcterms:W3CDTF">2013-01-27T09:14:16Z</dcterms:created>
  <dcterms:modified xsi:type="dcterms:W3CDTF">2026-08-26T04:44:02Z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586a97b-dc47-4882-9241-a2ba35606524_Enabled">
    <vt:lpwstr>true</vt:lpwstr>
  </property>
  <property fmtid="{D5CDD505-2E9C-101B-9397-08002B2CF9AE}" pid="3" name="MSIP_Label_e586a97b-dc47-4882-9241-a2ba35606524_SetDate">
    <vt:lpwstr>2026-08-26T04:30:09Z</vt:lpwstr>
  </property>
  <property fmtid="{D5CDD505-2E9C-101B-9397-08002B2CF9AE}" pid="4" name="MSIP_Label_e586a97b-dc47-4882-9241-a2ba35606524_Method">
    <vt:lpwstr>Standard</vt:lpwstr>
  </property>
  <property fmtid="{D5CDD505-2E9C-101B-9397-08002B2CF9AE}" pid="5" name="MSIP_Label_e586a97b-dc47-4882-9241-a2ba35606524_Name">
    <vt:lpwstr>Limited</vt:lpwstr>
  </property>
  <property fmtid="{D5CDD505-2E9C-101B-9397-08002B2CF9AE}" pid="6" name="MSIP_Label_e586a97b-dc47-4882-9241-a2ba35606524_SiteId">
    <vt:lpwstr>a95f93a6-6a75-4e3b-831a-966f1930949e</vt:lpwstr>
  </property>
  <property fmtid="{D5CDD505-2E9C-101B-9397-08002B2CF9AE}" pid="7" name="MSIP_Label_e586a97b-dc47-4882-9241-a2ba35606524_ActionId">
    <vt:lpwstr>85777a9d-675e-4fb2-a41c-ef7609cbde4e</vt:lpwstr>
  </property>
  <property fmtid="{D5CDD505-2E9C-101B-9397-08002B2CF9AE}" pid="8" name="MSIP_Label_e586a97b-dc47-4882-9241-a2ba35606524_ContentBits">
    <vt:lpwstr>2</vt:lpwstr>
  </property>
  <property fmtid="{D5CDD505-2E9C-101B-9397-08002B2CF9AE}" pid="9" name="MSIP_Label_e586a97b-dc47-4882-9241-a2ba35606524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Classification: Limited</vt:lpwstr>
  </property>
</Properties>
</file>