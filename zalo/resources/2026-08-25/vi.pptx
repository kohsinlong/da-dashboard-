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2886"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no'?>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31091D5C-A3BD-AC40-AE9E-03F733D23343}"/>
              </a:ext>
            </a:extLst>
          </p:cNvPr>
          <p:cNvSpPr txBox="1"/>
          <p:nvPr userDrawn="1">
            <p:extLst>
              <p:ext uri="{1162E1C5-73C7-4A58-AE30-91384D911F3F}">
                <p184:classification xmlns:p184="http://schemas.microsoft.com/office/powerpoint/2018/4/main" val="ftr"/>
              </p:ext>
            </p:extLst>
          </p:nvPr>
        </p:nvSpPr>
        <p:spPr>
          <a:xfrm>
            <a:off x="63500" y="6642100"/>
            <a:ext cx="125571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Classification: Limited</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969" cy="14630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5989320"/>
            <a:ext cx="12191969" cy="868680"/>
          </a:xfrm>
          <a:prstGeom prst="rect">
            <a:avLst/>
          </a:prstGeom>
          <a:solidFill>
            <a:srgbClr val="27513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5" name="Picture 4" descr="image1.png"/>
          <p:cNvPicPr>
            <a:picLocks noChangeAspect="1"/>
          </p:cNvPicPr>
          <p:nvPr/>
        </p:nvPicPr>
        <p:blipFill>
          <a:blip r:embed="rId2"/>
          <a:stretch>
            <a:fillRect/>
          </a:stretch>
        </p:blipFill>
        <p:spPr>
          <a:xfrm>
            <a:off x="566928" y="566928"/>
            <a:ext cx="2980944" cy="548640"/>
          </a:xfrm>
          <a:prstGeom prst="rect">
            <a:avLst/>
          </a:prstGeom>
        </p:spPr>
      </p:pic>
      <p:sp>
        <p:nvSpPr>
          <p:cNvPr id="7" name="TextBox 6"/>
          <p:cNvSpPr txBox="1"/>
          <p:nvPr/>
        </p:nvSpPr>
        <p:spPr>
          <a:xfrm>
            <a:off x="566928" y="2487168"/>
            <a:ext cx="10607040" cy="475515"/>
          </a:xfrm>
          <a:prstGeom prst="rect">
            <a:avLst/>
          </a:prstGeom>
          <a:noFill/>
        </p:spPr>
        <p:txBody>
          <a:bodyPr wrap="square" lIns="36576" tIns="18288" rIns="36576" bIns="18288" anchor="t">
            <a:spAutoFit/>
          </a:bodyPr>
          <a:lstStyle/>
          <a:p>
            <a:pPr>
              <a:lnSpc>
                <a:spcPct val="95000"/>
              </a:lnSpc>
            </a:pPr>
            <a:r>
              <a:rPr lang="en-SG" sz="2940" b="1" dirty="0">
                <a:solidFill>
                  <a:srgbClr val="CFE6D8"/>
                </a:solidFill>
                <a:latin typeface="Arial"/>
              </a:rPr>
              <a:t>ĐÀO TẠO DA KHÚC XẠ  |  TUẦN 25 THÁNG 8 NĂM 2026</a:t>
            </a:r>
          </a:p>
        </p:txBody>
      </p:sp>
      <p:sp>
        <p:nvSpPr>
          <p:cNvPr id="8" name="Rectangle 7"/>
          <p:cNvSpPr/>
          <p:nvPr/>
        </p:nvSpPr>
        <p:spPr>
          <a:xfrm>
            <a:off x="566928" y="4160520"/>
            <a:ext cx="1920240" cy="45720"/>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66928" y="4389120"/>
            <a:ext cx="7863840" cy="1188720"/>
          </a:xfrm>
          <a:prstGeom prst="rect">
            <a:avLst/>
          </a:prstGeom>
          <a:noFill/>
        </p:spPr>
        <p:txBody>
          <a:bodyPr wrap="square" lIns="36576" tIns="18288" rIns="36576" bIns="18288" anchor="t">
            <a:spAutoFit/>
          </a:bodyPr>
          <a:lstStyle/>
          <a:p>
            <a:pPr algn="l">
              <a:lnSpc>
                <a:spcPct val="105000"/>
              </a:lnSpc>
              <a:spcBef>
                <a:spcPts val="0"/>
              </a:spcBef>
              <a:spcAft>
                <a:spcPts val="600"/>
              </a:spcAft>
            </a:pPr>
            <a:r>
              <a:rPr sz="1350" b="0" i="0" dirty="0">
                <a:solidFill>
                  <a:srgbClr val="CFE6D8"/>
                </a:solidFill>
                <a:latin typeface="Arial"/>
              </a:rPr>
              <a:t>Rà soát tracker CRM, kết quả SOP toàn hệ thống, vấn đề riêng của từng chi nhánh và ví dụ tốt</a:t>
            </a:r>
          </a:p>
          <a:p>
            <a:pPr algn="l">
              <a:lnSpc>
                <a:spcPct val="95000"/>
              </a:lnSpc>
              <a:spcBef>
                <a:spcPts val="0"/>
              </a:spcBef>
              <a:spcAft>
                <a:spcPts val="0"/>
              </a:spcAft>
            </a:pPr>
            <a:r>
              <a:rPr sz="1200" b="1" i="0" dirty="0">
                <a:solidFill>
                  <a:srgbClr val="CFE6D8"/>
                </a:solidFill>
                <a:latin typeface="Arial"/>
              </a:rPr>
              <a:t>CTE D5   ·   NGT   ·   CTE D7   ·   LA   ·   Song Han</a:t>
            </a:r>
          </a:p>
        </p:txBody>
      </p:sp>
      <p:sp>
        <p:nvSpPr>
          <p:cNvPr id="10" name="TextBox 9"/>
          <p:cNvSpPr txBox="1"/>
          <p:nvPr/>
        </p:nvSpPr>
        <p:spPr>
          <a:xfrm>
            <a:off x="566928" y="6236208"/>
            <a:ext cx="7315200" cy="29260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0" i="0">
                <a:solidFill>
                  <a:srgbClr val="CFE6D8"/>
                </a:solidFill>
                <a:latin typeface="Arial"/>
              </a:rPr>
              <a:t>Dùng cho đào tạo và rà soát DA  ·  Chỉ lưu hành nội bộ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a:solidFill>
                  <a:srgbClr val="2E9C4C"/>
                </a:solidFill>
                <a:latin typeface="Arial"/>
              </a:rPr>
              <a:t>THIẾT LẬP CƠ SỞ</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a:solidFill>
                  <a:srgbClr val="31633D"/>
                </a:solidFill>
                <a:latin typeface="Arial"/>
              </a:rPr>
              <a:t>CRM Overview: Biết hôm nay có gì đến hạn</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a:solidFill>
                  <a:srgbClr val="5C6B62"/>
                </a:solidFill>
                <a:latin typeface="Arial"/>
              </a:rPr>
              <a:t>2</a:t>
            </a:r>
          </a:p>
        </p:txBody>
      </p:sp>
      <p:sp>
        <p:nvSpPr>
          <p:cNvPr id="8" name="Rectangle 7"/>
          <p:cNvSpPr/>
          <p:nvPr/>
        </p:nvSpPr>
        <p:spPr>
          <a:xfrm>
            <a:off x="502920" y="1353312"/>
            <a:ext cx="4206240" cy="477316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9" name="Picture 8" descr="CRM Tracker Overview photo.png"/>
          <p:cNvPicPr>
            <a:picLocks noChangeAspect="1"/>
          </p:cNvPicPr>
          <p:nvPr/>
        </p:nvPicPr>
        <p:blipFill>
          <a:blip r:embed="rId2"/>
          <a:stretch>
            <a:fillRect/>
          </a:stretch>
        </p:blipFill>
        <p:spPr>
          <a:xfrm>
            <a:off x="658368" y="1481328"/>
            <a:ext cx="3622730" cy="4315968"/>
          </a:xfrm>
          <a:prstGeom prst="rect">
            <a:avLst/>
          </a:prstGeom>
        </p:spPr>
      </p:pic>
      <p:sp>
        <p:nvSpPr>
          <p:cNvPr id="10" name="TextBox 9"/>
          <p:cNvSpPr txBox="1"/>
          <p:nvPr/>
        </p:nvSpPr>
        <p:spPr>
          <a:xfrm>
            <a:off x="566928" y="5852160"/>
            <a:ext cx="406908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0" i="1">
                <a:solidFill>
                  <a:srgbClr val="5C6B62"/>
                </a:solidFill>
                <a:latin typeface="Arial"/>
              </a:rPr>
              <a:t>CRM Overview — CTE D5 (dữ liệu trực tiếp)</a:t>
            </a:r>
          </a:p>
        </p:txBody>
      </p:sp>
      <p:sp>
        <p:nvSpPr>
          <p:cNvPr id="11" name="TextBox 10"/>
          <p:cNvSpPr txBox="1"/>
          <p:nvPr/>
        </p:nvSpPr>
        <p:spPr>
          <a:xfrm>
            <a:off x="4864608" y="1353312"/>
            <a:ext cx="269748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00" b="1" i="0">
                <a:solidFill>
                  <a:srgbClr val="2E9C4C"/>
                </a:solidFill>
                <a:latin typeface="Arial"/>
              </a:rPr>
              <a:t>CẦN XEM NHỮNG GÌ</a:t>
            </a:r>
          </a:p>
        </p:txBody>
      </p:sp>
      <p:sp>
        <p:nvSpPr>
          <p:cNvPr id="12" name="Oval 11"/>
          <p:cNvSpPr/>
          <p:nvPr/>
        </p:nvSpPr>
        <p:spPr>
          <a:xfrm>
            <a:off x="4864608" y="1664208"/>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1</a:t>
            </a:r>
          </a:p>
        </p:txBody>
      </p:sp>
      <p:sp>
        <p:nvSpPr>
          <p:cNvPr id="13" name="TextBox 12"/>
          <p:cNvSpPr txBox="1"/>
          <p:nvPr/>
        </p:nvSpPr>
        <p:spPr>
          <a:xfrm>
            <a:off x="5212080" y="1627632"/>
            <a:ext cx="2377440" cy="914400"/>
          </a:xfrm>
          <a:prstGeom prst="rect">
            <a:avLst/>
          </a:prstGeom>
          <a:noFill/>
        </p:spPr>
        <p:txBody>
          <a:bodyPr wrap="square" lIns="36576" tIns="18288" rIns="36576" bIns="18288" anchor="t">
            <a:spAutoFit/>
          </a:bodyPr>
          <a:lstStyle/>
          <a:p>
            <a:pPr algn="l">
              <a:lnSpc>
                <a:spcPct val="92000"/>
              </a:lnSpc>
              <a:spcBef>
                <a:spcPts val="0"/>
              </a:spcBef>
              <a:spcAft>
                <a:spcPts val="200"/>
              </a:spcAft>
            </a:pPr>
            <a:r>
              <a:rPr sz="1000" b="1" i="0">
                <a:solidFill>
                  <a:srgbClr val="31633D"/>
                </a:solidFill>
                <a:latin typeface="Arial"/>
              </a:rPr>
              <a:t>Số lượt theo dõi đến hạn hôm nay</a:t>
            </a:r>
          </a:p>
          <a:p>
            <a:pPr algn="l">
              <a:lnSpc>
                <a:spcPct val="95000"/>
              </a:lnSpc>
              <a:spcBef>
                <a:spcPts val="0"/>
              </a:spcBef>
              <a:spcAft>
                <a:spcPts val="0"/>
              </a:spcAft>
            </a:pPr>
            <a:r>
              <a:rPr sz="900" b="0" i="0">
                <a:solidFill>
                  <a:srgbClr val="5C6B62"/>
                </a:solidFill>
                <a:latin typeface="Arial"/>
              </a:rPr>
              <a:t>Ô màu đỏ khẩn — mỗi sáng hãy bắt đầu từ đây.</a:t>
            </a:r>
          </a:p>
        </p:txBody>
      </p:sp>
      <p:sp>
        <p:nvSpPr>
          <p:cNvPr id="14" name="Oval 13"/>
          <p:cNvSpPr/>
          <p:nvPr/>
        </p:nvSpPr>
        <p:spPr>
          <a:xfrm>
            <a:off x="4864608" y="2596896"/>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2</a:t>
            </a:r>
          </a:p>
        </p:txBody>
      </p:sp>
      <p:sp>
        <p:nvSpPr>
          <p:cNvPr id="15" name="TextBox 14"/>
          <p:cNvSpPr txBox="1"/>
          <p:nvPr/>
        </p:nvSpPr>
        <p:spPr>
          <a:xfrm>
            <a:off x="5212080" y="2560320"/>
            <a:ext cx="2377440" cy="914400"/>
          </a:xfrm>
          <a:prstGeom prst="rect">
            <a:avLst/>
          </a:prstGeom>
          <a:noFill/>
        </p:spPr>
        <p:txBody>
          <a:bodyPr wrap="square" lIns="36576" tIns="18288" rIns="36576" bIns="18288" anchor="t">
            <a:spAutoFit/>
          </a:bodyPr>
          <a:lstStyle/>
          <a:p>
            <a:pPr algn="l">
              <a:lnSpc>
                <a:spcPct val="92000"/>
              </a:lnSpc>
              <a:spcBef>
                <a:spcPts val="0"/>
              </a:spcBef>
              <a:spcAft>
                <a:spcPts val="200"/>
              </a:spcAft>
            </a:pPr>
            <a:r>
              <a:rPr sz="1000" b="1" i="0" dirty="0">
                <a:solidFill>
                  <a:srgbClr val="31633D"/>
                </a:solidFill>
                <a:latin typeface="Arial"/>
              </a:rPr>
              <a:t>Các nhóm mốc theo dõi khác nhau</a:t>
            </a:r>
          </a:p>
          <a:p>
            <a:pPr algn="l">
              <a:lnSpc>
                <a:spcPct val="95000"/>
              </a:lnSpc>
              <a:spcBef>
                <a:spcPts val="0"/>
              </a:spcBef>
              <a:spcAft>
                <a:spcPts val="0"/>
              </a:spcAft>
            </a:pPr>
            <a:r>
              <a:rPr sz="900" b="0" i="0" dirty="0">
                <a:solidFill>
                  <a:srgbClr val="5C6B62"/>
                </a:solidFill>
                <a:latin typeface="Arial"/>
              </a:rPr>
              <a:t>Đến hạn hôm nay, đến hạn tuần này và Data Flags cần sửa.</a:t>
            </a:r>
          </a:p>
        </p:txBody>
      </p:sp>
      <p:sp>
        <p:nvSpPr>
          <p:cNvPr id="20" name="Rectangle 19"/>
          <p:cNvSpPr/>
          <p:nvPr/>
        </p:nvSpPr>
        <p:spPr>
          <a:xfrm>
            <a:off x="7818120" y="1353312"/>
            <a:ext cx="3867912" cy="310896"/>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CRM Overview cho bạn thấy điều gì</a:t>
            </a:r>
          </a:p>
        </p:txBody>
      </p:sp>
      <p:sp>
        <p:nvSpPr>
          <p:cNvPr id="21" name="Rectangle 20"/>
          <p:cNvSpPr/>
          <p:nvPr/>
        </p:nvSpPr>
        <p:spPr>
          <a:xfrm>
            <a:off x="7818120" y="1664208"/>
            <a:ext cx="3867912" cy="12984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lnSpc>
                <a:spcPct val="95000"/>
              </a:lnSpc>
              <a:spcBef>
                <a:spcPts val="0"/>
              </a:spcBef>
              <a:spcAft>
                <a:spcPts val="500"/>
              </a:spcAft>
            </a:pPr>
            <a:r>
              <a:rPr sz="1000" b="0" i="0" dirty="0">
                <a:solidFill>
                  <a:srgbClr val="5C6B62"/>
                </a:solidFill>
                <a:latin typeface="Arial"/>
              </a:rPr>
              <a:t>▪  Hôm nay có bao nhiêu lượt theo dõi khách hàng đến hạn</a:t>
            </a:r>
          </a:p>
          <a:p>
            <a:pPr algn="l">
              <a:lnSpc>
                <a:spcPct val="95000"/>
              </a:lnSpc>
              <a:spcBef>
                <a:spcPts val="0"/>
              </a:spcBef>
              <a:spcAft>
                <a:spcPts val="500"/>
              </a:spcAft>
            </a:pPr>
            <a:r>
              <a:rPr sz="1000" b="0" i="0" dirty="0">
                <a:solidFill>
                  <a:srgbClr val="5C6B62"/>
                </a:solidFill>
                <a:latin typeface="Arial"/>
              </a:rPr>
              <a:t>▪  </a:t>
            </a:r>
            <a:r>
              <a:rPr lang="en-SG" sz="1000" b="0" i="0" dirty="0">
                <a:solidFill>
                  <a:srgbClr val="5C6B62"/>
                </a:solidFill>
                <a:latin typeface="Arial"/>
              </a:rPr>
              <a:t>Mỗi tuần có bao nhiêu lượt đến hạn </a:t>
            </a:r>
            <a:endParaRPr sz="1000" b="0" i="0" dirty="0">
              <a:solidFill>
                <a:srgbClr val="5C6B62"/>
              </a:solidFill>
              <a:latin typeface="Arial"/>
            </a:endParaRPr>
          </a:p>
          <a:p>
            <a:pPr algn="l">
              <a:lnSpc>
                <a:spcPct val="95000"/>
              </a:lnSpc>
              <a:spcBef>
                <a:spcPts val="0"/>
              </a:spcBef>
              <a:spcAft>
                <a:spcPts val="500"/>
              </a:spcAft>
            </a:pPr>
            <a:r>
              <a:rPr sz="1000" b="0" i="0" dirty="0">
                <a:solidFill>
                  <a:srgbClr val="5C6B62"/>
                </a:solidFill>
                <a:latin typeface="Arial"/>
              </a:rPr>
              <a:t>▪  </a:t>
            </a:r>
            <a:r>
              <a:rPr lang="en-SG" sz="1000" dirty="0">
                <a:solidFill>
                  <a:srgbClr val="5C6B62"/>
                </a:solidFill>
                <a:latin typeface="Arial"/>
              </a:rPr>
              <a:t>Có bao nhiêu Data Flags cần sửa </a:t>
            </a:r>
          </a:p>
          <a:p>
            <a:pPr>
              <a:lnSpc>
                <a:spcPct val="95000"/>
              </a:lnSpc>
              <a:spcAft>
                <a:spcPts val="500"/>
              </a:spcAft>
            </a:pPr>
            <a:r>
              <a:rPr lang="en-SG" sz="1000" dirty="0">
                <a:solidFill>
                  <a:srgbClr val="5C6B62"/>
                </a:solidFill>
                <a:latin typeface="Arial"/>
              </a:rPr>
              <a:t>▪  Số lượng của từng loại Data Flag</a:t>
            </a:r>
          </a:p>
        </p:txBody>
      </p:sp>
      <p:sp>
        <p:nvSpPr>
          <p:cNvPr id="22" name="Rectangle 21"/>
          <p:cNvSpPr/>
          <p:nvPr/>
        </p:nvSpPr>
        <p:spPr>
          <a:xfrm>
            <a:off x="7818120" y="3127248"/>
            <a:ext cx="3867912"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Phạm vi áp dụng tracker</a:t>
            </a:r>
          </a:p>
        </p:txBody>
      </p:sp>
      <p:sp>
        <p:nvSpPr>
          <p:cNvPr id="23" name="Rectangle 22"/>
          <p:cNvSpPr/>
          <p:nvPr/>
        </p:nvSpPr>
        <p:spPr>
          <a:xfrm>
            <a:off x="7818120" y="3438144"/>
            <a:ext cx="3867912" cy="111556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lnSpc>
                <a:spcPct val="95000"/>
              </a:lnSpc>
              <a:spcBef>
                <a:spcPts val="0"/>
              </a:spcBef>
              <a:spcAft>
                <a:spcPts val="700"/>
              </a:spcAft>
            </a:pPr>
            <a:r>
              <a:rPr sz="1000" b="1" dirty="0">
                <a:solidFill>
                  <a:srgbClr val="2E9C4C"/>
                </a:solidFill>
                <a:latin typeface="Arial"/>
              </a:rPr>
              <a:t>Đã chạy:  </a:t>
            </a:r>
            <a:r>
              <a:rPr sz="1000" b="0" dirty="0">
                <a:solidFill>
                  <a:srgbClr val="5C6B62"/>
                </a:solidFill>
                <a:latin typeface="Arial"/>
              </a:rPr>
              <a:t>NGT và CTE D5</a:t>
            </a:r>
          </a:p>
          <a:p>
            <a:pPr algn="l">
              <a:lnSpc>
                <a:spcPct val="95000"/>
              </a:lnSpc>
              <a:spcBef>
                <a:spcPts val="0"/>
              </a:spcBef>
              <a:spcAft>
                <a:spcPts val="0"/>
              </a:spcAft>
            </a:pPr>
            <a:r>
              <a:rPr sz="1000" b="1" dirty="0">
                <a:solidFill>
                  <a:srgbClr val="B9770B"/>
                </a:solidFill>
                <a:latin typeface="Arial"/>
              </a:rPr>
              <a:t>Sắp chạy:  </a:t>
            </a:r>
            <a:r>
              <a:rPr sz="1000" b="0" dirty="0">
                <a:solidFill>
                  <a:srgbClr val="5C6B62"/>
                </a:solidFill>
                <a:latin typeface="Arial"/>
              </a:rPr>
              <a:t>CTE D7 và LA</a:t>
            </a:r>
          </a:p>
        </p:txBody>
      </p:sp>
      <p:sp>
        <p:nvSpPr>
          <p:cNvPr id="24" name="Rectangle 23"/>
          <p:cNvSpPr/>
          <p:nvPr/>
        </p:nvSpPr>
        <p:spPr>
          <a:xfrm>
            <a:off x="7818120" y="4736592"/>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7886700" y="4736592"/>
            <a:ext cx="3799332"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030" b="1" i="0" dirty="0">
                <a:solidFill>
                  <a:srgbClr val="31633D"/>
                </a:solidFill>
                <a:latin typeface="Arial"/>
              </a:rPr>
              <a:t>Kiểm tra CRM Overview mỗi ngày để </a:t>
            </a:r>
            <a:r>
              <a:rPr lang="en-SG" sz="1030" b="1" i="0" dirty="0">
                <a:solidFill>
                  <a:srgbClr val="31633D"/>
                </a:solidFill>
                <a:latin typeface="Arial"/>
              </a:rPr>
              <a:t>biết mỗi ngày có bao nhiêu lượt đến hạn và bao nhiêu Data Flags cần sửa</a:t>
            </a:r>
            <a:endParaRPr sz="1100" b="1" i="0" dirty="0">
              <a:solidFill>
                <a:srgbClr val="31633D"/>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a:solidFill>
                  <a:srgbClr val="2E9C4C"/>
                </a:solidFill>
                <a:latin typeface="Arial"/>
              </a:rPr>
              <a:t>1. VẤN ĐỀ TOÀN HỆ THỐNG   |   SỬA DATA FLAGS</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020" b="1" i="0">
                <a:solidFill>
                  <a:srgbClr val="31633D"/>
                </a:solidFill>
                <a:latin typeface="Arial"/>
              </a:rPr>
              <a:t>Sửa Data Flags trước khi chúng ảnh hưởng đến tracker, kết quả SOP và thưởng của bạn</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a:solidFill>
                  <a:srgbClr val="5C6B62"/>
                </a:solidFill>
                <a:latin typeface="Arial"/>
              </a:rPr>
              <a:t>3</a:t>
            </a:r>
          </a:p>
        </p:txBody>
      </p:sp>
      <p:sp>
        <p:nvSpPr>
          <p:cNvPr id="8" name="Rectangle 7"/>
          <p:cNvSpPr/>
          <p:nvPr/>
        </p:nvSpPr>
        <p:spPr>
          <a:xfrm>
            <a:off x="502920" y="1353312"/>
            <a:ext cx="4617720" cy="3108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Vì sao Data Flags quan trọng</a:t>
            </a:r>
          </a:p>
        </p:txBody>
      </p:sp>
      <p:sp>
        <p:nvSpPr>
          <p:cNvPr id="9" name="Rectangle 8"/>
          <p:cNvSpPr/>
          <p:nvPr/>
        </p:nvSpPr>
        <p:spPr>
          <a:xfrm>
            <a:off x="502920" y="1664208"/>
            <a:ext cx="4617720" cy="1700784"/>
          </a:xfrm>
          <a:prstGeom prst="rect">
            <a:avLst/>
          </a:prstGeom>
          <a:solidFill>
            <a:srgbClr val="FDECEA"/>
          </a:solidFill>
          <a:ln w="9525">
            <a:solidFill>
              <a:srgbClr val="E8B4AE"/>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lnSpc>
                <a:spcPct val="95000"/>
              </a:lnSpc>
              <a:spcBef>
                <a:spcPts val="0"/>
              </a:spcBef>
              <a:spcAft>
                <a:spcPts val="500"/>
              </a:spcAft>
            </a:pPr>
            <a:r>
              <a:rPr sz="1000" b="0" i="0">
                <a:solidFill>
                  <a:srgbClr val="5C6B62"/>
                </a:solidFill>
                <a:latin typeface="Arial"/>
              </a:rPr>
              <a:t>▪  Ảnh hưởng đến độ chính xác của tracker</a:t>
            </a:r>
          </a:p>
          <a:p>
            <a:pPr algn="l">
              <a:lnSpc>
                <a:spcPct val="95000"/>
              </a:lnSpc>
              <a:spcBef>
                <a:spcPts val="0"/>
              </a:spcBef>
              <a:spcAft>
                <a:spcPts val="500"/>
              </a:spcAft>
            </a:pPr>
            <a:r>
              <a:rPr sz="1000" b="0" i="0">
                <a:solidFill>
                  <a:srgbClr val="5C6B62"/>
                </a:solidFill>
                <a:latin typeface="Arial"/>
              </a:rPr>
              <a:t>▪  Có thể ảnh hưởng đến mốc SOP được hệ thống gán</a:t>
            </a:r>
          </a:p>
          <a:p>
            <a:pPr algn="l">
              <a:lnSpc>
                <a:spcPct val="95000"/>
              </a:lnSpc>
              <a:spcBef>
                <a:spcPts val="0"/>
              </a:spcBef>
              <a:spcAft>
                <a:spcPts val="500"/>
              </a:spcAft>
            </a:pPr>
            <a:r>
              <a:rPr sz="1000" b="0" i="0">
                <a:solidFill>
                  <a:srgbClr val="5C6B62"/>
                </a:solidFill>
                <a:latin typeface="Arial"/>
              </a:rPr>
              <a:t>▪  Ảnh hưởng đến kết quả SOP được ghi nhận</a:t>
            </a:r>
          </a:p>
          <a:p>
            <a:pPr algn="l">
              <a:lnSpc>
                <a:spcPct val="95000"/>
              </a:lnSpc>
              <a:spcBef>
                <a:spcPts val="0"/>
              </a:spcBef>
              <a:spcAft>
                <a:spcPts val="500"/>
              </a:spcAft>
            </a:pPr>
            <a:r>
              <a:rPr sz="1000" b="0" i="0">
                <a:solidFill>
                  <a:srgbClr val="5C6B62"/>
                </a:solidFill>
                <a:latin typeface="Arial"/>
              </a:rPr>
              <a:t>▪  Cuối cùng có thể ảnh hưởng đến thưởng của bạn</a:t>
            </a:r>
          </a:p>
          <a:p>
            <a:pPr algn="l">
              <a:lnSpc>
                <a:spcPct val="95000"/>
              </a:lnSpc>
              <a:spcBef>
                <a:spcPts val="300"/>
              </a:spcBef>
              <a:spcAft>
                <a:spcPts val="0"/>
              </a:spcAft>
            </a:pPr>
            <a:r>
              <a:rPr sz="1000" b="1">
                <a:solidFill>
                  <a:srgbClr val="C0392B"/>
                </a:solidFill>
                <a:latin typeface="Arial"/>
              </a:rPr>
              <a:t>Phần lớn Data Flags có thể sửa trong khoảng 10 phút</a:t>
            </a:r>
          </a:p>
        </p:txBody>
      </p:sp>
      <p:sp>
        <p:nvSpPr>
          <p:cNvPr id="10" name="Rectangle 9"/>
          <p:cNvSpPr/>
          <p:nvPr/>
        </p:nvSpPr>
        <p:spPr>
          <a:xfrm>
            <a:off x="502920" y="3529584"/>
            <a:ext cx="4617720"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Bạn cần làm gì</a:t>
            </a:r>
          </a:p>
        </p:txBody>
      </p:sp>
      <p:sp>
        <p:nvSpPr>
          <p:cNvPr id="11" name="Rectangle 10"/>
          <p:cNvSpPr/>
          <p:nvPr/>
        </p:nvSpPr>
        <p:spPr>
          <a:xfrm>
            <a:off x="502920" y="3840480"/>
            <a:ext cx="4617720" cy="160934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lnSpc>
                <a:spcPct val="95000"/>
              </a:lnSpc>
              <a:spcBef>
                <a:spcPts val="0"/>
              </a:spcBef>
              <a:spcAft>
                <a:spcPts val="600"/>
              </a:spcAft>
            </a:pPr>
            <a:r>
              <a:rPr sz="1000" b="0" i="0">
                <a:solidFill>
                  <a:srgbClr val="5C6B62"/>
                </a:solidFill>
                <a:latin typeface="Arial"/>
              </a:rPr>
              <a:t>▪  Kiểm tra Data Flags thường xuyên</a:t>
            </a:r>
          </a:p>
          <a:p>
            <a:pPr algn="l">
              <a:lnSpc>
                <a:spcPct val="95000"/>
              </a:lnSpc>
              <a:spcBef>
                <a:spcPts val="0"/>
              </a:spcBef>
              <a:spcAft>
                <a:spcPts val="600"/>
              </a:spcAft>
            </a:pPr>
            <a:r>
              <a:rPr sz="1000" b="0" i="0">
                <a:solidFill>
                  <a:srgbClr val="5C6B62"/>
                </a:solidFill>
                <a:latin typeface="Arial"/>
              </a:rPr>
              <a:t>▪  Bổ sung hoặc sửa thông tin thiếu, sai ngay khi phát hiện</a:t>
            </a:r>
          </a:p>
          <a:p>
            <a:pPr algn="l">
              <a:lnSpc>
                <a:spcPct val="95000"/>
              </a:lnSpc>
              <a:spcBef>
                <a:spcPts val="0"/>
              </a:spcBef>
              <a:spcAft>
                <a:spcPts val="600"/>
              </a:spcAft>
            </a:pPr>
            <a:r>
              <a:rPr sz="1000" b="0" i="0">
                <a:solidFill>
                  <a:srgbClr val="5C6B62"/>
                </a:solidFill>
                <a:latin typeface="Arial"/>
              </a:rPr>
              <a:t>▪  Đảm bảo thông tin khách hàng được ghi nhận đúng</a:t>
            </a:r>
          </a:p>
          <a:p>
            <a:pPr algn="l">
              <a:lnSpc>
                <a:spcPct val="95000"/>
              </a:lnSpc>
              <a:spcBef>
                <a:spcPts val="0"/>
              </a:spcBef>
              <a:spcAft>
                <a:spcPts val="600"/>
              </a:spcAft>
            </a:pPr>
            <a:r>
              <a:rPr sz="1000" b="0" i="0">
                <a:solidFill>
                  <a:srgbClr val="5C6B62"/>
                </a:solidFill>
                <a:latin typeface="Arial"/>
              </a:rPr>
              <a:t>▪  Nếu không tự xử lý được, hãy nêu trong nhóm Zalo</a:t>
            </a:r>
          </a:p>
        </p:txBody>
      </p:sp>
      <p:sp>
        <p:nvSpPr>
          <p:cNvPr id="12" name="Rectangle 11"/>
          <p:cNvSpPr/>
          <p:nvPr/>
        </p:nvSpPr>
        <p:spPr>
          <a:xfrm>
            <a:off x="502920" y="5614416"/>
            <a:ext cx="68580" cy="4754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571500" y="5614416"/>
            <a:ext cx="4549140" cy="475488"/>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100" b="1" i="0">
                <a:solidFill>
                  <a:srgbClr val="31633D"/>
                </a:solidFill>
                <a:latin typeface="Arial"/>
              </a:rPr>
              <a:t>Đừng để việc chỉ mất 10 phút để sửa
làm ảnh hưởng đến thưởng của bạn.</a:t>
            </a:r>
          </a:p>
        </p:txBody>
      </p:sp>
      <p:sp>
        <p:nvSpPr>
          <p:cNvPr id="14" name="Rectangle 13"/>
          <p:cNvSpPr/>
          <p:nvPr/>
        </p:nvSpPr>
        <p:spPr>
          <a:xfrm>
            <a:off x="5394960" y="1353312"/>
            <a:ext cx="6291072" cy="3145536"/>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Dataflags examples.png"/>
          <p:cNvPicPr>
            <a:picLocks noChangeAspect="1"/>
          </p:cNvPicPr>
          <p:nvPr/>
        </p:nvPicPr>
        <p:blipFill>
          <a:blip r:embed="rId2"/>
          <a:stretch>
            <a:fillRect/>
          </a:stretch>
        </p:blipFill>
        <p:spPr>
          <a:xfrm>
            <a:off x="5614416" y="1444752"/>
            <a:ext cx="5852160" cy="3000117"/>
          </a:xfrm>
          <a:prstGeom prst="rect">
            <a:avLst/>
          </a:prstGeom>
        </p:spPr>
      </p:pic>
      <p:sp>
        <p:nvSpPr>
          <p:cNvPr id="16" name="TextBox 15"/>
          <p:cNvSpPr txBox="1"/>
          <p:nvPr/>
        </p:nvSpPr>
        <p:spPr>
          <a:xfrm>
            <a:off x="5413248" y="4535424"/>
            <a:ext cx="6291072" cy="219456"/>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0" i="1" dirty="0">
                <a:solidFill>
                  <a:srgbClr val="5C6B62"/>
                </a:solidFill>
                <a:latin typeface="Arial"/>
              </a:rPr>
              <a:t>Data Flags — các hồ sơ khách hàng bị gắn cờ, cần chỉnh sửa</a:t>
            </a:r>
          </a:p>
        </p:txBody>
      </p:sp>
      <p:sp>
        <p:nvSpPr>
          <p:cNvPr id="17" name="TextBox 16"/>
          <p:cNvSpPr txBox="1"/>
          <p:nvPr/>
        </p:nvSpPr>
        <p:spPr>
          <a:xfrm>
            <a:off x="5394960" y="4828032"/>
            <a:ext cx="6291072" cy="219456"/>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00" b="1" i="0">
                <a:solidFill>
                  <a:srgbClr val="2E9C4C"/>
                </a:solidFill>
                <a:latin typeface="Arial"/>
              </a:rPr>
              <a:t>CÁCH XỬ LÝ</a:t>
            </a:r>
          </a:p>
        </p:txBody>
      </p:sp>
      <p:sp>
        <p:nvSpPr>
          <p:cNvPr id="18" name="Oval 17"/>
          <p:cNvSpPr/>
          <p:nvPr/>
        </p:nvSpPr>
        <p:spPr>
          <a:xfrm>
            <a:off x="5394960" y="5102352"/>
            <a:ext cx="256032" cy="25603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1</a:t>
            </a:r>
          </a:p>
        </p:txBody>
      </p:sp>
      <p:sp>
        <p:nvSpPr>
          <p:cNvPr id="19" name="TextBox 18"/>
          <p:cNvSpPr txBox="1"/>
          <p:nvPr/>
        </p:nvSpPr>
        <p:spPr>
          <a:xfrm>
            <a:off x="5742432" y="5074920"/>
            <a:ext cx="5907024" cy="29260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a:solidFill>
                  <a:srgbClr val="31633D"/>
                </a:solidFill>
                <a:latin typeface="Arial"/>
              </a:rPr>
              <a:t>Xem hồ sơ bị gắn cờ vì lý do gì  —  </a:t>
            </a:r>
            <a:r>
              <a:rPr sz="950" b="0">
                <a:solidFill>
                  <a:srgbClr val="5C6B62"/>
                </a:solidFill>
                <a:latin typeface="Arial"/>
              </a:rPr>
              <a:t>Đọc cột flag, ở đó ghi rõ vấn đề cụ thể.</a:t>
            </a:r>
          </a:p>
        </p:txBody>
      </p:sp>
      <p:sp>
        <p:nvSpPr>
          <p:cNvPr id="20" name="Oval 19"/>
          <p:cNvSpPr/>
          <p:nvPr/>
        </p:nvSpPr>
        <p:spPr>
          <a:xfrm>
            <a:off x="5394960" y="5468112"/>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2</a:t>
            </a:r>
          </a:p>
        </p:txBody>
      </p:sp>
      <p:sp>
        <p:nvSpPr>
          <p:cNvPr id="21" name="TextBox 20"/>
          <p:cNvSpPr txBox="1"/>
          <p:nvPr/>
        </p:nvSpPr>
        <p:spPr>
          <a:xfrm>
            <a:off x="5742432" y="5440680"/>
            <a:ext cx="5907024" cy="29260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a:solidFill>
                  <a:srgbClr val="31633D"/>
                </a:solidFill>
                <a:latin typeface="Arial"/>
              </a:rPr>
              <a:t>Sửa thông tin thiếu hoặc sai  —  </a:t>
            </a:r>
            <a:r>
              <a:rPr sz="950" b="0">
                <a:solidFill>
                  <a:srgbClr val="5C6B62"/>
                </a:solidFill>
                <a:latin typeface="Arial"/>
              </a:rPr>
              <a:t>Điền các trường Y/N, ngày, số điện thoại, sản phẩm và tag.</a:t>
            </a:r>
          </a:p>
        </p:txBody>
      </p:sp>
      <p:sp>
        <p:nvSpPr>
          <p:cNvPr id="22" name="Oval 21"/>
          <p:cNvSpPr/>
          <p:nvPr/>
        </p:nvSpPr>
        <p:spPr>
          <a:xfrm>
            <a:off x="5394960" y="5833872"/>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3</a:t>
            </a:r>
          </a:p>
        </p:txBody>
      </p:sp>
      <p:sp>
        <p:nvSpPr>
          <p:cNvPr id="23" name="TextBox 22"/>
          <p:cNvSpPr txBox="1"/>
          <p:nvPr/>
        </p:nvSpPr>
        <p:spPr>
          <a:xfrm>
            <a:off x="5742432" y="5806440"/>
            <a:ext cx="5907024" cy="29260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dirty="0">
                <a:solidFill>
                  <a:srgbClr val="31633D"/>
                </a:solidFill>
                <a:latin typeface="Arial"/>
              </a:rPr>
              <a:t>Nhờ hỗ trợ nếu bạn không xử lý được  —  </a:t>
            </a:r>
            <a:r>
              <a:rPr sz="950" b="0" dirty="0">
                <a:solidFill>
                  <a:srgbClr val="5C6B62"/>
                </a:solidFill>
                <a:latin typeface="Arial"/>
              </a:rPr>
              <a:t>Đăng vào nhóm </a:t>
            </a:r>
            <a:r>
              <a:rPr sz="950" b="0" dirty="0" err="1">
                <a:solidFill>
                  <a:srgbClr val="5C6B62"/>
                </a:solidFill>
                <a:latin typeface="Arial"/>
              </a:rPr>
              <a:t>Zalo</a:t>
            </a:r>
            <a:r>
              <a:rPr sz="950" b="0" dirty="0">
                <a:solidFill>
                  <a:srgbClr val="5C6B62"/>
                </a:solidFill>
                <a:latin typeface="Arial"/>
              </a:rPr>
              <a:t> thay vì để đó không xử lý.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a:solidFill>
                  <a:srgbClr val="2E9C4C"/>
                </a:solidFill>
                <a:latin typeface="Arial"/>
              </a:rPr>
              <a:t>1. VẤN ĐỀ TOÀN HỆ THỐNG   |   TUÂN THỦ TIÊU CHÍ SOP</a:t>
            </a:r>
          </a:p>
        </p:txBody>
      </p:sp>
      <p:sp>
        <p:nvSpPr>
          <p:cNvPr id="4" name="TextBox 3"/>
          <p:cNvSpPr txBox="1"/>
          <p:nvPr/>
        </p:nvSpPr>
        <p:spPr>
          <a:xfrm>
            <a:off x="502920" y="493776"/>
            <a:ext cx="11247120" cy="348429"/>
          </a:xfrm>
          <a:prstGeom prst="rect">
            <a:avLst/>
          </a:prstGeom>
          <a:noFill/>
        </p:spPr>
        <p:txBody>
          <a:bodyPr wrap="square" lIns="36576" tIns="18288" rIns="36576" bIns="18288" anchor="t">
            <a:spAutoFit/>
          </a:bodyPr>
          <a:lstStyle/>
          <a:p>
            <a:pPr algn="l">
              <a:lnSpc>
                <a:spcPct val="92000"/>
              </a:lnSpc>
              <a:spcBef>
                <a:spcPts val="0"/>
              </a:spcBef>
              <a:spcAft>
                <a:spcPts val="0"/>
              </a:spcAft>
            </a:pPr>
            <a:r>
              <a:rPr lang="en-SG" sz="2200" b="1" i="0" dirty="0">
                <a:solidFill>
                  <a:srgbClr val="31633D"/>
                </a:solidFill>
                <a:latin typeface="Arial"/>
              </a:rPr>
              <a:t>Tỷ lệ tuân thủ SOP vẫn còn thấp </a:t>
            </a:r>
            <a:endParaRPr sz="2200" b="1" i="0" dirty="0">
              <a:solidFill>
                <a:srgbClr val="31633D"/>
              </a:solidFill>
              <a:latin typeface="Arial"/>
            </a:endParaRP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a:solidFill>
                  <a:srgbClr val="5C6B62"/>
                </a:solidFill>
                <a:latin typeface="Arial"/>
              </a:rPr>
              <a:t>4</a:t>
            </a:r>
          </a:p>
        </p:txBody>
      </p:sp>
      <p:sp>
        <p:nvSpPr>
          <p:cNvPr id="8" name="Rectangle 7"/>
          <p:cNvSpPr/>
          <p:nvPr/>
        </p:nvSpPr>
        <p:spPr>
          <a:xfrm>
            <a:off x="502920" y="1353312"/>
            <a:ext cx="3529584" cy="138988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502920" y="1353312"/>
            <a:ext cx="3529584"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49224" y="1481328"/>
            <a:ext cx="3236976"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00" b="1" i="0">
                <a:solidFill>
                  <a:srgbClr val="5C6B62"/>
                </a:solidFill>
                <a:latin typeface="Arial"/>
              </a:rPr>
              <a:t>CTE D5</a:t>
            </a:r>
          </a:p>
        </p:txBody>
      </p:sp>
      <p:sp>
        <p:nvSpPr>
          <p:cNvPr id="11" name="TextBox 10"/>
          <p:cNvSpPr txBox="1"/>
          <p:nvPr/>
        </p:nvSpPr>
        <p:spPr>
          <a:xfrm>
            <a:off x="649224" y="1719072"/>
            <a:ext cx="3236976" cy="60350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3400" b="1" i="0">
                <a:solidFill>
                  <a:srgbClr val="C0392B"/>
                </a:solidFill>
                <a:latin typeface="Arial"/>
              </a:rPr>
              <a:t>0/22</a:t>
            </a:r>
          </a:p>
        </p:txBody>
      </p:sp>
      <p:sp>
        <p:nvSpPr>
          <p:cNvPr id="12" name="TextBox 11"/>
          <p:cNvSpPr txBox="1"/>
          <p:nvPr/>
        </p:nvSpPr>
        <p:spPr>
          <a:xfrm>
            <a:off x="649224" y="2340864"/>
            <a:ext cx="3236976" cy="226985"/>
          </a:xfrm>
          <a:prstGeom prst="rect">
            <a:avLst/>
          </a:prstGeom>
          <a:noFill/>
        </p:spPr>
        <p:txBody>
          <a:bodyPr wrap="square" lIns="36576" tIns="18288" rIns="36576" bIns="18288" anchor="t">
            <a:spAutoFit/>
          </a:bodyPr>
          <a:lstStyle/>
          <a:p>
            <a:pPr algn="l">
              <a:lnSpc>
                <a:spcPct val="95000"/>
              </a:lnSpc>
              <a:spcBef>
                <a:spcPts val="0"/>
              </a:spcBef>
              <a:spcAft>
                <a:spcPts val="0"/>
              </a:spcAft>
            </a:pPr>
            <a:r>
              <a:rPr lang="en-SG" sz="1300" b="1" dirty="0">
                <a:solidFill>
                  <a:srgbClr val="C0392B"/>
                </a:solidFill>
                <a:latin typeface="Arial"/>
              </a:rPr>
              <a:t>Đạt/Mẫu</a:t>
            </a:r>
            <a:endParaRPr sz="1300" b="1" dirty="0">
              <a:solidFill>
                <a:srgbClr val="C0392B"/>
              </a:solidFill>
              <a:latin typeface="Arial"/>
            </a:endParaRPr>
          </a:p>
        </p:txBody>
      </p:sp>
      <p:sp>
        <p:nvSpPr>
          <p:cNvPr id="13" name="Rectangle 12"/>
          <p:cNvSpPr/>
          <p:nvPr/>
        </p:nvSpPr>
        <p:spPr>
          <a:xfrm>
            <a:off x="4315968" y="1353312"/>
            <a:ext cx="3529584" cy="138988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4315968" y="1353312"/>
            <a:ext cx="3529584"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4462272" y="1481328"/>
            <a:ext cx="3236976"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00" b="1" i="0">
                <a:solidFill>
                  <a:srgbClr val="5C6B62"/>
                </a:solidFill>
                <a:latin typeface="Arial"/>
              </a:rPr>
              <a:t>NGT</a:t>
            </a:r>
          </a:p>
        </p:txBody>
      </p:sp>
      <p:sp>
        <p:nvSpPr>
          <p:cNvPr id="16" name="TextBox 15"/>
          <p:cNvSpPr txBox="1"/>
          <p:nvPr/>
        </p:nvSpPr>
        <p:spPr>
          <a:xfrm>
            <a:off x="4462272" y="1719072"/>
            <a:ext cx="3236976" cy="60350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3400" b="1" i="0">
                <a:solidFill>
                  <a:srgbClr val="C0392B"/>
                </a:solidFill>
                <a:latin typeface="Arial"/>
              </a:rPr>
              <a:t>1/21</a:t>
            </a:r>
          </a:p>
        </p:txBody>
      </p:sp>
      <p:sp>
        <p:nvSpPr>
          <p:cNvPr id="17" name="TextBox 16"/>
          <p:cNvSpPr txBox="1"/>
          <p:nvPr/>
        </p:nvSpPr>
        <p:spPr>
          <a:xfrm>
            <a:off x="4462272" y="2340864"/>
            <a:ext cx="3236976" cy="226985"/>
          </a:xfrm>
          <a:prstGeom prst="rect">
            <a:avLst/>
          </a:prstGeom>
          <a:noFill/>
        </p:spPr>
        <p:txBody>
          <a:bodyPr wrap="square" lIns="36576" tIns="18288" rIns="36576" bIns="18288" anchor="t">
            <a:spAutoFit/>
          </a:bodyPr>
          <a:lstStyle/>
          <a:p>
            <a:pPr>
              <a:lnSpc>
                <a:spcPct val="95000"/>
              </a:lnSpc>
            </a:pPr>
            <a:r>
              <a:rPr lang="en-SG" sz="1300" b="1" dirty="0">
                <a:solidFill>
                  <a:srgbClr val="C0392B"/>
                </a:solidFill>
                <a:latin typeface="Arial"/>
              </a:rPr>
              <a:t>Đạt/Mẫu</a:t>
            </a:r>
          </a:p>
        </p:txBody>
      </p:sp>
      <p:sp>
        <p:nvSpPr>
          <p:cNvPr id="18" name="Rectangle 17"/>
          <p:cNvSpPr/>
          <p:nvPr/>
        </p:nvSpPr>
        <p:spPr>
          <a:xfrm>
            <a:off x="8129016" y="1353312"/>
            <a:ext cx="3529584" cy="138988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8129016" y="1353312"/>
            <a:ext cx="3529584" cy="54864"/>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275320" y="1481328"/>
            <a:ext cx="3236976"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00" b="1" i="0">
                <a:solidFill>
                  <a:srgbClr val="5C6B62"/>
                </a:solidFill>
                <a:latin typeface="Arial"/>
              </a:rPr>
              <a:t>TỔNG HỢP</a:t>
            </a:r>
          </a:p>
        </p:txBody>
      </p:sp>
      <p:sp>
        <p:nvSpPr>
          <p:cNvPr id="21" name="TextBox 20"/>
          <p:cNvSpPr txBox="1"/>
          <p:nvPr/>
        </p:nvSpPr>
        <p:spPr>
          <a:xfrm>
            <a:off x="8275320" y="1719072"/>
            <a:ext cx="3236976" cy="60350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3400" b="1" i="0" dirty="0">
                <a:solidFill>
                  <a:srgbClr val="31633D"/>
                </a:solidFill>
                <a:latin typeface="Arial"/>
              </a:rPr>
              <a:t>1/43</a:t>
            </a:r>
          </a:p>
        </p:txBody>
      </p:sp>
      <p:sp>
        <p:nvSpPr>
          <p:cNvPr id="22" name="TextBox 21"/>
          <p:cNvSpPr txBox="1"/>
          <p:nvPr/>
        </p:nvSpPr>
        <p:spPr>
          <a:xfrm>
            <a:off x="8275320" y="2340864"/>
            <a:ext cx="3236976" cy="226985"/>
          </a:xfrm>
          <a:prstGeom prst="rect">
            <a:avLst/>
          </a:prstGeom>
          <a:noFill/>
        </p:spPr>
        <p:txBody>
          <a:bodyPr wrap="square" lIns="36576" tIns="18288" rIns="36576" bIns="18288" anchor="t">
            <a:spAutoFit/>
          </a:bodyPr>
          <a:lstStyle/>
          <a:p>
            <a:pPr algn="l">
              <a:lnSpc>
                <a:spcPct val="95000"/>
              </a:lnSpc>
              <a:spcBef>
                <a:spcPts val="0"/>
              </a:spcBef>
              <a:spcAft>
                <a:spcPts val="0"/>
              </a:spcAft>
            </a:pPr>
            <a:r>
              <a:rPr lang="en-US" sz="1300" b="1" dirty="0">
                <a:solidFill>
                  <a:srgbClr val="31633D"/>
                </a:solidFill>
                <a:latin typeface="Arial"/>
              </a:rPr>
              <a:t>Đạt/Mẫu</a:t>
            </a:r>
          </a:p>
        </p:txBody>
      </p:sp>
      <p:sp>
        <p:nvSpPr>
          <p:cNvPr id="23" name="Rectangle 22"/>
          <p:cNvSpPr/>
          <p:nvPr/>
        </p:nvSpPr>
        <p:spPr>
          <a:xfrm>
            <a:off x="502920" y="2825496"/>
            <a:ext cx="11186129" cy="292608"/>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lnSpc>
                <a:spcPct val="95000"/>
              </a:lnSpc>
              <a:spcBef>
                <a:spcPts val="0"/>
              </a:spcBef>
              <a:spcAft>
                <a:spcPts val="0"/>
              </a:spcAft>
            </a:pPr>
            <a:r>
              <a:rPr sz="950" b="0" i="0" dirty="0">
                <a:solidFill>
                  <a:srgbClr val="5C6B62"/>
                </a:solidFill>
                <a:latin typeface="Arial"/>
              </a:rPr>
              <a:t>CTE D7</a:t>
            </a:r>
            <a:r>
              <a:rPr lang="en-SG" sz="950" b="0" i="0" dirty="0">
                <a:solidFill>
                  <a:srgbClr val="5C6B62"/>
                </a:solidFill>
                <a:latin typeface="Arial"/>
              </a:rPr>
              <a:t>,</a:t>
            </a:r>
            <a:r>
              <a:rPr sz="950" b="0" i="0" dirty="0">
                <a:solidFill>
                  <a:srgbClr val="5C6B62"/>
                </a:solidFill>
                <a:latin typeface="Arial"/>
              </a:rPr>
              <a:t> LA </a:t>
            </a:r>
            <a:r>
              <a:rPr lang="en-SG" sz="950" b="0" i="0" dirty="0">
                <a:solidFill>
                  <a:srgbClr val="5C6B62"/>
                </a:solidFill>
                <a:latin typeface="Arial"/>
              </a:rPr>
              <a:t>và SH </a:t>
            </a:r>
            <a:r>
              <a:rPr sz="950" b="0" i="0" dirty="0">
                <a:solidFill>
                  <a:srgbClr val="5C6B62"/>
                </a:solidFill>
                <a:latin typeface="Arial"/>
              </a:rPr>
              <a:t>chưa được theo dõi định lượng. Tracker của các chi nhánh này sẽ chạy trong thời gian tới.</a:t>
            </a:r>
          </a:p>
        </p:txBody>
      </p:sp>
      <p:sp>
        <p:nvSpPr>
          <p:cNvPr id="24" name="Rectangle 23"/>
          <p:cNvSpPr/>
          <p:nvPr/>
        </p:nvSpPr>
        <p:spPr>
          <a:xfrm>
            <a:off x="502920" y="3255264"/>
            <a:ext cx="5705856" cy="310896"/>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Vấn đề chung toàn hệ thống</a:t>
            </a:r>
          </a:p>
        </p:txBody>
      </p:sp>
      <p:sp>
        <p:nvSpPr>
          <p:cNvPr id="25" name="Rectangle 24"/>
          <p:cNvSpPr/>
          <p:nvPr/>
        </p:nvSpPr>
        <p:spPr>
          <a:xfrm>
            <a:off x="502920" y="3566160"/>
            <a:ext cx="5705856" cy="22128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73152" rtlCol="0" anchor="ctr"/>
          <a:lstStyle/>
          <a:p>
            <a:pPr algn="l">
              <a:lnSpc>
                <a:spcPct val="95000"/>
              </a:lnSpc>
              <a:spcBef>
                <a:spcPts val="0"/>
              </a:spcBef>
              <a:spcAft>
                <a:spcPts val="400"/>
              </a:spcAft>
            </a:pPr>
            <a:r>
              <a:rPr sz="950" b="0" i="0" dirty="0">
                <a:solidFill>
                  <a:srgbClr val="5C6B62"/>
                </a:solidFill>
                <a:latin typeface="Arial"/>
              </a:rPr>
              <a:t>▪  Có ghi nhận một số lượt theo dõi D7 riêng lẻ</a:t>
            </a:r>
          </a:p>
          <a:p>
            <a:pPr algn="l">
              <a:lnSpc>
                <a:spcPct val="95000"/>
              </a:lnSpc>
              <a:spcBef>
                <a:spcPts val="0"/>
              </a:spcBef>
              <a:spcAft>
                <a:spcPts val="400"/>
              </a:spcAft>
            </a:pPr>
            <a:r>
              <a:rPr sz="950" b="0" i="0" dirty="0">
                <a:solidFill>
                  <a:srgbClr val="5C6B62"/>
                </a:solidFill>
                <a:latin typeface="Arial"/>
              </a:rPr>
              <a:t>▪  Tuy nhiên nhìn chung chưa hoàn thành đủ các mốc theo yêu cầu</a:t>
            </a:r>
          </a:p>
          <a:p>
            <a:pPr algn="l">
              <a:lnSpc>
                <a:spcPct val="95000"/>
              </a:lnSpc>
              <a:spcBef>
                <a:spcPts val="0"/>
              </a:spcBef>
              <a:spcAft>
                <a:spcPts val="400"/>
              </a:spcAft>
            </a:pPr>
            <a:r>
              <a:rPr sz="950" b="0" i="0" dirty="0">
                <a:solidFill>
                  <a:srgbClr val="5C6B62"/>
                </a:solidFill>
                <a:latin typeface="Arial"/>
              </a:rPr>
              <a:t>▪  Thông tin quyền lợi thành viên được gửi đều hơn so với các lượt chăm sóc khách hàng</a:t>
            </a:r>
          </a:p>
          <a:p>
            <a:pPr algn="l">
              <a:lnSpc>
                <a:spcPct val="95000"/>
              </a:lnSpc>
              <a:spcBef>
                <a:spcPts val="0"/>
              </a:spcBef>
              <a:spcAft>
                <a:spcPts val="400"/>
              </a:spcAft>
            </a:pPr>
            <a:r>
              <a:rPr sz="950" b="0" i="0" dirty="0">
                <a:solidFill>
                  <a:srgbClr val="5C6B62"/>
                </a:solidFill>
                <a:latin typeface="Arial"/>
              </a:rPr>
              <a:t>▪  Giao tiếp phần lớn vẫn là bị động, chưa do DA chủ động bắt đầu</a:t>
            </a:r>
          </a:p>
          <a:p>
            <a:pPr algn="l">
              <a:lnSpc>
                <a:spcPct val="95000"/>
              </a:lnSpc>
              <a:spcBef>
                <a:spcPts val="0"/>
              </a:spcBef>
              <a:spcAft>
                <a:spcPts val="400"/>
              </a:spcAft>
            </a:pPr>
            <a:r>
              <a:rPr sz="950" b="0" i="0" dirty="0">
                <a:solidFill>
                  <a:srgbClr val="5C6B62"/>
                </a:solidFill>
                <a:latin typeface="Arial"/>
              </a:rPr>
              <a:t>▪  Thường là khách hàng chủ động nhắn trước</a:t>
            </a:r>
          </a:p>
          <a:p>
            <a:pPr algn="l">
              <a:lnSpc>
                <a:spcPct val="95000"/>
              </a:lnSpc>
              <a:spcBef>
                <a:spcPts val="0"/>
              </a:spcBef>
              <a:spcAft>
                <a:spcPts val="400"/>
              </a:spcAft>
            </a:pPr>
            <a:r>
              <a:rPr sz="950" b="0" i="0" dirty="0">
                <a:solidFill>
                  <a:srgbClr val="5C6B62"/>
                </a:solidFill>
                <a:latin typeface="Arial"/>
              </a:rPr>
              <a:t>▪  Theo dõi phải đúng mốc thời gian và đúng nội dung yêu cầu</a:t>
            </a:r>
          </a:p>
          <a:p>
            <a:pPr algn="l">
              <a:lnSpc>
                <a:spcPct val="97000"/>
              </a:lnSpc>
              <a:spcBef>
                <a:spcPts val="400"/>
              </a:spcBef>
              <a:spcAft>
                <a:spcPts val="0"/>
              </a:spcAft>
            </a:pPr>
            <a:r>
              <a:rPr lang="en-SG" sz="950" dirty="0">
                <a:solidFill>
                  <a:srgbClr val="5C6B62"/>
                </a:solidFill>
                <a:latin typeface="Arial"/>
              </a:rPr>
              <a:t>N</a:t>
            </a:r>
            <a:r>
              <a:rPr sz="950" b="0" dirty="0">
                <a:solidFill>
                  <a:srgbClr val="5C6B62"/>
                </a:solidFill>
                <a:latin typeface="Arial"/>
              </a:rPr>
              <a:t>hiều cuộc hội thoại dừng lại sau khi DA giới thiệu và gửi thông tin quyền lợi thành viên, thiếu các bước chăm sóc khách hàng và nhắc tái khám tiếp theo.</a:t>
            </a:r>
          </a:p>
        </p:txBody>
      </p:sp>
      <p:sp>
        <p:nvSpPr>
          <p:cNvPr id="26" name="Rectangle 25"/>
          <p:cNvSpPr/>
          <p:nvPr/>
        </p:nvSpPr>
        <p:spPr>
          <a:xfrm>
            <a:off x="6483096" y="3255264"/>
            <a:ext cx="5202936"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Tuân thủ SOP nghĩa là gì</a:t>
            </a:r>
          </a:p>
        </p:txBody>
      </p:sp>
      <p:sp>
        <p:nvSpPr>
          <p:cNvPr id="27" name="Rectangle 26"/>
          <p:cNvSpPr/>
          <p:nvPr/>
        </p:nvSpPr>
        <p:spPr>
          <a:xfrm>
            <a:off x="6483096" y="3566160"/>
            <a:ext cx="5202936" cy="22128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54864" rtlCol="0" anchor="ctr"/>
          <a:lstStyle/>
          <a:p>
            <a:pPr algn="l">
              <a:lnSpc>
                <a:spcPct val="95000"/>
              </a:lnSpc>
              <a:spcBef>
                <a:spcPts val="0"/>
              </a:spcBef>
              <a:spcAft>
                <a:spcPts val="300"/>
              </a:spcAft>
            </a:pPr>
            <a:r>
              <a:rPr sz="950" b="1" i="0" dirty="0">
                <a:solidFill>
                  <a:srgbClr val="31633D"/>
                </a:solidFill>
                <a:latin typeface="Arial"/>
              </a:rPr>
              <a:t>Một lượt theo dõi đạt yêu cầu phải:</a:t>
            </a:r>
          </a:p>
          <a:p>
            <a:pPr algn="l">
              <a:lnSpc>
                <a:spcPct val="95000"/>
              </a:lnSpc>
              <a:spcBef>
                <a:spcPts val="0"/>
              </a:spcBef>
              <a:spcAft>
                <a:spcPts val="200"/>
              </a:spcAft>
            </a:pPr>
            <a:r>
              <a:rPr sz="950" b="0" i="0" dirty="0">
                <a:solidFill>
                  <a:srgbClr val="5C6B62"/>
                </a:solidFill>
                <a:latin typeface="Arial"/>
              </a:rPr>
              <a:t>✓  Diễn ra đúng mốc thời gian yêu cầu</a:t>
            </a:r>
          </a:p>
          <a:p>
            <a:pPr algn="l">
              <a:lnSpc>
                <a:spcPct val="95000"/>
              </a:lnSpc>
              <a:spcBef>
                <a:spcPts val="0"/>
              </a:spcBef>
              <a:spcAft>
                <a:spcPts val="200"/>
              </a:spcAft>
            </a:pPr>
            <a:r>
              <a:rPr sz="950" b="0" i="0" dirty="0">
                <a:solidFill>
                  <a:srgbClr val="5C6B62"/>
                </a:solidFill>
                <a:latin typeface="Arial"/>
              </a:rPr>
              <a:t>✓  Truyền tải đúng nội dung</a:t>
            </a:r>
          </a:p>
          <a:p>
            <a:pPr algn="l">
              <a:lnSpc>
                <a:spcPct val="95000"/>
              </a:lnSpc>
              <a:spcBef>
                <a:spcPts val="0"/>
              </a:spcBef>
              <a:spcAft>
                <a:spcPts val="200"/>
              </a:spcAft>
            </a:pPr>
            <a:r>
              <a:rPr sz="950" b="0" i="0" dirty="0">
                <a:solidFill>
                  <a:srgbClr val="5C6B62"/>
                </a:solidFill>
                <a:latin typeface="Arial"/>
              </a:rPr>
              <a:t>✓  Chủ động khi được yêu cầu</a:t>
            </a:r>
          </a:p>
          <a:p>
            <a:pPr algn="l">
              <a:lnSpc>
                <a:spcPct val="95000"/>
              </a:lnSpc>
              <a:spcBef>
                <a:spcPts val="0"/>
              </a:spcBef>
              <a:spcAft>
                <a:spcPts val="200"/>
              </a:spcAft>
            </a:pPr>
            <a:r>
              <a:rPr sz="950" b="0" i="0" dirty="0">
                <a:solidFill>
                  <a:srgbClr val="5C6B62"/>
                </a:solidFill>
                <a:latin typeface="Arial"/>
              </a:rPr>
              <a:t>✓  Đạt được mục đích của đúng điểm chạm đó</a:t>
            </a:r>
          </a:p>
        </p:txBody>
      </p:sp>
      <p:sp>
        <p:nvSpPr>
          <p:cNvPr id="30" name="Rectangle 29"/>
          <p:cNvSpPr/>
          <p:nvPr/>
        </p:nvSpPr>
        <p:spPr>
          <a:xfrm>
            <a:off x="502920" y="5888736"/>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Rectangle 30"/>
          <p:cNvSpPr/>
          <p:nvPr/>
        </p:nvSpPr>
        <p:spPr>
          <a:xfrm>
            <a:off x="571500" y="5888736"/>
            <a:ext cx="11117549"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150" b="1" i="0" dirty="0">
                <a:solidFill>
                  <a:srgbClr val="31633D"/>
                </a:solidFill>
                <a:latin typeface="Arial"/>
              </a:rPr>
              <a:t>Theo dõi đúng mốc thời gian và truyền tải đúng nội dung.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a:solidFill>
                  <a:srgbClr val="2E9C4C"/>
                </a:solidFill>
                <a:latin typeface="Arial"/>
              </a:rPr>
              <a:t>2. VẤN ĐỀ TỪNG CHI NHÁNH   |   VẤN ĐỀ TỪNG CHI NHÁNH</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a:solidFill>
                  <a:srgbClr val="31633D"/>
                </a:solidFill>
                <a:latin typeface="Arial"/>
              </a:rPr>
              <a:t>Vấn đề riêng của từng chi nhánh</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a:solidFill>
                  <a:srgbClr val="5C6B62"/>
                </a:solidFill>
                <a:latin typeface="Arial"/>
              </a:rPr>
              <a:t>5</a:t>
            </a:r>
          </a:p>
        </p:txBody>
      </p:sp>
      <p:sp>
        <p:nvSpPr>
          <p:cNvPr id="8" name="Rectangle 7"/>
          <p:cNvSpPr/>
          <p:nvPr/>
        </p:nvSpPr>
        <p:spPr>
          <a:xfrm>
            <a:off x="502920" y="1316736"/>
            <a:ext cx="5687568" cy="22128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502920" y="1316736"/>
            <a:ext cx="59436" cy="22128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67512" y="1399032"/>
            <a:ext cx="1828800"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400" b="1" i="0">
                <a:solidFill>
                  <a:srgbClr val="31633D"/>
                </a:solidFill>
                <a:latin typeface="Arial"/>
              </a:rPr>
              <a:t>CTE D5</a:t>
            </a:r>
          </a:p>
        </p:txBody>
      </p:sp>
      <p:sp>
        <p:nvSpPr>
          <p:cNvPr id="11" name="TextBox 10"/>
          <p:cNvSpPr txBox="1"/>
          <p:nvPr/>
        </p:nvSpPr>
        <p:spPr>
          <a:xfrm>
            <a:off x="2468880" y="1435607"/>
            <a:ext cx="3538727" cy="219456"/>
          </a:xfrm>
          <a:prstGeom prst="rect">
            <a:avLst/>
          </a:prstGeom>
          <a:noFill/>
        </p:spPr>
        <p:txBody>
          <a:bodyPr wrap="square" lIns="36576" tIns="18288" rIns="36576" bIns="18288" anchor="t">
            <a:spAutoFit/>
          </a:bodyPr>
          <a:lstStyle/>
          <a:p>
            <a:pPr algn="r">
              <a:lnSpc>
                <a:spcPct val="95000"/>
              </a:lnSpc>
              <a:spcBef>
                <a:spcPts val="0"/>
              </a:spcBef>
              <a:spcAft>
                <a:spcPts val="0"/>
              </a:spcAft>
            </a:pPr>
            <a:r>
              <a:rPr sz="1000" b="1" i="0">
                <a:solidFill>
                  <a:srgbClr val="C0392B"/>
                </a:solidFill>
                <a:latin typeface="Arial"/>
              </a:rPr>
              <a:t>Kết quả: 0/22 đạt</a:t>
            </a:r>
          </a:p>
        </p:txBody>
      </p:sp>
      <p:sp>
        <p:nvSpPr>
          <p:cNvPr id="12" name="Rectangle 11"/>
          <p:cNvSpPr/>
          <p:nvPr/>
        </p:nvSpPr>
        <p:spPr>
          <a:xfrm>
            <a:off x="667512" y="1700784"/>
            <a:ext cx="5358383"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67512" y="1755648"/>
            <a:ext cx="5358383" cy="1170432"/>
          </a:xfrm>
          <a:prstGeom prst="rect">
            <a:avLst/>
          </a:prstGeom>
          <a:noFill/>
        </p:spPr>
        <p:txBody>
          <a:bodyPr wrap="square" lIns="36576" tIns="18288" rIns="36576" bIns="18288" anchor="t">
            <a:spAutoFit/>
          </a:bodyPr>
          <a:lstStyle/>
          <a:p>
            <a:pPr algn="l">
              <a:lnSpc>
                <a:spcPct val="95000"/>
              </a:lnSpc>
              <a:spcBef>
                <a:spcPts val="0"/>
              </a:spcBef>
              <a:spcAft>
                <a:spcPts val="300"/>
              </a:spcAft>
            </a:pPr>
            <a:r>
              <a:rPr sz="900" b="1" i="0" dirty="0">
                <a:solidFill>
                  <a:srgbClr val="2E9C4C"/>
                </a:solidFill>
                <a:latin typeface="Arial"/>
              </a:rPr>
              <a:t>Vấn đề chính</a:t>
            </a:r>
          </a:p>
          <a:p>
            <a:pPr algn="l">
              <a:lnSpc>
                <a:spcPct val="93000"/>
              </a:lnSpc>
              <a:spcBef>
                <a:spcPts val="0"/>
              </a:spcBef>
              <a:spcAft>
                <a:spcPts val="300"/>
              </a:spcAft>
            </a:pPr>
            <a:r>
              <a:rPr sz="850" b="0" i="0" dirty="0">
                <a:solidFill>
                  <a:srgbClr val="5C6B62"/>
                </a:solidFill>
                <a:latin typeface="Arial"/>
              </a:rPr>
              <a:t>▪  CD3–5, CD7, CD14 và D30 chưa được thực hiện đồng nhất</a:t>
            </a:r>
          </a:p>
          <a:p>
            <a:pPr algn="l">
              <a:lnSpc>
                <a:spcPct val="93000"/>
              </a:lnSpc>
              <a:spcBef>
                <a:spcPts val="0"/>
              </a:spcBef>
              <a:spcAft>
                <a:spcPts val="300"/>
              </a:spcAft>
            </a:pPr>
            <a:r>
              <a:rPr sz="850" b="0" i="0">
                <a:solidFill>
                  <a:srgbClr val="5C6B62"/>
                </a:solidFill>
                <a:latin typeface="Arial"/>
              </a:rPr>
              <a:t>▪  Giao tiếp chủ yếu chỉ giới hạn ở quyền lợi thành viên</a:t>
            </a:r>
          </a:p>
          <a:p>
            <a:pPr algn="l">
              <a:lnSpc>
                <a:spcPct val="93000"/>
              </a:lnSpc>
              <a:spcBef>
                <a:spcPts val="0"/>
              </a:spcBef>
              <a:spcAft>
                <a:spcPts val="300"/>
              </a:spcAft>
            </a:pPr>
            <a:r>
              <a:rPr sz="850" b="0" i="0" dirty="0">
                <a:solidFill>
                  <a:srgbClr val="5C6B62"/>
                </a:solidFill>
                <a:latin typeface="Arial"/>
              </a:rPr>
              <a:t>▪  Tương tác của DA phần lớn vẫn bị động</a:t>
            </a:r>
          </a:p>
          <a:p>
            <a:pPr algn="l">
              <a:lnSpc>
                <a:spcPct val="93000"/>
              </a:lnSpc>
              <a:spcBef>
                <a:spcPts val="0"/>
              </a:spcBef>
              <a:spcAft>
                <a:spcPts val="300"/>
              </a:spcAft>
            </a:pPr>
            <a:r>
              <a:rPr sz="850" b="0" i="0" dirty="0">
                <a:solidFill>
                  <a:srgbClr val="5C6B62"/>
                </a:solidFill>
                <a:latin typeface="Arial"/>
              </a:rPr>
              <a:t>▪  Ít trao đổi về </a:t>
            </a:r>
            <a:r>
              <a:rPr sz="850" b="0" i="0" dirty="0" err="1">
                <a:solidFill>
                  <a:srgbClr val="5C6B62"/>
                </a:solidFill>
                <a:latin typeface="Arial"/>
              </a:rPr>
              <a:t>gia công</a:t>
            </a:r>
            <a:r>
              <a:rPr sz="850" b="0" i="0" dirty="0">
                <a:solidFill>
                  <a:srgbClr val="5C6B62"/>
                </a:solidFill>
                <a:latin typeface="Arial"/>
              </a:rPr>
              <a:t>, nhận kính, bảo hành, tái khám và giới thiệu khách</a:t>
            </a:r>
          </a:p>
          <a:p>
            <a:pPr algn="l">
              <a:lnSpc>
                <a:spcPct val="95000"/>
              </a:lnSpc>
              <a:spcBef>
                <a:spcPts val="200"/>
              </a:spcBef>
              <a:spcAft>
                <a:spcPts val="0"/>
              </a:spcAft>
            </a:pPr>
            <a:r>
              <a:rPr sz="800" b="0" i="1" dirty="0">
                <a:solidFill>
                  <a:srgbClr val="5C6B62"/>
                </a:solidFill>
                <a:latin typeface="Arial"/>
              </a:rPr>
              <a:t>Có ghi nhận một số lượt theo dõi dạng D7, nhưng tổng số lượt theo dõi vẫn còn thấp.</a:t>
            </a:r>
          </a:p>
        </p:txBody>
      </p:sp>
      <p:sp>
        <p:nvSpPr>
          <p:cNvPr id="14" name="Rectangle 13"/>
          <p:cNvSpPr/>
          <p:nvPr/>
        </p:nvSpPr>
        <p:spPr>
          <a:xfrm>
            <a:off x="667512" y="2980944"/>
            <a:ext cx="5358383" cy="438912"/>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rIns="73152" rtlCol="0" anchor="ctr"/>
          <a:lstStyle/>
          <a:p>
            <a:pPr algn="l">
              <a:lnSpc>
                <a:spcPct val="93000"/>
              </a:lnSpc>
              <a:spcBef>
                <a:spcPts val="0"/>
              </a:spcBef>
              <a:spcAft>
                <a:spcPts val="0"/>
              </a:spcAft>
            </a:pPr>
            <a:r>
              <a:rPr sz="850" b="1">
                <a:solidFill>
                  <a:srgbClr val="2E9C4C"/>
                </a:solidFill>
                <a:latin typeface="Arial"/>
              </a:rPr>
              <a:t>Trọng tâm:  </a:t>
            </a:r>
            <a:r>
              <a:rPr sz="850" b="0">
                <a:solidFill>
                  <a:srgbClr val="31633D"/>
                </a:solidFill>
                <a:latin typeface="Arial"/>
              </a:rPr>
              <a:t>Không chỉ gửi tin quyền lợi thành viên, cần hoàn thành trọn bộ chuỗi theo dõi theo yêu cầu.</a:t>
            </a:r>
          </a:p>
        </p:txBody>
      </p:sp>
      <p:sp>
        <p:nvSpPr>
          <p:cNvPr id="15" name="Rectangle 14"/>
          <p:cNvSpPr/>
          <p:nvPr/>
        </p:nvSpPr>
        <p:spPr>
          <a:xfrm>
            <a:off x="6446520" y="1316736"/>
            <a:ext cx="5687568" cy="22128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446520" y="1316736"/>
            <a:ext cx="59436" cy="22128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611112" y="1399032"/>
            <a:ext cx="1828800"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400" b="1" i="0">
                <a:solidFill>
                  <a:srgbClr val="31633D"/>
                </a:solidFill>
                <a:latin typeface="Arial"/>
              </a:rPr>
              <a:t>NGT</a:t>
            </a:r>
          </a:p>
        </p:txBody>
      </p:sp>
      <p:sp>
        <p:nvSpPr>
          <p:cNvPr id="18" name="TextBox 17"/>
          <p:cNvSpPr txBox="1"/>
          <p:nvPr/>
        </p:nvSpPr>
        <p:spPr>
          <a:xfrm>
            <a:off x="8412480" y="1435607"/>
            <a:ext cx="3538727" cy="219456"/>
          </a:xfrm>
          <a:prstGeom prst="rect">
            <a:avLst/>
          </a:prstGeom>
          <a:noFill/>
        </p:spPr>
        <p:txBody>
          <a:bodyPr wrap="square" lIns="36576" tIns="18288" rIns="36576" bIns="18288" anchor="t">
            <a:spAutoFit/>
          </a:bodyPr>
          <a:lstStyle/>
          <a:p>
            <a:pPr algn="r">
              <a:lnSpc>
                <a:spcPct val="95000"/>
              </a:lnSpc>
              <a:spcBef>
                <a:spcPts val="0"/>
              </a:spcBef>
              <a:spcAft>
                <a:spcPts val="0"/>
              </a:spcAft>
            </a:pPr>
            <a:r>
              <a:rPr sz="1000" b="1" i="0">
                <a:solidFill>
                  <a:srgbClr val="C0392B"/>
                </a:solidFill>
                <a:latin typeface="Arial"/>
              </a:rPr>
              <a:t>Kết quả: 1/21 đạt</a:t>
            </a:r>
          </a:p>
        </p:txBody>
      </p:sp>
      <p:sp>
        <p:nvSpPr>
          <p:cNvPr id="19" name="Rectangle 18"/>
          <p:cNvSpPr/>
          <p:nvPr/>
        </p:nvSpPr>
        <p:spPr>
          <a:xfrm>
            <a:off x="6611112" y="1700784"/>
            <a:ext cx="5358383"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611112" y="1755648"/>
            <a:ext cx="5358383" cy="1170432"/>
          </a:xfrm>
          <a:prstGeom prst="rect">
            <a:avLst/>
          </a:prstGeom>
          <a:noFill/>
        </p:spPr>
        <p:txBody>
          <a:bodyPr wrap="square" lIns="36576" tIns="18288" rIns="36576" bIns="18288" anchor="t">
            <a:spAutoFit/>
          </a:bodyPr>
          <a:lstStyle/>
          <a:p>
            <a:pPr algn="l">
              <a:lnSpc>
                <a:spcPct val="95000"/>
              </a:lnSpc>
              <a:spcBef>
                <a:spcPts val="0"/>
              </a:spcBef>
              <a:spcAft>
                <a:spcPts val="300"/>
              </a:spcAft>
            </a:pPr>
            <a:r>
              <a:rPr sz="900" b="1" i="0">
                <a:solidFill>
                  <a:srgbClr val="2E9C4C"/>
                </a:solidFill>
                <a:latin typeface="Arial"/>
              </a:rPr>
              <a:t>Vấn đề chính</a:t>
            </a:r>
          </a:p>
          <a:p>
            <a:pPr algn="l">
              <a:lnSpc>
                <a:spcPct val="93000"/>
              </a:lnSpc>
              <a:spcBef>
                <a:spcPts val="0"/>
              </a:spcBef>
              <a:spcAft>
                <a:spcPts val="300"/>
              </a:spcAft>
            </a:pPr>
            <a:r>
              <a:rPr sz="850" b="0" i="0">
                <a:solidFill>
                  <a:srgbClr val="5C6B62"/>
                </a:solidFill>
                <a:latin typeface="Arial"/>
              </a:rPr>
              <a:t>▪  Lượt theo dõi D30 phần lớn chưa được thực hiện</a:t>
            </a:r>
          </a:p>
          <a:p>
            <a:pPr algn="l">
              <a:lnSpc>
                <a:spcPct val="93000"/>
              </a:lnSpc>
              <a:spcBef>
                <a:spcPts val="0"/>
              </a:spcBef>
              <a:spcAft>
                <a:spcPts val="300"/>
              </a:spcAft>
            </a:pPr>
            <a:r>
              <a:rPr sz="850" b="0" i="0">
                <a:solidFill>
                  <a:srgbClr val="5C6B62"/>
                </a:solidFill>
                <a:latin typeface="Arial"/>
              </a:rPr>
              <a:t>▪  Có ghi nhận một số ít lượt theo dõi D7</a:t>
            </a:r>
          </a:p>
          <a:p>
            <a:pPr algn="l">
              <a:lnSpc>
                <a:spcPct val="93000"/>
              </a:lnSpc>
              <a:spcBef>
                <a:spcPts val="0"/>
              </a:spcBef>
              <a:spcAft>
                <a:spcPts val="300"/>
              </a:spcAft>
            </a:pPr>
            <a:r>
              <a:rPr sz="850" b="0" i="0">
                <a:solidFill>
                  <a:srgbClr val="5C6B62"/>
                </a:solidFill>
                <a:latin typeface="Arial"/>
              </a:rPr>
              <a:t>▪  Các hoạt động chủ động tương tác khác với khách hàng còn hạn chế</a:t>
            </a:r>
          </a:p>
          <a:p>
            <a:pPr algn="l">
              <a:lnSpc>
                <a:spcPct val="93000"/>
              </a:lnSpc>
              <a:spcBef>
                <a:spcPts val="0"/>
              </a:spcBef>
              <a:spcAft>
                <a:spcPts val="300"/>
              </a:spcAft>
            </a:pPr>
            <a:r>
              <a:rPr sz="850" b="0" i="0">
                <a:solidFill>
                  <a:srgbClr val="5C6B62"/>
                </a:solidFill>
                <a:latin typeface="Arial"/>
              </a:rPr>
              <a:t>▪  Quan hệ khách hàng chưa được duy trì đều đặn sau khi nhận kính</a:t>
            </a:r>
          </a:p>
        </p:txBody>
      </p:sp>
      <p:sp>
        <p:nvSpPr>
          <p:cNvPr id="21" name="Rectangle 20"/>
          <p:cNvSpPr/>
          <p:nvPr/>
        </p:nvSpPr>
        <p:spPr>
          <a:xfrm>
            <a:off x="6611112" y="2980944"/>
            <a:ext cx="5358383" cy="438912"/>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rIns="73152" rtlCol="0" anchor="ctr"/>
          <a:lstStyle/>
          <a:p>
            <a:pPr algn="l">
              <a:lnSpc>
                <a:spcPct val="93000"/>
              </a:lnSpc>
              <a:spcBef>
                <a:spcPts val="0"/>
              </a:spcBef>
              <a:spcAft>
                <a:spcPts val="0"/>
              </a:spcAft>
            </a:pPr>
            <a:r>
              <a:rPr sz="850" b="1">
                <a:solidFill>
                  <a:srgbClr val="2E9C4C"/>
                </a:solidFill>
                <a:latin typeface="Arial"/>
              </a:rPr>
              <a:t>Trọng tâm:  </a:t>
            </a:r>
            <a:r>
              <a:rPr sz="850" b="0">
                <a:solidFill>
                  <a:srgbClr val="31633D"/>
                </a:solidFill>
                <a:latin typeface="Arial"/>
              </a:rPr>
              <a:t>Dùng việc đeo kính, bảo hành và tái khám làm lý do tự nhiên để chủ động liên hệ khách.</a:t>
            </a:r>
          </a:p>
        </p:txBody>
      </p:sp>
      <p:sp>
        <p:nvSpPr>
          <p:cNvPr id="22" name="Rectangle 21"/>
          <p:cNvSpPr/>
          <p:nvPr/>
        </p:nvSpPr>
        <p:spPr>
          <a:xfrm>
            <a:off x="502920" y="3712464"/>
            <a:ext cx="5687568" cy="22128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502920" y="3712464"/>
            <a:ext cx="59436" cy="2212848"/>
          </a:xfrm>
          <a:prstGeom prst="rect">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67512" y="3794760"/>
            <a:ext cx="1828800"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400" b="1" i="0">
                <a:solidFill>
                  <a:srgbClr val="31633D"/>
                </a:solidFill>
                <a:latin typeface="Arial"/>
              </a:rPr>
              <a:t>CTE D7</a:t>
            </a:r>
          </a:p>
        </p:txBody>
      </p:sp>
      <p:sp>
        <p:nvSpPr>
          <p:cNvPr id="25" name="TextBox 24"/>
          <p:cNvSpPr txBox="1"/>
          <p:nvPr/>
        </p:nvSpPr>
        <p:spPr>
          <a:xfrm>
            <a:off x="2468880" y="3831336"/>
            <a:ext cx="3538727" cy="219456"/>
          </a:xfrm>
          <a:prstGeom prst="rect">
            <a:avLst/>
          </a:prstGeom>
          <a:noFill/>
        </p:spPr>
        <p:txBody>
          <a:bodyPr wrap="square" lIns="36576" tIns="18288" rIns="36576" bIns="18288" anchor="t">
            <a:spAutoFit/>
          </a:bodyPr>
          <a:lstStyle/>
          <a:p>
            <a:pPr algn="r">
              <a:lnSpc>
                <a:spcPct val="95000"/>
              </a:lnSpc>
              <a:spcBef>
                <a:spcPts val="0"/>
              </a:spcBef>
              <a:spcAft>
                <a:spcPts val="0"/>
              </a:spcAft>
            </a:pPr>
            <a:r>
              <a:rPr sz="1000" b="1" i="0">
                <a:solidFill>
                  <a:srgbClr val="B9770B"/>
                </a:solidFill>
                <a:latin typeface="Arial"/>
              </a:rPr>
              <a:t>Chỉ rà soát định tính</a:t>
            </a:r>
          </a:p>
        </p:txBody>
      </p:sp>
      <p:sp>
        <p:nvSpPr>
          <p:cNvPr id="26" name="Rectangle 25"/>
          <p:cNvSpPr/>
          <p:nvPr/>
        </p:nvSpPr>
        <p:spPr>
          <a:xfrm>
            <a:off x="667512" y="4096512"/>
            <a:ext cx="5358383"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667512" y="4151376"/>
            <a:ext cx="5358383" cy="1170432"/>
          </a:xfrm>
          <a:prstGeom prst="rect">
            <a:avLst/>
          </a:prstGeom>
          <a:noFill/>
        </p:spPr>
        <p:txBody>
          <a:bodyPr wrap="square" lIns="36576" tIns="18288" rIns="36576" bIns="18288" anchor="t">
            <a:spAutoFit/>
          </a:bodyPr>
          <a:lstStyle/>
          <a:p>
            <a:pPr algn="l">
              <a:lnSpc>
                <a:spcPct val="95000"/>
              </a:lnSpc>
              <a:spcBef>
                <a:spcPts val="0"/>
              </a:spcBef>
              <a:spcAft>
                <a:spcPts val="300"/>
              </a:spcAft>
            </a:pPr>
            <a:r>
              <a:rPr sz="900" b="1" i="0">
                <a:solidFill>
                  <a:srgbClr val="2E9C4C"/>
                </a:solidFill>
                <a:latin typeface="Arial"/>
              </a:rPr>
              <a:t>Vấn đề chính</a:t>
            </a:r>
          </a:p>
          <a:p>
            <a:pPr algn="l">
              <a:lnSpc>
                <a:spcPct val="93000"/>
              </a:lnSpc>
              <a:spcBef>
                <a:spcPts val="0"/>
              </a:spcBef>
              <a:spcAft>
                <a:spcPts val="300"/>
              </a:spcAft>
            </a:pPr>
            <a:r>
              <a:rPr sz="850" b="0" i="0">
                <a:solidFill>
                  <a:srgbClr val="5C6B62"/>
                </a:solidFill>
                <a:latin typeface="Arial"/>
              </a:rPr>
              <a:t>▪  Mức độ thực hiện khác nhau rõ rệt giữa các khách hàng</a:t>
            </a:r>
          </a:p>
          <a:p>
            <a:pPr algn="l">
              <a:lnSpc>
                <a:spcPct val="93000"/>
              </a:lnSpc>
              <a:spcBef>
                <a:spcPts val="0"/>
              </a:spcBef>
              <a:spcAft>
                <a:spcPts val="300"/>
              </a:spcAft>
            </a:pPr>
            <a:r>
              <a:rPr sz="850" b="0" i="0">
                <a:solidFill>
                  <a:srgbClr val="5C6B62"/>
                </a:solidFill>
                <a:latin typeface="Arial"/>
              </a:rPr>
              <a:t>▪  Một số khách được thực hiện một phần hành trình, số khác bị bỏ qua nhiều bước</a:t>
            </a:r>
          </a:p>
          <a:p>
            <a:pPr algn="l">
              <a:lnSpc>
                <a:spcPct val="93000"/>
              </a:lnSpc>
              <a:spcBef>
                <a:spcPts val="0"/>
              </a:spcBef>
              <a:spcAft>
                <a:spcPts val="300"/>
              </a:spcAft>
            </a:pPr>
            <a:r>
              <a:rPr sz="850" b="0" i="0">
                <a:solidFill>
                  <a:srgbClr val="5C6B62"/>
                </a:solidFill>
                <a:latin typeface="Arial"/>
              </a:rPr>
              <a:t>▪  Thiếu sót thường gặp: cập nhật gia công, thông tin nhận kính, theo dõi D7, quyền lợi giới thiệu, thông tin khách hàng chính xác</a:t>
            </a:r>
          </a:p>
          <a:p>
            <a:pPr algn="l">
              <a:lnSpc>
                <a:spcPct val="95000"/>
              </a:lnSpc>
              <a:spcBef>
                <a:spcPts val="200"/>
              </a:spcBef>
              <a:spcAft>
                <a:spcPts val="0"/>
              </a:spcAft>
            </a:pPr>
            <a:r>
              <a:rPr sz="800" b="0" i="1">
                <a:solidFill>
                  <a:srgbClr val="5C6B62"/>
                </a:solidFill>
                <a:latin typeface="Arial"/>
              </a:rPr>
              <a:t>Kết quả rà soát cho thấy có ca thực hiện tương đối đầy đủ, nhưng cũng có ca chỉ hoàn thành một đến hai điểm chạm.</a:t>
            </a:r>
          </a:p>
        </p:txBody>
      </p:sp>
      <p:sp>
        <p:nvSpPr>
          <p:cNvPr id="28" name="Rectangle 27"/>
          <p:cNvSpPr/>
          <p:nvPr/>
        </p:nvSpPr>
        <p:spPr>
          <a:xfrm>
            <a:off x="667512" y="5376672"/>
            <a:ext cx="5358383" cy="438912"/>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rIns="73152" rtlCol="0" anchor="ctr"/>
          <a:lstStyle/>
          <a:p>
            <a:pPr algn="l">
              <a:lnSpc>
                <a:spcPct val="93000"/>
              </a:lnSpc>
              <a:spcBef>
                <a:spcPts val="0"/>
              </a:spcBef>
              <a:spcAft>
                <a:spcPts val="0"/>
              </a:spcAft>
            </a:pPr>
            <a:r>
              <a:rPr sz="850" b="1">
                <a:solidFill>
                  <a:srgbClr val="2E9C4C"/>
                </a:solidFill>
                <a:latin typeface="Arial"/>
              </a:rPr>
              <a:t>Trọng tâm:  </a:t>
            </a:r>
            <a:r>
              <a:rPr sz="850" b="0">
                <a:solidFill>
                  <a:srgbClr val="31633D"/>
                </a:solidFill>
                <a:latin typeface="Arial"/>
              </a:rPr>
              <a:t>Áp dụng cùng một hành trình khách hàng đầy đủ và nhất quán cho mọi khách hàng.</a:t>
            </a:r>
          </a:p>
        </p:txBody>
      </p:sp>
      <p:sp>
        <p:nvSpPr>
          <p:cNvPr id="29" name="Rectangle 28"/>
          <p:cNvSpPr/>
          <p:nvPr/>
        </p:nvSpPr>
        <p:spPr>
          <a:xfrm>
            <a:off x="6446520" y="3712464"/>
            <a:ext cx="5687568" cy="22128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6446520" y="3712464"/>
            <a:ext cx="59436" cy="2212848"/>
          </a:xfrm>
          <a:prstGeom prst="rect">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6611112" y="3794760"/>
            <a:ext cx="1828800"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400" b="1" i="0">
                <a:solidFill>
                  <a:srgbClr val="31633D"/>
                </a:solidFill>
                <a:latin typeface="Arial"/>
              </a:rPr>
              <a:t>LA</a:t>
            </a:r>
          </a:p>
        </p:txBody>
      </p:sp>
      <p:sp>
        <p:nvSpPr>
          <p:cNvPr id="32" name="TextBox 31"/>
          <p:cNvSpPr txBox="1"/>
          <p:nvPr/>
        </p:nvSpPr>
        <p:spPr>
          <a:xfrm>
            <a:off x="8412480" y="3831336"/>
            <a:ext cx="3538727" cy="219456"/>
          </a:xfrm>
          <a:prstGeom prst="rect">
            <a:avLst/>
          </a:prstGeom>
          <a:noFill/>
        </p:spPr>
        <p:txBody>
          <a:bodyPr wrap="square" lIns="36576" tIns="18288" rIns="36576" bIns="18288" anchor="t">
            <a:spAutoFit/>
          </a:bodyPr>
          <a:lstStyle/>
          <a:p>
            <a:pPr algn="r">
              <a:lnSpc>
                <a:spcPct val="95000"/>
              </a:lnSpc>
              <a:spcBef>
                <a:spcPts val="0"/>
              </a:spcBef>
              <a:spcAft>
                <a:spcPts val="0"/>
              </a:spcAft>
            </a:pPr>
            <a:r>
              <a:rPr sz="1000" b="1" i="0">
                <a:solidFill>
                  <a:srgbClr val="B9770B"/>
                </a:solidFill>
                <a:latin typeface="Arial"/>
              </a:rPr>
              <a:t>Chỉ rà soát định tính</a:t>
            </a:r>
          </a:p>
        </p:txBody>
      </p:sp>
      <p:sp>
        <p:nvSpPr>
          <p:cNvPr id="33" name="Rectangle 32"/>
          <p:cNvSpPr/>
          <p:nvPr/>
        </p:nvSpPr>
        <p:spPr>
          <a:xfrm>
            <a:off x="6611112" y="4096512"/>
            <a:ext cx="5358383"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6611112" y="4151376"/>
            <a:ext cx="5358383" cy="1170432"/>
          </a:xfrm>
          <a:prstGeom prst="rect">
            <a:avLst/>
          </a:prstGeom>
          <a:noFill/>
        </p:spPr>
        <p:txBody>
          <a:bodyPr wrap="square" lIns="36576" tIns="18288" rIns="36576" bIns="18288" anchor="t">
            <a:spAutoFit/>
          </a:bodyPr>
          <a:lstStyle/>
          <a:p>
            <a:pPr algn="l">
              <a:lnSpc>
                <a:spcPct val="95000"/>
              </a:lnSpc>
              <a:spcBef>
                <a:spcPts val="0"/>
              </a:spcBef>
              <a:spcAft>
                <a:spcPts val="300"/>
              </a:spcAft>
            </a:pPr>
            <a:r>
              <a:rPr sz="900" b="1" i="0">
                <a:solidFill>
                  <a:srgbClr val="2E9C4C"/>
                </a:solidFill>
                <a:latin typeface="Arial"/>
              </a:rPr>
              <a:t>Vấn đề chính</a:t>
            </a:r>
          </a:p>
          <a:p>
            <a:pPr algn="l">
              <a:lnSpc>
                <a:spcPct val="93000"/>
              </a:lnSpc>
              <a:spcBef>
                <a:spcPts val="0"/>
              </a:spcBef>
              <a:spcAft>
                <a:spcPts val="300"/>
              </a:spcAft>
            </a:pPr>
            <a:r>
              <a:rPr sz="850" b="0" i="0">
                <a:solidFill>
                  <a:srgbClr val="5C6B62"/>
                </a:solidFill>
                <a:latin typeface="Arial"/>
              </a:rPr>
              <a:t>▪  Có ghi nhận một số trao đổi D7 và nhận kính tốt</a:t>
            </a:r>
          </a:p>
          <a:p>
            <a:pPr algn="l">
              <a:lnSpc>
                <a:spcPct val="93000"/>
              </a:lnSpc>
              <a:spcBef>
                <a:spcPts val="0"/>
              </a:spcBef>
              <a:spcAft>
                <a:spcPts val="300"/>
              </a:spcAft>
            </a:pPr>
            <a:r>
              <a:rPr sz="850" b="0" i="0">
                <a:solidFill>
                  <a:srgbClr val="5C6B62"/>
                </a:solidFill>
                <a:latin typeface="Arial"/>
              </a:rPr>
              <a:t>▪  Các ca khác bỏ sót trao đổi gia công, theo dõi buổi tối ngày nhận kính, Ortho-K Ngày 2, D7 và D30, nội dung kiến thức và giới thiệu khách</a:t>
            </a:r>
          </a:p>
          <a:p>
            <a:pPr algn="l">
              <a:lnSpc>
                <a:spcPct val="93000"/>
              </a:lnSpc>
              <a:spcBef>
                <a:spcPts val="0"/>
              </a:spcBef>
              <a:spcAft>
                <a:spcPts val="300"/>
              </a:spcAft>
            </a:pPr>
            <a:r>
              <a:rPr sz="850" b="0" i="0">
                <a:solidFill>
                  <a:srgbClr val="5C6B62"/>
                </a:solidFill>
                <a:latin typeface="Arial"/>
              </a:rPr>
              <a:t>▪  Đôi khi gửi tin marketing và thành viên trước khi tạo được sự gắn kết với khách hàng</a:t>
            </a:r>
          </a:p>
          <a:p>
            <a:pPr algn="l">
              <a:lnSpc>
                <a:spcPct val="95000"/>
              </a:lnSpc>
              <a:spcBef>
                <a:spcPts val="200"/>
              </a:spcBef>
              <a:spcAft>
                <a:spcPts val="0"/>
              </a:spcAft>
            </a:pPr>
            <a:r>
              <a:rPr sz="800" b="0" i="1">
                <a:solidFill>
                  <a:srgbClr val="5C6B62"/>
                </a:solidFill>
                <a:latin typeface="Arial"/>
              </a:rPr>
              <a:t>CZ lưu ý DA nên trao đổi từ góc độ quan tâm đến việc đeo kính và thị lực của trẻ.</a:t>
            </a:r>
          </a:p>
        </p:txBody>
      </p:sp>
      <p:sp>
        <p:nvSpPr>
          <p:cNvPr id="35" name="Rectangle 34"/>
          <p:cNvSpPr/>
          <p:nvPr/>
        </p:nvSpPr>
        <p:spPr>
          <a:xfrm>
            <a:off x="6611112" y="5376672"/>
            <a:ext cx="5358383" cy="438912"/>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rIns="73152" rtlCol="0" anchor="ctr"/>
          <a:lstStyle/>
          <a:p>
            <a:pPr algn="l">
              <a:lnSpc>
                <a:spcPct val="93000"/>
              </a:lnSpc>
              <a:spcBef>
                <a:spcPts val="0"/>
              </a:spcBef>
              <a:spcAft>
                <a:spcPts val="0"/>
              </a:spcAft>
            </a:pPr>
            <a:r>
              <a:rPr sz="850" b="1">
                <a:solidFill>
                  <a:srgbClr val="2E9C4C"/>
                </a:solidFill>
                <a:latin typeface="Arial"/>
              </a:rPr>
              <a:t>Trọng tâm:  </a:t>
            </a:r>
            <a:r>
              <a:rPr sz="850" b="0">
                <a:solidFill>
                  <a:srgbClr val="31633D"/>
                </a:solidFill>
                <a:latin typeface="Arial"/>
              </a:rPr>
              <a:t>Tăng cường theo dõi mang tính chăm sóc trước khi dựa vào tin marketing hay giới thiệu khách.</a:t>
            </a:r>
          </a:p>
        </p:txBody>
      </p:sp>
      <p:sp>
        <p:nvSpPr>
          <p:cNvPr id="36" name="Rectangle 35"/>
          <p:cNvSpPr/>
          <p:nvPr/>
        </p:nvSpPr>
        <p:spPr>
          <a:xfrm>
            <a:off x="502920" y="5943600"/>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ectangle 36"/>
          <p:cNvSpPr/>
          <p:nvPr/>
        </p:nvSpPr>
        <p:spPr>
          <a:xfrm>
            <a:off x="571500" y="5943600"/>
            <a:ext cx="11117549"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150" b="1" i="0">
                <a:solidFill>
                  <a:srgbClr val="31633D"/>
                </a:solidFill>
                <a:latin typeface="Arial"/>
              </a:rPr>
              <a:t>Cách làm tốt đã có, nhưng chưa được áp dụng nhất quán cho mọi khách hàng.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a:solidFill>
                  <a:srgbClr val="2E9C4C"/>
                </a:solidFill>
                <a:latin typeface="Arial"/>
              </a:rPr>
              <a:t>2. VẤN ĐỀ TỪNG CHI NHÁNH   |   SONG HAN: LÀM ĐÚNG NHỮNG ĐIỀU CƠ BẢN TRƯỚC</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a:solidFill>
                  <a:srgbClr val="31633D"/>
                </a:solidFill>
                <a:latin typeface="Arial"/>
              </a:rPr>
              <a:t>Mọi khách khúc xạ đều phải được thêm trên Zalo và gắn tag đúng</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a:solidFill>
                  <a:srgbClr val="5C6B62"/>
                </a:solidFill>
                <a:latin typeface="Arial"/>
              </a:rPr>
              <a:t>6</a:t>
            </a:r>
          </a:p>
        </p:txBody>
      </p:sp>
      <p:sp>
        <p:nvSpPr>
          <p:cNvPr id="8" name="Rectangle 7"/>
          <p:cNvSpPr/>
          <p:nvPr/>
        </p:nvSpPr>
        <p:spPr>
          <a:xfrm>
            <a:off x="502920" y="1298448"/>
            <a:ext cx="2727952" cy="40233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ctr">
              <a:lnSpc>
                <a:spcPct val="90000"/>
              </a:lnSpc>
              <a:spcBef>
                <a:spcPts val="0"/>
              </a:spcBef>
              <a:spcAft>
                <a:spcPts val="0"/>
              </a:spcAft>
            </a:pPr>
            <a:r>
              <a:rPr sz="1000" b="1" i="0">
                <a:solidFill>
                  <a:srgbClr val="FFFFFF"/>
                </a:solidFill>
                <a:latin typeface="Arial"/>
              </a:rPr>
              <a:t>1.  Ghi nhận mọi khách hàng</a:t>
            </a:r>
          </a:p>
        </p:txBody>
      </p:sp>
      <p:sp>
        <p:nvSpPr>
          <p:cNvPr id="9" name="Rectangle 8"/>
          <p:cNvSpPr/>
          <p:nvPr/>
        </p:nvSpPr>
        <p:spPr>
          <a:xfrm>
            <a:off x="3322312" y="1298448"/>
            <a:ext cx="2727952" cy="402336"/>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ctr">
              <a:lnSpc>
                <a:spcPct val="90000"/>
              </a:lnSpc>
              <a:spcBef>
                <a:spcPts val="0"/>
              </a:spcBef>
              <a:spcAft>
                <a:spcPts val="0"/>
              </a:spcAft>
            </a:pPr>
            <a:r>
              <a:rPr sz="1000" b="1" i="0">
                <a:solidFill>
                  <a:srgbClr val="31633D"/>
                </a:solidFill>
                <a:latin typeface="Arial"/>
              </a:rPr>
              <a:t>2.  Gắn tag MC đúng chuẩn</a:t>
            </a:r>
          </a:p>
        </p:txBody>
      </p:sp>
      <p:sp>
        <p:nvSpPr>
          <p:cNvPr id="10" name="Rectangle 9"/>
          <p:cNvSpPr/>
          <p:nvPr/>
        </p:nvSpPr>
        <p:spPr>
          <a:xfrm>
            <a:off x="6141704" y="1298448"/>
            <a:ext cx="2727952" cy="402336"/>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ctr">
              <a:lnSpc>
                <a:spcPct val="90000"/>
              </a:lnSpc>
              <a:spcBef>
                <a:spcPts val="0"/>
              </a:spcBef>
              <a:spcAft>
                <a:spcPts val="0"/>
              </a:spcAft>
            </a:pPr>
            <a:r>
              <a:rPr sz="1000" b="1" i="0">
                <a:solidFill>
                  <a:srgbClr val="31633D"/>
                </a:solidFill>
                <a:latin typeface="Arial"/>
              </a:rPr>
              <a:t>3.  Trao đổi trước khi nhận kính</a:t>
            </a:r>
          </a:p>
        </p:txBody>
      </p:sp>
      <p:sp>
        <p:nvSpPr>
          <p:cNvPr id="11" name="Rectangle 10"/>
          <p:cNvSpPr/>
          <p:nvPr/>
        </p:nvSpPr>
        <p:spPr>
          <a:xfrm>
            <a:off x="8961097" y="1298448"/>
            <a:ext cx="2727952" cy="402336"/>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ctr">
              <a:lnSpc>
                <a:spcPct val="90000"/>
              </a:lnSpc>
              <a:spcBef>
                <a:spcPts val="0"/>
              </a:spcBef>
              <a:spcAft>
                <a:spcPts val="0"/>
              </a:spcAft>
            </a:pPr>
            <a:r>
              <a:rPr sz="1000" b="1" i="0">
                <a:solidFill>
                  <a:srgbClr val="31633D"/>
                </a:solidFill>
                <a:latin typeface="Arial"/>
              </a:rPr>
              <a:t>4.  Theo dõi sau khi nhận kính</a:t>
            </a:r>
          </a:p>
        </p:txBody>
      </p:sp>
      <p:sp>
        <p:nvSpPr>
          <p:cNvPr id="12" name="Oval 11"/>
          <p:cNvSpPr/>
          <p:nvPr/>
        </p:nvSpPr>
        <p:spPr>
          <a:xfrm>
            <a:off x="502920" y="1847088"/>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1</a:t>
            </a:r>
          </a:p>
        </p:txBody>
      </p:sp>
      <p:sp>
        <p:nvSpPr>
          <p:cNvPr id="13" name="TextBox 12"/>
          <p:cNvSpPr txBox="1"/>
          <p:nvPr/>
        </p:nvSpPr>
        <p:spPr>
          <a:xfrm>
            <a:off x="813816" y="1810512"/>
            <a:ext cx="609904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50" b="1" i="0">
                <a:solidFill>
                  <a:srgbClr val="31633D"/>
                </a:solidFill>
                <a:latin typeface="Arial"/>
              </a:rPr>
              <a:t>Ghi nhận mọi khách hàng</a:t>
            </a:r>
          </a:p>
        </p:txBody>
      </p:sp>
      <p:sp>
        <p:nvSpPr>
          <p:cNvPr id="14" name="TextBox 13"/>
          <p:cNvSpPr txBox="1"/>
          <p:nvPr/>
        </p:nvSpPr>
        <p:spPr>
          <a:xfrm>
            <a:off x="813816" y="2066543"/>
            <a:ext cx="6099048" cy="676656"/>
          </a:xfrm>
          <a:prstGeom prst="rect">
            <a:avLst/>
          </a:prstGeom>
          <a:noFill/>
        </p:spPr>
        <p:txBody>
          <a:bodyPr wrap="square" lIns="36576" tIns="18288" rIns="36576" bIns="18288" anchor="t">
            <a:spAutoFit/>
          </a:bodyPr>
          <a:lstStyle/>
          <a:p>
            <a:pPr algn="l">
              <a:lnSpc>
                <a:spcPct val="93000"/>
              </a:lnSpc>
              <a:spcBef>
                <a:spcPts val="0"/>
              </a:spcBef>
              <a:spcAft>
                <a:spcPts val="200"/>
              </a:spcAft>
            </a:pPr>
            <a:r>
              <a:rPr sz="850" b="0" i="0">
                <a:solidFill>
                  <a:srgbClr val="5C6B62"/>
                </a:solidFill>
                <a:latin typeface="Arial"/>
              </a:rPr>
              <a:t>▪  Hiện chưa phải tất cả khách khúc xạ đều được thêm trên Zalo</a:t>
            </a:r>
          </a:p>
          <a:p>
            <a:pPr algn="l">
              <a:lnSpc>
                <a:spcPct val="93000"/>
              </a:lnSpc>
              <a:spcBef>
                <a:spcPts val="0"/>
              </a:spcBef>
              <a:spcAft>
                <a:spcPts val="200"/>
              </a:spcAft>
            </a:pPr>
            <a:r>
              <a:rPr sz="850" b="0" i="0">
                <a:solidFill>
                  <a:srgbClr val="5C6B62"/>
                </a:solidFill>
                <a:latin typeface="Arial"/>
              </a:rPr>
              <a:t>▪  Trong khi lượng khách của chi nhánh vốn không cao</a:t>
            </a:r>
          </a:p>
          <a:p>
            <a:pPr algn="l">
              <a:lnSpc>
                <a:spcPct val="93000"/>
              </a:lnSpc>
              <a:spcBef>
                <a:spcPts val="0"/>
              </a:spcBef>
              <a:spcAft>
                <a:spcPts val="200"/>
              </a:spcAft>
            </a:pPr>
            <a:r>
              <a:rPr sz="850" b="0" i="0">
                <a:solidFill>
                  <a:srgbClr val="5C6B62"/>
                </a:solidFill>
                <a:latin typeface="Arial"/>
              </a:rPr>
              <a:t>▪  Khách chưa được thêm sẽ không vào được luồng thành viên hay luồng theo dõi</a:t>
            </a:r>
          </a:p>
          <a:p>
            <a:pPr algn="l">
              <a:lnSpc>
                <a:spcPct val="93000"/>
              </a:lnSpc>
              <a:spcBef>
                <a:spcPts val="0"/>
              </a:spcBef>
              <a:spcAft>
                <a:spcPts val="200"/>
              </a:spcAft>
            </a:pPr>
            <a:r>
              <a:rPr sz="850" b="0" i="0">
                <a:solidFill>
                  <a:srgbClr val="5C6B62"/>
                </a:solidFill>
                <a:latin typeface="Arial"/>
              </a:rPr>
              <a:t>▪  Đây là vấn đề cơ bản nhất</a:t>
            </a:r>
          </a:p>
        </p:txBody>
      </p:sp>
      <p:sp>
        <p:nvSpPr>
          <p:cNvPr id="15" name="Oval 14"/>
          <p:cNvSpPr/>
          <p:nvPr/>
        </p:nvSpPr>
        <p:spPr>
          <a:xfrm>
            <a:off x="502920" y="2852928"/>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2</a:t>
            </a:r>
          </a:p>
        </p:txBody>
      </p:sp>
      <p:sp>
        <p:nvSpPr>
          <p:cNvPr id="16" name="TextBox 15"/>
          <p:cNvSpPr txBox="1"/>
          <p:nvPr/>
        </p:nvSpPr>
        <p:spPr>
          <a:xfrm>
            <a:off x="813816" y="2816352"/>
            <a:ext cx="609904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50" b="1" i="0">
                <a:solidFill>
                  <a:srgbClr val="31633D"/>
                </a:solidFill>
                <a:latin typeface="Arial"/>
              </a:rPr>
              <a:t>Gắn tag MC đúng chuẩn</a:t>
            </a:r>
          </a:p>
        </p:txBody>
      </p:sp>
      <p:sp>
        <p:nvSpPr>
          <p:cNvPr id="17" name="TextBox 16"/>
          <p:cNvSpPr txBox="1"/>
          <p:nvPr/>
        </p:nvSpPr>
        <p:spPr>
          <a:xfrm>
            <a:off x="813816" y="3072384"/>
            <a:ext cx="6099048" cy="676656"/>
          </a:xfrm>
          <a:prstGeom prst="rect">
            <a:avLst/>
          </a:prstGeom>
          <a:noFill/>
        </p:spPr>
        <p:txBody>
          <a:bodyPr wrap="square" lIns="36576" tIns="18288" rIns="36576" bIns="18288" anchor="t">
            <a:spAutoFit/>
          </a:bodyPr>
          <a:lstStyle/>
          <a:p>
            <a:pPr algn="l">
              <a:lnSpc>
                <a:spcPct val="93000"/>
              </a:lnSpc>
              <a:spcBef>
                <a:spcPts val="0"/>
              </a:spcBef>
              <a:spcAft>
                <a:spcPts val="200"/>
              </a:spcAft>
            </a:pPr>
            <a:r>
              <a:rPr sz="850" b="0" i="0">
                <a:solidFill>
                  <a:srgbClr val="5C6B62"/>
                </a:solidFill>
                <a:latin typeface="Arial"/>
              </a:rPr>
              <a:t>▪  Tên và ghi chú khách hàng đôi khi bị thiếu hoặc sai</a:t>
            </a:r>
          </a:p>
          <a:p>
            <a:pPr algn="l">
              <a:lnSpc>
                <a:spcPct val="93000"/>
              </a:lnSpc>
              <a:spcBef>
                <a:spcPts val="0"/>
              </a:spcBef>
              <a:spcAft>
                <a:spcPts val="200"/>
              </a:spcAft>
            </a:pPr>
            <a:r>
              <a:rPr sz="850" b="0" i="0">
                <a:solidFill>
                  <a:srgbClr val="5C6B62"/>
                </a:solidFill>
                <a:latin typeface="Arial"/>
              </a:rPr>
              <a:t>▪  Gắn tag sai khiến khó nhận diện khách và khó theo dõi về sau</a:t>
            </a:r>
          </a:p>
          <a:p>
            <a:pPr algn="l">
              <a:lnSpc>
                <a:spcPct val="93000"/>
              </a:lnSpc>
              <a:spcBef>
                <a:spcPts val="0"/>
              </a:spcBef>
              <a:spcAft>
                <a:spcPts val="200"/>
              </a:spcAft>
            </a:pPr>
            <a:r>
              <a:rPr sz="850" b="0" i="0">
                <a:solidFill>
                  <a:srgbClr val="5C6B62"/>
                </a:solidFill>
                <a:latin typeface="Arial"/>
              </a:rPr>
              <a:t>▪  Làm theo đúng định dạng tag MC như trong ảnh minh họa</a:t>
            </a:r>
          </a:p>
          <a:p>
            <a:pPr algn="l">
              <a:lnSpc>
                <a:spcPct val="93000"/>
              </a:lnSpc>
              <a:spcBef>
                <a:spcPts val="0"/>
              </a:spcBef>
              <a:spcAft>
                <a:spcPts val="200"/>
              </a:spcAft>
            </a:pPr>
            <a:r>
              <a:rPr sz="850" b="0" i="0">
                <a:solidFill>
                  <a:srgbClr val="5C6B62"/>
                </a:solidFill>
                <a:latin typeface="Arial"/>
              </a:rPr>
              <a:t>▪  Sửa ngay thông tin khách hàng sai khi phát hiện</a:t>
            </a:r>
          </a:p>
        </p:txBody>
      </p:sp>
      <p:sp>
        <p:nvSpPr>
          <p:cNvPr id="18" name="Oval 17"/>
          <p:cNvSpPr/>
          <p:nvPr/>
        </p:nvSpPr>
        <p:spPr>
          <a:xfrm>
            <a:off x="502920" y="3858768"/>
            <a:ext cx="237744" cy="237744"/>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3</a:t>
            </a:r>
          </a:p>
        </p:txBody>
      </p:sp>
      <p:sp>
        <p:nvSpPr>
          <p:cNvPr id="19" name="TextBox 18"/>
          <p:cNvSpPr txBox="1"/>
          <p:nvPr/>
        </p:nvSpPr>
        <p:spPr>
          <a:xfrm>
            <a:off x="813816" y="3822192"/>
            <a:ext cx="609904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50" b="1" i="0">
                <a:solidFill>
                  <a:srgbClr val="31633D"/>
                </a:solidFill>
                <a:latin typeface="Arial"/>
              </a:rPr>
              <a:t>Trao đổi trước khi nhận kính</a:t>
            </a:r>
          </a:p>
        </p:txBody>
      </p:sp>
      <p:sp>
        <p:nvSpPr>
          <p:cNvPr id="20" name="TextBox 19"/>
          <p:cNvSpPr txBox="1"/>
          <p:nvPr/>
        </p:nvSpPr>
        <p:spPr>
          <a:xfrm>
            <a:off x="813816" y="4078224"/>
            <a:ext cx="6099048" cy="521208"/>
          </a:xfrm>
          <a:prstGeom prst="rect">
            <a:avLst/>
          </a:prstGeom>
          <a:noFill/>
        </p:spPr>
        <p:txBody>
          <a:bodyPr wrap="square" lIns="36576" tIns="18288" rIns="36576" bIns="18288" anchor="t">
            <a:spAutoFit/>
          </a:bodyPr>
          <a:lstStyle/>
          <a:p>
            <a:pPr algn="l">
              <a:lnSpc>
                <a:spcPct val="93000"/>
              </a:lnSpc>
              <a:spcBef>
                <a:spcPts val="0"/>
              </a:spcBef>
              <a:spcAft>
                <a:spcPts val="200"/>
              </a:spcAft>
            </a:pPr>
            <a:r>
              <a:rPr sz="850" b="0" i="0">
                <a:solidFill>
                  <a:srgbClr val="5C6B62"/>
                </a:solidFill>
                <a:latin typeface="Arial"/>
              </a:rPr>
              <a:t>▪  Cập nhật tiến độ sản xuất hoặc gia công</a:t>
            </a:r>
          </a:p>
          <a:p>
            <a:pPr algn="l">
              <a:lnSpc>
                <a:spcPct val="93000"/>
              </a:lnSpc>
              <a:spcBef>
                <a:spcPts val="0"/>
              </a:spcBef>
              <a:spcAft>
                <a:spcPts val="200"/>
              </a:spcAft>
            </a:pPr>
            <a:r>
              <a:rPr sz="850" b="0" i="0">
                <a:solidFill>
                  <a:srgbClr val="5C6B62"/>
                </a:solidFill>
                <a:latin typeface="Arial"/>
              </a:rPr>
              <a:t>▪  Thời gian dự kiến nhận kính và cách sắp xếp nhận kính</a:t>
            </a:r>
          </a:p>
          <a:p>
            <a:pPr algn="l">
              <a:lnSpc>
                <a:spcPct val="93000"/>
              </a:lnSpc>
              <a:spcBef>
                <a:spcPts val="0"/>
              </a:spcBef>
              <a:spcAft>
                <a:spcPts val="200"/>
              </a:spcAft>
            </a:pPr>
            <a:r>
              <a:rPr sz="850" b="0" i="0">
                <a:solidFill>
                  <a:srgbClr val="5C6B62"/>
                </a:solidFill>
                <a:latin typeface="Arial"/>
              </a:rPr>
              <a:t>▪  Thông tin nhận kính rõ ràng</a:t>
            </a:r>
          </a:p>
        </p:txBody>
      </p:sp>
      <p:sp>
        <p:nvSpPr>
          <p:cNvPr id="21" name="Oval 20"/>
          <p:cNvSpPr/>
          <p:nvPr/>
        </p:nvSpPr>
        <p:spPr>
          <a:xfrm>
            <a:off x="502920" y="4709160"/>
            <a:ext cx="237744" cy="237744"/>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4</a:t>
            </a:r>
          </a:p>
        </p:txBody>
      </p:sp>
      <p:sp>
        <p:nvSpPr>
          <p:cNvPr id="22" name="TextBox 21"/>
          <p:cNvSpPr txBox="1"/>
          <p:nvPr/>
        </p:nvSpPr>
        <p:spPr>
          <a:xfrm>
            <a:off x="813816" y="4672584"/>
            <a:ext cx="609904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50" b="1" i="0">
                <a:solidFill>
                  <a:srgbClr val="31633D"/>
                </a:solidFill>
                <a:latin typeface="Arial"/>
              </a:rPr>
              <a:t>Theo dõi sau khi nhận kính</a:t>
            </a:r>
          </a:p>
        </p:txBody>
      </p:sp>
      <p:sp>
        <p:nvSpPr>
          <p:cNvPr id="23" name="TextBox 22"/>
          <p:cNvSpPr txBox="1"/>
          <p:nvPr/>
        </p:nvSpPr>
        <p:spPr>
          <a:xfrm>
            <a:off x="813816" y="4928616"/>
            <a:ext cx="6099048" cy="453137"/>
          </a:xfrm>
          <a:prstGeom prst="rect">
            <a:avLst/>
          </a:prstGeom>
          <a:noFill/>
        </p:spPr>
        <p:txBody>
          <a:bodyPr wrap="square" lIns="36576" tIns="18288" rIns="36576" bIns="18288" anchor="t">
            <a:spAutoFit/>
          </a:bodyPr>
          <a:lstStyle/>
          <a:p>
            <a:pPr algn="l">
              <a:lnSpc>
                <a:spcPct val="93000"/>
              </a:lnSpc>
              <a:spcBef>
                <a:spcPts val="0"/>
              </a:spcBef>
              <a:spcAft>
                <a:spcPts val="200"/>
              </a:spcAft>
            </a:pPr>
            <a:r>
              <a:rPr sz="850" b="0" i="0" dirty="0">
                <a:solidFill>
                  <a:srgbClr val="5C6B62"/>
                </a:solidFill>
                <a:latin typeface="Arial"/>
              </a:rPr>
              <a:t>▪  Hỏi xem trẻ thích nghi với kính như thế nào</a:t>
            </a:r>
          </a:p>
          <a:p>
            <a:pPr algn="l">
              <a:lnSpc>
                <a:spcPct val="93000"/>
              </a:lnSpc>
              <a:spcBef>
                <a:spcPts val="0"/>
              </a:spcBef>
              <a:spcAft>
                <a:spcPts val="200"/>
              </a:spcAft>
            </a:pPr>
            <a:r>
              <a:rPr sz="850" b="0" i="0" dirty="0">
                <a:solidFill>
                  <a:srgbClr val="5C6B62"/>
                </a:solidFill>
                <a:latin typeface="Arial"/>
              </a:rPr>
              <a:t>▪  Chủ động giải đáp thắc mắc và chia sẻ kiến thức chăm sóc mắt hữu ích</a:t>
            </a:r>
          </a:p>
          <a:p>
            <a:pPr algn="l">
              <a:lnSpc>
                <a:spcPct val="93000"/>
              </a:lnSpc>
              <a:spcBef>
                <a:spcPts val="0"/>
              </a:spcBef>
              <a:spcAft>
                <a:spcPts val="200"/>
              </a:spcAft>
            </a:pPr>
            <a:r>
              <a:rPr sz="850" b="0" i="0" dirty="0">
                <a:solidFill>
                  <a:srgbClr val="5C6B62"/>
                </a:solidFill>
                <a:latin typeface="Arial"/>
              </a:rPr>
              <a:t>▪  Tiếp tục duy trì quan hệ sau khi khách nhận kính</a:t>
            </a:r>
          </a:p>
        </p:txBody>
      </p:sp>
      <p:sp>
        <p:nvSpPr>
          <p:cNvPr id="24" name="Rectangle 23"/>
          <p:cNvSpPr/>
          <p:nvPr/>
        </p:nvSpPr>
        <p:spPr>
          <a:xfrm>
            <a:off x="7187184" y="1847088"/>
            <a:ext cx="4498848"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00" b="1" i="0">
                <a:solidFill>
                  <a:srgbClr val="FFFFFF"/>
                </a:solidFill>
                <a:latin typeface="Arial"/>
              </a:rPr>
              <a:t>Tag MC đúng chuẩn trông như thế nào</a:t>
            </a:r>
          </a:p>
        </p:txBody>
      </p:sp>
      <p:sp>
        <p:nvSpPr>
          <p:cNvPr id="25" name="Rectangle 24"/>
          <p:cNvSpPr/>
          <p:nvPr/>
        </p:nvSpPr>
        <p:spPr>
          <a:xfrm>
            <a:off x="7187184" y="2157984"/>
            <a:ext cx="4498848" cy="11887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6" name="Picture 25" descr="Model Zalo tag for Song Han to Follow.png"/>
          <p:cNvPicPr>
            <a:picLocks noChangeAspect="1"/>
          </p:cNvPicPr>
          <p:nvPr/>
        </p:nvPicPr>
        <p:blipFill>
          <a:blip r:embed="rId2"/>
          <a:stretch>
            <a:fillRect/>
          </a:stretch>
        </p:blipFill>
        <p:spPr>
          <a:xfrm>
            <a:off x="7370064" y="2450592"/>
            <a:ext cx="4133087" cy="703172"/>
          </a:xfrm>
          <a:prstGeom prst="rect">
            <a:avLst/>
          </a:prstGeom>
        </p:spPr>
      </p:pic>
      <p:sp>
        <p:nvSpPr>
          <p:cNvPr id="27" name="TextBox 26"/>
          <p:cNvSpPr txBox="1"/>
          <p:nvPr/>
        </p:nvSpPr>
        <p:spPr>
          <a:xfrm>
            <a:off x="7187184" y="3438144"/>
            <a:ext cx="449884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00" b="1" i="0">
                <a:solidFill>
                  <a:srgbClr val="2E9C4C"/>
                </a:solidFill>
                <a:latin typeface="Arial"/>
              </a:rPr>
              <a:t>VÌ SAO ĐÂY LÀ ĐÚNG</a:t>
            </a:r>
          </a:p>
        </p:txBody>
      </p:sp>
      <p:sp>
        <p:nvSpPr>
          <p:cNvPr id="28" name="Oval 27"/>
          <p:cNvSpPr/>
          <p:nvPr/>
        </p:nvSpPr>
        <p:spPr>
          <a:xfrm>
            <a:off x="7187184" y="3749039"/>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1</a:t>
            </a:r>
          </a:p>
        </p:txBody>
      </p:sp>
      <p:sp>
        <p:nvSpPr>
          <p:cNvPr id="29" name="TextBox 28"/>
          <p:cNvSpPr txBox="1"/>
          <p:nvPr/>
        </p:nvSpPr>
        <p:spPr>
          <a:xfrm>
            <a:off x="7498080" y="3721607"/>
            <a:ext cx="4151376" cy="292608"/>
          </a:xfrm>
          <a:prstGeom prst="rect">
            <a:avLst/>
          </a:prstGeom>
          <a:noFill/>
        </p:spPr>
        <p:txBody>
          <a:bodyPr wrap="square" lIns="36576" tIns="18288" rIns="36576" bIns="18288" anchor="t">
            <a:spAutoFit/>
          </a:bodyPr>
          <a:lstStyle/>
          <a:p>
            <a:pPr algn="l">
              <a:lnSpc>
                <a:spcPct val="93000"/>
              </a:lnSpc>
              <a:spcBef>
                <a:spcPts val="0"/>
              </a:spcBef>
              <a:spcAft>
                <a:spcPts val="0"/>
              </a:spcAft>
            </a:pPr>
            <a:r>
              <a:rPr sz="850" b="1">
                <a:solidFill>
                  <a:srgbClr val="31633D"/>
                </a:solidFill>
                <a:latin typeface="Arial"/>
              </a:rPr>
              <a:t>Tag MC đúng  —  </a:t>
            </a:r>
            <a:r>
              <a:rPr sz="850" b="0">
                <a:solidFill>
                  <a:srgbClr val="5C6B62"/>
                </a:solidFill>
                <a:latin typeface="Arial"/>
              </a:rPr>
              <a:t>Bắt đầu bằng tiền tố MC và ngày.</a:t>
            </a:r>
          </a:p>
        </p:txBody>
      </p:sp>
      <p:sp>
        <p:nvSpPr>
          <p:cNvPr id="30" name="Oval 29"/>
          <p:cNvSpPr/>
          <p:nvPr/>
        </p:nvSpPr>
        <p:spPr>
          <a:xfrm>
            <a:off x="7187184" y="4206240"/>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2</a:t>
            </a:r>
          </a:p>
        </p:txBody>
      </p:sp>
      <p:sp>
        <p:nvSpPr>
          <p:cNvPr id="31" name="TextBox 30"/>
          <p:cNvSpPr txBox="1"/>
          <p:nvPr/>
        </p:nvSpPr>
        <p:spPr>
          <a:xfrm>
            <a:off x="7498080" y="4178807"/>
            <a:ext cx="4151376" cy="292608"/>
          </a:xfrm>
          <a:prstGeom prst="rect">
            <a:avLst/>
          </a:prstGeom>
          <a:noFill/>
        </p:spPr>
        <p:txBody>
          <a:bodyPr wrap="square" lIns="36576" tIns="18288" rIns="36576" bIns="18288" anchor="t">
            <a:spAutoFit/>
          </a:bodyPr>
          <a:lstStyle/>
          <a:p>
            <a:pPr algn="l">
              <a:lnSpc>
                <a:spcPct val="93000"/>
              </a:lnSpc>
              <a:spcBef>
                <a:spcPts val="0"/>
              </a:spcBef>
              <a:spcAft>
                <a:spcPts val="0"/>
              </a:spcAft>
            </a:pPr>
            <a:r>
              <a:rPr sz="850" b="1">
                <a:solidFill>
                  <a:srgbClr val="31633D"/>
                </a:solidFill>
                <a:latin typeface="Arial"/>
              </a:rPr>
              <a:t>Nhận diện khách rõ ràng  —  </a:t>
            </a:r>
            <a:r>
              <a:rPr sz="850" b="0">
                <a:solidFill>
                  <a:srgbClr val="5C6B62"/>
                </a:solidFill>
                <a:latin typeface="Arial"/>
              </a:rPr>
              <a:t>Ghi đầy đủ tên phụ huynh/tên bé.</a:t>
            </a:r>
          </a:p>
        </p:txBody>
      </p:sp>
      <p:sp>
        <p:nvSpPr>
          <p:cNvPr id="32" name="Oval 31"/>
          <p:cNvSpPr/>
          <p:nvPr/>
        </p:nvSpPr>
        <p:spPr>
          <a:xfrm>
            <a:off x="7187184" y="4663440"/>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3</a:t>
            </a:r>
          </a:p>
        </p:txBody>
      </p:sp>
      <p:sp>
        <p:nvSpPr>
          <p:cNvPr id="33" name="TextBox 32"/>
          <p:cNvSpPr txBox="1"/>
          <p:nvPr/>
        </p:nvSpPr>
        <p:spPr>
          <a:xfrm>
            <a:off x="7498080" y="4636007"/>
            <a:ext cx="4151376" cy="292608"/>
          </a:xfrm>
          <a:prstGeom prst="rect">
            <a:avLst/>
          </a:prstGeom>
          <a:noFill/>
        </p:spPr>
        <p:txBody>
          <a:bodyPr wrap="square" lIns="36576" tIns="18288" rIns="36576" bIns="18288" anchor="t">
            <a:spAutoFit/>
          </a:bodyPr>
          <a:lstStyle/>
          <a:p>
            <a:pPr algn="l">
              <a:lnSpc>
                <a:spcPct val="93000"/>
              </a:lnSpc>
              <a:spcBef>
                <a:spcPts val="0"/>
              </a:spcBef>
              <a:spcAft>
                <a:spcPts val="0"/>
              </a:spcAft>
            </a:pPr>
            <a:r>
              <a:rPr sz="850" b="1">
                <a:solidFill>
                  <a:srgbClr val="31633D"/>
                </a:solidFill>
                <a:latin typeface="Arial"/>
              </a:rPr>
              <a:t>Định dạng tên nhất quán  —  </a:t>
            </a:r>
            <a:r>
              <a:rPr sz="850" b="0">
                <a:solidFill>
                  <a:srgbClr val="5C6B62"/>
                </a:solidFill>
                <a:latin typeface="Arial"/>
              </a:rPr>
              <a:t>Dùng cùng một cấu trúc cho mọi khách hàng.</a:t>
            </a:r>
          </a:p>
        </p:txBody>
      </p:sp>
      <p:sp>
        <p:nvSpPr>
          <p:cNvPr id="34" name="Oval 33"/>
          <p:cNvSpPr/>
          <p:nvPr/>
        </p:nvSpPr>
        <p:spPr>
          <a:xfrm>
            <a:off x="7187184" y="5120640"/>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4</a:t>
            </a:r>
          </a:p>
        </p:txBody>
      </p:sp>
      <p:sp>
        <p:nvSpPr>
          <p:cNvPr id="35" name="TextBox 34"/>
          <p:cNvSpPr txBox="1"/>
          <p:nvPr/>
        </p:nvSpPr>
        <p:spPr>
          <a:xfrm>
            <a:off x="7498080" y="5093207"/>
            <a:ext cx="4151376" cy="292608"/>
          </a:xfrm>
          <a:prstGeom prst="rect">
            <a:avLst/>
          </a:prstGeom>
          <a:noFill/>
        </p:spPr>
        <p:txBody>
          <a:bodyPr wrap="square" lIns="36576" tIns="18288" rIns="36576" bIns="18288" anchor="t">
            <a:spAutoFit/>
          </a:bodyPr>
          <a:lstStyle/>
          <a:p>
            <a:pPr algn="l">
              <a:lnSpc>
                <a:spcPct val="93000"/>
              </a:lnSpc>
              <a:spcBef>
                <a:spcPts val="0"/>
              </a:spcBef>
              <a:spcAft>
                <a:spcPts val="0"/>
              </a:spcAft>
            </a:pPr>
            <a:r>
              <a:rPr sz="850" b="1">
                <a:solidFill>
                  <a:srgbClr val="31633D"/>
                </a:solidFill>
                <a:latin typeface="Arial"/>
              </a:rPr>
              <a:t>Dễ tìm lại để theo dõi về sau  —  </a:t>
            </a:r>
            <a:r>
              <a:rPr sz="850" b="0">
                <a:solidFill>
                  <a:srgbClr val="5C6B62"/>
                </a:solidFill>
                <a:latin typeface="Arial"/>
              </a:rPr>
              <a:t>Có thể tìm kiếm khi đến mốc theo dõi kế tiếp.</a:t>
            </a:r>
          </a:p>
        </p:txBody>
      </p:sp>
      <p:sp>
        <p:nvSpPr>
          <p:cNvPr id="36" name="Rectangle 35"/>
          <p:cNvSpPr/>
          <p:nvPr/>
        </p:nvSpPr>
        <p:spPr>
          <a:xfrm>
            <a:off x="502920" y="5705856"/>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ectangle 36"/>
          <p:cNvSpPr/>
          <p:nvPr/>
        </p:nvSpPr>
        <p:spPr>
          <a:xfrm>
            <a:off x="571500" y="5705856"/>
            <a:ext cx="11117549"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050" b="1" i="0">
                <a:solidFill>
                  <a:srgbClr val="31633D"/>
                </a:solidFill>
                <a:latin typeface="Arial"/>
              </a:rPr>
              <a:t>Hãy thêm mọi khách hàng và gắn tag MC đúng định dạng. Nếu không,
khách hàng sẽ không thể được theo dõi hay chăm sóc đúng cách.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a:solidFill>
                  <a:srgbClr val="2E9C4C"/>
                </a:solidFill>
                <a:latin typeface="Arial"/>
              </a:rPr>
              <a:t>3. VÍ DỤ TỐT   |   VÍ DỤ TỐT: CHỦ ĐỘNG QUẢN LÝ HÀNH TRÌNH KHÁCH HÀNG</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a:solidFill>
                  <a:srgbClr val="31633D"/>
                </a:solidFill>
                <a:latin typeface="Arial"/>
              </a:rPr>
              <a:t>Ví dụ tốt: Chủ động quản lý hành trình khách hàng</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a:solidFill>
                  <a:srgbClr val="5C6B62"/>
                </a:solidFill>
                <a:latin typeface="Arial"/>
              </a:rPr>
              <a:t>7</a:t>
            </a:r>
          </a:p>
        </p:txBody>
      </p:sp>
      <p:sp>
        <p:nvSpPr>
          <p:cNvPr id="8" name="Rectangle 7"/>
          <p:cNvSpPr/>
          <p:nvPr/>
        </p:nvSpPr>
        <p:spPr>
          <a:xfrm>
            <a:off x="502920" y="1298448"/>
            <a:ext cx="11183112" cy="29260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lnSpc>
                <a:spcPct val="95000"/>
              </a:lnSpc>
              <a:spcBef>
                <a:spcPts val="0"/>
              </a:spcBef>
              <a:spcAft>
                <a:spcPts val="0"/>
              </a:spcAft>
            </a:pPr>
            <a:r>
              <a:rPr sz="1050" b="1" dirty="0">
                <a:solidFill>
                  <a:srgbClr val="2E9C4C"/>
                </a:solidFill>
                <a:latin typeface="Arial"/>
              </a:rPr>
              <a:t>Khách hàng:  </a:t>
            </a:r>
            <a:r>
              <a:rPr sz="1050" b="0" dirty="0">
                <a:solidFill>
                  <a:srgbClr val="31633D"/>
                </a:solidFill>
                <a:latin typeface="Arial"/>
              </a:rPr>
              <a:t>MCY 260725 </a:t>
            </a:r>
            <a:r>
              <a:rPr sz="1050" b="0" dirty="0" err="1">
                <a:solidFill>
                  <a:srgbClr val="31633D"/>
                </a:solidFill>
                <a:latin typeface="Arial"/>
              </a:rPr>
              <a:t>Chị</a:t>
            </a:r>
            <a:r>
              <a:rPr sz="1050" b="0" dirty="0">
                <a:solidFill>
                  <a:srgbClr val="31633D"/>
                </a:solidFill>
                <a:latin typeface="Arial"/>
              </a:rPr>
              <a:t> Thư </a:t>
            </a:r>
            <a:r>
              <a:rPr sz="1050" b="0" dirty="0" err="1">
                <a:solidFill>
                  <a:srgbClr val="31633D"/>
                </a:solidFill>
                <a:latin typeface="Arial"/>
              </a:rPr>
              <a:t>mẹ</a:t>
            </a:r>
            <a:r>
              <a:rPr sz="1050" b="0" dirty="0">
                <a:solidFill>
                  <a:srgbClr val="31633D"/>
                </a:solidFill>
                <a:latin typeface="Arial"/>
              </a:rPr>
              <a:t> </a:t>
            </a:r>
            <a:r>
              <a:rPr sz="1050" b="0" dirty="0" err="1">
                <a:solidFill>
                  <a:srgbClr val="31633D"/>
                </a:solidFill>
                <a:latin typeface="Arial"/>
              </a:rPr>
              <a:t>bé</a:t>
            </a:r>
            <a:r>
              <a:rPr sz="1050" b="0" dirty="0">
                <a:solidFill>
                  <a:srgbClr val="31633D"/>
                </a:solidFill>
                <a:latin typeface="Arial"/>
              </a:rPr>
              <a:t> </a:t>
            </a:r>
            <a:r>
              <a:rPr sz="1050" b="0" dirty="0" err="1">
                <a:solidFill>
                  <a:srgbClr val="31633D"/>
                </a:solidFill>
                <a:latin typeface="Arial"/>
              </a:rPr>
              <a:t>Đỗ</a:t>
            </a:r>
            <a:r>
              <a:rPr sz="1050" b="0" dirty="0">
                <a:solidFill>
                  <a:srgbClr val="31633D"/>
                </a:solidFill>
                <a:latin typeface="Arial"/>
              </a:rPr>
              <a:t> </a:t>
            </a:r>
            <a:r>
              <a:rPr sz="1050" b="0" dirty="0" err="1">
                <a:solidFill>
                  <a:srgbClr val="31633D"/>
                </a:solidFill>
                <a:latin typeface="Arial"/>
              </a:rPr>
              <a:t>Nhất</a:t>
            </a:r>
            <a:r>
              <a:rPr sz="1050" b="0" dirty="0">
                <a:solidFill>
                  <a:srgbClr val="31633D"/>
                </a:solidFill>
                <a:latin typeface="Arial"/>
              </a:rPr>
              <a:t> Phương Nghi</a:t>
            </a:r>
          </a:p>
        </p:txBody>
      </p:sp>
      <p:sp>
        <p:nvSpPr>
          <p:cNvPr id="9" name="Rectangle 8"/>
          <p:cNvSpPr/>
          <p:nvPr/>
        </p:nvSpPr>
        <p:spPr>
          <a:xfrm>
            <a:off x="502920" y="1664208"/>
            <a:ext cx="3749039" cy="279806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0" name="Picture 9" descr="MCY 260725 Chị Thư mẹ bé Đỗ Nhất Phương Nghi Pic 1.png"/>
          <p:cNvPicPr>
            <a:picLocks noChangeAspect="1"/>
          </p:cNvPicPr>
          <p:nvPr/>
        </p:nvPicPr>
        <p:blipFill>
          <a:blip r:embed="rId2"/>
          <a:stretch>
            <a:fillRect/>
          </a:stretch>
        </p:blipFill>
        <p:spPr>
          <a:xfrm>
            <a:off x="914400" y="1737360"/>
            <a:ext cx="3070583" cy="2651760"/>
          </a:xfrm>
          <a:prstGeom prst="rect">
            <a:avLst/>
          </a:prstGeom>
        </p:spPr>
      </p:pic>
      <p:sp>
        <p:nvSpPr>
          <p:cNvPr id="11" name="Oval 10"/>
          <p:cNvSpPr/>
          <p:nvPr/>
        </p:nvSpPr>
        <p:spPr>
          <a:xfrm>
            <a:off x="566928" y="2048256"/>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1</a:t>
            </a:r>
          </a:p>
        </p:txBody>
      </p:sp>
      <p:sp>
        <p:nvSpPr>
          <p:cNvPr id="12" name="Oval 11"/>
          <p:cNvSpPr/>
          <p:nvPr/>
        </p:nvSpPr>
        <p:spPr>
          <a:xfrm>
            <a:off x="566928" y="3218688"/>
            <a:ext cx="237744" cy="237744"/>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2</a:t>
            </a:r>
          </a:p>
        </p:txBody>
      </p:sp>
      <p:sp>
        <p:nvSpPr>
          <p:cNvPr id="13" name="TextBox 12"/>
          <p:cNvSpPr txBox="1"/>
          <p:nvPr/>
        </p:nvSpPr>
        <p:spPr>
          <a:xfrm>
            <a:off x="502920" y="4498848"/>
            <a:ext cx="3749039" cy="347472"/>
          </a:xfrm>
          <a:prstGeom prst="rect">
            <a:avLst/>
          </a:prstGeom>
          <a:noFill/>
        </p:spPr>
        <p:txBody>
          <a:bodyPr wrap="square" lIns="36576" tIns="18288" rIns="36576" bIns="18288" anchor="t">
            <a:spAutoFit/>
          </a:bodyPr>
          <a:lstStyle/>
          <a:p>
            <a:pPr algn="l">
              <a:lnSpc>
                <a:spcPct val="100000"/>
              </a:lnSpc>
              <a:spcBef>
                <a:spcPts val="0"/>
              </a:spcBef>
              <a:spcAft>
                <a:spcPts val="0"/>
              </a:spcAft>
            </a:pPr>
            <a:r>
              <a:rPr sz="850" b="0" i="1">
                <a:solidFill>
                  <a:srgbClr val="5C6B62"/>
                </a:solidFill>
                <a:latin typeface="Arial"/>
              </a:rPr>
              <a:t>Cập nhật gia công (26/07) và
trao đổi nhận kính (01–03/08)</a:t>
            </a:r>
          </a:p>
        </p:txBody>
      </p:sp>
      <p:sp>
        <p:nvSpPr>
          <p:cNvPr id="14" name="Rectangle 13"/>
          <p:cNvSpPr/>
          <p:nvPr/>
        </p:nvSpPr>
        <p:spPr>
          <a:xfrm>
            <a:off x="502920" y="4901184"/>
            <a:ext cx="7370064" cy="1261872"/>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MCY 260725 Chị Thư mẹ bé Đỗ Nhất Phương Nghi PIC 2.png"/>
          <p:cNvPicPr>
            <a:picLocks noChangeAspect="1"/>
          </p:cNvPicPr>
          <p:nvPr/>
        </p:nvPicPr>
        <p:blipFill>
          <a:blip r:embed="rId3"/>
          <a:stretch>
            <a:fillRect/>
          </a:stretch>
        </p:blipFill>
        <p:spPr>
          <a:xfrm>
            <a:off x="914400" y="5047488"/>
            <a:ext cx="5138928" cy="1109496"/>
          </a:xfrm>
          <a:prstGeom prst="rect">
            <a:avLst/>
          </a:prstGeom>
        </p:spPr>
      </p:pic>
      <p:sp>
        <p:nvSpPr>
          <p:cNvPr id="16" name="Oval 15"/>
          <p:cNvSpPr/>
          <p:nvPr/>
        </p:nvSpPr>
        <p:spPr>
          <a:xfrm>
            <a:off x="566928" y="4992624"/>
            <a:ext cx="237744" cy="237744"/>
          </a:xfrm>
          <a:prstGeom prst="ellipse">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3</a:t>
            </a:r>
          </a:p>
        </p:txBody>
      </p:sp>
      <p:sp>
        <p:nvSpPr>
          <p:cNvPr id="17" name="TextBox 16"/>
          <p:cNvSpPr txBox="1"/>
          <p:nvPr/>
        </p:nvSpPr>
        <p:spPr>
          <a:xfrm>
            <a:off x="6163056" y="5120640"/>
            <a:ext cx="1627632" cy="731520"/>
          </a:xfrm>
          <a:prstGeom prst="rect">
            <a:avLst/>
          </a:prstGeom>
          <a:noFill/>
        </p:spPr>
        <p:txBody>
          <a:bodyPr wrap="square" lIns="36576" tIns="18288" rIns="36576" bIns="18288" anchor="t">
            <a:spAutoFit/>
          </a:bodyPr>
          <a:lstStyle/>
          <a:p>
            <a:pPr algn="l">
              <a:lnSpc>
                <a:spcPct val="100000"/>
              </a:lnSpc>
              <a:spcBef>
                <a:spcPts val="0"/>
              </a:spcBef>
              <a:spcAft>
                <a:spcPts val="0"/>
              </a:spcAft>
            </a:pPr>
            <a:r>
              <a:rPr sz="800" b="0" i="1">
                <a:solidFill>
                  <a:srgbClr val="5C6B62"/>
                </a:solidFill>
                <a:latin typeface="Arial"/>
              </a:rPr>
              <a:t>Hỏi thăm sau khi
nhận kính (07/08)</a:t>
            </a:r>
          </a:p>
        </p:txBody>
      </p:sp>
      <p:sp>
        <p:nvSpPr>
          <p:cNvPr id="18" name="TextBox 17"/>
          <p:cNvSpPr txBox="1"/>
          <p:nvPr/>
        </p:nvSpPr>
        <p:spPr>
          <a:xfrm>
            <a:off x="4590288" y="1664208"/>
            <a:ext cx="3282696" cy="219456"/>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00" b="1" i="0">
                <a:solidFill>
                  <a:srgbClr val="2E9C4C"/>
                </a:solidFill>
                <a:latin typeface="Arial"/>
              </a:rPr>
              <a:t>BA GIAI ĐOẠN TRONG ẢNH</a:t>
            </a:r>
          </a:p>
        </p:txBody>
      </p:sp>
      <p:sp>
        <p:nvSpPr>
          <p:cNvPr id="19" name="Oval 18"/>
          <p:cNvSpPr/>
          <p:nvPr/>
        </p:nvSpPr>
        <p:spPr>
          <a:xfrm>
            <a:off x="4590288" y="1956816"/>
            <a:ext cx="237744" cy="237744"/>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1</a:t>
            </a:r>
          </a:p>
        </p:txBody>
      </p:sp>
      <p:sp>
        <p:nvSpPr>
          <p:cNvPr id="20" name="TextBox 19"/>
          <p:cNvSpPr txBox="1"/>
          <p:nvPr/>
        </p:nvSpPr>
        <p:spPr>
          <a:xfrm>
            <a:off x="4901183" y="1920240"/>
            <a:ext cx="2935224" cy="566928"/>
          </a:xfrm>
          <a:prstGeom prst="rect">
            <a:avLst/>
          </a:prstGeom>
          <a:noFill/>
        </p:spPr>
        <p:txBody>
          <a:bodyPr wrap="square" lIns="36576" tIns="18288" rIns="36576" bIns="18288" anchor="t">
            <a:spAutoFit/>
          </a:bodyPr>
          <a:lstStyle/>
          <a:p>
            <a:pPr algn="l">
              <a:lnSpc>
                <a:spcPct val="92000"/>
              </a:lnSpc>
              <a:spcBef>
                <a:spcPts val="0"/>
              </a:spcBef>
              <a:spcAft>
                <a:spcPts val="100"/>
              </a:spcAft>
            </a:pPr>
            <a:r>
              <a:rPr sz="950" b="1" i="0">
                <a:solidFill>
                  <a:srgbClr val="31633D"/>
                </a:solidFill>
                <a:latin typeface="Arial"/>
              </a:rPr>
              <a:t>Thông tin gia công</a:t>
            </a:r>
          </a:p>
          <a:p>
            <a:pPr algn="l">
              <a:lnSpc>
                <a:spcPct val="95000"/>
              </a:lnSpc>
              <a:spcBef>
                <a:spcPts val="0"/>
              </a:spcBef>
              <a:spcAft>
                <a:spcPts val="0"/>
              </a:spcAft>
            </a:pPr>
            <a:r>
              <a:rPr sz="850" b="0" i="0">
                <a:solidFill>
                  <a:srgbClr val="5C6B62"/>
                </a:solidFill>
                <a:latin typeface="Arial"/>
              </a:rPr>
              <a:t>chủ động thông báo cho phụ huynh</a:t>
            </a:r>
          </a:p>
        </p:txBody>
      </p:sp>
      <p:sp>
        <p:nvSpPr>
          <p:cNvPr id="21" name="Oval 20"/>
          <p:cNvSpPr/>
          <p:nvPr/>
        </p:nvSpPr>
        <p:spPr>
          <a:xfrm>
            <a:off x="4590288" y="2651760"/>
            <a:ext cx="237744" cy="237744"/>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2</a:t>
            </a:r>
          </a:p>
        </p:txBody>
      </p:sp>
      <p:sp>
        <p:nvSpPr>
          <p:cNvPr id="22" name="TextBox 21"/>
          <p:cNvSpPr txBox="1"/>
          <p:nvPr/>
        </p:nvSpPr>
        <p:spPr>
          <a:xfrm>
            <a:off x="4901183" y="2615184"/>
            <a:ext cx="2935224" cy="566928"/>
          </a:xfrm>
          <a:prstGeom prst="rect">
            <a:avLst/>
          </a:prstGeom>
          <a:noFill/>
        </p:spPr>
        <p:txBody>
          <a:bodyPr wrap="square" lIns="36576" tIns="18288" rIns="36576" bIns="18288" anchor="t">
            <a:spAutoFit/>
          </a:bodyPr>
          <a:lstStyle/>
          <a:p>
            <a:pPr algn="l">
              <a:lnSpc>
                <a:spcPct val="92000"/>
              </a:lnSpc>
              <a:spcBef>
                <a:spcPts val="0"/>
              </a:spcBef>
              <a:spcAft>
                <a:spcPts val="100"/>
              </a:spcAft>
            </a:pPr>
            <a:r>
              <a:rPr sz="950" b="1" i="0">
                <a:solidFill>
                  <a:srgbClr val="31633D"/>
                </a:solidFill>
                <a:latin typeface="Arial"/>
              </a:rPr>
              <a:t>Thông tin nhận kính</a:t>
            </a:r>
          </a:p>
          <a:p>
            <a:pPr algn="l">
              <a:lnSpc>
                <a:spcPct val="95000"/>
              </a:lnSpc>
              <a:spcBef>
                <a:spcPts val="0"/>
              </a:spcBef>
              <a:spcAft>
                <a:spcPts val="0"/>
              </a:spcAft>
            </a:pPr>
            <a:r>
              <a:rPr sz="850" b="0" i="0">
                <a:solidFill>
                  <a:srgbClr val="5C6B62"/>
                </a:solidFill>
                <a:latin typeface="Arial"/>
              </a:rPr>
              <a:t>truyền đạt rõ ràng, có phương án thời gian</a:t>
            </a:r>
          </a:p>
        </p:txBody>
      </p:sp>
      <p:sp>
        <p:nvSpPr>
          <p:cNvPr id="23" name="Oval 22"/>
          <p:cNvSpPr/>
          <p:nvPr/>
        </p:nvSpPr>
        <p:spPr>
          <a:xfrm>
            <a:off x="4590288" y="3346704"/>
            <a:ext cx="237744" cy="237744"/>
          </a:xfrm>
          <a:prstGeom prst="ellipse">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3</a:t>
            </a:r>
          </a:p>
        </p:txBody>
      </p:sp>
      <p:sp>
        <p:nvSpPr>
          <p:cNvPr id="24" name="TextBox 23"/>
          <p:cNvSpPr txBox="1"/>
          <p:nvPr/>
        </p:nvSpPr>
        <p:spPr>
          <a:xfrm>
            <a:off x="4901183" y="3310128"/>
            <a:ext cx="2935224" cy="566928"/>
          </a:xfrm>
          <a:prstGeom prst="rect">
            <a:avLst/>
          </a:prstGeom>
          <a:noFill/>
        </p:spPr>
        <p:txBody>
          <a:bodyPr wrap="square" lIns="36576" tIns="18288" rIns="36576" bIns="18288" anchor="t">
            <a:spAutoFit/>
          </a:bodyPr>
          <a:lstStyle/>
          <a:p>
            <a:pPr algn="l">
              <a:lnSpc>
                <a:spcPct val="92000"/>
              </a:lnSpc>
              <a:spcBef>
                <a:spcPts val="0"/>
              </a:spcBef>
              <a:spcAft>
                <a:spcPts val="100"/>
              </a:spcAft>
            </a:pPr>
            <a:r>
              <a:rPr sz="950" b="1" i="0">
                <a:solidFill>
                  <a:srgbClr val="31633D"/>
                </a:solidFill>
                <a:latin typeface="Arial"/>
              </a:rPr>
              <a:t>Hỏi thăm sau khi nhận kính</a:t>
            </a:r>
          </a:p>
          <a:p>
            <a:pPr algn="l">
              <a:lnSpc>
                <a:spcPct val="95000"/>
              </a:lnSpc>
              <a:spcBef>
                <a:spcPts val="0"/>
              </a:spcBef>
              <a:spcAft>
                <a:spcPts val="0"/>
              </a:spcAft>
            </a:pPr>
            <a:r>
              <a:rPr sz="850" b="0" i="0">
                <a:solidFill>
                  <a:srgbClr val="5C6B62"/>
                </a:solidFill>
                <a:latin typeface="Arial"/>
              </a:rPr>
              <a:t>về việc trẻ thích nghi với kính như thế nào</a:t>
            </a:r>
          </a:p>
        </p:txBody>
      </p:sp>
      <p:sp>
        <p:nvSpPr>
          <p:cNvPr id="25" name="Rectangle 24"/>
          <p:cNvSpPr/>
          <p:nvPr/>
        </p:nvSpPr>
        <p:spPr>
          <a:xfrm>
            <a:off x="4590288" y="4059936"/>
            <a:ext cx="3282696" cy="713232"/>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lnSpc>
                <a:spcPct val="95000"/>
              </a:lnSpc>
              <a:spcBef>
                <a:spcPts val="0"/>
              </a:spcBef>
              <a:spcAft>
                <a:spcPts val="0"/>
              </a:spcAft>
            </a:pPr>
            <a:r>
              <a:rPr sz="900" b="1">
                <a:solidFill>
                  <a:srgbClr val="31633D"/>
                </a:solidFill>
                <a:latin typeface="Arial"/>
              </a:rPr>
              <a:t>Chủ động trao đổi giúp DA trông chuyên nghiệp và xây dựng được niềm tin của khách.</a:t>
            </a:r>
          </a:p>
        </p:txBody>
      </p:sp>
      <p:sp>
        <p:nvSpPr>
          <p:cNvPr id="26" name="Rectangle 25"/>
          <p:cNvSpPr/>
          <p:nvPr/>
        </p:nvSpPr>
        <p:spPr>
          <a:xfrm>
            <a:off x="8046720" y="1664208"/>
            <a:ext cx="3639312"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Vì sao đây là cách làm tốt</a:t>
            </a:r>
          </a:p>
        </p:txBody>
      </p:sp>
      <p:sp>
        <p:nvSpPr>
          <p:cNvPr id="27" name="Rectangle 26"/>
          <p:cNvSpPr/>
          <p:nvPr/>
        </p:nvSpPr>
        <p:spPr>
          <a:xfrm>
            <a:off x="8046720" y="1975104"/>
            <a:ext cx="3639312" cy="1810512"/>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73152" rtlCol="0" anchor="ctr"/>
          <a:lstStyle/>
          <a:p>
            <a:pPr algn="l">
              <a:lnSpc>
                <a:spcPct val="93000"/>
              </a:lnSpc>
              <a:spcBef>
                <a:spcPts val="0"/>
              </a:spcBef>
              <a:spcAft>
                <a:spcPts val="400"/>
              </a:spcAft>
            </a:pPr>
            <a:r>
              <a:rPr sz="900" b="0" i="0">
                <a:solidFill>
                  <a:srgbClr val="5C6B62"/>
                </a:solidFill>
                <a:latin typeface="Arial"/>
              </a:rPr>
              <a:t>▪  DA chủ động thông báo, không chờ khách hỏi</a:t>
            </a:r>
          </a:p>
          <a:p>
            <a:pPr algn="l">
              <a:lnSpc>
                <a:spcPct val="93000"/>
              </a:lnSpc>
              <a:spcBef>
                <a:spcPts val="0"/>
              </a:spcBef>
              <a:spcAft>
                <a:spcPts val="400"/>
              </a:spcAft>
            </a:pPr>
            <a:r>
              <a:rPr sz="900" b="0" i="0">
                <a:solidFill>
                  <a:srgbClr val="5C6B62"/>
                </a:solidFill>
                <a:latin typeface="Arial"/>
              </a:rPr>
              <a:t>▪  Khách hàng biết rõ tiến độ ở từng giai đoạn</a:t>
            </a:r>
          </a:p>
          <a:p>
            <a:pPr algn="l">
              <a:lnSpc>
                <a:spcPct val="93000"/>
              </a:lnSpc>
              <a:spcBef>
                <a:spcPts val="0"/>
              </a:spcBef>
              <a:spcAft>
                <a:spcPts val="400"/>
              </a:spcAft>
            </a:pPr>
            <a:r>
              <a:rPr sz="900" b="0" i="0">
                <a:solidFill>
                  <a:srgbClr val="5C6B62"/>
                </a:solidFill>
                <a:latin typeface="Arial"/>
              </a:rPr>
              <a:t>▪  DA thể hiện sự bài bản, chu đáo và chuyên nghiệp</a:t>
            </a:r>
          </a:p>
          <a:p>
            <a:pPr algn="l">
              <a:lnSpc>
                <a:spcPct val="93000"/>
              </a:lnSpc>
              <a:spcBef>
                <a:spcPts val="0"/>
              </a:spcBef>
              <a:spcAft>
                <a:spcPts val="400"/>
              </a:spcAft>
            </a:pPr>
            <a:r>
              <a:rPr sz="900" b="0" i="0">
                <a:solidFill>
                  <a:srgbClr val="5C6B62"/>
                </a:solidFill>
                <a:latin typeface="Arial"/>
              </a:rPr>
              <a:t>▪  Phụ huynh yên tâm rằng ca của con mình đang được theo dõi tốt</a:t>
            </a:r>
          </a:p>
          <a:p>
            <a:pPr algn="l">
              <a:lnSpc>
                <a:spcPct val="93000"/>
              </a:lnSpc>
              <a:spcBef>
                <a:spcPts val="0"/>
              </a:spcBef>
              <a:spcAft>
                <a:spcPts val="400"/>
              </a:spcAft>
            </a:pPr>
            <a:r>
              <a:rPr sz="900" b="0" i="0">
                <a:solidFill>
                  <a:srgbClr val="5C6B62"/>
                </a:solidFill>
                <a:latin typeface="Arial"/>
              </a:rPr>
              <a:t>▪  Trao đổi đều đặn giúp xây dựng niềm tin với DA</a:t>
            </a:r>
          </a:p>
        </p:txBody>
      </p:sp>
      <p:sp>
        <p:nvSpPr>
          <p:cNvPr id="28" name="Rectangle 27"/>
          <p:cNvSpPr/>
          <p:nvPr/>
        </p:nvSpPr>
        <p:spPr>
          <a:xfrm>
            <a:off x="8046720" y="3931920"/>
            <a:ext cx="3639312" cy="310896"/>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a:solidFill>
                  <a:srgbClr val="FFFFFF"/>
                </a:solidFill>
                <a:latin typeface="Arial"/>
              </a:rPr>
              <a:t>Thông điệp đào tạo</a:t>
            </a:r>
          </a:p>
        </p:txBody>
      </p:sp>
      <p:sp>
        <p:nvSpPr>
          <p:cNvPr id="29" name="Rectangle 28"/>
          <p:cNvSpPr/>
          <p:nvPr/>
        </p:nvSpPr>
        <p:spPr>
          <a:xfrm>
            <a:off x="8046720" y="4242816"/>
            <a:ext cx="3639312" cy="11887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lnSpc>
                <a:spcPct val="100000"/>
              </a:lnSpc>
              <a:spcBef>
                <a:spcPts val="0"/>
              </a:spcBef>
              <a:spcAft>
                <a:spcPts val="0"/>
              </a:spcAft>
            </a:pPr>
            <a:r>
              <a:rPr sz="950" b="0" i="0">
                <a:solidFill>
                  <a:srgbClr val="5C6B62"/>
                </a:solidFill>
                <a:latin typeface="Arial"/>
              </a:rPr>
              <a:t>DA nên chủ động quản lý hành trình khách hàng từ gia công, nhận kính đến chăm sóc sau bán, thay vì chờ khách hỏi tiến độ.</a:t>
            </a:r>
          </a:p>
        </p:txBody>
      </p:sp>
      <p:sp>
        <p:nvSpPr>
          <p:cNvPr id="30" name="Rectangle 29"/>
          <p:cNvSpPr/>
          <p:nvPr/>
        </p:nvSpPr>
        <p:spPr>
          <a:xfrm>
            <a:off x="8046720" y="5541264"/>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Rectangle 30"/>
          <p:cNvSpPr/>
          <p:nvPr/>
        </p:nvSpPr>
        <p:spPr>
          <a:xfrm>
            <a:off x="8115300" y="5541264"/>
            <a:ext cx="3570732"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000" b="1" i="0">
                <a:solidFill>
                  <a:srgbClr val="31633D"/>
                </a:solidFill>
                <a:latin typeface="Arial"/>
              </a:rPr>
              <a:t>Quản lý hành trình từ đầu đến cuối —
đừng chờ khách hỏi.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a:solidFill>
                  <a:srgbClr val="2E9C4C"/>
                </a:solidFill>
                <a:latin typeface="Arial"/>
              </a:rPr>
              <a:t>4. Ý CHÍNH CẦN NHỚ   |   Ý CHÍNH CẦN NHỚ</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a:solidFill>
                  <a:srgbClr val="31633D"/>
                </a:solidFill>
                <a:latin typeface="Arial"/>
              </a:rPr>
              <a:t>Ý chính cần nhớ</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a:solidFill>
                  <a:srgbClr val="5C6B62"/>
                </a:solidFill>
                <a:latin typeface="Arial"/>
              </a:rPr>
              <a:t>8</a:t>
            </a:r>
          </a:p>
        </p:txBody>
      </p:sp>
      <p:sp>
        <p:nvSpPr>
          <p:cNvPr id="8" name="Rectangle 7"/>
          <p:cNvSpPr/>
          <p:nvPr/>
        </p:nvSpPr>
        <p:spPr>
          <a:xfrm>
            <a:off x="502920" y="1353312"/>
            <a:ext cx="3545829" cy="40416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502920" y="1353312"/>
            <a:ext cx="3545829" cy="502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667512" y="1554480"/>
            <a:ext cx="310896" cy="31089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1</a:t>
            </a:r>
          </a:p>
        </p:txBody>
      </p:sp>
      <p:sp>
        <p:nvSpPr>
          <p:cNvPr id="11" name="TextBox 10"/>
          <p:cNvSpPr txBox="1"/>
          <p:nvPr/>
        </p:nvSpPr>
        <p:spPr>
          <a:xfrm>
            <a:off x="1069848" y="1572768"/>
            <a:ext cx="2814309" cy="29260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400" b="1" i="0">
                <a:solidFill>
                  <a:srgbClr val="31633D"/>
                </a:solidFill>
                <a:latin typeface="Arial"/>
              </a:rPr>
              <a:t>Sửa Data Flags</a:t>
            </a:r>
          </a:p>
        </p:txBody>
      </p:sp>
      <p:sp>
        <p:nvSpPr>
          <p:cNvPr id="12" name="Rectangle 11"/>
          <p:cNvSpPr/>
          <p:nvPr/>
        </p:nvSpPr>
        <p:spPr>
          <a:xfrm>
            <a:off x="667512" y="1975104"/>
            <a:ext cx="3216645"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67512" y="2066543"/>
            <a:ext cx="3216645" cy="2011680"/>
          </a:xfrm>
          <a:prstGeom prst="rect">
            <a:avLst/>
          </a:prstGeom>
          <a:noFill/>
        </p:spPr>
        <p:txBody>
          <a:bodyPr wrap="square" lIns="36576" tIns="18288" rIns="36576" bIns="18288" anchor="t">
            <a:spAutoFit/>
          </a:bodyPr>
          <a:lstStyle/>
          <a:p>
            <a:pPr algn="l">
              <a:lnSpc>
                <a:spcPct val="95000"/>
              </a:lnSpc>
              <a:spcBef>
                <a:spcPts val="0"/>
              </a:spcBef>
              <a:spcAft>
                <a:spcPts val="500"/>
              </a:spcAft>
            </a:pPr>
            <a:r>
              <a:rPr sz="950" b="0" i="0">
                <a:solidFill>
                  <a:srgbClr val="5C6B62"/>
                </a:solidFill>
                <a:latin typeface="Arial"/>
              </a:rPr>
              <a:t>▪  Data Flags ảnh hưởng đến tracker</a:t>
            </a:r>
          </a:p>
          <a:p>
            <a:pPr algn="l">
              <a:lnSpc>
                <a:spcPct val="95000"/>
              </a:lnSpc>
              <a:spcBef>
                <a:spcPts val="0"/>
              </a:spcBef>
              <a:spcAft>
                <a:spcPts val="500"/>
              </a:spcAft>
            </a:pPr>
            <a:r>
              <a:rPr sz="950" b="0" i="0">
                <a:solidFill>
                  <a:srgbClr val="5C6B62"/>
                </a:solidFill>
                <a:latin typeface="Arial"/>
              </a:rPr>
              <a:t>▪  Ảnh hưởng đến việc theo dõi SOP</a:t>
            </a:r>
          </a:p>
          <a:p>
            <a:pPr algn="l">
              <a:lnSpc>
                <a:spcPct val="95000"/>
              </a:lnSpc>
              <a:spcBef>
                <a:spcPts val="0"/>
              </a:spcBef>
              <a:spcAft>
                <a:spcPts val="500"/>
              </a:spcAft>
            </a:pPr>
            <a:r>
              <a:rPr sz="950" b="0" i="0">
                <a:solidFill>
                  <a:srgbClr val="5C6B62"/>
                </a:solidFill>
                <a:latin typeface="Arial"/>
              </a:rPr>
              <a:t>▪  Có thể ảnh hưởng đến thưởng của bạn</a:t>
            </a:r>
          </a:p>
          <a:p>
            <a:pPr algn="l">
              <a:lnSpc>
                <a:spcPct val="95000"/>
              </a:lnSpc>
              <a:spcBef>
                <a:spcPts val="0"/>
              </a:spcBef>
              <a:spcAft>
                <a:spcPts val="500"/>
              </a:spcAft>
            </a:pPr>
            <a:r>
              <a:rPr sz="950" b="0" i="0">
                <a:solidFill>
                  <a:srgbClr val="5C6B62"/>
                </a:solidFill>
                <a:latin typeface="Arial"/>
              </a:rPr>
              <a:t>▪  Nhiều lỗi chỉ mất khoảng 10 phút để sửa</a:t>
            </a:r>
          </a:p>
          <a:p>
            <a:pPr algn="l">
              <a:lnSpc>
                <a:spcPct val="95000"/>
              </a:lnSpc>
              <a:spcBef>
                <a:spcPts val="0"/>
              </a:spcBef>
              <a:spcAft>
                <a:spcPts val="500"/>
              </a:spcAft>
            </a:pPr>
            <a:r>
              <a:rPr sz="950" b="0" i="0">
                <a:solidFill>
                  <a:srgbClr val="5C6B62"/>
                </a:solidFill>
                <a:latin typeface="Arial"/>
              </a:rPr>
              <a:t>▪  Đừng để những lỗi dễ sửa tồn đọng</a:t>
            </a:r>
          </a:p>
          <a:p>
            <a:pPr algn="l">
              <a:lnSpc>
                <a:spcPct val="95000"/>
              </a:lnSpc>
              <a:spcBef>
                <a:spcPts val="0"/>
              </a:spcBef>
              <a:spcAft>
                <a:spcPts val="500"/>
              </a:spcAft>
            </a:pPr>
            <a:r>
              <a:rPr sz="950" b="0" i="0">
                <a:solidFill>
                  <a:srgbClr val="5C6B62"/>
                </a:solidFill>
                <a:latin typeface="Arial"/>
              </a:rPr>
              <a:t>▪  Nhờ hỗ trợ nếu bạn không xử lý được một flag</a:t>
            </a:r>
          </a:p>
        </p:txBody>
      </p:sp>
      <p:sp>
        <p:nvSpPr>
          <p:cNvPr id="14" name="Rectangle 13"/>
          <p:cNvSpPr/>
          <p:nvPr/>
        </p:nvSpPr>
        <p:spPr>
          <a:xfrm>
            <a:off x="667512" y="4224528"/>
            <a:ext cx="3216645" cy="969264"/>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lnSpc>
                <a:spcPct val="95000"/>
              </a:lnSpc>
              <a:spcBef>
                <a:spcPts val="0"/>
              </a:spcBef>
              <a:spcAft>
                <a:spcPts val="0"/>
              </a:spcAft>
            </a:pPr>
            <a:r>
              <a:rPr sz="1000" b="1">
                <a:solidFill>
                  <a:srgbClr val="31633D"/>
                </a:solidFill>
                <a:latin typeface="Arial"/>
              </a:rPr>
              <a:t>Đừng để việc chỉ mất 10 phút để sửa làm ảnh hưởng đến thưởng của bạn.</a:t>
            </a:r>
          </a:p>
        </p:txBody>
      </p:sp>
      <p:sp>
        <p:nvSpPr>
          <p:cNvPr id="15" name="Rectangle 14"/>
          <p:cNvSpPr/>
          <p:nvPr/>
        </p:nvSpPr>
        <p:spPr>
          <a:xfrm>
            <a:off x="4323069" y="1353312"/>
            <a:ext cx="3545829" cy="40416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4323069" y="1353312"/>
            <a:ext cx="3545829" cy="50292"/>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4487661" y="1554480"/>
            <a:ext cx="310896" cy="310896"/>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2</a:t>
            </a:r>
          </a:p>
        </p:txBody>
      </p:sp>
      <p:sp>
        <p:nvSpPr>
          <p:cNvPr id="18" name="TextBox 17"/>
          <p:cNvSpPr txBox="1"/>
          <p:nvPr/>
        </p:nvSpPr>
        <p:spPr>
          <a:xfrm>
            <a:off x="4889997" y="1572768"/>
            <a:ext cx="2814309" cy="29260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400" b="1" i="0">
                <a:solidFill>
                  <a:srgbClr val="31633D"/>
                </a:solidFill>
                <a:latin typeface="Arial"/>
              </a:rPr>
              <a:t>Tuân thủ tiêu chí SOP</a:t>
            </a:r>
          </a:p>
        </p:txBody>
      </p:sp>
      <p:sp>
        <p:nvSpPr>
          <p:cNvPr id="19" name="Rectangle 18"/>
          <p:cNvSpPr/>
          <p:nvPr/>
        </p:nvSpPr>
        <p:spPr>
          <a:xfrm>
            <a:off x="4487661" y="1975104"/>
            <a:ext cx="3216645"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4487661" y="2066543"/>
            <a:ext cx="3216645" cy="2011680"/>
          </a:xfrm>
          <a:prstGeom prst="rect">
            <a:avLst/>
          </a:prstGeom>
          <a:noFill/>
        </p:spPr>
        <p:txBody>
          <a:bodyPr wrap="square" lIns="36576" tIns="18288" rIns="36576" bIns="18288" anchor="t">
            <a:spAutoFit/>
          </a:bodyPr>
          <a:lstStyle/>
          <a:p>
            <a:pPr algn="l">
              <a:lnSpc>
                <a:spcPct val="95000"/>
              </a:lnSpc>
              <a:spcBef>
                <a:spcPts val="0"/>
              </a:spcBef>
              <a:spcAft>
                <a:spcPts val="500"/>
              </a:spcAft>
            </a:pPr>
            <a:r>
              <a:rPr sz="950" b="0" i="0">
                <a:solidFill>
                  <a:srgbClr val="5C6B62"/>
                </a:solidFill>
                <a:latin typeface="Arial"/>
              </a:rPr>
              <a:t>▪  Theo dõi đúng các mốc thời gian yêu cầu</a:t>
            </a:r>
          </a:p>
          <a:p>
            <a:pPr algn="l">
              <a:lnSpc>
                <a:spcPct val="95000"/>
              </a:lnSpc>
              <a:spcBef>
                <a:spcPts val="0"/>
              </a:spcBef>
              <a:spcAft>
                <a:spcPts val="500"/>
              </a:spcAft>
            </a:pPr>
            <a:r>
              <a:rPr sz="950" b="0" i="0">
                <a:solidFill>
                  <a:srgbClr val="5C6B62"/>
                </a:solidFill>
                <a:latin typeface="Arial"/>
              </a:rPr>
              <a:t>▪  Truyền tải đúng nội dung cho từng điểm chạm</a:t>
            </a:r>
          </a:p>
          <a:p>
            <a:pPr algn="l">
              <a:lnSpc>
                <a:spcPct val="95000"/>
              </a:lnSpc>
              <a:spcBef>
                <a:spcPts val="0"/>
              </a:spcBef>
              <a:spcAft>
                <a:spcPts val="500"/>
              </a:spcAft>
            </a:pPr>
            <a:r>
              <a:rPr sz="950" b="0" i="0">
                <a:solidFill>
                  <a:srgbClr val="5C6B62"/>
                </a:solidFill>
                <a:latin typeface="Arial"/>
              </a:rPr>
              <a:t>▪  Gửi một tin bất kỳ không có nghĩa là đã hoàn thành SOP</a:t>
            </a:r>
          </a:p>
          <a:p>
            <a:pPr algn="l">
              <a:lnSpc>
                <a:spcPct val="95000"/>
              </a:lnSpc>
              <a:spcBef>
                <a:spcPts val="0"/>
              </a:spcBef>
              <a:spcAft>
                <a:spcPts val="500"/>
              </a:spcAft>
            </a:pPr>
            <a:r>
              <a:rPr sz="950" b="0" i="0">
                <a:solidFill>
                  <a:srgbClr val="5C6B62"/>
                </a:solidFill>
                <a:latin typeface="Arial"/>
              </a:rPr>
              <a:t>▪  SOP cho bạn các điểm chạm đều đặn để xây dựng quan hệ</a:t>
            </a:r>
          </a:p>
          <a:p>
            <a:pPr algn="l">
              <a:lnSpc>
                <a:spcPct val="95000"/>
              </a:lnSpc>
              <a:spcBef>
                <a:spcPts val="0"/>
              </a:spcBef>
              <a:spcAft>
                <a:spcPts val="500"/>
              </a:spcAft>
            </a:pPr>
            <a:r>
              <a:rPr sz="950" b="0" i="0">
                <a:solidFill>
                  <a:srgbClr val="5C6B62"/>
                </a:solidFill>
                <a:latin typeface="Arial"/>
              </a:rPr>
              <a:t>▪  Khi bạn theo dõi tốt, khách hàng sẽ quen và tin bạn</a:t>
            </a:r>
          </a:p>
          <a:p>
            <a:pPr algn="l">
              <a:lnSpc>
                <a:spcPct val="95000"/>
              </a:lnSpc>
              <a:spcBef>
                <a:spcPts val="0"/>
              </a:spcBef>
              <a:spcAft>
                <a:spcPts val="500"/>
              </a:spcAft>
            </a:pPr>
            <a:r>
              <a:rPr sz="950" b="0" i="0">
                <a:solidFill>
                  <a:srgbClr val="5C6B62"/>
                </a:solidFill>
                <a:latin typeface="Arial"/>
              </a:rPr>
              <a:t>▪  Quan hệ vững hơn giúp tăng tương tác, tái khám và giới thiệu khách</a:t>
            </a:r>
          </a:p>
        </p:txBody>
      </p:sp>
      <p:sp>
        <p:nvSpPr>
          <p:cNvPr id="21" name="Rectangle 20"/>
          <p:cNvSpPr/>
          <p:nvPr/>
        </p:nvSpPr>
        <p:spPr>
          <a:xfrm>
            <a:off x="4487661" y="4224528"/>
            <a:ext cx="3216645" cy="969264"/>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lnSpc>
                <a:spcPct val="95000"/>
              </a:lnSpc>
              <a:spcBef>
                <a:spcPts val="0"/>
              </a:spcBef>
              <a:spcAft>
                <a:spcPts val="0"/>
              </a:spcAft>
            </a:pPr>
            <a:r>
              <a:rPr sz="1000" b="1">
                <a:solidFill>
                  <a:srgbClr val="31633D"/>
                </a:solidFill>
                <a:latin typeface="Arial"/>
              </a:rPr>
              <a:t>Hãy dùng mỗi điểm chạm SOP để xây dựng quan hệ khách hàng, không chỉ để hoàn thành một việc.</a:t>
            </a:r>
          </a:p>
        </p:txBody>
      </p:sp>
      <p:sp>
        <p:nvSpPr>
          <p:cNvPr id="22" name="Rectangle 21"/>
          <p:cNvSpPr/>
          <p:nvPr/>
        </p:nvSpPr>
        <p:spPr>
          <a:xfrm>
            <a:off x="8143219" y="1353312"/>
            <a:ext cx="3545829" cy="40416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8143219" y="1353312"/>
            <a:ext cx="3545829" cy="50292"/>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8307811" y="1554480"/>
            <a:ext cx="310896" cy="310896"/>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a:solidFill>
                  <a:srgbClr val="FFFFFF"/>
                </a:solidFill>
                <a:latin typeface="Arial"/>
              </a:rPr>
              <a:t>3</a:t>
            </a:r>
          </a:p>
        </p:txBody>
      </p:sp>
      <p:sp>
        <p:nvSpPr>
          <p:cNvPr id="25" name="TextBox 24"/>
          <p:cNvSpPr txBox="1"/>
          <p:nvPr/>
        </p:nvSpPr>
        <p:spPr>
          <a:xfrm>
            <a:off x="8710147" y="1572768"/>
            <a:ext cx="2814309" cy="29260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400" b="1" i="0">
                <a:solidFill>
                  <a:srgbClr val="31633D"/>
                </a:solidFill>
                <a:latin typeface="Arial"/>
              </a:rPr>
              <a:t>Cứ hỏi bất cứ điều gì</a:t>
            </a:r>
          </a:p>
        </p:txBody>
      </p:sp>
      <p:sp>
        <p:nvSpPr>
          <p:cNvPr id="26" name="Rectangle 25"/>
          <p:cNvSpPr/>
          <p:nvPr/>
        </p:nvSpPr>
        <p:spPr>
          <a:xfrm>
            <a:off x="8307811" y="1975104"/>
            <a:ext cx="3216645"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8307811" y="2066543"/>
            <a:ext cx="3216645" cy="2011680"/>
          </a:xfrm>
          <a:prstGeom prst="rect">
            <a:avLst/>
          </a:prstGeom>
          <a:noFill/>
        </p:spPr>
        <p:txBody>
          <a:bodyPr wrap="square" lIns="36576" tIns="18288" rIns="36576" bIns="18288" anchor="t">
            <a:spAutoFit/>
          </a:bodyPr>
          <a:lstStyle/>
          <a:p>
            <a:pPr algn="l">
              <a:lnSpc>
                <a:spcPct val="95000"/>
              </a:lnSpc>
              <a:spcBef>
                <a:spcPts val="0"/>
              </a:spcBef>
              <a:spcAft>
                <a:spcPts val="500"/>
              </a:spcAft>
            </a:pPr>
            <a:r>
              <a:rPr sz="950" b="0" i="0">
                <a:solidFill>
                  <a:srgbClr val="5C6B62"/>
                </a:solidFill>
                <a:latin typeface="Arial"/>
              </a:rPr>
              <a:t>▪  Tất cả chúng ta đều đang học quy trình mới</a:t>
            </a:r>
          </a:p>
          <a:p>
            <a:pPr algn="l">
              <a:lnSpc>
                <a:spcPct val="95000"/>
              </a:lnSpc>
              <a:spcBef>
                <a:spcPts val="0"/>
              </a:spcBef>
              <a:spcAft>
                <a:spcPts val="500"/>
              </a:spcAft>
            </a:pPr>
            <a:r>
              <a:rPr sz="950" b="0" i="0">
                <a:solidFill>
                  <a:srgbClr val="5C6B62"/>
                </a:solidFill>
                <a:latin typeface="Arial"/>
              </a:rPr>
              <a:t>▪  Không biết là chuyện bình thường</a:t>
            </a:r>
          </a:p>
          <a:p>
            <a:pPr algn="l">
              <a:lnSpc>
                <a:spcPct val="95000"/>
              </a:lnSpc>
              <a:spcBef>
                <a:spcPts val="0"/>
              </a:spcBef>
              <a:spcAft>
                <a:spcPts val="500"/>
              </a:spcAft>
            </a:pPr>
            <a:r>
              <a:rPr sz="950" b="0" i="0">
                <a:solidFill>
                  <a:srgbClr val="5C6B62"/>
                </a:solidFill>
                <a:latin typeface="Arial"/>
              </a:rPr>
              <a:t>▪  Nhưng chúng tôi không biết bạn đang chưa rõ điều gì</a:t>
            </a:r>
          </a:p>
          <a:p>
            <a:pPr algn="l">
              <a:lnSpc>
                <a:spcPct val="95000"/>
              </a:lnSpc>
              <a:spcBef>
                <a:spcPts val="0"/>
              </a:spcBef>
              <a:spcAft>
                <a:spcPts val="500"/>
              </a:spcAft>
            </a:pPr>
            <a:r>
              <a:rPr sz="950" b="0" i="0">
                <a:solidFill>
                  <a:srgbClr val="5C6B62"/>
                </a:solidFill>
                <a:latin typeface="Arial"/>
              </a:rPr>
              <a:t>▪  Hãy đặt câu hỏi trong nhóm Zalo</a:t>
            </a:r>
          </a:p>
          <a:p>
            <a:pPr algn="l">
              <a:lnSpc>
                <a:spcPct val="95000"/>
              </a:lnSpc>
              <a:spcBef>
                <a:spcPts val="0"/>
              </a:spcBef>
              <a:spcAft>
                <a:spcPts val="500"/>
              </a:spcAft>
            </a:pPr>
            <a:r>
              <a:rPr sz="950" b="0" i="0">
                <a:solidFill>
                  <a:srgbClr val="5C6B62"/>
                </a:solidFill>
                <a:latin typeface="Arial"/>
              </a:rPr>
              <a:t>▪  CZ và Khoa sẽ trả lời và giải thích rõ</a:t>
            </a:r>
          </a:p>
          <a:p>
            <a:pPr algn="l">
              <a:lnSpc>
                <a:spcPct val="95000"/>
              </a:lnSpc>
              <a:spcBef>
                <a:spcPts val="0"/>
              </a:spcBef>
              <a:spcAft>
                <a:spcPts val="500"/>
              </a:spcAft>
            </a:pPr>
            <a:r>
              <a:rPr sz="950" b="0" i="0">
                <a:solidFill>
                  <a:srgbClr val="5C6B62"/>
                </a:solidFill>
                <a:latin typeface="Arial"/>
              </a:rPr>
              <a:t>▪  Chúng tôi ở đây để hỗ trợ bạn</a:t>
            </a:r>
          </a:p>
        </p:txBody>
      </p:sp>
      <p:sp>
        <p:nvSpPr>
          <p:cNvPr id="28" name="Rectangle 27"/>
          <p:cNvSpPr/>
          <p:nvPr/>
        </p:nvSpPr>
        <p:spPr>
          <a:xfrm>
            <a:off x="8307811" y="4224528"/>
            <a:ext cx="3216645" cy="969264"/>
          </a:xfrm>
          <a:prstGeom prst="rect">
            <a:avLst/>
          </a:prstGeom>
          <a:solidFill>
            <a:srgbClr val="E4F3F3"/>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lnSpc>
                <a:spcPct val="95000"/>
              </a:lnSpc>
              <a:spcBef>
                <a:spcPts val="0"/>
              </a:spcBef>
              <a:spcAft>
                <a:spcPts val="0"/>
              </a:spcAft>
            </a:pPr>
            <a:r>
              <a:rPr sz="1000" b="1">
                <a:solidFill>
                  <a:srgbClr val="31633D"/>
                </a:solidFill>
                <a:latin typeface="Arial"/>
              </a:rPr>
              <a:t>Không biết là chuyện bình thường. Hãy hỏi sớm để chúng ta cùng giải quyết.</a:t>
            </a:r>
          </a:p>
        </p:txBody>
      </p:sp>
      <p:sp>
        <p:nvSpPr>
          <p:cNvPr id="29" name="Rectangle 28"/>
          <p:cNvSpPr/>
          <p:nvPr/>
        </p:nvSpPr>
        <p:spPr>
          <a:xfrm>
            <a:off x="502920" y="5596128"/>
            <a:ext cx="11186129" cy="621792"/>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spcBef>
                <a:spcPts val="0"/>
              </a:spcBef>
              <a:spcAft>
                <a:spcPts val="0"/>
              </a:spcAft>
            </a:pPr>
            <a:r>
              <a:rPr sz="1700" b="1" i="0">
                <a:solidFill>
                  <a:srgbClr val="FFFFFF"/>
                </a:solidFill>
                <a:latin typeface="Arial"/>
              </a:rPr>
              <a:t>Sửa dữ liệu.    Tuân thủ SOP.    Chưa rõ thì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1622</Words>
  <Application>Microsoft Office PowerPoint</Application>
  <PresentationFormat>Widescreen</PresentationFormat>
  <Paragraphs>219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Sin Long Koh</cp:lastModifiedBy>
  <cp:revision>4</cp:revision>
  <dcterms:created xsi:type="dcterms:W3CDTF">2013-01-27T09:14:16Z</dcterms:created>
  <dcterms:modified xsi:type="dcterms:W3CDTF">2026-08-26T04:44:02Z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586a97b-dc47-4882-9241-a2ba35606524_Enabled">
    <vt:lpwstr>true</vt:lpwstr>
  </property>
  <property fmtid="{D5CDD505-2E9C-101B-9397-08002B2CF9AE}" pid="3" name="MSIP_Label_e586a97b-dc47-4882-9241-a2ba35606524_SetDate">
    <vt:lpwstr>2026-08-26T04:30:09Z</vt:lpwstr>
  </property>
  <property fmtid="{D5CDD505-2E9C-101B-9397-08002B2CF9AE}" pid="4" name="MSIP_Label_e586a97b-dc47-4882-9241-a2ba35606524_Method">
    <vt:lpwstr>Standard</vt:lpwstr>
  </property>
  <property fmtid="{D5CDD505-2E9C-101B-9397-08002B2CF9AE}" pid="5" name="MSIP_Label_e586a97b-dc47-4882-9241-a2ba35606524_Name">
    <vt:lpwstr>Limited</vt:lpwstr>
  </property>
  <property fmtid="{D5CDD505-2E9C-101B-9397-08002B2CF9AE}" pid="6" name="MSIP_Label_e586a97b-dc47-4882-9241-a2ba35606524_SiteId">
    <vt:lpwstr>a95f93a6-6a75-4e3b-831a-966f1930949e</vt:lpwstr>
  </property>
  <property fmtid="{D5CDD505-2E9C-101B-9397-08002B2CF9AE}" pid="7" name="MSIP_Label_e586a97b-dc47-4882-9241-a2ba35606524_ActionId">
    <vt:lpwstr>85777a9d-675e-4fb2-a41c-ef7609cbde4e</vt:lpwstr>
  </property>
  <property fmtid="{D5CDD505-2E9C-101B-9397-08002B2CF9AE}" pid="8" name="MSIP_Label_e586a97b-dc47-4882-9241-a2ba35606524_ContentBits">
    <vt:lpwstr>2</vt:lpwstr>
  </property>
  <property fmtid="{D5CDD505-2E9C-101B-9397-08002B2CF9AE}" pid="9" name="MSIP_Label_e586a97b-dc47-4882-9241-a2ba35606524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Classification: Limited</vt:lpwstr>
  </property>
</Properties>
</file>