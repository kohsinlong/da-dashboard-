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no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91D5C-A3BD-AC40-AE9E-03F733D233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55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Limited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969" cy="868680"/>
          </a:xfrm>
          <a:prstGeom prst="rect">
            <a:avLst/>
          </a:prstGeom>
          <a:solidFill>
            <a:srgbClr val="27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66928"/>
            <a:ext cx="2980944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487168"/>
            <a:ext cx="10607040" cy="47551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SG" sz="3000" b="1" dirty="0">
                <a:solidFill>
                  <a:srgbClr val="CFE6D8"/>
                </a:solidFill>
                <a:latin typeface="Microsoft YaHei"/>
                <a:ea typeface="Microsoft YaHei"/>
                <a:cs typeface="Microsoft YaHei"/>
              </a:rPr>
              <a:t>验光 DA 培训  |  2026年8月25日当周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160520"/>
            <a:ext cx="1920240" cy="4572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4389120"/>
            <a:ext cx="786384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 dirty="0">
                <a:solidFill>
                  <a:srgbClr val="CFE6D8"/>
                </a:solidFill>
                <a:latin typeface="Microsoft YaHei"/>
                <a:ea typeface="Microsoft YaHei"/>
                <a:cs typeface="Microsoft YaHei"/>
              </a:rPr>
              <a:t>CRM 追踪表回顾、全院区 SOP 检查结果、各院区具体问题与优秀案例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CFE6D8"/>
                </a:solidFill>
                <a:latin typeface="Microsoft YaHei"/>
                <a:ea typeface="Microsoft YaHei"/>
                <a:cs typeface="Microsoft YaHei"/>
              </a:rPr>
              <a:t>CTE D5   ·   NGT   ·   CTE D7   ·   LA   ·   Song 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36208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E6D8"/>
                </a:solidFill>
                <a:latin typeface="Microsoft YaHei"/>
                <a:ea typeface="Microsoft YaHei"/>
                <a:cs typeface="Microsoft YaHei"/>
              </a:rPr>
              <a:t>供 DA 培训与复盘使用  ·  仅限内部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确立基准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CRM 总览：了解今天有哪些待办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206240" cy="477316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9" name="Picture 8" descr="CRM Tracker Overview 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3622730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852160"/>
            <a:ext cx="406908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CRM 总览 — CTE D5（实时视图）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353312"/>
            <a:ext cx="269748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重点查看内容</a:t>
            </a:r>
          </a:p>
        </p:txBody>
      </p:sp>
      <p:sp>
        <p:nvSpPr>
          <p:cNvPr id="12" name="Oval 11"/>
          <p:cNvSpPr/>
          <p:nvPr/>
        </p:nvSpPr>
        <p:spPr>
          <a:xfrm>
            <a:off x="4864608" y="1664208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27632"/>
            <a:ext cx="23774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今天到期的跟进数量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红色紧急区块 — 每天早上从这里开始。</a:t>
            </a:r>
          </a:p>
        </p:txBody>
      </p:sp>
      <p:sp>
        <p:nvSpPr>
          <p:cNvPr id="14" name="Oval 13"/>
          <p:cNvSpPr/>
          <p:nvPr/>
        </p:nvSpPr>
        <p:spPr>
          <a:xfrm>
            <a:off x="4864608" y="2596896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60320"/>
            <a:ext cx="237744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不同的跟进节点类别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今天到期、本周到期、以及待修正的数据标记。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1353312"/>
            <a:ext cx="386791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CRM 总览显示的内容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664208"/>
            <a:ext cx="3867912" cy="12984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今天有多少客户跟进到期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lang="en-SG" sz="100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每周有多少跟进到期 </a:t>
            </a:r>
            <a:endParaRPr sz="1000" b="0" i="0" dirty="0">
              <a:solidFill>
                <a:srgbClr val="5C6B62"/>
              </a:solidFill>
              <a:latin typeface="Arial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lang="en-SG" sz="100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有多少数据标记需要修正 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lang="en-SG" sz="100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每一类数据标记的数量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127248"/>
            <a:ext cx="38679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追踪表覆盖范围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3438144"/>
            <a:ext cx="3867912" cy="111556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dirty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已上线：  </a:t>
            </a:r>
            <a:r>
              <a:rPr sz="1000" b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NGT 与 CTE D5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9770B"/>
                </a:solidFill>
                <a:latin typeface="Microsoft YaHei"/>
                <a:ea typeface="Microsoft YaHei"/>
                <a:cs typeface="Microsoft YaHei"/>
              </a:rPr>
              <a:t>即将上线：  </a:t>
            </a:r>
            <a:r>
              <a:rPr sz="1000" b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CTE D7 与 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4736592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86700" y="4736592"/>
            <a:ext cx="3799332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每天查看 CRM 总览，</a:t>
            </a:r>
            <a:r>
              <a:rPr lang="en-SG" sz="110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了解每天有多少跟进到期、有多少数据标记需要修正</a:t>
            </a:r>
            <a:endParaRPr sz="1100" b="1" i="0" dirty="0">
              <a:solidFill>
                <a:srgbClr val="31633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1. 全院区共性问题   |   修正数据标记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及时修正数据标记，避免影响追踪表、SOP 结果与奖金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4617720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数据标记为什么重要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4617720" cy="1700784"/>
          </a:xfrm>
          <a:prstGeom prst="rect">
            <a:avLst/>
          </a:prstGeom>
          <a:solidFill>
            <a:srgbClr val="FDECEA"/>
          </a:solidFill>
          <a:ln w="9525">
            <a:solidFill>
              <a:srgbClr val="E8B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会影响追踪表的准确性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可能影响系统分配的 SOP 跟进节点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会影响记录在案的 SOP 表现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最终可能影响你的奖金</a:t>
            </a:r>
          </a:p>
          <a:p>
            <a:pPr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多数数据标记约 10 分钟即可修正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9584"/>
            <a:ext cx="4617720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你应该怎么做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4617720" cy="160934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定期检查数据标记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及时补全或更正缺失、错误的信息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确保客户资料被正确记录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自己无法解决时，在 Zalo 群里提出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614416"/>
            <a:ext cx="68580" cy="4754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614416"/>
            <a:ext cx="4549140" cy="475488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不要让 10 分钟就能解决的问题
影响你的奖金。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353312"/>
            <a:ext cx="6291072" cy="314553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Dataflags 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1444752"/>
            <a:ext cx="5852160" cy="30001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13248" y="4535424"/>
            <a:ext cx="629107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数据标记 — 被标记、需要修正的客户记录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828032"/>
            <a:ext cx="629107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处理步骤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5102352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507492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查看该记录为何被标记  —  </a:t>
            </a:r>
            <a:r>
              <a:rPr sz="9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阅读标记栏，它会写明具体问题。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5468112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544068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更正缺失或错误的信息  —  </a:t>
            </a:r>
            <a:r>
              <a:rPr sz="9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补全 Y/N、日期、电话、产品与标签等字段。</a:t>
            </a:r>
          </a:p>
        </p:txBody>
      </p:sp>
      <p:sp>
        <p:nvSpPr>
          <p:cNvPr id="22" name="Oval 21"/>
          <p:cNvSpPr/>
          <p:nvPr/>
        </p:nvSpPr>
        <p:spPr>
          <a:xfrm>
            <a:off x="5394960" y="5833872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5806440"/>
            <a:ext cx="5907024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无法解决时请求协助  —  </a:t>
            </a:r>
            <a:r>
              <a:rPr sz="950" b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发到 </a:t>
            </a:r>
            <a:r>
              <a:rPr sz="950" b="0" dirty="0" err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Zalo</a:t>
            </a:r>
            <a:r>
              <a:rPr sz="950" b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 群里，不要放着不处理。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1. 全院区共性问题   |   遵守 SOP 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34842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220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SOP 达标率仍然不足 </a:t>
            </a:r>
            <a:endParaRPr sz="2200" b="1" i="0" dirty="0">
              <a:solidFill>
                <a:srgbClr val="31633D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CTE D5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0/22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1300" b="1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达标／抽样</a:t>
            </a:r>
            <a:endParaRPr sz="1300" b="1" dirty="0">
              <a:solidFill>
                <a:srgbClr val="C0392B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353312"/>
            <a:ext cx="3529584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NGT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1/21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SG" sz="1300" b="1" dirty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达标／抽样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1353312"/>
            <a:ext cx="3529584" cy="138988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9016" y="1353312"/>
            <a:ext cx="3529584" cy="54864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481328"/>
            <a:ext cx="323697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19072"/>
            <a:ext cx="3236976" cy="60350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1/43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40864"/>
            <a:ext cx="3236976" cy="2269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达标／抽样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25496"/>
            <a:ext cx="11186129" cy="292608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CTE D7</a:t>
            </a:r>
            <a:r>
              <a:rPr lang="en-SG"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 LA </a:t>
            </a:r>
            <a:r>
              <a:rPr lang="en-SG"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与 SH </a:t>
            </a: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尚未进行量化追踪，其追踪表即将上线。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55264"/>
            <a:ext cx="5705856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全院区共性问题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566160"/>
            <a:ext cx="5705856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观察到个别 D7 跟进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但整套要求的跟进节点普遍没有完成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会员权益信息发得比客户关怀跟进更稳定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沟通仍以被动回复为主，而非 DA 主动发起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往往是客户先开口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跟进必须在正确的节点进行，并覆盖正确的内容</a:t>
            </a:r>
          </a:p>
          <a:p>
            <a:pPr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</a:pPr>
            <a:r>
              <a:rPr lang="en-SG" sz="95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许多对话</a:t>
            </a:r>
            <a:r>
              <a:rPr sz="950" b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在 DA 自我介绍与会员权益信息之后便停止，后续缺少足够的客户关怀与复查沟通。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3096" y="3255264"/>
            <a:ext cx="5202936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SOP 达标的定义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3096" y="3566160"/>
            <a:ext cx="5202936" cy="22128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一次达标的跟进必须：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✓  在要求的节点进行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✓  覆盖正确的内容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✓  在需要时主动发起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✓  达成该触点的具体目的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888736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5888736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在正确的节点跟进，并覆盖正确的内容。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2. 各院区具体问题   |   各院区具体问题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各院区具体问题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16736"/>
            <a:ext cx="59436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399032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CTE D5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435607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结果：0/22 达标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700784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755648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 dirty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CD3–5、CD7、CD14 与 D30 未被稳定完成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沟通基本局限于会员权益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DA 互动仍以被动为主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以下方面沟通有限：</a:t>
            </a:r>
            <a:r>
              <a:rPr sz="850" b="0" i="0" dirty="0" err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定制</a:t>
            </a: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、取镜、保修、复查与转介绍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观察到部分 D7 类跟进，但整体跟进数量仍然偏低。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80944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重点：  </a:t>
            </a:r>
            <a:r>
              <a:rPr sz="850" b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不要只发会员权益信息，要完成整套要求的跟进流程。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316736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316736"/>
            <a:ext cx="59436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1399032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NGT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435607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结果：1/21 达标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1112" y="1700784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755648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D30 跟进基本没有完成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观察到少量 D7 跟进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其他主动客户互动仍然有限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取镜之后客户关系没有被持续维护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1112" y="2980944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重点：  </a:t>
            </a:r>
            <a:r>
              <a:rPr sz="850" b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以配戴情况、保修与复查作为主动联系客户的自然切入点。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12464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712464"/>
            <a:ext cx="59436" cy="221284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79476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CTE D7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831336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770B"/>
                </a:solidFill>
                <a:latin typeface="Microsoft YaHei"/>
                <a:ea typeface="Microsoft YaHei"/>
                <a:cs typeface="Microsoft YaHei"/>
              </a:rPr>
              <a:t>仅作定性检查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4096512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" y="4151376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不同客户之间执行差异很大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部分客户走完了流程的一部分，另一些则漏掉多个环节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常见缺口：定制进度更新、取镜沟通、D7 跟进、转介绍权益、客户信息准确性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检查中既有较完整的案例，也有仅完成一两个触点的案例。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5376672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重点：  </a:t>
            </a:r>
            <a:r>
              <a:rPr sz="850" b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对每一位客户都一致地执行同一套完整客户旅程。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712464"/>
            <a:ext cx="5687568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46520" y="3712464"/>
            <a:ext cx="59436" cy="221284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794760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31336"/>
            <a:ext cx="353872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9770B"/>
                </a:solidFill>
                <a:latin typeface="Microsoft YaHei"/>
                <a:ea typeface="Microsoft YaHei"/>
                <a:cs typeface="Microsoft YaHei"/>
              </a:rPr>
              <a:t>仅作定性检查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11112" y="4096512"/>
            <a:ext cx="5358383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151376"/>
            <a:ext cx="5358383" cy="1170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观察到一些良好的 D7 与取镜沟通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其他案例漏掉定制沟通、取镜当天晚间跟进、Ortho-K 第 2 天、D7 与 D30、科普内容与转介绍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有时在尚未建立客户关系前就先发营销与会员信息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CZ 指出，DA 应从关心孩子配戴情况与视力的角度出发进行沟通。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11112" y="5376672"/>
            <a:ext cx="5358383" cy="43891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重点：  </a:t>
            </a:r>
            <a:r>
              <a:rPr sz="850" b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先加强关怀型跟进，再依靠营销或转介绍信息。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43600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5943600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好的做法已经存在，但尚未一致地应用到每一位客户身上。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2. 各院区具体问题   |   SONG HAN：先把基础做对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每一位验光客户都应加到 Zalo 并正确打标签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2727952" cy="40233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 录入每一位客户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2312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2.  正确使用 MC 标签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1704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3.  取镜前主动沟通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097" y="1298448"/>
            <a:ext cx="2727952" cy="40233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4.  取镜后持续跟进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847088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81051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录入每一位客户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066543"/>
            <a:ext cx="6099048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目前并非所有验光客户都被加到 Zalo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而且院区客流量本身并不高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没有加上的客户无法进入会员或跟进流程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这是最基础的问题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852928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81635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正确使用 MC 标签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072384"/>
            <a:ext cx="6099048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客户姓名与备注有时缺失或填错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标签错误会导致客户难以识别、后续难以跟进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按截图中的 MC 标签格式统一填写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一发现客户信息有误就立即更正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858768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822192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取镜前主动沟通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078224"/>
            <a:ext cx="6099048" cy="5212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制作或定制进度更新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预计取镜时间与取镜安排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清晰的取镜信息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709160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672584"/>
            <a:ext cx="60990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取镜后持续跟进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4928616"/>
            <a:ext cx="6099048" cy="45313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询问孩子配戴眼镜的适应情况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主动解答疑问并分享实用的护眼知识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取镜之后继续维护客户关系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87184" y="1847088"/>
            <a:ext cx="4498848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正确的 MC 标签应该是这样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2157984"/>
            <a:ext cx="4498848" cy="11887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6" name="Picture 25" descr="Model Zalo tag for Song Han to Fol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450592"/>
            <a:ext cx="4133087" cy="7031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87184" y="3438144"/>
            <a:ext cx="449884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为什么这是正确的</a:t>
            </a:r>
          </a:p>
        </p:txBody>
      </p:sp>
      <p:sp>
        <p:nvSpPr>
          <p:cNvPr id="28" name="Oval 27"/>
          <p:cNvSpPr/>
          <p:nvPr/>
        </p:nvSpPr>
        <p:spPr>
          <a:xfrm>
            <a:off x="7187184" y="3749039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7216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MC 标签正确  —  </a:t>
            </a:r>
            <a:r>
              <a:rPr sz="8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以 MC 前缀和日期开头。</a:t>
            </a:r>
          </a:p>
        </p:txBody>
      </p:sp>
      <p:sp>
        <p:nvSpPr>
          <p:cNvPr id="30" name="Oval 29"/>
          <p:cNvSpPr/>
          <p:nvPr/>
        </p:nvSpPr>
        <p:spPr>
          <a:xfrm>
            <a:off x="7187184" y="42062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1788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客户身份清晰  —  </a:t>
            </a:r>
            <a:r>
              <a:rPr sz="8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家长／孩子姓名完整写出。</a:t>
            </a:r>
          </a:p>
        </p:txBody>
      </p:sp>
      <p:sp>
        <p:nvSpPr>
          <p:cNvPr id="32" name="Oval 31"/>
          <p:cNvSpPr/>
          <p:nvPr/>
        </p:nvSpPr>
        <p:spPr>
          <a:xfrm>
            <a:off x="7187184" y="46634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46360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命名格式统一  —  </a:t>
            </a:r>
            <a:r>
              <a:rPr sz="8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每位客户都使用同一结构。</a:t>
            </a:r>
          </a:p>
        </p:txBody>
      </p:sp>
      <p:sp>
        <p:nvSpPr>
          <p:cNvPr id="34" name="Oval 33"/>
          <p:cNvSpPr/>
          <p:nvPr/>
        </p:nvSpPr>
        <p:spPr>
          <a:xfrm>
            <a:off x="7187184" y="5120640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5093207"/>
            <a:ext cx="4151376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便于日后查找跟进  —  </a:t>
            </a:r>
            <a:r>
              <a:rPr sz="850" b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下一个跟进节点到期时可直接搜索到。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05856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1500" y="5705856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把每一位客户都加上，并使用正确的 MC 标签格式。做不到这一点，
客户就无法被追踪，也无法被正常跟进。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3. 优秀案例   |   优秀案例：主动管理客户旅程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优秀案例：主动管理客户旅程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98448"/>
            <a:ext cx="11183112" cy="29260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客户：  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MCY 260725 </a:t>
            </a:r>
            <a:r>
              <a:rPr sz="1050" b="0" dirty="0" err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Chị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 Thư </a:t>
            </a:r>
            <a:r>
              <a:rPr sz="1050" b="0" dirty="0" err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mẹ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bé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Đỗ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Nhất</a:t>
            </a:r>
            <a:r>
              <a:rPr sz="1050" b="0" dirty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 Phương Nghi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749039" cy="279806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0" name="Picture 9" descr="MCY 260725 Chị Thư mẹ bé Đỗ Nhất Phương Nghi Pic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070583" cy="26517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66928" y="2048256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218688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98848"/>
            <a:ext cx="3749039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定制进度更新（26/07）与
取镜沟通（01–03/08）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01184"/>
            <a:ext cx="7370064" cy="1261872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5" name="Picture 14" descr="MCY 260725 Chị Thư mẹ bé Đỗ Nhất Phương Nghi PIC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47488"/>
            <a:ext cx="5138928" cy="110949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66928" y="4992624"/>
            <a:ext cx="237744" cy="237744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5120640"/>
            <a:ext cx="1627632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取镜后回访（07/08）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664208"/>
            <a:ext cx="3282696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图中展示的三个阶段</a:t>
            </a:r>
          </a:p>
        </p:txBody>
      </p:sp>
      <p:sp>
        <p:nvSpPr>
          <p:cNvPr id="19" name="Oval 18"/>
          <p:cNvSpPr/>
          <p:nvPr/>
        </p:nvSpPr>
        <p:spPr>
          <a:xfrm>
            <a:off x="4590288" y="1956816"/>
            <a:ext cx="237744" cy="237744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3" y="1920240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定制信息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主动告知家长</a:t>
            </a:r>
          </a:p>
        </p:txBody>
      </p:sp>
      <p:sp>
        <p:nvSpPr>
          <p:cNvPr id="21" name="Oval 20"/>
          <p:cNvSpPr/>
          <p:nvPr/>
        </p:nvSpPr>
        <p:spPr>
          <a:xfrm>
            <a:off x="4590288" y="2651760"/>
            <a:ext cx="237744" cy="237744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1183" y="2615184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取镜信息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清晰传达，并提供时间选择</a:t>
            </a:r>
          </a:p>
        </p:txBody>
      </p:sp>
      <p:sp>
        <p:nvSpPr>
          <p:cNvPr id="23" name="Oval 22"/>
          <p:cNvSpPr/>
          <p:nvPr/>
        </p:nvSpPr>
        <p:spPr>
          <a:xfrm>
            <a:off x="4590288" y="3346704"/>
            <a:ext cx="237744" cy="237744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3" y="3310128"/>
            <a:ext cx="2935224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取镜后回访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了解孩子配戴眼镜的适应情况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4059936"/>
            <a:ext cx="3282696" cy="713232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主动沟通让 DA 显得专业，也有助于建立客户信任。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64208"/>
            <a:ext cx="36393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为什么这是好的做法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975104"/>
            <a:ext cx="3639312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DA 主动告知进度，不等客户来问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客户清楚每个阶段的进展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DA 显得有条理、细心且专业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家长更放心孩子的情况被妥善跟进</a:t>
            </a:r>
          </a:p>
          <a:p>
            <a:pPr algn="l">
              <a:lnSpc>
                <a:spcPct val="93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持续沟通有助于建立对 DA 的信任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3931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培训要点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242816"/>
            <a:ext cx="3639312" cy="11887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DA 应主动管理从定制、取镜到售后关怀的整个客户旅程，而不是等客户来问进度。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5541264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15300" y="5541264"/>
            <a:ext cx="3570732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端到端管理客户旅程 —
不要等客户来问。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Microsoft YaHei"/>
                <a:ea typeface="Microsoft YaHei"/>
                <a:cs typeface="Microsoft YaHei"/>
              </a:rPr>
              <a:t>4. 核心要点   |   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Mắt Sài Gòn  |  验光 DA 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45829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" y="155448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修正数据标记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数据标记会影响追踪表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会影响 SOP 追踪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可能影响你的奖金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很多问题约 10 分钟就能修好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不要把容易更正的问题一直放着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无法处理某个标记时请求协助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4224528"/>
            <a:ext cx="3216645" cy="969264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不要让 10 分钟就能解决的问题影响你的奖金。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3069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3069" y="1353312"/>
            <a:ext cx="3545829" cy="5029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87661" y="1554480"/>
            <a:ext cx="310896" cy="310896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9997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遵守 SOP 标准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7661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7661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在要求的节点进行跟进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每个触点都覆盖正确的内容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随便发一条信息并不等于 SOP 已完成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SOP 为你提供了建立客户关系的固定触点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跟进做得好，客户会熟悉你、信任你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关系更牢固，有助于互动、复查与转介绍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7661" y="4224528"/>
            <a:ext cx="3216645" cy="969264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把每个 SOP 触点用来建立客户关系，而不只是完成一项任务。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219" y="1353312"/>
            <a:ext cx="3545829" cy="40416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43219" y="1353312"/>
            <a:ext cx="3545829" cy="50292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07811" y="1554480"/>
            <a:ext cx="310896" cy="310896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0147" y="1572768"/>
            <a:ext cx="281430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有问题就问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7811" y="1975104"/>
            <a:ext cx="3216645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7811" y="2066543"/>
            <a:ext cx="3216645" cy="2011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新流程我们都还在学习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不懂是正常的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但我们不知道你哪里不懂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在 Zalo 群里提问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CZ 和 Khoa 会解答与说明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5C6B62"/>
                </a:solidFill>
                <a:latin typeface="Microsoft YaHei"/>
                <a:ea typeface="Microsoft YaHei"/>
                <a:cs typeface="Microsoft YaHei"/>
              </a:rPr>
              <a:t>▪  我们在这里支持你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7811" y="4224528"/>
            <a:ext cx="3216645" cy="969264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Microsoft YaHei"/>
                <a:ea typeface="Microsoft YaHei"/>
                <a:cs typeface="Microsoft YaHei"/>
              </a:rPr>
              <a:t>不懂是正常的。早点问，我们一起解决。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96128"/>
            <a:ext cx="11186129" cy="621792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修好数据。    遵守 SOP。    有疑问就问。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1622</Words>
  <Application>Microsoft Office PowerPoint</Application>
  <PresentationFormat>Widescreen</PresentationFormat>
  <Paragraphs>219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 Long Koh</cp:lastModifiedBy>
  <cp:revision>4</cp:revision>
  <dcterms:created xsi:type="dcterms:W3CDTF">2013-01-27T09:14:16Z</dcterms:created>
  <dcterms:modified xsi:type="dcterms:W3CDTF">2026-08-26T04:44:02Z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86a97b-dc47-4882-9241-a2ba35606524_Enabled">
    <vt:lpwstr>true</vt:lpwstr>
  </property>
  <property fmtid="{D5CDD505-2E9C-101B-9397-08002B2CF9AE}" pid="3" name="MSIP_Label_e586a97b-dc47-4882-9241-a2ba35606524_SetDate">
    <vt:lpwstr>2026-08-26T04:30:09Z</vt:lpwstr>
  </property>
  <property fmtid="{D5CDD505-2E9C-101B-9397-08002B2CF9AE}" pid="4" name="MSIP_Label_e586a97b-dc47-4882-9241-a2ba35606524_Method">
    <vt:lpwstr>Standard</vt:lpwstr>
  </property>
  <property fmtid="{D5CDD505-2E9C-101B-9397-08002B2CF9AE}" pid="5" name="MSIP_Label_e586a97b-dc47-4882-9241-a2ba35606524_Name">
    <vt:lpwstr>Limited</vt:lpwstr>
  </property>
  <property fmtid="{D5CDD505-2E9C-101B-9397-08002B2CF9AE}" pid="6" name="MSIP_Label_e586a97b-dc47-4882-9241-a2ba35606524_SiteId">
    <vt:lpwstr>a95f93a6-6a75-4e3b-831a-966f1930949e</vt:lpwstr>
  </property>
  <property fmtid="{D5CDD505-2E9C-101B-9397-08002B2CF9AE}" pid="7" name="MSIP_Label_e586a97b-dc47-4882-9241-a2ba35606524_ActionId">
    <vt:lpwstr>85777a9d-675e-4fb2-a41c-ef7609cbde4e</vt:lpwstr>
  </property>
  <property fmtid="{D5CDD505-2E9C-101B-9397-08002B2CF9AE}" pid="8" name="MSIP_Label_e586a97b-dc47-4882-9241-a2ba35606524_ContentBits">
    <vt:lpwstr>2</vt:lpwstr>
  </property>
  <property fmtid="{D5CDD505-2E9C-101B-9397-08002B2CF9AE}" pid="9" name="MSIP_Label_e586a97b-dc47-4882-9241-a2ba3560652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Limited</vt:lpwstr>
  </property>
</Properties>
</file>